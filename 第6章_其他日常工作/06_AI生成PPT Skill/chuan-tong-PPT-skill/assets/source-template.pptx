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21.svg" ContentType="image/svg+xml"/>
  <Override PartName="/ppt/media/image23.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3"/>
  </p:sldMasterIdLst>
  <p:notesMasterIdLst>
    <p:notesMasterId r:id="rId5"/>
  </p:notesMasterIdLst>
  <p:handoutMasterIdLst>
    <p:handoutMasterId r:id="rId43"/>
  </p:handoutMasterIdLst>
  <p:sldIdLst>
    <p:sldId id="256" r:id="rId4"/>
    <p:sldId id="665" r:id="rId6"/>
    <p:sldId id="666" r:id="rId7"/>
    <p:sldId id="689" r:id="rId8"/>
    <p:sldId id="690" r:id="rId9"/>
    <p:sldId id="675" r:id="rId10"/>
    <p:sldId id="682" r:id="rId11"/>
    <p:sldId id="683" r:id="rId12"/>
    <p:sldId id="685" r:id="rId13"/>
    <p:sldId id="684" r:id="rId14"/>
    <p:sldId id="691" r:id="rId15"/>
    <p:sldId id="692" r:id="rId16"/>
    <p:sldId id="693" r:id="rId17"/>
    <p:sldId id="667" r:id="rId18"/>
    <p:sldId id="1527" r:id="rId19"/>
    <p:sldId id="686" r:id="rId20"/>
    <p:sldId id="687" r:id="rId21"/>
    <p:sldId id="688" r:id="rId22"/>
    <p:sldId id="1517" r:id="rId23"/>
    <p:sldId id="1518" r:id="rId24"/>
    <p:sldId id="1519" r:id="rId25"/>
    <p:sldId id="1520" r:id="rId26"/>
    <p:sldId id="1521" r:id="rId27"/>
    <p:sldId id="1522" r:id="rId28"/>
    <p:sldId id="1528" r:id="rId29"/>
    <p:sldId id="1523" r:id="rId30"/>
    <p:sldId id="1524" r:id="rId31"/>
    <p:sldId id="1525" r:id="rId32"/>
    <p:sldId id="1526" r:id="rId33"/>
    <p:sldId id="1550" r:id="rId34"/>
    <p:sldId id="1549" r:id="rId35"/>
    <p:sldId id="676" r:id="rId36"/>
    <p:sldId id="677" r:id="rId37"/>
    <p:sldId id="678" r:id="rId38"/>
    <p:sldId id="679" r:id="rId39"/>
    <p:sldId id="680" r:id="rId40"/>
    <p:sldId id="681" r:id="rId41"/>
    <p:sldId id="673" r:id="rId42"/>
  </p:sldIdLst>
  <p:sldSz cx="12190095" cy="6859270"/>
  <p:notesSz cx="6858000" cy="9144000"/>
  <p:embeddedFontLst>
    <p:embeddedFont>
      <p:font typeface="Calibri" panose="020F0502020204030204"/>
      <p:regular r:id="rId48"/>
      <p:bold r:id="rId49"/>
      <p:italic r:id="rId50"/>
      <p:boldItalic r:id="rId51"/>
    </p:embeddedFont>
    <p:embeddedFont>
      <p:font typeface="微软雅黑" panose="020B0503020204020204" charset="-122"/>
      <p:regular r:id="rId52"/>
    </p:embeddedFont>
    <p:embeddedFont>
      <p:font typeface="字魂手刻宋" panose="00000500000000000000" charset="-122"/>
      <p:regular r:id="rId53"/>
    </p:embeddedFont>
  </p:embeddedFontLst>
  <p:custDataLst>
    <p:tags r:id="rId54"/>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3" clrIdx="0"/>
  <p:cmAuthor id="2" name="chen xl" initials="c" lastIdx="1" clrIdx="0"/>
  <p:cmAuthor id="3" name="作者" initials="作" lastIdx="0" clrIdx="1"/>
  <p:cmAuthor id="7" name="1206988966@qq.com" initials="1" lastIdx="1" clrIdx="2"/>
  <p:cmAuthor id="8" name="姜伟光" initials="姜" lastIdx="1" clrIdx="0"/>
  <p:cmAuthor id="10" name="liliangx" initials="l" lastIdx="2" clrIdx="9"/>
  <p:cmAuthor id="4" name="admin" initials="a" lastIdx="1" clrIdx="3"/>
  <p:cmAuthor id="5" name="宋洁然" initials="宋" lastIdx="2" clrIdx="1"/>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2169D3"/>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4487"/>
    <a:srgbClr val="0061AE"/>
    <a:srgbClr val="7985EC"/>
    <a:srgbClr val="3969E0"/>
    <a:srgbClr val="127AF0"/>
    <a:srgbClr val="144BDA"/>
    <a:srgbClr val="D2F4FD"/>
    <a:srgbClr val="E0F0D9"/>
    <a:srgbClr val="B8905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5267" autoAdjust="0"/>
  </p:normalViewPr>
  <p:slideViewPr>
    <p:cSldViewPr>
      <p:cViewPr varScale="1">
        <p:scale>
          <a:sx n="109" d="100"/>
          <a:sy n="109" d="100"/>
        </p:scale>
        <p:origin x="588" y="102"/>
      </p:cViewPr>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4" Type="http://schemas.openxmlformats.org/officeDocument/2006/relationships/tags" Target="tags/tag540.xml"/><Relationship Id="rId53" Type="http://schemas.openxmlformats.org/officeDocument/2006/relationships/font" Target="fonts/font6.fntdata"/><Relationship Id="rId52" Type="http://schemas.openxmlformats.org/officeDocument/2006/relationships/font" Target="fonts/font5.fntdata"/><Relationship Id="rId51" Type="http://schemas.openxmlformats.org/officeDocument/2006/relationships/font" Target="fonts/font4.fntdata"/><Relationship Id="rId50" Type="http://schemas.openxmlformats.org/officeDocument/2006/relationships/font" Target="fonts/font3.fntdata"/><Relationship Id="rId5" Type="http://schemas.openxmlformats.org/officeDocument/2006/relationships/notesMaster" Target="notesMasters/notesMaster1.xml"/><Relationship Id="rId49" Type="http://schemas.openxmlformats.org/officeDocument/2006/relationships/font" Target="fonts/font2.fntdata"/><Relationship Id="rId48" Type="http://schemas.openxmlformats.org/officeDocument/2006/relationships/font" Target="fonts/font1.fntdata"/><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0D41E-6144-4AAD-8235-3557CB4976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1398ED-3880-4FB2-AB60-6601FB311D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088390" rtl="0" eaLnBrk="1" latinLnBrk="0" hangingPunct="1">
      <a:defRPr sz="1400" kern="1200">
        <a:solidFill>
          <a:schemeClr val="tx1"/>
        </a:solidFill>
        <a:latin typeface="+mn-lt"/>
        <a:ea typeface="+mn-ea"/>
        <a:cs typeface="+mn-cs"/>
      </a:defRPr>
    </a:lvl1pPr>
    <a:lvl2pPr marL="544195" algn="l" defTabSz="1088390" rtl="0" eaLnBrk="1" latinLnBrk="0" hangingPunct="1">
      <a:defRPr sz="1400" kern="1200">
        <a:solidFill>
          <a:schemeClr val="tx1"/>
        </a:solidFill>
        <a:latin typeface="+mn-lt"/>
        <a:ea typeface="+mn-ea"/>
        <a:cs typeface="+mn-cs"/>
      </a:defRPr>
    </a:lvl2pPr>
    <a:lvl3pPr marL="1088390" algn="l" defTabSz="1088390" rtl="0" eaLnBrk="1" latinLnBrk="0" hangingPunct="1">
      <a:defRPr sz="1400" kern="1200">
        <a:solidFill>
          <a:schemeClr val="tx1"/>
        </a:solidFill>
        <a:latin typeface="+mn-lt"/>
        <a:ea typeface="+mn-ea"/>
        <a:cs typeface="+mn-cs"/>
      </a:defRPr>
    </a:lvl3pPr>
    <a:lvl4pPr marL="1632585" algn="l" defTabSz="1088390" rtl="0" eaLnBrk="1" latinLnBrk="0" hangingPunct="1">
      <a:defRPr sz="1400" kern="1200">
        <a:solidFill>
          <a:schemeClr val="tx1"/>
        </a:solidFill>
        <a:latin typeface="+mn-lt"/>
        <a:ea typeface="+mn-ea"/>
        <a:cs typeface="+mn-cs"/>
      </a:defRPr>
    </a:lvl4pPr>
    <a:lvl5pPr marL="2176780" algn="l" defTabSz="1088390" rtl="0" eaLnBrk="1" latinLnBrk="0" hangingPunct="1">
      <a:defRPr sz="1400" kern="1200">
        <a:solidFill>
          <a:schemeClr val="tx1"/>
        </a:solidFill>
        <a:latin typeface="+mn-lt"/>
        <a:ea typeface="+mn-ea"/>
        <a:cs typeface="+mn-cs"/>
      </a:defRPr>
    </a:lvl5pPr>
    <a:lvl6pPr marL="2720975" algn="l" defTabSz="1088390" rtl="0" eaLnBrk="1" latinLnBrk="0" hangingPunct="1">
      <a:defRPr sz="1400" kern="1200">
        <a:solidFill>
          <a:schemeClr val="tx1"/>
        </a:solidFill>
        <a:latin typeface="+mn-lt"/>
        <a:ea typeface="+mn-ea"/>
        <a:cs typeface="+mn-cs"/>
      </a:defRPr>
    </a:lvl6pPr>
    <a:lvl7pPr marL="3265805" algn="l" defTabSz="1088390" rtl="0" eaLnBrk="1" latinLnBrk="0" hangingPunct="1">
      <a:defRPr sz="1400" kern="1200">
        <a:solidFill>
          <a:schemeClr val="tx1"/>
        </a:solidFill>
        <a:latin typeface="+mn-lt"/>
        <a:ea typeface="+mn-ea"/>
        <a:cs typeface="+mn-cs"/>
      </a:defRPr>
    </a:lvl7pPr>
    <a:lvl8pPr marL="3810000" algn="l" defTabSz="1088390" rtl="0" eaLnBrk="1" latinLnBrk="0" hangingPunct="1">
      <a:defRPr sz="1400" kern="1200">
        <a:solidFill>
          <a:schemeClr val="tx1"/>
        </a:solidFill>
        <a:latin typeface="+mn-lt"/>
        <a:ea typeface="+mn-ea"/>
        <a:cs typeface="+mn-cs"/>
      </a:defRPr>
    </a:lvl8pPr>
    <a:lvl9pPr marL="4354195" algn="l" defTabSz="108839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zh-CN"/>
              <a:t>暂定面向第三方服务机构</a:t>
            </a: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lvl="0"/>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lvl="0"/>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lvl="0"/>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pPr lvl="0"/>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buNone/>
            </a:pPr>
            <a:fld id="{9A0DB2DC-4C9A-4742-B13C-FB6460FD3503}" type="slidenum">
              <a:rPr lang="zh-CN" altLang="en-US" sz="1200" dirty="0"/>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buNone/>
            </a:pP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10.xml"/><Relationship Id="rId3" Type="http://schemas.openxmlformats.org/officeDocument/2006/relationships/image" Target="../media/image1.png"/><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image" Target="../media/image2.png"/><Relationship Id="rId4" Type="http://schemas.openxmlformats.org/officeDocument/2006/relationships/tags" Target="../tags/tag12.xml"/><Relationship Id="rId3" Type="http://schemas.openxmlformats.org/officeDocument/2006/relationships/image" Target="../media/image1.png"/><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image" Target="../media/image2.png"/><Relationship Id="rId6" Type="http://schemas.openxmlformats.org/officeDocument/2006/relationships/tags" Target="../tags/tag18.xml"/><Relationship Id="rId5" Type="http://schemas.openxmlformats.org/officeDocument/2006/relationships/image" Target="../media/image1.pn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20.xml"/><Relationship Id="rId3" Type="http://schemas.openxmlformats.org/officeDocument/2006/relationships/image" Target="../media/image1.png"/><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pic>
        <p:nvPicPr>
          <p:cNvPr id="6153" name="图片 31" descr="鑫安利LOGO-12.29.png"/>
          <p:cNvPicPr>
            <a:picLocks noChangeAspect="1"/>
          </p:cNvPicPr>
          <p:nvPr userDrawn="1">
            <p:custDataLst>
              <p:tags r:id="rId2"/>
            </p:custDataLst>
          </p:nvPr>
        </p:nvPicPr>
        <p:blipFill>
          <a:blip r:embed="rId3"/>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4"/>
            </p:custDataLst>
          </p:nvPr>
        </p:nvPicPr>
        <p:blipFill>
          <a:blip r:embed="rId5"/>
          <a:srcRect/>
          <a:stretch>
            <a:fillRect/>
          </a:stretch>
        </p:blipFill>
        <p:spPr>
          <a:xfrm>
            <a:off x="9696034" y="117421"/>
            <a:ext cx="897120" cy="320400"/>
          </a:xfrm>
          <a:prstGeom prst="rect">
            <a:avLst/>
          </a:prstGeom>
          <a:noFill/>
        </p:spPr>
      </p:pic>
      <p:cxnSp>
        <p:nvCxnSpPr>
          <p:cNvPr id="18" name="直接连接符 17"/>
          <p:cNvCxnSpPr/>
          <p:nvPr userDrawn="1">
            <p:custDataLst>
              <p:tags r:id="rId6"/>
            </p:custDataLst>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88" name="矩形 87"/>
          <p:cNvSpPr/>
          <p:nvPr userDrawn="1">
            <p:custDataLst>
              <p:tags r:id="rId7"/>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Tree>
  </p:cSld>
  <p:clrMapOvr>
    <a:masterClrMapping/>
  </p:clrMapOvr>
  <p:transition>
    <p:cover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3" name="矩形 2"/>
          <p:cNvSpPr/>
          <p:nvPr userDrawn="1"/>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p>
            <a:pPr algn="ctr"/>
            <a:endParaRPr lang="zh-CN" altLang="en-US">
              <a:solidFill>
                <a:schemeClr val="lt1"/>
              </a:solidFill>
              <a:latin typeface="字魂95号-手刻宋"/>
              <a:ea typeface="字魂95号-手刻宋"/>
            </a:endParaRPr>
          </a:p>
        </p:txBody>
      </p:sp>
      <p:sp>
        <p:nvSpPr>
          <p:cNvPr id="4" name="矩形 3"/>
          <p:cNvSpPr/>
          <p:nvPr userDrawn="1">
            <p:custDataLst>
              <p:tags r:id="rId2"/>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p>
            <a:pPr algn="ctr"/>
            <a:endParaRPr lang="zh-CN" altLang="en-US" dirty="0">
              <a:latin typeface="字魂95号-手刻宋" panose="00000500000000000000" charset="-122"/>
              <a:ea typeface="字魂95号-手刻宋" panose="00000500000000000000" charset="-122"/>
            </a:endParaRPr>
          </a:p>
        </p:txBody>
      </p:sp>
      <p:sp>
        <p:nvSpPr>
          <p:cNvPr id="7" name="矩形 6"/>
          <p:cNvSpPr/>
          <p:nvPr userDrawn="1">
            <p:custDataLst>
              <p:tags r:id="rId3"/>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p>
            <a:pPr algn="ctr"/>
            <a:endParaRPr lang="zh-CN" altLang="en-US" dirty="0">
              <a:latin typeface="字魂95号-手刻宋" panose="00000500000000000000" charset="-122"/>
              <a:ea typeface="字魂95号-手刻宋" panose="00000500000000000000" charset="-122"/>
            </a:endParaRPr>
          </a:p>
        </p:txBody>
      </p:sp>
      <p:pic>
        <p:nvPicPr>
          <p:cNvPr id="6153" name="图片 31" descr="鑫安利LOGO-12.29.png"/>
          <p:cNvPicPr>
            <a:picLocks noChangeAspect="1"/>
          </p:cNvPicPr>
          <p:nvPr userDrawn="1">
            <p:custDataLst>
              <p:tags r:id="rId4"/>
            </p:custDataLst>
          </p:nvPr>
        </p:nvPicPr>
        <p:blipFill>
          <a:blip r:embed="rId5"/>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6"/>
            </p:custDataLst>
          </p:nvPr>
        </p:nvPicPr>
        <p:blipFill>
          <a:blip r:embed="rId7"/>
          <a:srcRect/>
          <a:stretch>
            <a:fillRect/>
          </a:stretch>
        </p:blipFill>
        <p:spPr>
          <a:xfrm>
            <a:off x="9696034" y="117421"/>
            <a:ext cx="897120" cy="320400"/>
          </a:xfrm>
          <a:prstGeom prst="rect">
            <a:avLst/>
          </a:prstGeom>
          <a:noFill/>
        </p:spPr>
      </p:pic>
    </p:spTree>
  </p:cSld>
  <p:clrMapOvr>
    <a:masterClrMapping/>
  </p:clrMapOvr>
  <p:transition>
    <p:cover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6153" name="图片 31" descr="鑫安利LOGO-12.29.png"/>
          <p:cNvPicPr>
            <a:picLocks noChangeAspect="1"/>
          </p:cNvPicPr>
          <p:nvPr userDrawn="1">
            <p:custDataLst>
              <p:tags r:id="rId2"/>
            </p:custDataLst>
          </p:nvPr>
        </p:nvPicPr>
        <p:blipFill>
          <a:blip r:embed="rId3"/>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4"/>
            </p:custDataLst>
          </p:nvPr>
        </p:nvPicPr>
        <p:blipFill>
          <a:blip r:embed="rId5"/>
          <a:srcRect/>
          <a:stretch>
            <a:fillRect/>
          </a:stretch>
        </p:blipFill>
        <p:spPr>
          <a:xfrm>
            <a:off x="9696034" y="117421"/>
            <a:ext cx="897120" cy="320400"/>
          </a:xfrm>
          <a:prstGeom prst="rect">
            <a:avLst/>
          </a:prstGeom>
          <a:noFill/>
        </p:spPr>
      </p:pic>
    </p:spTree>
  </p:cSld>
  <p:clrMapOvr>
    <a:masterClrMapping/>
  </p:clrMapOvr>
  <p:transition>
    <p:cover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cover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6153" name="图片 31" descr="鑫安利LOGO-12.29.png"/>
          <p:cNvPicPr>
            <a:picLocks noChangeAspect="1"/>
          </p:cNvPicPr>
          <p:nvPr userDrawn="1">
            <p:custDataLst>
              <p:tags r:id="rId2"/>
            </p:custDataLst>
          </p:nvPr>
        </p:nvPicPr>
        <p:blipFill>
          <a:blip r:embed="rId3"/>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4"/>
            </p:custDataLst>
          </p:nvPr>
        </p:nvPicPr>
        <p:blipFill>
          <a:blip r:embed="rId5"/>
          <a:srcRect/>
          <a:stretch>
            <a:fillRect/>
          </a:stretch>
        </p:blipFill>
        <p:spPr>
          <a:xfrm>
            <a:off x="9696034" y="117421"/>
            <a:ext cx="897120" cy="320400"/>
          </a:xfrm>
          <a:prstGeom prst="rect">
            <a:avLst/>
          </a:prstGeom>
          <a:noFill/>
        </p:spPr>
      </p:pic>
      <p:cxnSp>
        <p:nvCxnSpPr>
          <p:cNvPr id="4" name="直接连接符 3"/>
          <p:cNvCxnSpPr/>
          <p:nvPr userDrawn="1">
            <p:custDataLst>
              <p:tags r:id="rId6"/>
            </p:custDataLst>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88" name="矩形 87"/>
          <p:cNvSpPr/>
          <p:nvPr userDrawn="1">
            <p:custDataLst>
              <p:tags r:id="rId7"/>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矩形 1"/>
          <p:cNvSpPr/>
          <p:nvPr userDrawn="1"/>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p>
            <a:pPr algn="ctr"/>
            <a:endParaRPr lang="zh-CN" altLang="en-US">
              <a:solidFill>
                <a:schemeClr val="lt1"/>
              </a:solidFill>
              <a:latin typeface="字魂95号-手刻宋"/>
              <a:ea typeface="字魂95号-手刻宋"/>
            </a:endParaRPr>
          </a:p>
        </p:txBody>
      </p:sp>
      <p:sp>
        <p:nvSpPr>
          <p:cNvPr id="8" name="矩形 7"/>
          <p:cNvSpPr/>
          <p:nvPr userDrawn="1">
            <p:custDataLst>
              <p:tags r:id="rId2"/>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p>
            <a:pPr algn="ctr"/>
            <a:endParaRPr lang="zh-CN" altLang="en-US" dirty="0">
              <a:latin typeface="字魂95号-手刻宋" panose="00000500000000000000" charset="-122"/>
              <a:ea typeface="字魂95号-手刻宋" panose="00000500000000000000" charset="-122"/>
            </a:endParaRPr>
          </a:p>
        </p:txBody>
      </p:sp>
      <p:sp>
        <p:nvSpPr>
          <p:cNvPr id="10" name="矩形 9"/>
          <p:cNvSpPr/>
          <p:nvPr userDrawn="1">
            <p:custDataLst>
              <p:tags r:id="rId3"/>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p>
            <a:pPr algn="ctr"/>
            <a:endParaRPr lang="zh-CN" altLang="en-US" dirty="0">
              <a:latin typeface="字魂95号-手刻宋" panose="00000500000000000000" charset="-122"/>
              <a:ea typeface="字魂95号-手刻宋" panose="00000500000000000000" charset="-122"/>
            </a:endParaRPr>
          </a:p>
        </p:txBody>
      </p:sp>
      <p:pic>
        <p:nvPicPr>
          <p:cNvPr id="6153" name="图片 31" descr="鑫安利LOGO-12.29.png"/>
          <p:cNvPicPr>
            <a:picLocks noChangeAspect="1"/>
          </p:cNvPicPr>
          <p:nvPr userDrawn="1">
            <p:custDataLst>
              <p:tags r:id="rId4"/>
            </p:custDataLst>
          </p:nvPr>
        </p:nvPicPr>
        <p:blipFill>
          <a:blip r:embed="rId5"/>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6"/>
            </p:custDataLst>
          </p:nvPr>
        </p:nvPicPr>
        <p:blipFill>
          <a:blip r:embed="rId7"/>
          <a:srcRect/>
          <a:stretch>
            <a:fillRect/>
          </a:stretch>
        </p:blipFill>
        <p:spPr>
          <a:xfrm>
            <a:off x="9696034" y="117421"/>
            <a:ext cx="897120" cy="320400"/>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153" name="图片 31" descr="鑫安利LOGO-12.29.png"/>
          <p:cNvPicPr>
            <a:picLocks noChangeAspect="1"/>
          </p:cNvPicPr>
          <p:nvPr userDrawn="1">
            <p:custDataLst>
              <p:tags r:id="rId2"/>
            </p:custDataLst>
          </p:nvPr>
        </p:nvPicPr>
        <p:blipFill>
          <a:blip r:embed="rId3"/>
          <a:srcRect/>
          <a:stretch>
            <a:fillRect/>
          </a:stretch>
        </p:blipFill>
        <p:spPr>
          <a:xfrm>
            <a:off x="10775592" y="117404"/>
            <a:ext cx="1238767" cy="320400"/>
          </a:xfrm>
          <a:prstGeom prst="rect">
            <a:avLst/>
          </a:prstGeom>
          <a:noFill/>
          <a:ln>
            <a:noFill/>
          </a:ln>
        </p:spPr>
      </p:pic>
      <p:pic>
        <p:nvPicPr>
          <p:cNvPr id="6155" name="图片 6154"/>
          <p:cNvPicPr>
            <a:picLocks noChangeAspect="1"/>
          </p:cNvPicPr>
          <p:nvPr userDrawn="1">
            <p:custDataLst>
              <p:tags r:id="rId4"/>
            </p:custDataLst>
          </p:nvPr>
        </p:nvPicPr>
        <p:blipFill>
          <a:blip r:embed="rId5"/>
          <a:srcRect/>
          <a:stretch>
            <a:fillRect/>
          </a:stretch>
        </p:blipFill>
        <p:spPr>
          <a:xfrm>
            <a:off x="9696034" y="117421"/>
            <a:ext cx="897120" cy="320400"/>
          </a:xfrm>
          <a:prstGeom prst="rect">
            <a:avLst/>
          </a:prstGeom>
          <a:noFill/>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998731" y="811933"/>
            <a:ext cx="4192631" cy="1249911"/>
          </a:xfrm>
        </p:spPr>
        <p:txBody>
          <a:bodyPr lIns="0" tIns="0" rIns="0" bIns="0"/>
          <a:lstStyle>
            <a:lvl1pPr>
              <a:defRPr sz="4400" b="0" i="0">
                <a:solidFill>
                  <a:srgbClr val="EC7C30"/>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3970162" y="2796956"/>
            <a:ext cx="8084192" cy="3831663"/>
          </a:xfrm>
        </p:spPr>
        <p:txBody>
          <a:bodyPr lIns="0" tIns="0" rIns="0" bIns="0"/>
          <a:lstStyle>
            <a:lvl1pPr>
              <a:defRPr sz="1600" b="1"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4632" y="6379121"/>
            <a:ext cx="3900830" cy="342964"/>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505" y="6379121"/>
            <a:ext cx="2803722" cy="342964"/>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6868" y="6379121"/>
            <a:ext cx="2803722" cy="342964"/>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标题和内容">
    <p:bg>
      <p:bgPr>
        <a:solidFill>
          <a:srgbClr val="B70000"/>
        </a:solidFill>
        <a:effectLst/>
      </p:bgPr>
    </p:bg>
    <p:spTree>
      <p:nvGrpSpPr>
        <p:cNvPr id="1" name=""/>
        <p:cNvGrpSpPr/>
        <p:nvPr/>
      </p:nvGrpSpPr>
      <p:grpSpPr>
        <a:xfrm>
          <a:off x="0" y="0"/>
          <a:ext cx="0" cy="0"/>
          <a:chOff x="0" y="0"/>
          <a:chExt cx="0" cy="0"/>
        </a:xfrm>
      </p:grpSpPr>
      <p:sp>
        <p:nvSpPr>
          <p:cNvPr id="2" name="矩形 1"/>
          <p:cNvSpPr/>
          <p:nvPr userDrawn="1"/>
        </p:nvSpPr>
        <p:spPr>
          <a:xfrm>
            <a:off x="0" y="1"/>
            <a:ext cx="12190413" cy="6859588"/>
          </a:xfrm>
          <a:prstGeom prst="rect">
            <a:avLst/>
          </a:prstGeom>
          <a:solidFill>
            <a:schemeClr val="bg1">
              <a:lumMod val="95000"/>
            </a:schemeClr>
          </a:solidFill>
          <a:ln>
            <a:noFill/>
          </a:ln>
        </p:spPr>
        <p:txBody>
          <a:bodyPr anchor="ctr"/>
          <a:lstStyle/>
          <a:p>
            <a:pPr algn="ctr"/>
            <a:endParaRPr lang="zh-CN" altLang="en-US" sz="2100">
              <a:solidFill>
                <a:schemeClr val="lt1"/>
              </a:solidFill>
              <a:ea typeface="微软雅黑" panose="020B0503020204020204" charset="-122"/>
            </a:endParaRPr>
          </a:p>
        </p:txBody>
      </p:sp>
      <p:sp>
        <p:nvSpPr>
          <p:cNvPr id="3" name="矩形 2"/>
          <p:cNvSpPr/>
          <p:nvPr userDrawn="1"/>
        </p:nvSpPr>
        <p:spPr>
          <a:xfrm>
            <a:off x="146666" y="0"/>
            <a:ext cx="754917" cy="881584"/>
          </a:xfrm>
          <a:prstGeom prst="rect">
            <a:avLst/>
          </a:prstGeom>
          <a:gradFill>
            <a:gsLst>
              <a:gs pos="0">
                <a:srgbClr val="0061AE">
                  <a:alpha val="90000"/>
                </a:srgbClr>
              </a:gs>
              <a:gs pos="100000">
                <a:srgbClr val="0061AE"/>
              </a:gs>
            </a:gsLst>
            <a:lin ang="2700000" scaled="1"/>
          </a:gradFill>
          <a:ln>
            <a:noFill/>
          </a:ln>
        </p:spPr>
        <p:txBody>
          <a:bodyPr anchor="ctr"/>
          <a:lstStyle/>
          <a:p>
            <a:pPr algn="ctr"/>
            <a:endParaRPr lang="zh-CN" altLang="en-US" sz="2100">
              <a:solidFill>
                <a:schemeClr val="lt1"/>
              </a:solidFill>
              <a:ea typeface="微软雅黑" panose="020B0503020204020204" charset="-122"/>
            </a:endParaRPr>
          </a:p>
        </p:txBody>
      </p:sp>
      <p:cxnSp>
        <p:nvCxnSpPr>
          <p:cNvPr id="8" name="直接连接符 7"/>
          <p:cNvCxnSpPr/>
          <p:nvPr userDrawn="1"/>
        </p:nvCxnSpPr>
        <p:spPr>
          <a:xfrm>
            <a:off x="972885" y="588117"/>
            <a:ext cx="10925467" cy="0"/>
          </a:xfrm>
          <a:prstGeom prst="line">
            <a:avLst/>
          </a:prstGeom>
          <a:ln w="31750">
            <a:gradFill>
              <a:gsLst>
                <a:gs pos="0">
                  <a:srgbClr val="0061AE">
                    <a:alpha val="90000"/>
                  </a:srgbClr>
                </a:gs>
                <a:gs pos="100000">
                  <a:srgbClr val="0061AE"/>
                </a:gs>
              </a:gsLst>
              <a:lin ang="1800000" scaled="0"/>
            </a:gradFill>
            <a:prstDash val="solid"/>
            <a:miter/>
          </a:ln>
        </p:spPr>
      </p:cxnSp>
      <p:pic>
        <p:nvPicPr>
          <p:cNvPr id="33" name="图片 32" descr="安环家logo（2022-10）"/>
          <p:cNvPicPr>
            <a:picLocks noChangeAspect="1"/>
          </p:cNvPicPr>
          <p:nvPr userDrawn="1"/>
        </p:nvPicPr>
        <p:blipFill>
          <a:blip r:embed="rId2"/>
          <a:stretch>
            <a:fillRect/>
          </a:stretch>
        </p:blipFill>
        <p:spPr>
          <a:xfrm>
            <a:off x="10979626" y="180382"/>
            <a:ext cx="952376" cy="302965"/>
          </a:xfrm>
          <a:prstGeom prst="rect">
            <a:avLst/>
          </a:prstGeom>
        </p:spPr>
      </p:pic>
      <p:pic>
        <p:nvPicPr>
          <p:cNvPr id="6153" name="图片 31" descr="鑫安利LOGO-12.29.png"/>
          <p:cNvPicPr>
            <a:picLocks noChangeAspect="1"/>
          </p:cNvPicPr>
          <p:nvPr userDrawn="1"/>
        </p:nvPicPr>
        <p:blipFill>
          <a:blip r:embed="rId3"/>
          <a:stretch>
            <a:fillRect/>
          </a:stretch>
        </p:blipFill>
        <p:spPr>
          <a:xfrm>
            <a:off x="9667886" y="170219"/>
            <a:ext cx="1250787" cy="3239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250">
        <p14:prism isInverted="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tags" Target="../tags/tag21.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5" cstate="prin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cover dir="u"/>
  </p:transition>
  <p:txStyles>
    <p:titleStyle>
      <a:lvl1pPr lvl="0" algn="ctr" defTabSz="1088390">
        <a:spcBef>
          <a:spcPct val="0"/>
        </a:spcBef>
        <a:buNone/>
        <a:defRPr sz="5200" kern="1200">
          <a:solidFill>
            <a:schemeClr val="tx1"/>
          </a:solidFill>
          <a:latin typeface="Calibri" panose="020F0502020204030204"/>
          <a:ea typeface="宋体" panose="02010600030101010101" pitchFamily="2" charset="-122"/>
        </a:defRPr>
      </a:lvl1pPr>
    </p:titleStyle>
    <p:bodyStyle>
      <a:lvl1pPr marL="408305" lvl="0" indent="-408305" algn="l" defTabSz="1088390">
        <a:spcBef>
          <a:spcPct val="20000"/>
        </a:spcBef>
        <a:buFont typeface="Arial" panose="020B0604020202020204" pitchFamily="34" charset="0"/>
        <a:buChar char="•"/>
        <a:defRPr sz="3800" kern="1200">
          <a:solidFill>
            <a:schemeClr val="tx1"/>
          </a:solidFill>
          <a:latin typeface="Calibri" panose="020F0502020204030204"/>
          <a:ea typeface="宋体" panose="02010600030101010101" pitchFamily="2" charset="-122"/>
        </a:defRPr>
      </a:lvl1pPr>
      <a:lvl2pPr marL="884555" lvl="1" indent="-340360" algn="l" defTabSz="1088390">
        <a:spcBef>
          <a:spcPct val="20000"/>
        </a:spcBef>
        <a:buFont typeface="Arial" panose="020B0604020202020204" pitchFamily="34" charset="0"/>
        <a:buChar char="–"/>
        <a:defRPr sz="3300" kern="1200">
          <a:solidFill>
            <a:schemeClr val="tx1"/>
          </a:solidFill>
          <a:latin typeface="Calibri" panose="020F0502020204030204"/>
          <a:ea typeface="宋体" panose="02010600030101010101" pitchFamily="2" charset="-122"/>
        </a:defRPr>
      </a:lvl2pPr>
      <a:lvl3pPr marL="1360805" lvl="2" indent="-272415" algn="l" defTabSz="1088390">
        <a:spcBef>
          <a:spcPct val="20000"/>
        </a:spcBef>
        <a:buFont typeface="Arial" panose="020B0604020202020204" pitchFamily="34" charset="0"/>
        <a:buChar char="•"/>
        <a:defRPr sz="2900" kern="1200">
          <a:solidFill>
            <a:schemeClr val="tx1"/>
          </a:solidFill>
          <a:latin typeface="Calibri" panose="020F0502020204030204"/>
          <a:ea typeface="宋体" panose="02010600030101010101" pitchFamily="2" charset="-122"/>
        </a:defRPr>
      </a:lvl3pPr>
      <a:lvl4pPr marL="1905000" lvl="3"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4pPr>
      <a:lvl5pPr marL="2449195" lvl="4"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5pPr>
      <a:lvl6pPr marL="2993390" lvl="5"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6pPr>
      <a:lvl7pPr marL="3537585" lvl="6"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7pPr>
      <a:lvl8pPr marL="4081780" lvl="7"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8pPr>
      <a:lvl9pPr marL="4625975" lvl="8" indent="-272415" algn="l" defTabSz="1088390">
        <a:spcBef>
          <a:spcPct val="20000"/>
        </a:spcBef>
        <a:buFont typeface="Arial" panose="020B0604020202020204" pitchFamily="34" charset="0"/>
        <a:buChar char="•"/>
        <a:defRPr sz="2400" kern="1200">
          <a:solidFill>
            <a:schemeClr val="tx1"/>
          </a:solidFill>
          <a:latin typeface="Calibri" panose="020F0502020204030204"/>
          <a:ea typeface="宋体" panose="02010600030101010101" pitchFamily="2" charset="-122"/>
        </a:defRPr>
      </a:lvl9pPr>
    </p:bodyStyle>
    <p:other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ustDataLst>
      <p:tags r:id="rId6"/>
    </p:custData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6765"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4.xml"/><Relationship Id="rId3" Type="http://schemas.openxmlformats.org/officeDocument/2006/relationships/tags" Target="../tags/tag2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2" Type="http://schemas.openxmlformats.org/officeDocument/2006/relationships/notesSlide" Target="../notesSlides/notesSlide2.xml"/><Relationship Id="rId31" Type="http://schemas.openxmlformats.org/officeDocument/2006/relationships/slideLayout" Target="../slideLayouts/slideLayout3.xml"/><Relationship Id="rId30" Type="http://schemas.openxmlformats.org/officeDocument/2006/relationships/tags" Target="../tags/tag52.xml"/><Relationship Id="rId3" Type="http://schemas.openxmlformats.org/officeDocument/2006/relationships/tags" Target="../tags/tag25.xml"/><Relationship Id="rId29" Type="http://schemas.openxmlformats.org/officeDocument/2006/relationships/tags" Target="../tags/tag51.xml"/><Relationship Id="rId28" Type="http://schemas.openxmlformats.org/officeDocument/2006/relationships/tags" Target="../tags/tag50.xml"/><Relationship Id="rId27" Type="http://schemas.openxmlformats.org/officeDocument/2006/relationships/tags" Target="../tags/tag49.xml"/><Relationship Id="rId26" Type="http://schemas.openxmlformats.org/officeDocument/2006/relationships/tags" Target="../tags/tag48.xml"/><Relationship Id="rId25" Type="http://schemas.openxmlformats.org/officeDocument/2006/relationships/tags" Target="../tags/tag47.xml"/><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4.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tags" Target="../tags/tag54.xml"/><Relationship Id="rId1" Type="http://schemas.openxmlformats.org/officeDocument/2006/relationships/tags" Target="../tags/tag53.xml"/></Relationships>
</file>

<file path=ppt/slides/_rels/slide4.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7" Type="http://schemas.openxmlformats.org/officeDocument/2006/relationships/notesSlide" Target="../notesSlides/notesSlide4.xml"/><Relationship Id="rId36" Type="http://schemas.openxmlformats.org/officeDocument/2006/relationships/slideLayout" Target="../slideLayouts/slideLayout5.xml"/><Relationship Id="rId35" Type="http://schemas.openxmlformats.org/officeDocument/2006/relationships/tags" Target="../tags/tag89.xml"/><Relationship Id="rId34" Type="http://schemas.openxmlformats.org/officeDocument/2006/relationships/tags" Target="../tags/tag88.xml"/><Relationship Id="rId33" Type="http://schemas.openxmlformats.org/officeDocument/2006/relationships/tags" Target="../tags/tag87.xml"/><Relationship Id="rId32" Type="http://schemas.openxmlformats.org/officeDocument/2006/relationships/tags" Target="../tags/tag86.xml"/><Relationship Id="rId31" Type="http://schemas.openxmlformats.org/officeDocument/2006/relationships/tags" Target="../tags/tag85.xml"/><Relationship Id="rId30" Type="http://schemas.openxmlformats.org/officeDocument/2006/relationships/tags" Target="../tags/tag84.xml"/><Relationship Id="rId3" Type="http://schemas.openxmlformats.org/officeDocument/2006/relationships/tags" Target="../tags/tag57.xml"/><Relationship Id="rId29" Type="http://schemas.openxmlformats.org/officeDocument/2006/relationships/tags" Target="../tags/tag83.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0" Type="http://schemas.openxmlformats.org/officeDocument/2006/relationships/notesSlide" Target="../notesSlides/notesSlide5.xml"/><Relationship Id="rId3" Type="http://schemas.openxmlformats.org/officeDocument/2006/relationships/tags" Target="../tags/tag92.xml"/><Relationship Id="rId29" Type="http://schemas.openxmlformats.org/officeDocument/2006/relationships/slideLayout" Target="../slideLayouts/slideLayout5.xml"/><Relationship Id="rId28" Type="http://schemas.openxmlformats.org/officeDocument/2006/relationships/tags" Target="../tags/tag117.xml"/><Relationship Id="rId27" Type="http://schemas.openxmlformats.org/officeDocument/2006/relationships/tags" Target="../tags/tag116.xml"/><Relationship Id="rId26" Type="http://schemas.openxmlformats.org/officeDocument/2006/relationships/tags" Target="../tags/tag115.xml"/><Relationship Id="rId25" Type="http://schemas.openxmlformats.org/officeDocument/2006/relationships/tags" Target="../tags/tag114.xml"/><Relationship Id="rId24" Type="http://schemas.openxmlformats.org/officeDocument/2006/relationships/tags" Target="../tags/tag113.xml"/><Relationship Id="rId23" Type="http://schemas.openxmlformats.org/officeDocument/2006/relationships/tags" Target="../tags/tag112.xml"/><Relationship Id="rId22" Type="http://schemas.openxmlformats.org/officeDocument/2006/relationships/tags" Target="../tags/tag111.xml"/><Relationship Id="rId21" Type="http://schemas.openxmlformats.org/officeDocument/2006/relationships/tags" Target="../tags/tag110.xml"/><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tags" Target="../tags/tag119.xml"/><Relationship Id="rId1" Type="http://schemas.openxmlformats.org/officeDocument/2006/relationships/tags" Target="../tags/tag118.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xml"/><Relationship Id="rId2" Type="http://schemas.openxmlformats.org/officeDocument/2006/relationships/tags" Target="../tags/tag120.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4" Type="http://schemas.openxmlformats.org/officeDocument/2006/relationships/notesSlide" Target="../notesSlides/notesSlide8.xml"/><Relationship Id="rId43" Type="http://schemas.openxmlformats.org/officeDocument/2006/relationships/slideLayout" Target="../slideLayouts/slideLayout5.xml"/><Relationship Id="rId42" Type="http://schemas.openxmlformats.org/officeDocument/2006/relationships/tags" Target="../tags/tag154.xml"/><Relationship Id="rId41" Type="http://schemas.openxmlformats.org/officeDocument/2006/relationships/image" Target="../media/image12.svg"/><Relationship Id="rId40" Type="http://schemas.openxmlformats.org/officeDocument/2006/relationships/image" Target="../media/image11.png"/><Relationship Id="rId4" Type="http://schemas.openxmlformats.org/officeDocument/2006/relationships/tags" Target="../tags/tag124.xml"/><Relationship Id="rId39" Type="http://schemas.openxmlformats.org/officeDocument/2006/relationships/tags" Target="../tags/tag153.xml"/><Relationship Id="rId38" Type="http://schemas.openxmlformats.org/officeDocument/2006/relationships/image" Target="../media/image10.svg"/><Relationship Id="rId37" Type="http://schemas.openxmlformats.org/officeDocument/2006/relationships/image" Target="../media/image9.png"/><Relationship Id="rId36" Type="http://schemas.openxmlformats.org/officeDocument/2006/relationships/tags" Target="../tags/tag152.xml"/><Relationship Id="rId35" Type="http://schemas.openxmlformats.org/officeDocument/2006/relationships/image" Target="../media/image8.svg"/><Relationship Id="rId34" Type="http://schemas.openxmlformats.org/officeDocument/2006/relationships/image" Target="../media/image7.png"/><Relationship Id="rId33" Type="http://schemas.openxmlformats.org/officeDocument/2006/relationships/tags" Target="../tags/tag151.xml"/><Relationship Id="rId32" Type="http://schemas.openxmlformats.org/officeDocument/2006/relationships/tags" Target="../tags/tag150.xml"/><Relationship Id="rId31" Type="http://schemas.openxmlformats.org/officeDocument/2006/relationships/tags" Target="../tags/tag149.xml"/><Relationship Id="rId30" Type="http://schemas.openxmlformats.org/officeDocument/2006/relationships/tags" Target="../tags/tag148.xml"/><Relationship Id="rId3" Type="http://schemas.openxmlformats.org/officeDocument/2006/relationships/tags" Target="../tags/tag123.xml"/><Relationship Id="rId29" Type="http://schemas.openxmlformats.org/officeDocument/2006/relationships/tags" Target="../tags/tag147.xml"/><Relationship Id="rId28" Type="http://schemas.openxmlformats.org/officeDocument/2006/relationships/tags" Target="../tags/tag146.xml"/><Relationship Id="rId27" Type="http://schemas.openxmlformats.org/officeDocument/2006/relationships/tags" Target="../tags/tag145.xml"/><Relationship Id="rId26" Type="http://schemas.openxmlformats.org/officeDocument/2006/relationships/tags" Target="../tags/tag144.xml"/><Relationship Id="rId25" Type="http://schemas.openxmlformats.org/officeDocument/2006/relationships/tags" Target="../tags/tag143.xml"/><Relationship Id="rId24" Type="http://schemas.openxmlformats.org/officeDocument/2006/relationships/tags" Target="../tags/tag142.xml"/><Relationship Id="rId23" Type="http://schemas.openxmlformats.org/officeDocument/2006/relationships/tags" Target="../tags/tag141.xml"/><Relationship Id="rId22" Type="http://schemas.openxmlformats.org/officeDocument/2006/relationships/tags" Target="../tags/tag140.xml"/><Relationship Id="rId21" Type="http://schemas.openxmlformats.org/officeDocument/2006/relationships/tags" Target="../tags/tag139.xml"/><Relationship Id="rId20" Type="http://schemas.openxmlformats.org/officeDocument/2006/relationships/tags" Target="../tags/tag138.xml"/><Relationship Id="rId2" Type="http://schemas.openxmlformats.org/officeDocument/2006/relationships/tags" Target="../tags/tag122.xml"/><Relationship Id="rId19" Type="http://schemas.openxmlformats.org/officeDocument/2006/relationships/tags" Target="../tags/tag137.xml"/><Relationship Id="rId18" Type="http://schemas.openxmlformats.org/officeDocument/2006/relationships/tags" Target="../tags/tag136.xml"/><Relationship Id="rId17" Type="http://schemas.openxmlformats.org/officeDocument/2006/relationships/tags" Target="../tags/tag135.xml"/><Relationship Id="rId16" Type="http://schemas.openxmlformats.org/officeDocument/2006/relationships/tags" Target="../tags/tag134.xml"/><Relationship Id="rId15" Type="http://schemas.openxmlformats.org/officeDocument/2006/relationships/tags" Target="../tags/tag133.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image" Target="../media/image6.svg"/><Relationship Id="rId10" Type="http://schemas.openxmlformats.org/officeDocument/2006/relationships/image" Target="../media/image5.png"/><Relationship Id="rId1" Type="http://schemas.openxmlformats.org/officeDocument/2006/relationships/tags" Target="../tags/tag121.xml"/></Relationships>
</file>

<file path=ppt/slides/_rels/slide9.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image" Target="../media/image14.png"/><Relationship Id="rId3" Type="http://schemas.openxmlformats.org/officeDocument/2006/relationships/tags" Target="../tags/tag156.xml"/><Relationship Id="rId2" Type="http://schemas.openxmlformats.org/officeDocument/2006/relationships/tags" Target="../tags/tag155.xml"/><Relationship Id="rId19" Type="http://schemas.openxmlformats.org/officeDocument/2006/relationships/notesSlide" Target="../notesSlides/notesSlide9.xml"/><Relationship Id="rId18" Type="http://schemas.openxmlformats.org/officeDocument/2006/relationships/slideLayout" Target="../slideLayouts/slideLayout5.xml"/><Relationship Id="rId17" Type="http://schemas.openxmlformats.org/officeDocument/2006/relationships/tags" Target="../tags/tag167.xml"/><Relationship Id="rId16" Type="http://schemas.openxmlformats.org/officeDocument/2006/relationships/image" Target="../media/image16.png"/><Relationship Id="rId15" Type="http://schemas.openxmlformats.org/officeDocument/2006/relationships/tags" Target="../tags/tag166.xml"/><Relationship Id="rId14" Type="http://schemas.openxmlformats.org/officeDocument/2006/relationships/image" Target="../media/image15.png"/><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tags" Target="../tags/tag168.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5.xml"/><Relationship Id="rId3" Type="http://schemas.openxmlformats.org/officeDocument/2006/relationships/image" Target="../media/image18.png"/><Relationship Id="rId2" Type="http://schemas.openxmlformats.org/officeDocument/2006/relationships/tags" Target="../tags/tag170.xml"/><Relationship Id="rId1" Type="http://schemas.openxmlformats.org/officeDocument/2006/relationships/tags" Target="../tags/tag169.xml"/></Relationships>
</file>

<file path=ppt/slides/_rels/slide12.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image" Target="../media/image19.png"/><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3" Type="http://schemas.openxmlformats.org/officeDocument/2006/relationships/notesSlide" Target="../notesSlides/notesSlide12.xml"/><Relationship Id="rId22" Type="http://schemas.openxmlformats.org/officeDocument/2006/relationships/slideLayout" Target="../slideLayouts/slideLayout5.xml"/><Relationship Id="rId21" Type="http://schemas.openxmlformats.org/officeDocument/2006/relationships/tags" Target="../tags/tag186.xml"/><Relationship Id="rId20" Type="http://schemas.openxmlformats.org/officeDocument/2006/relationships/image" Target="../media/image23.svg"/><Relationship Id="rId2" Type="http://schemas.openxmlformats.org/officeDocument/2006/relationships/tags" Target="../tags/tag172.xml"/><Relationship Id="rId19" Type="http://schemas.openxmlformats.org/officeDocument/2006/relationships/image" Target="../media/image22.png"/><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image" Target="../media/image21.svg"/><Relationship Id="rId12" Type="http://schemas.openxmlformats.org/officeDocument/2006/relationships/image" Target="../media/image20.png"/><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1.xml"/></Relationships>
</file>

<file path=ppt/slides/_rels/slide13.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image" Target="../media/image24.png"/><Relationship Id="rId3" Type="http://schemas.openxmlformats.org/officeDocument/2006/relationships/tags" Target="../tags/tag189.xml"/><Relationship Id="rId2" Type="http://schemas.openxmlformats.org/officeDocument/2006/relationships/tags" Target="../tags/tag188.xml"/><Relationship Id="rId13" Type="http://schemas.openxmlformats.org/officeDocument/2006/relationships/slideLayout" Target="../slideLayouts/slideLayout5.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tags" Target="../tags/tag199.xml"/><Relationship Id="rId1" Type="http://schemas.openxmlformats.org/officeDocument/2006/relationships/tags" Target="../tags/tag198.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image" Target="../media/image25.png"/><Relationship Id="rId3" Type="http://schemas.openxmlformats.org/officeDocument/2006/relationships/tags" Target="../tags/tag200.xml"/><Relationship Id="rId2" Type="http://schemas.microsoft.com/office/2007/relationships/media" Target="../media/media1.mp4"/><Relationship Id="rId1" Type="http://schemas.openxmlformats.org/officeDocument/2006/relationships/video" Target="../media/media1.mp4"/></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5.xml"/><Relationship Id="rId3" Type="http://schemas.openxmlformats.org/officeDocument/2006/relationships/image" Target="../media/image26.png"/><Relationship Id="rId2" Type="http://schemas.openxmlformats.org/officeDocument/2006/relationships/tags" Target="../tags/tag204.xml"/><Relationship Id="rId1" Type="http://schemas.openxmlformats.org/officeDocument/2006/relationships/tags" Target="../tags/tag203.xml"/></Relationships>
</file>

<file path=ppt/slides/_rels/slide17.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4" Type="http://schemas.openxmlformats.org/officeDocument/2006/relationships/notesSlide" Target="../notesSlides/notesSlide15.xml"/><Relationship Id="rId23" Type="http://schemas.openxmlformats.org/officeDocument/2006/relationships/slideLayout" Target="../slideLayouts/slideLayout5.xml"/><Relationship Id="rId22" Type="http://schemas.openxmlformats.org/officeDocument/2006/relationships/tags" Target="../tags/tag226.xml"/><Relationship Id="rId21" Type="http://schemas.openxmlformats.org/officeDocument/2006/relationships/tags" Target="../tags/tag225.xml"/><Relationship Id="rId20" Type="http://schemas.openxmlformats.org/officeDocument/2006/relationships/tags" Target="../tags/tag224.xml"/><Relationship Id="rId2" Type="http://schemas.openxmlformats.org/officeDocument/2006/relationships/tags" Target="../tags/tag206.xml"/><Relationship Id="rId19" Type="http://schemas.openxmlformats.org/officeDocument/2006/relationships/tags" Target="../tags/tag223.xml"/><Relationship Id="rId18" Type="http://schemas.openxmlformats.org/officeDocument/2006/relationships/tags" Target="../tags/tag222.xml"/><Relationship Id="rId17" Type="http://schemas.openxmlformats.org/officeDocument/2006/relationships/tags" Target="../tags/tag221.xml"/><Relationship Id="rId16" Type="http://schemas.openxmlformats.org/officeDocument/2006/relationships/tags" Target="../tags/tag220.xml"/><Relationship Id="rId15" Type="http://schemas.openxmlformats.org/officeDocument/2006/relationships/tags" Target="../tags/tag219.xml"/><Relationship Id="rId14" Type="http://schemas.openxmlformats.org/officeDocument/2006/relationships/tags" Target="../tags/tag218.xml"/><Relationship Id="rId13" Type="http://schemas.openxmlformats.org/officeDocument/2006/relationships/tags" Target="../tags/tag217.xml"/><Relationship Id="rId12" Type="http://schemas.openxmlformats.org/officeDocument/2006/relationships/tags" Target="../tags/tag216.xml"/><Relationship Id="rId11" Type="http://schemas.openxmlformats.org/officeDocument/2006/relationships/tags" Target="../tags/tag215.xml"/><Relationship Id="rId10" Type="http://schemas.openxmlformats.org/officeDocument/2006/relationships/tags" Target="../tags/tag214.xml"/><Relationship Id="rId1" Type="http://schemas.openxmlformats.org/officeDocument/2006/relationships/tags" Target="../tags/tag205.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5.xml"/><Relationship Id="rId3" Type="http://schemas.openxmlformats.org/officeDocument/2006/relationships/image" Target="../media/image27.png"/><Relationship Id="rId2" Type="http://schemas.openxmlformats.org/officeDocument/2006/relationships/tags" Target="../tags/tag228.xml"/><Relationship Id="rId1" Type="http://schemas.openxmlformats.org/officeDocument/2006/relationships/tags" Target="../tags/tag227.xml"/></Relationships>
</file>

<file path=ppt/slides/_rels/slide19.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6" Type="http://schemas.openxmlformats.org/officeDocument/2006/relationships/notesSlide" Target="../notesSlides/notesSlide17.xml"/><Relationship Id="rId15" Type="http://schemas.openxmlformats.org/officeDocument/2006/relationships/slideLayout" Target="../slideLayouts/slideLayout5.xml"/><Relationship Id="rId14" Type="http://schemas.openxmlformats.org/officeDocument/2006/relationships/tags" Target="../tags/tag242.xml"/><Relationship Id="rId13" Type="http://schemas.openxmlformats.org/officeDocument/2006/relationships/tags" Target="../tags/tag241.xml"/><Relationship Id="rId12" Type="http://schemas.openxmlformats.org/officeDocument/2006/relationships/tags" Target="../tags/tag240.xml"/><Relationship Id="rId11" Type="http://schemas.openxmlformats.org/officeDocument/2006/relationships/tags" Target="../tags/tag239.xml"/><Relationship Id="rId10" Type="http://schemas.openxmlformats.org/officeDocument/2006/relationships/tags" Target="../tags/tag238.xml"/><Relationship Id="rId1" Type="http://schemas.openxmlformats.org/officeDocument/2006/relationships/tags" Target="../tags/tag229.xml"/></Relationships>
</file>

<file path=ppt/slides/_rels/slide20.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5" Type="http://schemas.openxmlformats.org/officeDocument/2006/relationships/notesSlide" Target="../notesSlides/notesSlide18.xml"/><Relationship Id="rId24" Type="http://schemas.openxmlformats.org/officeDocument/2006/relationships/slideLayout" Target="../slideLayouts/slideLayout5.xml"/><Relationship Id="rId23" Type="http://schemas.openxmlformats.org/officeDocument/2006/relationships/tags" Target="../tags/tag265.xml"/><Relationship Id="rId22" Type="http://schemas.openxmlformats.org/officeDocument/2006/relationships/tags" Target="../tags/tag264.xml"/><Relationship Id="rId21" Type="http://schemas.openxmlformats.org/officeDocument/2006/relationships/tags" Target="../tags/tag263.xml"/><Relationship Id="rId20" Type="http://schemas.openxmlformats.org/officeDocument/2006/relationships/tags" Target="../tags/tag262.xml"/><Relationship Id="rId2" Type="http://schemas.openxmlformats.org/officeDocument/2006/relationships/tags" Target="../tags/tag244.xml"/><Relationship Id="rId19" Type="http://schemas.openxmlformats.org/officeDocument/2006/relationships/tags" Target="../tags/tag261.xml"/><Relationship Id="rId18" Type="http://schemas.openxmlformats.org/officeDocument/2006/relationships/tags" Target="../tags/tag260.xml"/><Relationship Id="rId17" Type="http://schemas.openxmlformats.org/officeDocument/2006/relationships/tags" Target="../tags/tag259.xml"/><Relationship Id="rId16" Type="http://schemas.openxmlformats.org/officeDocument/2006/relationships/tags" Target="../tags/tag258.xml"/><Relationship Id="rId15" Type="http://schemas.openxmlformats.org/officeDocument/2006/relationships/tags" Target="../tags/tag257.xml"/><Relationship Id="rId14" Type="http://schemas.openxmlformats.org/officeDocument/2006/relationships/tags" Target="../tags/tag256.xml"/><Relationship Id="rId13" Type="http://schemas.openxmlformats.org/officeDocument/2006/relationships/tags" Target="../tags/tag255.xml"/><Relationship Id="rId12" Type="http://schemas.openxmlformats.org/officeDocument/2006/relationships/tags" Target="../tags/tag254.xml"/><Relationship Id="rId11" Type="http://schemas.openxmlformats.org/officeDocument/2006/relationships/tags" Target="../tags/tag253.xml"/><Relationship Id="rId10" Type="http://schemas.openxmlformats.org/officeDocument/2006/relationships/tags" Target="../tags/tag252.xml"/><Relationship Id="rId1" Type="http://schemas.openxmlformats.org/officeDocument/2006/relationships/tags" Target="../tags/tag243.xml"/></Relationships>
</file>

<file path=ppt/slides/_rels/slide21.xml.rels><?xml version="1.0" encoding="UTF-8" standalone="yes"?>
<Relationships xmlns="http://schemas.openxmlformats.org/package/2006/relationships"><Relationship Id="rId9" Type="http://schemas.openxmlformats.org/officeDocument/2006/relationships/tags" Target="../tags/tag27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4" Type="http://schemas.openxmlformats.org/officeDocument/2006/relationships/notesSlide" Target="../notesSlides/notesSlide19.xml"/><Relationship Id="rId23" Type="http://schemas.openxmlformats.org/officeDocument/2006/relationships/slideLayout" Target="../slideLayouts/slideLayout5.xml"/><Relationship Id="rId22" Type="http://schemas.openxmlformats.org/officeDocument/2006/relationships/tags" Target="../tags/tag287.xml"/><Relationship Id="rId21" Type="http://schemas.openxmlformats.org/officeDocument/2006/relationships/tags" Target="../tags/tag286.xml"/><Relationship Id="rId20" Type="http://schemas.openxmlformats.org/officeDocument/2006/relationships/tags" Target="../tags/tag285.xml"/><Relationship Id="rId2" Type="http://schemas.openxmlformats.org/officeDocument/2006/relationships/tags" Target="../tags/tag267.xml"/><Relationship Id="rId19" Type="http://schemas.openxmlformats.org/officeDocument/2006/relationships/tags" Target="../tags/tag284.xml"/><Relationship Id="rId18" Type="http://schemas.openxmlformats.org/officeDocument/2006/relationships/tags" Target="../tags/tag283.xml"/><Relationship Id="rId17" Type="http://schemas.openxmlformats.org/officeDocument/2006/relationships/tags" Target="../tags/tag282.xml"/><Relationship Id="rId16" Type="http://schemas.openxmlformats.org/officeDocument/2006/relationships/tags" Target="../tags/tag281.xml"/><Relationship Id="rId15" Type="http://schemas.openxmlformats.org/officeDocument/2006/relationships/tags" Target="../tags/tag280.xml"/><Relationship Id="rId14" Type="http://schemas.openxmlformats.org/officeDocument/2006/relationships/tags" Target="../tags/tag279.xml"/><Relationship Id="rId13" Type="http://schemas.openxmlformats.org/officeDocument/2006/relationships/tags" Target="../tags/tag278.xml"/><Relationship Id="rId12" Type="http://schemas.openxmlformats.org/officeDocument/2006/relationships/tags" Target="../tags/tag277.xml"/><Relationship Id="rId11" Type="http://schemas.openxmlformats.org/officeDocument/2006/relationships/tags" Target="../tags/tag276.xml"/><Relationship Id="rId10" Type="http://schemas.openxmlformats.org/officeDocument/2006/relationships/tags" Target="../tags/tag275.xml"/><Relationship Id="rId1" Type="http://schemas.openxmlformats.org/officeDocument/2006/relationships/tags" Target="../tags/tag266.xml"/></Relationships>
</file>

<file path=ppt/slides/_rels/slide22.xml.rels><?xml version="1.0" encoding="UTF-8" standalone="yes"?>
<Relationships xmlns="http://schemas.openxmlformats.org/package/2006/relationships"><Relationship Id="rId9" Type="http://schemas.openxmlformats.org/officeDocument/2006/relationships/tags" Target="../tags/tag296.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2" Type="http://schemas.openxmlformats.org/officeDocument/2006/relationships/notesSlide" Target="../notesSlides/notesSlide20.xml"/><Relationship Id="rId41" Type="http://schemas.openxmlformats.org/officeDocument/2006/relationships/slideLayout" Target="../slideLayouts/slideLayout5.xml"/><Relationship Id="rId40" Type="http://schemas.openxmlformats.org/officeDocument/2006/relationships/image" Target="../media/image38.svg"/><Relationship Id="rId4" Type="http://schemas.openxmlformats.org/officeDocument/2006/relationships/tags" Target="../tags/tag291.xml"/><Relationship Id="rId39" Type="http://schemas.openxmlformats.org/officeDocument/2006/relationships/image" Target="../media/image37.png"/><Relationship Id="rId38" Type="http://schemas.openxmlformats.org/officeDocument/2006/relationships/tags" Target="../tags/tag316.xml"/><Relationship Id="rId37" Type="http://schemas.openxmlformats.org/officeDocument/2006/relationships/tags" Target="../tags/tag315.xml"/><Relationship Id="rId36" Type="http://schemas.openxmlformats.org/officeDocument/2006/relationships/image" Target="../media/image36.svg"/><Relationship Id="rId35" Type="http://schemas.openxmlformats.org/officeDocument/2006/relationships/image" Target="../media/image35.png"/><Relationship Id="rId34" Type="http://schemas.openxmlformats.org/officeDocument/2006/relationships/tags" Target="../tags/tag314.xml"/><Relationship Id="rId33" Type="http://schemas.openxmlformats.org/officeDocument/2006/relationships/image" Target="../media/image34.svg"/><Relationship Id="rId32" Type="http://schemas.openxmlformats.org/officeDocument/2006/relationships/image" Target="../media/image33.png"/><Relationship Id="rId31" Type="http://schemas.openxmlformats.org/officeDocument/2006/relationships/tags" Target="../tags/tag313.xml"/><Relationship Id="rId30" Type="http://schemas.openxmlformats.org/officeDocument/2006/relationships/image" Target="../media/image32.png"/><Relationship Id="rId3" Type="http://schemas.openxmlformats.org/officeDocument/2006/relationships/tags" Target="../tags/tag290.xml"/><Relationship Id="rId29" Type="http://schemas.openxmlformats.org/officeDocument/2006/relationships/tags" Target="../tags/tag312.xml"/><Relationship Id="rId28" Type="http://schemas.openxmlformats.org/officeDocument/2006/relationships/tags" Target="../tags/tag311.xml"/><Relationship Id="rId27" Type="http://schemas.openxmlformats.org/officeDocument/2006/relationships/tags" Target="../tags/tag310.xml"/><Relationship Id="rId26" Type="http://schemas.openxmlformats.org/officeDocument/2006/relationships/tags" Target="../tags/tag309.xml"/><Relationship Id="rId25" Type="http://schemas.openxmlformats.org/officeDocument/2006/relationships/tags" Target="../tags/tag308.xml"/><Relationship Id="rId24" Type="http://schemas.openxmlformats.org/officeDocument/2006/relationships/tags" Target="../tags/tag307.xml"/><Relationship Id="rId23" Type="http://schemas.openxmlformats.org/officeDocument/2006/relationships/tags" Target="../tags/tag306.xml"/><Relationship Id="rId22" Type="http://schemas.openxmlformats.org/officeDocument/2006/relationships/tags" Target="../tags/tag305.xml"/><Relationship Id="rId21" Type="http://schemas.openxmlformats.org/officeDocument/2006/relationships/tags" Target="../tags/tag304.xml"/><Relationship Id="rId20" Type="http://schemas.openxmlformats.org/officeDocument/2006/relationships/tags" Target="../tags/tag303.xml"/><Relationship Id="rId2" Type="http://schemas.openxmlformats.org/officeDocument/2006/relationships/tags" Target="../tags/tag289.xml"/><Relationship Id="rId19" Type="http://schemas.openxmlformats.org/officeDocument/2006/relationships/image" Target="../media/image31.svg"/><Relationship Id="rId18" Type="http://schemas.openxmlformats.org/officeDocument/2006/relationships/image" Target="../media/image30.png"/><Relationship Id="rId17" Type="http://schemas.openxmlformats.org/officeDocument/2006/relationships/tags" Target="../tags/tag302.xml"/><Relationship Id="rId16" Type="http://schemas.openxmlformats.org/officeDocument/2006/relationships/image" Target="../media/image29.svg"/><Relationship Id="rId15" Type="http://schemas.openxmlformats.org/officeDocument/2006/relationships/image" Target="../media/image28.png"/><Relationship Id="rId14" Type="http://schemas.openxmlformats.org/officeDocument/2006/relationships/tags" Target="../tags/tag301.xml"/><Relationship Id="rId13" Type="http://schemas.openxmlformats.org/officeDocument/2006/relationships/tags" Target="../tags/tag300.xml"/><Relationship Id="rId12" Type="http://schemas.openxmlformats.org/officeDocument/2006/relationships/tags" Target="../tags/tag299.xml"/><Relationship Id="rId11" Type="http://schemas.openxmlformats.org/officeDocument/2006/relationships/tags" Target="../tags/tag298.xml"/><Relationship Id="rId10" Type="http://schemas.openxmlformats.org/officeDocument/2006/relationships/tags" Target="../tags/tag297.xml"/><Relationship Id="rId1" Type="http://schemas.openxmlformats.org/officeDocument/2006/relationships/tags" Target="../tags/tag288.xml"/></Relationships>
</file>

<file path=ppt/slides/_rels/slide2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7" Type="http://schemas.openxmlformats.org/officeDocument/2006/relationships/notesSlide" Target="../notesSlides/notesSlide21.xml"/><Relationship Id="rId36" Type="http://schemas.openxmlformats.org/officeDocument/2006/relationships/slideLayout" Target="../slideLayouts/slideLayout5.xml"/><Relationship Id="rId35" Type="http://schemas.openxmlformats.org/officeDocument/2006/relationships/tags" Target="../tags/tag351.xml"/><Relationship Id="rId34" Type="http://schemas.openxmlformats.org/officeDocument/2006/relationships/tags" Target="../tags/tag350.xml"/><Relationship Id="rId33" Type="http://schemas.openxmlformats.org/officeDocument/2006/relationships/tags" Target="../tags/tag349.xml"/><Relationship Id="rId32" Type="http://schemas.openxmlformats.org/officeDocument/2006/relationships/tags" Target="../tags/tag348.xml"/><Relationship Id="rId31" Type="http://schemas.openxmlformats.org/officeDocument/2006/relationships/tags" Target="../tags/tag347.xml"/><Relationship Id="rId30" Type="http://schemas.openxmlformats.org/officeDocument/2006/relationships/tags" Target="../tags/tag346.xml"/><Relationship Id="rId3" Type="http://schemas.openxmlformats.org/officeDocument/2006/relationships/tags" Target="../tags/tag319.xml"/><Relationship Id="rId29" Type="http://schemas.openxmlformats.org/officeDocument/2006/relationships/tags" Target="../tags/tag345.xml"/><Relationship Id="rId28" Type="http://schemas.openxmlformats.org/officeDocument/2006/relationships/tags" Target="../tags/tag344.xml"/><Relationship Id="rId27" Type="http://schemas.openxmlformats.org/officeDocument/2006/relationships/tags" Target="../tags/tag343.xml"/><Relationship Id="rId26" Type="http://schemas.openxmlformats.org/officeDocument/2006/relationships/tags" Target="../tags/tag342.xml"/><Relationship Id="rId25" Type="http://schemas.openxmlformats.org/officeDocument/2006/relationships/tags" Target="../tags/tag341.xml"/><Relationship Id="rId24" Type="http://schemas.openxmlformats.org/officeDocument/2006/relationships/tags" Target="../tags/tag340.xml"/><Relationship Id="rId23" Type="http://schemas.openxmlformats.org/officeDocument/2006/relationships/tags" Target="../tags/tag339.xml"/><Relationship Id="rId22" Type="http://schemas.openxmlformats.org/officeDocument/2006/relationships/tags" Target="../tags/tag338.xml"/><Relationship Id="rId21" Type="http://schemas.openxmlformats.org/officeDocument/2006/relationships/tags" Target="../tags/tag337.xml"/><Relationship Id="rId20" Type="http://schemas.openxmlformats.org/officeDocument/2006/relationships/tags" Target="../tags/tag336.xml"/><Relationship Id="rId2" Type="http://schemas.openxmlformats.org/officeDocument/2006/relationships/tags" Target="../tags/tag318.xml"/><Relationship Id="rId19" Type="http://schemas.openxmlformats.org/officeDocument/2006/relationships/tags" Target="../tags/tag335.xml"/><Relationship Id="rId18" Type="http://schemas.openxmlformats.org/officeDocument/2006/relationships/tags" Target="../tags/tag334.xml"/><Relationship Id="rId17" Type="http://schemas.openxmlformats.org/officeDocument/2006/relationships/tags" Target="../tags/tag333.xml"/><Relationship Id="rId16" Type="http://schemas.openxmlformats.org/officeDocument/2006/relationships/tags" Target="../tags/tag332.xml"/><Relationship Id="rId15" Type="http://schemas.openxmlformats.org/officeDocument/2006/relationships/tags" Target="../tags/tag331.xml"/><Relationship Id="rId14" Type="http://schemas.openxmlformats.org/officeDocument/2006/relationships/tags" Target="../tags/tag330.xml"/><Relationship Id="rId13" Type="http://schemas.openxmlformats.org/officeDocument/2006/relationships/tags" Target="../tags/tag329.xml"/><Relationship Id="rId12" Type="http://schemas.openxmlformats.org/officeDocument/2006/relationships/tags" Target="../tags/tag328.xml"/><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tags" Target="../tags/tag317.xml"/></Relationships>
</file>

<file path=ppt/slides/_rels/slide24.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2" Type="http://schemas.openxmlformats.org/officeDocument/2006/relationships/notesSlide" Target="../notesSlides/notesSlide22.xml"/><Relationship Id="rId21" Type="http://schemas.openxmlformats.org/officeDocument/2006/relationships/slideLayout" Target="../slideLayouts/slideLayout5.xml"/><Relationship Id="rId20" Type="http://schemas.openxmlformats.org/officeDocument/2006/relationships/image" Target="../media/image40.png"/><Relationship Id="rId2" Type="http://schemas.openxmlformats.org/officeDocument/2006/relationships/tags" Target="../tags/tag353.xml"/><Relationship Id="rId19" Type="http://schemas.openxmlformats.org/officeDocument/2006/relationships/tags" Target="../tags/tag369.xml"/><Relationship Id="rId18" Type="http://schemas.openxmlformats.org/officeDocument/2006/relationships/tags" Target="../tags/tag368.xml"/><Relationship Id="rId17" Type="http://schemas.openxmlformats.org/officeDocument/2006/relationships/tags" Target="../tags/tag367.xml"/><Relationship Id="rId16" Type="http://schemas.openxmlformats.org/officeDocument/2006/relationships/tags" Target="../tags/tag366.xml"/><Relationship Id="rId15" Type="http://schemas.openxmlformats.org/officeDocument/2006/relationships/tags" Target="../tags/tag365.xml"/><Relationship Id="rId14" Type="http://schemas.openxmlformats.org/officeDocument/2006/relationships/tags" Target="../tags/tag364.xml"/><Relationship Id="rId13" Type="http://schemas.openxmlformats.org/officeDocument/2006/relationships/tags" Target="../tags/tag363.xml"/><Relationship Id="rId12" Type="http://schemas.openxmlformats.org/officeDocument/2006/relationships/tags" Target="../tags/tag362.xml"/><Relationship Id="rId11" Type="http://schemas.openxmlformats.org/officeDocument/2006/relationships/image" Target="../media/image39.png"/><Relationship Id="rId10" Type="http://schemas.openxmlformats.org/officeDocument/2006/relationships/tags" Target="../tags/tag361.xml"/><Relationship Id="rId1" Type="http://schemas.openxmlformats.org/officeDocument/2006/relationships/tags" Target="../tags/tag35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41.png"/><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tags" Target="../tags/tag370.xml"/></Relationships>
</file>

<file path=ppt/slides/_rels/slide26.xml.rels><?xml version="1.0" encoding="UTF-8" standalone="yes"?>
<Relationships xmlns="http://schemas.openxmlformats.org/package/2006/relationships"><Relationship Id="rId9" Type="http://schemas.openxmlformats.org/officeDocument/2006/relationships/tags" Target="../tags/tag379.xml"/><Relationship Id="rId8" Type="http://schemas.openxmlformats.org/officeDocument/2006/relationships/tags" Target="../tags/tag378.xml"/><Relationship Id="rId7" Type="http://schemas.openxmlformats.org/officeDocument/2006/relationships/tags" Target="../tags/tag377.xml"/><Relationship Id="rId6" Type="http://schemas.openxmlformats.org/officeDocument/2006/relationships/tags" Target="../tags/tag376.xml"/><Relationship Id="rId5" Type="http://schemas.openxmlformats.org/officeDocument/2006/relationships/tags" Target="../tags/tag375.xml"/><Relationship Id="rId4" Type="http://schemas.openxmlformats.org/officeDocument/2006/relationships/tags" Target="../tags/tag374.xml"/><Relationship Id="rId35" Type="http://schemas.openxmlformats.org/officeDocument/2006/relationships/notesSlide" Target="../notesSlides/notesSlide23.xml"/><Relationship Id="rId34" Type="http://schemas.openxmlformats.org/officeDocument/2006/relationships/slideLayout" Target="../slideLayouts/slideLayout5.xml"/><Relationship Id="rId33" Type="http://schemas.openxmlformats.org/officeDocument/2006/relationships/tags" Target="../tags/tag403.xml"/><Relationship Id="rId32" Type="http://schemas.openxmlformats.org/officeDocument/2006/relationships/tags" Target="../tags/tag402.xml"/><Relationship Id="rId31" Type="http://schemas.openxmlformats.org/officeDocument/2006/relationships/tags" Target="../tags/tag401.xml"/><Relationship Id="rId30" Type="http://schemas.openxmlformats.org/officeDocument/2006/relationships/tags" Target="../tags/tag400.xml"/><Relationship Id="rId3" Type="http://schemas.openxmlformats.org/officeDocument/2006/relationships/tags" Target="../tags/tag373.xml"/><Relationship Id="rId29" Type="http://schemas.openxmlformats.org/officeDocument/2006/relationships/tags" Target="../tags/tag399.xml"/><Relationship Id="rId28" Type="http://schemas.openxmlformats.org/officeDocument/2006/relationships/tags" Target="../tags/tag398.xml"/><Relationship Id="rId27" Type="http://schemas.openxmlformats.org/officeDocument/2006/relationships/tags" Target="../tags/tag397.xml"/><Relationship Id="rId26" Type="http://schemas.openxmlformats.org/officeDocument/2006/relationships/tags" Target="../tags/tag396.xml"/><Relationship Id="rId25" Type="http://schemas.openxmlformats.org/officeDocument/2006/relationships/tags" Target="../tags/tag395.xml"/><Relationship Id="rId24" Type="http://schemas.openxmlformats.org/officeDocument/2006/relationships/tags" Target="../tags/tag394.xml"/><Relationship Id="rId23" Type="http://schemas.openxmlformats.org/officeDocument/2006/relationships/tags" Target="../tags/tag393.xml"/><Relationship Id="rId22" Type="http://schemas.openxmlformats.org/officeDocument/2006/relationships/tags" Target="../tags/tag392.xml"/><Relationship Id="rId21" Type="http://schemas.openxmlformats.org/officeDocument/2006/relationships/tags" Target="../tags/tag391.xml"/><Relationship Id="rId20" Type="http://schemas.openxmlformats.org/officeDocument/2006/relationships/tags" Target="../tags/tag390.xml"/><Relationship Id="rId2" Type="http://schemas.openxmlformats.org/officeDocument/2006/relationships/tags" Target="../tags/tag372.xml"/><Relationship Id="rId19" Type="http://schemas.openxmlformats.org/officeDocument/2006/relationships/tags" Target="../tags/tag389.xml"/><Relationship Id="rId18" Type="http://schemas.openxmlformats.org/officeDocument/2006/relationships/tags" Target="../tags/tag388.xml"/><Relationship Id="rId17" Type="http://schemas.openxmlformats.org/officeDocument/2006/relationships/tags" Target="../tags/tag387.xml"/><Relationship Id="rId16" Type="http://schemas.openxmlformats.org/officeDocument/2006/relationships/tags" Target="../tags/tag386.xml"/><Relationship Id="rId15" Type="http://schemas.openxmlformats.org/officeDocument/2006/relationships/tags" Target="../tags/tag385.xml"/><Relationship Id="rId14" Type="http://schemas.openxmlformats.org/officeDocument/2006/relationships/tags" Target="../tags/tag384.xml"/><Relationship Id="rId13" Type="http://schemas.openxmlformats.org/officeDocument/2006/relationships/tags" Target="../tags/tag383.xml"/><Relationship Id="rId12" Type="http://schemas.openxmlformats.org/officeDocument/2006/relationships/tags" Target="../tags/tag382.xml"/><Relationship Id="rId11" Type="http://schemas.openxmlformats.org/officeDocument/2006/relationships/tags" Target="../tags/tag381.xml"/><Relationship Id="rId10" Type="http://schemas.openxmlformats.org/officeDocument/2006/relationships/tags" Target="../tags/tag380.xml"/><Relationship Id="rId1" Type="http://schemas.openxmlformats.org/officeDocument/2006/relationships/tags" Target="../tags/tag371.xml"/></Relationships>
</file>

<file path=ppt/slides/_rels/slide27.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1" Type="http://schemas.openxmlformats.org/officeDocument/2006/relationships/notesSlide" Target="../notesSlides/notesSlide24.xml"/><Relationship Id="rId30" Type="http://schemas.openxmlformats.org/officeDocument/2006/relationships/slideLayout" Target="../slideLayouts/slideLayout5.xml"/><Relationship Id="rId3" Type="http://schemas.openxmlformats.org/officeDocument/2006/relationships/tags" Target="../tags/tag406.xml"/><Relationship Id="rId29" Type="http://schemas.openxmlformats.org/officeDocument/2006/relationships/image" Target="../media/image43.png"/><Relationship Id="rId28" Type="http://schemas.openxmlformats.org/officeDocument/2006/relationships/image" Target="../media/image42.png"/><Relationship Id="rId27" Type="http://schemas.openxmlformats.org/officeDocument/2006/relationships/tags" Target="../tags/tag430.xml"/><Relationship Id="rId26" Type="http://schemas.openxmlformats.org/officeDocument/2006/relationships/tags" Target="../tags/tag429.xml"/><Relationship Id="rId25" Type="http://schemas.openxmlformats.org/officeDocument/2006/relationships/tags" Target="../tags/tag428.xml"/><Relationship Id="rId24" Type="http://schemas.openxmlformats.org/officeDocument/2006/relationships/tags" Target="../tags/tag427.xml"/><Relationship Id="rId23" Type="http://schemas.openxmlformats.org/officeDocument/2006/relationships/tags" Target="../tags/tag426.xml"/><Relationship Id="rId22" Type="http://schemas.openxmlformats.org/officeDocument/2006/relationships/tags" Target="../tags/tag425.xml"/><Relationship Id="rId21" Type="http://schemas.openxmlformats.org/officeDocument/2006/relationships/tags" Target="../tags/tag424.xml"/><Relationship Id="rId20" Type="http://schemas.openxmlformats.org/officeDocument/2006/relationships/tags" Target="../tags/tag423.xml"/><Relationship Id="rId2" Type="http://schemas.openxmlformats.org/officeDocument/2006/relationships/tags" Target="../tags/tag405.xml"/><Relationship Id="rId19" Type="http://schemas.openxmlformats.org/officeDocument/2006/relationships/tags" Target="../tags/tag422.xml"/><Relationship Id="rId18" Type="http://schemas.openxmlformats.org/officeDocument/2006/relationships/tags" Target="../tags/tag421.xml"/><Relationship Id="rId17" Type="http://schemas.openxmlformats.org/officeDocument/2006/relationships/tags" Target="../tags/tag420.xml"/><Relationship Id="rId16" Type="http://schemas.openxmlformats.org/officeDocument/2006/relationships/tags" Target="../tags/tag419.xml"/><Relationship Id="rId15" Type="http://schemas.openxmlformats.org/officeDocument/2006/relationships/tags" Target="../tags/tag418.xml"/><Relationship Id="rId14" Type="http://schemas.openxmlformats.org/officeDocument/2006/relationships/tags" Target="../tags/tag417.xml"/><Relationship Id="rId13" Type="http://schemas.openxmlformats.org/officeDocument/2006/relationships/tags" Target="../tags/tag416.xml"/><Relationship Id="rId12" Type="http://schemas.openxmlformats.org/officeDocument/2006/relationships/tags" Target="../tags/tag415.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28.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7" Type="http://schemas.openxmlformats.org/officeDocument/2006/relationships/notesSlide" Target="../notesSlides/notesSlide25.xml"/><Relationship Id="rId36" Type="http://schemas.openxmlformats.org/officeDocument/2006/relationships/slideLayout" Target="../slideLayouts/slideLayout5.xml"/><Relationship Id="rId35" Type="http://schemas.openxmlformats.org/officeDocument/2006/relationships/tags" Target="../tags/tag465.xml"/><Relationship Id="rId34" Type="http://schemas.openxmlformats.org/officeDocument/2006/relationships/tags" Target="../tags/tag464.xml"/><Relationship Id="rId33" Type="http://schemas.openxmlformats.org/officeDocument/2006/relationships/tags" Target="../tags/tag463.xml"/><Relationship Id="rId32" Type="http://schemas.openxmlformats.org/officeDocument/2006/relationships/tags" Target="../tags/tag462.xml"/><Relationship Id="rId31" Type="http://schemas.openxmlformats.org/officeDocument/2006/relationships/tags" Target="../tags/tag461.xml"/><Relationship Id="rId30" Type="http://schemas.openxmlformats.org/officeDocument/2006/relationships/tags" Target="../tags/tag460.xml"/><Relationship Id="rId3" Type="http://schemas.openxmlformats.org/officeDocument/2006/relationships/tags" Target="../tags/tag433.xml"/><Relationship Id="rId29" Type="http://schemas.openxmlformats.org/officeDocument/2006/relationships/tags" Target="../tags/tag459.xml"/><Relationship Id="rId28" Type="http://schemas.openxmlformats.org/officeDocument/2006/relationships/tags" Target="../tags/tag458.xml"/><Relationship Id="rId27" Type="http://schemas.openxmlformats.org/officeDocument/2006/relationships/tags" Target="../tags/tag457.xml"/><Relationship Id="rId26" Type="http://schemas.openxmlformats.org/officeDocument/2006/relationships/tags" Target="../tags/tag456.xml"/><Relationship Id="rId25" Type="http://schemas.openxmlformats.org/officeDocument/2006/relationships/tags" Target="../tags/tag455.xml"/><Relationship Id="rId24" Type="http://schemas.openxmlformats.org/officeDocument/2006/relationships/tags" Target="../tags/tag454.xml"/><Relationship Id="rId23" Type="http://schemas.openxmlformats.org/officeDocument/2006/relationships/tags" Target="../tags/tag453.xml"/><Relationship Id="rId22" Type="http://schemas.openxmlformats.org/officeDocument/2006/relationships/tags" Target="../tags/tag452.xml"/><Relationship Id="rId21" Type="http://schemas.openxmlformats.org/officeDocument/2006/relationships/tags" Target="../tags/tag451.xml"/><Relationship Id="rId20" Type="http://schemas.openxmlformats.org/officeDocument/2006/relationships/tags" Target="../tags/tag450.xml"/><Relationship Id="rId2" Type="http://schemas.openxmlformats.org/officeDocument/2006/relationships/tags" Target="../tags/tag432.xml"/><Relationship Id="rId19" Type="http://schemas.openxmlformats.org/officeDocument/2006/relationships/tags" Target="../tags/tag449.xml"/><Relationship Id="rId18" Type="http://schemas.openxmlformats.org/officeDocument/2006/relationships/tags" Target="../tags/tag448.xml"/><Relationship Id="rId17" Type="http://schemas.openxmlformats.org/officeDocument/2006/relationships/tags" Target="../tags/tag447.xml"/><Relationship Id="rId16" Type="http://schemas.openxmlformats.org/officeDocument/2006/relationships/tags" Target="../tags/tag446.xml"/><Relationship Id="rId15" Type="http://schemas.openxmlformats.org/officeDocument/2006/relationships/tags" Target="../tags/tag445.xml"/><Relationship Id="rId14" Type="http://schemas.openxmlformats.org/officeDocument/2006/relationships/tags" Target="../tags/tag444.xml"/><Relationship Id="rId13" Type="http://schemas.openxmlformats.org/officeDocument/2006/relationships/tags" Target="../tags/tag443.xml"/><Relationship Id="rId12" Type="http://schemas.openxmlformats.org/officeDocument/2006/relationships/tags" Target="../tags/tag442.xml"/><Relationship Id="rId11" Type="http://schemas.openxmlformats.org/officeDocument/2006/relationships/tags" Target="../tags/tag441.xml"/><Relationship Id="rId10" Type="http://schemas.openxmlformats.org/officeDocument/2006/relationships/tags" Target="../tags/tag440.xml"/><Relationship Id="rId1" Type="http://schemas.openxmlformats.org/officeDocument/2006/relationships/tags" Target="../tags/tag431.xml"/></Relationships>
</file>

<file path=ppt/slides/_rels/slide29.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 Id="rId31" Type="http://schemas.openxmlformats.org/officeDocument/2006/relationships/notesSlide" Target="../notesSlides/notesSlide26.xml"/><Relationship Id="rId30" Type="http://schemas.openxmlformats.org/officeDocument/2006/relationships/slideLayout" Target="../slideLayouts/slideLayout5.xml"/><Relationship Id="rId3" Type="http://schemas.openxmlformats.org/officeDocument/2006/relationships/tags" Target="../tags/tag468.xml"/><Relationship Id="rId29" Type="http://schemas.openxmlformats.org/officeDocument/2006/relationships/image" Target="../media/image44.png"/><Relationship Id="rId28" Type="http://schemas.openxmlformats.org/officeDocument/2006/relationships/tags" Target="../tags/tag493.xml"/><Relationship Id="rId27" Type="http://schemas.openxmlformats.org/officeDocument/2006/relationships/tags" Target="../tags/tag492.xml"/><Relationship Id="rId26" Type="http://schemas.openxmlformats.org/officeDocument/2006/relationships/tags" Target="../tags/tag491.xml"/><Relationship Id="rId25" Type="http://schemas.openxmlformats.org/officeDocument/2006/relationships/tags" Target="../tags/tag490.xml"/><Relationship Id="rId24" Type="http://schemas.openxmlformats.org/officeDocument/2006/relationships/tags" Target="../tags/tag489.xml"/><Relationship Id="rId23" Type="http://schemas.openxmlformats.org/officeDocument/2006/relationships/tags" Target="../tags/tag488.xml"/><Relationship Id="rId22" Type="http://schemas.openxmlformats.org/officeDocument/2006/relationships/tags" Target="../tags/tag487.xml"/><Relationship Id="rId21" Type="http://schemas.openxmlformats.org/officeDocument/2006/relationships/tags" Target="../tags/tag486.xml"/><Relationship Id="rId20" Type="http://schemas.openxmlformats.org/officeDocument/2006/relationships/tags" Target="../tags/tag485.xml"/><Relationship Id="rId2" Type="http://schemas.openxmlformats.org/officeDocument/2006/relationships/tags" Target="../tags/tag467.xml"/><Relationship Id="rId19" Type="http://schemas.openxmlformats.org/officeDocument/2006/relationships/tags" Target="../tags/tag484.xml"/><Relationship Id="rId18" Type="http://schemas.openxmlformats.org/officeDocument/2006/relationships/tags" Target="../tags/tag483.xml"/><Relationship Id="rId17" Type="http://schemas.openxmlformats.org/officeDocument/2006/relationships/tags" Target="../tags/tag482.xml"/><Relationship Id="rId16" Type="http://schemas.openxmlformats.org/officeDocument/2006/relationships/tags" Target="../tags/tag481.xml"/><Relationship Id="rId15" Type="http://schemas.openxmlformats.org/officeDocument/2006/relationships/tags" Target="../tags/tag480.xml"/><Relationship Id="rId14" Type="http://schemas.openxmlformats.org/officeDocument/2006/relationships/tags" Target="../tags/tag479.xml"/><Relationship Id="rId13" Type="http://schemas.openxmlformats.org/officeDocument/2006/relationships/tags" Target="../tags/tag478.xml"/><Relationship Id="rId12" Type="http://schemas.openxmlformats.org/officeDocument/2006/relationships/tags" Target="../tags/tag477.xml"/><Relationship Id="rId11" Type="http://schemas.openxmlformats.org/officeDocument/2006/relationships/tags" Target="../tags/tag476.xml"/><Relationship Id="rId10" Type="http://schemas.openxmlformats.org/officeDocument/2006/relationships/tags" Target="../tags/tag475.xml"/><Relationship Id="rId1" Type="http://schemas.openxmlformats.org/officeDocument/2006/relationships/tags" Target="../tags/tag46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94.xml"/><Relationship Id="rId1" Type="http://schemas.openxmlformats.org/officeDocument/2006/relationships/image" Target="../media/image45.png"/></Relationships>
</file>

<file path=ppt/slides/_rels/slide31.xml.rels><?xml version="1.0" encoding="UTF-8" standalone="yes"?>
<Relationships xmlns="http://schemas.openxmlformats.org/package/2006/relationships"><Relationship Id="rId9" Type="http://schemas.openxmlformats.org/officeDocument/2006/relationships/tags" Target="../tags/tag503.xml"/><Relationship Id="rId8" Type="http://schemas.openxmlformats.org/officeDocument/2006/relationships/tags" Target="../tags/tag502.xml"/><Relationship Id="rId7" Type="http://schemas.openxmlformats.org/officeDocument/2006/relationships/tags" Target="../tags/tag501.xml"/><Relationship Id="rId6" Type="http://schemas.openxmlformats.org/officeDocument/2006/relationships/tags" Target="../tags/tag500.xml"/><Relationship Id="rId5" Type="http://schemas.openxmlformats.org/officeDocument/2006/relationships/tags" Target="../tags/tag499.xml"/><Relationship Id="rId4" Type="http://schemas.openxmlformats.org/officeDocument/2006/relationships/tags" Target="../tags/tag498.xml"/><Relationship Id="rId3" Type="http://schemas.openxmlformats.org/officeDocument/2006/relationships/tags" Target="../tags/tag497.xml"/><Relationship Id="rId21" Type="http://schemas.openxmlformats.org/officeDocument/2006/relationships/slideLayout" Target="../slideLayouts/slideLayout5.xml"/><Relationship Id="rId20" Type="http://schemas.openxmlformats.org/officeDocument/2006/relationships/tags" Target="../tags/tag514.xml"/><Relationship Id="rId2" Type="http://schemas.openxmlformats.org/officeDocument/2006/relationships/tags" Target="../tags/tag496.xml"/><Relationship Id="rId19" Type="http://schemas.openxmlformats.org/officeDocument/2006/relationships/tags" Target="../tags/tag513.xml"/><Relationship Id="rId18" Type="http://schemas.openxmlformats.org/officeDocument/2006/relationships/tags" Target="../tags/tag512.xml"/><Relationship Id="rId17" Type="http://schemas.openxmlformats.org/officeDocument/2006/relationships/tags" Target="../tags/tag511.xml"/><Relationship Id="rId16" Type="http://schemas.openxmlformats.org/officeDocument/2006/relationships/tags" Target="../tags/tag510.xml"/><Relationship Id="rId15" Type="http://schemas.openxmlformats.org/officeDocument/2006/relationships/tags" Target="../tags/tag509.xml"/><Relationship Id="rId14" Type="http://schemas.openxmlformats.org/officeDocument/2006/relationships/tags" Target="../tags/tag508.xml"/><Relationship Id="rId13" Type="http://schemas.openxmlformats.org/officeDocument/2006/relationships/tags" Target="../tags/tag507.xml"/><Relationship Id="rId12" Type="http://schemas.openxmlformats.org/officeDocument/2006/relationships/tags" Target="../tags/tag506.xml"/><Relationship Id="rId11" Type="http://schemas.openxmlformats.org/officeDocument/2006/relationships/tags" Target="../tags/tag505.xml"/><Relationship Id="rId10" Type="http://schemas.openxmlformats.org/officeDocument/2006/relationships/tags" Target="../tags/tag504.xml"/><Relationship Id="rId1" Type="http://schemas.openxmlformats.org/officeDocument/2006/relationships/tags" Target="../tags/tag495.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tags" Target="../tags/tag516.xml"/><Relationship Id="rId1" Type="http://schemas.openxmlformats.org/officeDocument/2006/relationships/tags" Target="../tags/tag515.xml"/></Relationships>
</file>

<file path=ppt/slides/_rels/slide33.xml.rels><?xml version="1.0" encoding="UTF-8" standalone="yes"?>
<Relationships xmlns="http://schemas.openxmlformats.org/package/2006/relationships"><Relationship Id="rId9" Type="http://schemas.openxmlformats.org/officeDocument/2006/relationships/image" Target="../media/image54.jpeg"/><Relationship Id="rId8" Type="http://schemas.openxmlformats.org/officeDocument/2006/relationships/image" Target="../media/image53.jpeg"/><Relationship Id="rId7" Type="http://schemas.openxmlformats.org/officeDocument/2006/relationships/image" Target="../media/image52.jpe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1" Type="http://schemas.openxmlformats.org/officeDocument/2006/relationships/notesSlide" Target="../notesSlides/notesSlide28.xml"/><Relationship Id="rId10" Type="http://schemas.openxmlformats.org/officeDocument/2006/relationships/slideLayout" Target="../slideLayouts/slideLayout5.xml"/><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9" Type="http://schemas.openxmlformats.org/officeDocument/2006/relationships/image" Target="../media/image62.png"/><Relationship Id="rId8" Type="http://schemas.openxmlformats.org/officeDocument/2006/relationships/image" Target="../media/image61.png"/><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5" Type="http://schemas.openxmlformats.org/officeDocument/2006/relationships/slideLayout" Target="../slideLayouts/slideLayout5.xml"/><Relationship Id="rId14" Type="http://schemas.openxmlformats.org/officeDocument/2006/relationships/image" Target="../media/image67.png"/><Relationship Id="rId13" Type="http://schemas.openxmlformats.org/officeDocument/2006/relationships/image" Target="../media/image66.png"/><Relationship Id="rId12" Type="http://schemas.openxmlformats.org/officeDocument/2006/relationships/image" Target="../media/image65.png"/><Relationship Id="rId11" Type="http://schemas.openxmlformats.org/officeDocument/2006/relationships/image" Target="../media/image64.jpeg"/><Relationship Id="rId10" Type="http://schemas.openxmlformats.org/officeDocument/2006/relationships/image" Target="../media/image63.png"/><Relationship Id="rId1" Type="http://schemas.openxmlformats.org/officeDocument/2006/relationships/tags" Target="../tags/tag517.xml"/></Relationships>
</file>

<file path=ppt/slides/_rels/slide35.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tags" Target="../tags/tag520.xml"/><Relationship Id="rId7" Type="http://schemas.openxmlformats.org/officeDocument/2006/relationships/image" Target="../media/image72.png"/><Relationship Id="rId6" Type="http://schemas.openxmlformats.org/officeDocument/2006/relationships/tags" Target="../tags/tag519.xml"/><Relationship Id="rId5" Type="http://schemas.openxmlformats.org/officeDocument/2006/relationships/image" Target="../media/image71.png"/><Relationship Id="rId4" Type="http://schemas.openxmlformats.org/officeDocument/2006/relationships/tags" Target="../tags/tag518.xml"/><Relationship Id="rId34" Type="http://schemas.openxmlformats.org/officeDocument/2006/relationships/notesSlide" Target="../notesSlides/notesSlide29.xml"/><Relationship Id="rId33" Type="http://schemas.openxmlformats.org/officeDocument/2006/relationships/slideLayout" Target="../slideLayouts/slideLayout5.xml"/><Relationship Id="rId32" Type="http://schemas.openxmlformats.org/officeDocument/2006/relationships/tags" Target="../tags/tag536.xml"/><Relationship Id="rId31" Type="http://schemas.openxmlformats.org/officeDocument/2006/relationships/tags" Target="../tags/tag535.xml"/><Relationship Id="rId30" Type="http://schemas.openxmlformats.org/officeDocument/2006/relationships/tags" Target="../tags/tag534.xml"/><Relationship Id="rId3" Type="http://schemas.openxmlformats.org/officeDocument/2006/relationships/image" Target="../media/image70.jpeg"/><Relationship Id="rId29" Type="http://schemas.openxmlformats.org/officeDocument/2006/relationships/tags" Target="../tags/tag533.xml"/><Relationship Id="rId28" Type="http://schemas.openxmlformats.org/officeDocument/2006/relationships/tags" Target="../tags/tag532.xml"/><Relationship Id="rId27" Type="http://schemas.openxmlformats.org/officeDocument/2006/relationships/tags" Target="../tags/tag531.xml"/><Relationship Id="rId26" Type="http://schemas.openxmlformats.org/officeDocument/2006/relationships/tags" Target="../tags/tag530.xml"/><Relationship Id="rId25" Type="http://schemas.openxmlformats.org/officeDocument/2006/relationships/image" Target="../media/image80.png"/><Relationship Id="rId24" Type="http://schemas.openxmlformats.org/officeDocument/2006/relationships/tags" Target="../tags/tag529.xml"/><Relationship Id="rId23" Type="http://schemas.openxmlformats.org/officeDocument/2006/relationships/image" Target="../media/image79.png"/><Relationship Id="rId22" Type="http://schemas.openxmlformats.org/officeDocument/2006/relationships/tags" Target="../tags/tag528.xml"/><Relationship Id="rId21" Type="http://schemas.openxmlformats.org/officeDocument/2006/relationships/image" Target="../media/image78.png"/><Relationship Id="rId20" Type="http://schemas.openxmlformats.org/officeDocument/2006/relationships/tags" Target="../tags/tag527.xml"/><Relationship Id="rId2" Type="http://schemas.openxmlformats.org/officeDocument/2006/relationships/image" Target="../media/image69.jpeg"/><Relationship Id="rId19" Type="http://schemas.openxmlformats.org/officeDocument/2006/relationships/image" Target="../media/image77.png"/><Relationship Id="rId18" Type="http://schemas.openxmlformats.org/officeDocument/2006/relationships/tags" Target="../tags/tag526.xml"/><Relationship Id="rId17" Type="http://schemas.openxmlformats.org/officeDocument/2006/relationships/image" Target="../media/image76.png"/><Relationship Id="rId16" Type="http://schemas.openxmlformats.org/officeDocument/2006/relationships/tags" Target="../tags/tag525.xml"/><Relationship Id="rId15" Type="http://schemas.openxmlformats.org/officeDocument/2006/relationships/tags" Target="../tags/tag524.xml"/><Relationship Id="rId14" Type="http://schemas.openxmlformats.org/officeDocument/2006/relationships/tags" Target="../tags/tag523.xml"/><Relationship Id="rId13" Type="http://schemas.openxmlformats.org/officeDocument/2006/relationships/image" Target="../media/image75.png"/><Relationship Id="rId12" Type="http://schemas.openxmlformats.org/officeDocument/2006/relationships/tags" Target="../tags/tag522.xml"/><Relationship Id="rId11" Type="http://schemas.openxmlformats.org/officeDocument/2006/relationships/image" Target="../media/image74.png"/><Relationship Id="rId10" Type="http://schemas.openxmlformats.org/officeDocument/2006/relationships/tags" Target="../tags/tag521.xml"/><Relationship Id="rId1" Type="http://schemas.openxmlformats.org/officeDocument/2006/relationships/image" Target="../media/image68.jpeg"/></Relationships>
</file>

<file path=ppt/slides/_rels/slide36.xml.rels><?xml version="1.0" encoding="UTF-8" standalone="yes"?>
<Relationships xmlns="http://schemas.openxmlformats.org/package/2006/relationships"><Relationship Id="rId9" Type="http://schemas.openxmlformats.org/officeDocument/2006/relationships/image" Target="../media/image89.jpeg"/><Relationship Id="rId8" Type="http://schemas.openxmlformats.org/officeDocument/2006/relationships/image" Target="../media/image88.jpeg"/><Relationship Id="rId7" Type="http://schemas.openxmlformats.org/officeDocument/2006/relationships/image" Target="../media/image87.jpeg"/><Relationship Id="rId6" Type="http://schemas.openxmlformats.org/officeDocument/2006/relationships/image" Target="../media/image86.jpeg"/><Relationship Id="rId5" Type="http://schemas.openxmlformats.org/officeDocument/2006/relationships/image" Target="../media/image85.jpeg"/><Relationship Id="rId4" Type="http://schemas.openxmlformats.org/officeDocument/2006/relationships/image" Target="../media/image84.jpeg"/><Relationship Id="rId3" Type="http://schemas.openxmlformats.org/officeDocument/2006/relationships/image" Target="../media/image83.jpeg"/><Relationship Id="rId21" Type="http://schemas.openxmlformats.org/officeDocument/2006/relationships/slideLayout" Target="../slideLayouts/slideLayout5.xml"/><Relationship Id="rId20" Type="http://schemas.openxmlformats.org/officeDocument/2006/relationships/image" Target="../media/image99.jpeg"/><Relationship Id="rId2" Type="http://schemas.openxmlformats.org/officeDocument/2006/relationships/image" Target="../media/image82.jpeg"/><Relationship Id="rId19" Type="http://schemas.openxmlformats.org/officeDocument/2006/relationships/image" Target="../media/image98.jpeg"/><Relationship Id="rId18" Type="http://schemas.openxmlformats.org/officeDocument/2006/relationships/image" Target="../media/image97.jpeg"/><Relationship Id="rId17" Type="http://schemas.openxmlformats.org/officeDocument/2006/relationships/image" Target="../media/image96.jpeg"/><Relationship Id="rId16" Type="http://schemas.openxmlformats.org/officeDocument/2006/relationships/image" Target="../media/image95.jpeg"/><Relationship Id="rId15" Type="http://schemas.openxmlformats.org/officeDocument/2006/relationships/image" Target="../media/image94.jpeg"/><Relationship Id="rId14" Type="http://schemas.openxmlformats.org/officeDocument/2006/relationships/image" Target="../media/image93.jpeg"/><Relationship Id="rId13" Type="http://schemas.openxmlformats.org/officeDocument/2006/relationships/tags" Target="../tags/tag537.xml"/><Relationship Id="rId12" Type="http://schemas.openxmlformats.org/officeDocument/2006/relationships/image" Target="../media/image92.jpeg"/><Relationship Id="rId11" Type="http://schemas.openxmlformats.org/officeDocument/2006/relationships/image" Target="../media/image91.jpeg"/><Relationship Id="rId10" Type="http://schemas.openxmlformats.org/officeDocument/2006/relationships/image" Target="../media/image90.jpeg"/><Relationship Id="rId1" Type="http://schemas.openxmlformats.org/officeDocument/2006/relationships/image" Target="../media/image81.jpeg"/></Relationships>
</file>

<file path=ppt/slides/_rels/slide37.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png"/><Relationship Id="rId7" Type="http://schemas.openxmlformats.org/officeDocument/2006/relationships/image" Target="../media/image104.png"/><Relationship Id="rId6" Type="http://schemas.openxmlformats.org/officeDocument/2006/relationships/image" Target="../media/image103.png"/><Relationship Id="rId5" Type="http://schemas.openxmlformats.org/officeDocument/2006/relationships/image" Target="../media/image52.jpeg"/><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2" Type="http://schemas.openxmlformats.org/officeDocument/2006/relationships/notesSlide" Target="../notesSlides/notesSlide30.xml"/><Relationship Id="rId11" Type="http://schemas.openxmlformats.org/officeDocument/2006/relationships/slideLayout" Target="../slideLayouts/slideLayout5.xml"/><Relationship Id="rId10" Type="http://schemas.openxmlformats.org/officeDocument/2006/relationships/tags" Target="../tags/tag539.xml"/><Relationship Id="rId1" Type="http://schemas.openxmlformats.org/officeDocument/2006/relationships/tags" Target="../tags/tag5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146" name="Freeform 5"/>
          <p:cNvSpPr>
            <a:spLocks noEditPoints="1"/>
          </p:cNvSpPr>
          <p:nvPr/>
        </p:nvSpPr>
        <p:spPr>
          <a:xfrm>
            <a:off x="247" y="279374"/>
            <a:ext cx="12190871" cy="235245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1904182375"/>
              </a:cxn>
              <a:cxn ang="0">
                <a:pos x="2147483647" y="1568971684"/>
              </a:cxn>
              <a:cxn ang="0">
                <a:pos x="2147483647" y="1431628603"/>
              </a:cxn>
              <a:cxn ang="0">
                <a:pos x="2147483647" y="2147483647"/>
              </a:cxn>
              <a:cxn ang="0">
                <a:pos x="2147483647" y="2147483647"/>
              </a:cxn>
              <a:cxn ang="0">
                <a:pos x="2147483647" y="1594577995"/>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865959966"/>
              </a:cxn>
              <a:cxn ang="0">
                <a:pos x="2147483647" y="435307483"/>
              </a:cxn>
              <a:cxn ang="0">
                <a:pos x="2147483647" y="1617856426"/>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1957931852" y="2147483647"/>
              </a:cxn>
              <a:cxn ang="0">
                <a:pos x="1542190468" y="2147483647"/>
              </a:cxn>
              <a:cxn ang="0">
                <a:pos x="1196126729" y="2147483647"/>
              </a:cxn>
              <a:cxn ang="0">
                <a:pos x="743224329" y="2147483647"/>
              </a:cxn>
              <a:cxn ang="0">
                <a:pos x="506321635" y="2147483647"/>
              </a:cxn>
              <a:cxn ang="0">
                <a:pos x="130064272" y="2147483647"/>
              </a:cxn>
              <a:cxn ang="0">
                <a:pos x="2147483647" y="2147483647"/>
              </a:cxn>
              <a:cxn ang="0">
                <a:pos x="2147483647" y="2147483647"/>
              </a:cxn>
              <a:cxn ang="0">
                <a:pos x="2147483647" y="2029885669"/>
              </a:cxn>
              <a:cxn ang="0">
                <a:pos x="2147483647" y="1759856032"/>
              </a:cxn>
            </a:cxnLst>
            <a:rect l="0" t="0" r="0" b="0"/>
            <a:pathLst>
              <a:path w="12190871" h="2352457">
                <a:moveTo>
                  <a:pt x="12157346" y="2245666"/>
                </a:moveTo>
                <a:cubicBezTo>
                  <a:pt x="12157346" y="2230410"/>
                  <a:pt x="12157346" y="2230410"/>
                  <a:pt x="12157346" y="2230410"/>
                </a:cubicBezTo>
                <a:cubicBezTo>
                  <a:pt x="12139060" y="2230410"/>
                  <a:pt x="12139060" y="2230410"/>
                  <a:pt x="12139060" y="2230410"/>
                </a:cubicBezTo>
                <a:cubicBezTo>
                  <a:pt x="12139060" y="2190745"/>
                  <a:pt x="12139060" y="2190745"/>
                  <a:pt x="12139060" y="2190745"/>
                </a:cubicBezTo>
                <a:cubicBezTo>
                  <a:pt x="12122297" y="2190745"/>
                  <a:pt x="12122297" y="2190745"/>
                  <a:pt x="12122297" y="2190745"/>
                </a:cubicBezTo>
                <a:cubicBezTo>
                  <a:pt x="12122297" y="2166335"/>
                  <a:pt x="12122297" y="2166335"/>
                  <a:pt x="12122297" y="2166335"/>
                </a:cubicBezTo>
                <a:cubicBezTo>
                  <a:pt x="12100963" y="2166335"/>
                  <a:pt x="12100963" y="2166335"/>
                  <a:pt x="12100963" y="2166335"/>
                </a:cubicBezTo>
                <a:cubicBezTo>
                  <a:pt x="12100963" y="2178540"/>
                  <a:pt x="12100963" y="2178540"/>
                  <a:pt x="12100963" y="2178540"/>
                </a:cubicBezTo>
                <a:cubicBezTo>
                  <a:pt x="12088772" y="2178540"/>
                  <a:pt x="12088772" y="2178540"/>
                  <a:pt x="12088772" y="2178540"/>
                </a:cubicBezTo>
                <a:cubicBezTo>
                  <a:pt x="12088772" y="2163284"/>
                  <a:pt x="12088772" y="2163284"/>
                  <a:pt x="12088772" y="2163284"/>
                </a:cubicBezTo>
                <a:cubicBezTo>
                  <a:pt x="12062867" y="2163284"/>
                  <a:pt x="12062867" y="2163284"/>
                  <a:pt x="12062867" y="2163284"/>
                </a:cubicBezTo>
                <a:cubicBezTo>
                  <a:pt x="12062867" y="2186168"/>
                  <a:pt x="12062867" y="2186168"/>
                  <a:pt x="12062867" y="2186168"/>
                </a:cubicBezTo>
                <a:cubicBezTo>
                  <a:pt x="12030866" y="2186168"/>
                  <a:pt x="12030866" y="2186168"/>
                  <a:pt x="12030866" y="2186168"/>
                </a:cubicBezTo>
                <a:cubicBezTo>
                  <a:pt x="12030866" y="2036660"/>
                  <a:pt x="12030866" y="2036660"/>
                  <a:pt x="12030866" y="2036660"/>
                </a:cubicBezTo>
                <a:cubicBezTo>
                  <a:pt x="12006484" y="2036660"/>
                  <a:pt x="12006484" y="2036660"/>
                  <a:pt x="12006484" y="2036660"/>
                </a:cubicBezTo>
                <a:cubicBezTo>
                  <a:pt x="11969911" y="2007674"/>
                  <a:pt x="11969911" y="2007674"/>
                  <a:pt x="11969911" y="2007674"/>
                </a:cubicBezTo>
                <a:cubicBezTo>
                  <a:pt x="11969911" y="1983265"/>
                  <a:pt x="11969911" y="1983265"/>
                  <a:pt x="11969911" y="1983265"/>
                </a:cubicBezTo>
                <a:cubicBezTo>
                  <a:pt x="11951625" y="1983265"/>
                  <a:pt x="11951625" y="1983265"/>
                  <a:pt x="11951625" y="1983265"/>
                </a:cubicBezTo>
                <a:cubicBezTo>
                  <a:pt x="11951625" y="2006148"/>
                  <a:pt x="11951625" y="2006148"/>
                  <a:pt x="11951625" y="2006148"/>
                </a:cubicBezTo>
                <a:cubicBezTo>
                  <a:pt x="11934863" y="2006148"/>
                  <a:pt x="11934863" y="2006148"/>
                  <a:pt x="11934863" y="2006148"/>
                </a:cubicBezTo>
                <a:cubicBezTo>
                  <a:pt x="11934863" y="1983265"/>
                  <a:pt x="11934863" y="1983265"/>
                  <a:pt x="11934863" y="1983265"/>
                </a:cubicBezTo>
                <a:cubicBezTo>
                  <a:pt x="11918100" y="1983265"/>
                  <a:pt x="11918100" y="1983265"/>
                  <a:pt x="11918100" y="1983265"/>
                </a:cubicBezTo>
                <a:cubicBezTo>
                  <a:pt x="11918100" y="2006148"/>
                  <a:pt x="11918100" y="2006148"/>
                  <a:pt x="11918100" y="2006148"/>
                </a:cubicBezTo>
                <a:cubicBezTo>
                  <a:pt x="11895242" y="2036660"/>
                  <a:pt x="11895242" y="2036660"/>
                  <a:pt x="11895242" y="2036660"/>
                </a:cubicBezTo>
                <a:cubicBezTo>
                  <a:pt x="11869337" y="2036660"/>
                  <a:pt x="11869337" y="2036660"/>
                  <a:pt x="11869337" y="2036660"/>
                </a:cubicBezTo>
                <a:cubicBezTo>
                  <a:pt x="11869337" y="2190745"/>
                  <a:pt x="11869337" y="2190745"/>
                  <a:pt x="11869337" y="2190745"/>
                </a:cubicBezTo>
                <a:cubicBezTo>
                  <a:pt x="11808382" y="2190745"/>
                  <a:pt x="11808382" y="2190745"/>
                  <a:pt x="11808382" y="2190745"/>
                </a:cubicBezTo>
                <a:cubicBezTo>
                  <a:pt x="11808382" y="2051916"/>
                  <a:pt x="11808382" y="2051916"/>
                  <a:pt x="11808382" y="2051916"/>
                </a:cubicBezTo>
                <a:cubicBezTo>
                  <a:pt x="11791620" y="2051916"/>
                  <a:pt x="11791620" y="2051916"/>
                  <a:pt x="11791620" y="2051916"/>
                </a:cubicBezTo>
                <a:cubicBezTo>
                  <a:pt x="11791620" y="2062595"/>
                  <a:pt x="11791620" y="2062595"/>
                  <a:pt x="11791620" y="2062595"/>
                </a:cubicBezTo>
                <a:cubicBezTo>
                  <a:pt x="11770286" y="2062595"/>
                  <a:pt x="11770286" y="2062595"/>
                  <a:pt x="11770286" y="2062595"/>
                </a:cubicBezTo>
                <a:cubicBezTo>
                  <a:pt x="11770286" y="2039711"/>
                  <a:pt x="11770286" y="2039711"/>
                  <a:pt x="11770286" y="2039711"/>
                </a:cubicBezTo>
                <a:cubicBezTo>
                  <a:pt x="11753524" y="2039711"/>
                  <a:pt x="11753524" y="2039711"/>
                  <a:pt x="11753524" y="2039711"/>
                </a:cubicBezTo>
                <a:cubicBezTo>
                  <a:pt x="11753524" y="2015302"/>
                  <a:pt x="11753524" y="2015302"/>
                  <a:pt x="11753524" y="2015302"/>
                </a:cubicBezTo>
                <a:cubicBezTo>
                  <a:pt x="11729142" y="2015302"/>
                  <a:pt x="11729142" y="2015302"/>
                  <a:pt x="11729142" y="2015302"/>
                </a:cubicBezTo>
                <a:cubicBezTo>
                  <a:pt x="11729142" y="2038186"/>
                  <a:pt x="11729142" y="2038186"/>
                  <a:pt x="11729142" y="2038186"/>
                </a:cubicBezTo>
                <a:cubicBezTo>
                  <a:pt x="11713903" y="2038186"/>
                  <a:pt x="11713903" y="2038186"/>
                  <a:pt x="11713903" y="2038186"/>
                </a:cubicBezTo>
                <a:cubicBezTo>
                  <a:pt x="11713903" y="2019879"/>
                  <a:pt x="11713903" y="2019879"/>
                  <a:pt x="11713903" y="2019879"/>
                </a:cubicBezTo>
                <a:cubicBezTo>
                  <a:pt x="11692569" y="2019879"/>
                  <a:pt x="11692569" y="2019879"/>
                  <a:pt x="11692569" y="2019879"/>
                </a:cubicBezTo>
                <a:cubicBezTo>
                  <a:pt x="11692569" y="2038186"/>
                  <a:pt x="11692569" y="2038186"/>
                  <a:pt x="11692569" y="2038186"/>
                </a:cubicBezTo>
                <a:cubicBezTo>
                  <a:pt x="11671235" y="2038186"/>
                  <a:pt x="11671235" y="2038186"/>
                  <a:pt x="11671235" y="2038186"/>
                </a:cubicBezTo>
                <a:cubicBezTo>
                  <a:pt x="11671235" y="2022930"/>
                  <a:pt x="11671235" y="2022930"/>
                  <a:pt x="11671235" y="2022930"/>
                </a:cubicBezTo>
                <a:cubicBezTo>
                  <a:pt x="11649901" y="2022930"/>
                  <a:pt x="11649901" y="2022930"/>
                  <a:pt x="11649901" y="2022930"/>
                </a:cubicBezTo>
                <a:cubicBezTo>
                  <a:pt x="11649901" y="2068698"/>
                  <a:pt x="11649901" y="2068698"/>
                  <a:pt x="11649901" y="2068698"/>
                </a:cubicBezTo>
                <a:cubicBezTo>
                  <a:pt x="11605709" y="2068698"/>
                  <a:pt x="11605709" y="2068698"/>
                  <a:pt x="11605709" y="2068698"/>
                </a:cubicBezTo>
                <a:cubicBezTo>
                  <a:pt x="11605709" y="2195321"/>
                  <a:pt x="11605709" y="2195321"/>
                  <a:pt x="11605709" y="2195321"/>
                </a:cubicBezTo>
                <a:cubicBezTo>
                  <a:pt x="11552374" y="2195321"/>
                  <a:pt x="11552374" y="2195321"/>
                  <a:pt x="11552374" y="2195321"/>
                </a:cubicBezTo>
                <a:cubicBezTo>
                  <a:pt x="11552374" y="2039711"/>
                  <a:pt x="11552374" y="2039711"/>
                  <a:pt x="11552374" y="2039711"/>
                </a:cubicBezTo>
                <a:cubicBezTo>
                  <a:pt x="11515802" y="2039711"/>
                  <a:pt x="11515802" y="2039711"/>
                  <a:pt x="11515802" y="2039711"/>
                </a:cubicBezTo>
                <a:cubicBezTo>
                  <a:pt x="11486848" y="2003097"/>
                  <a:pt x="11486848" y="2003097"/>
                  <a:pt x="11486848" y="2003097"/>
                </a:cubicBezTo>
                <a:cubicBezTo>
                  <a:pt x="11424370" y="2003097"/>
                  <a:pt x="11424370" y="2003097"/>
                  <a:pt x="11424370" y="2003097"/>
                </a:cubicBezTo>
                <a:cubicBezTo>
                  <a:pt x="11424370" y="2160233"/>
                  <a:pt x="11424370" y="2160233"/>
                  <a:pt x="11424370" y="2160233"/>
                </a:cubicBezTo>
                <a:cubicBezTo>
                  <a:pt x="11403036" y="2160233"/>
                  <a:pt x="11403036" y="2160233"/>
                  <a:pt x="11403036" y="2160233"/>
                </a:cubicBezTo>
                <a:cubicBezTo>
                  <a:pt x="11403036" y="2004623"/>
                  <a:pt x="11403036" y="2004623"/>
                  <a:pt x="11403036" y="2004623"/>
                </a:cubicBezTo>
                <a:cubicBezTo>
                  <a:pt x="11375607" y="1960381"/>
                  <a:pt x="11375607" y="1960381"/>
                  <a:pt x="11375607" y="1960381"/>
                </a:cubicBezTo>
                <a:cubicBezTo>
                  <a:pt x="11355796" y="1960381"/>
                  <a:pt x="11355796" y="1960381"/>
                  <a:pt x="11355796" y="1960381"/>
                </a:cubicBezTo>
                <a:cubicBezTo>
                  <a:pt x="11355796" y="1969534"/>
                  <a:pt x="11355796" y="1969534"/>
                  <a:pt x="11355796" y="1969534"/>
                </a:cubicBezTo>
                <a:cubicBezTo>
                  <a:pt x="11339034" y="1969534"/>
                  <a:pt x="11339034" y="1969534"/>
                  <a:pt x="11339034" y="1969534"/>
                </a:cubicBezTo>
                <a:cubicBezTo>
                  <a:pt x="11339034" y="1963432"/>
                  <a:pt x="11339034" y="1963432"/>
                  <a:pt x="11339034" y="1963432"/>
                </a:cubicBezTo>
                <a:cubicBezTo>
                  <a:pt x="11322271" y="1963432"/>
                  <a:pt x="11322271" y="1963432"/>
                  <a:pt x="11322271" y="1963432"/>
                </a:cubicBezTo>
                <a:cubicBezTo>
                  <a:pt x="11322271" y="1984790"/>
                  <a:pt x="11322271" y="1984790"/>
                  <a:pt x="11322271" y="1984790"/>
                </a:cubicBezTo>
                <a:cubicBezTo>
                  <a:pt x="11250650" y="1984790"/>
                  <a:pt x="11250650" y="1984790"/>
                  <a:pt x="11250650" y="1984790"/>
                </a:cubicBezTo>
                <a:cubicBezTo>
                  <a:pt x="11250650" y="1961906"/>
                  <a:pt x="11250650" y="1961906"/>
                  <a:pt x="11250650" y="1961906"/>
                </a:cubicBezTo>
                <a:cubicBezTo>
                  <a:pt x="11230840" y="1923767"/>
                  <a:pt x="11230840" y="1923767"/>
                  <a:pt x="11230840" y="1923767"/>
                </a:cubicBezTo>
                <a:cubicBezTo>
                  <a:pt x="11163790" y="1923767"/>
                  <a:pt x="11163790" y="1923767"/>
                  <a:pt x="11163790" y="1923767"/>
                </a:cubicBezTo>
                <a:cubicBezTo>
                  <a:pt x="11163790" y="1961906"/>
                  <a:pt x="11163790" y="1961906"/>
                  <a:pt x="11163790" y="1961906"/>
                </a:cubicBezTo>
                <a:cubicBezTo>
                  <a:pt x="11119598" y="1961906"/>
                  <a:pt x="11119598" y="1961906"/>
                  <a:pt x="11119598" y="1961906"/>
                </a:cubicBezTo>
                <a:cubicBezTo>
                  <a:pt x="11119598" y="1987841"/>
                  <a:pt x="11119598" y="1987841"/>
                  <a:pt x="11119598" y="1987841"/>
                </a:cubicBezTo>
                <a:cubicBezTo>
                  <a:pt x="11111979" y="1987841"/>
                  <a:pt x="11111979" y="1987841"/>
                  <a:pt x="11111979" y="1987841"/>
                </a:cubicBezTo>
                <a:cubicBezTo>
                  <a:pt x="11111979" y="2071749"/>
                  <a:pt x="11111979" y="2071749"/>
                  <a:pt x="11111979" y="2071749"/>
                </a:cubicBezTo>
                <a:cubicBezTo>
                  <a:pt x="11095216" y="2071749"/>
                  <a:pt x="11095216" y="2071749"/>
                  <a:pt x="11095216" y="2071749"/>
                </a:cubicBezTo>
                <a:cubicBezTo>
                  <a:pt x="11095216" y="1986316"/>
                  <a:pt x="11095216" y="1986316"/>
                  <a:pt x="11095216" y="1986316"/>
                </a:cubicBezTo>
                <a:cubicBezTo>
                  <a:pt x="11083026" y="1986316"/>
                  <a:pt x="11083026" y="1986316"/>
                  <a:pt x="11083026" y="1986316"/>
                </a:cubicBezTo>
                <a:cubicBezTo>
                  <a:pt x="11083026" y="1951227"/>
                  <a:pt x="11083026" y="1951227"/>
                  <a:pt x="11083026" y="1951227"/>
                </a:cubicBezTo>
                <a:cubicBezTo>
                  <a:pt x="10987022" y="1951227"/>
                  <a:pt x="10987022" y="1951227"/>
                  <a:pt x="10987022" y="1951227"/>
                </a:cubicBezTo>
                <a:cubicBezTo>
                  <a:pt x="10987022" y="1987841"/>
                  <a:pt x="10987022" y="1987841"/>
                  <a:pt x="10987022" y="1987841"/>
                </a:cubicBezTo>
                <a:cubicBezTo>
                  <a:pt x="10939783" y="1987841"/>
                  <a:pt x="10939783" y="1987841"/>
                  <a:pt x="10939783" y="1987841"/>
                </a:cubicBezTo>
                <a:cubicBezTo>
                  <a:pt x="10939783" y="2018353"/>
                  <a:pt x="10939783" y="2018353"/>
                  <a:pt x="10939783" y="2018353"/>
                </a:cubicBezTo>
                <a:cubicBezTo>
                  <a:pt x="10926068" y="2018353"/>
                  <a:pt x="10926068" y="2018353"/>
                  <a:pt x="10926068" y="2018353"/>
                </a:cubicBezTo>
                <a:cubicBezTo>
                  <a:pt x="10926068" y="2062595"/>
                  <a:pt x="10926068" y="2062595"/>
                  <a:pt x="10926068" y="2062595"/>
                </a:cubicBezTo>
                <a:cubicBezTo>
                  <a:pt x="10804159" y="2062595"/>
                  <a:pt x="10804159" y="2062595"/>
                  <a:pt x="10804159" y="2062595"/>
                </a:cubicBezTo>
                <a:cubicBezTo>
                  <a:pt x="10804159" y="2077851"/>
                  <a:pt x="10804159" y="2077851"/>
                  <a:pt x="10804159" y="2077851"/>
                </a:cubicBezTo>
                <a:cubicBezTo>
                  <a:pt x="10772158" y="2077851"/>
                  <a:pt x="10772158" y="2077851"/>
                  <a:pt x="10772158" y="2077851"/>
                </a:cubicBezTo>
                <a:cubicBezTo>
                  <a:pt x="10772158" y="1995469"/>
                  <a:pt x="10772158" y="1995469"/>
                  <a:pt x="10772158" y="1995469"/>
                </a:cubicBezTo>
                <a:cubicBezTo>
                  <a:pt x="10721871" y="1995469"/>
                  <a:pt x="10721871" y="1995469"/>
                  <a:pt x="10721871" y="1995469"/>
                </a:cubicBezTo>
                <a:cubicBezTo>
                  <a:pt x="10721871" y="1969534"/>
                  <a:pt x="10721871" y="1969534"/>
                  <a:pt x="10721871" y="1969534"/>
                </a:cubicBezTo>
                <a:cubicBezTo>
                  <a:pt x="10682251" y="1969534"/>
                  <a:pt x="10682251" y="1969534"/>
                  <a:pt x="10682251" y="1969534"/>
                </a:cubicBezTo>
                <a:cubicBezTo>
                  <a:pt x="10682251" y="1990893"/>
                  <a:pt x="10682251" y="1990893"/>
                  <a:pt x="10682251" y="1990893"/>
                </a:cubicBezTo>
                <a:cubicBezTo>
                  <a:pt x="10656345" y="1990893"/>
                  <a:pt x="10656345" y="1990893"/>
                  <a:pt x="10656345" y="1990893"/>
                </a:cubicBezTo>
                <a:cubicBezTo>
                  <a:pt x="10656345" y="2135823"/>
                  <a:pt x="10656345" y="2135823"/>
                  <a:pt x="10656345" y="2135823"/>
                </a:cubicBezTo>
                <a:cubicBezTo>
                  <a:pt x="10624344" y="2135823"/>
                  <a:pt x="10624344" y="2135823"/>
                  <a:pt x="10624344" y="2135823"/>
                </a:cubicBezTo>
                <a:cubicBezTo>
                  <a:pt x="10624344" y="2122093"/>
                  <a:pt x="10624344" y="2122093"/>
                  <a:pt x="10624344" y="2122093"/>
                </a:cubicBezTo>
                <a:cubicBezTo>
                  <a:pt x="10593867" y="2122093"/>
                  <a:pt x="10593867" y="2122093"/>
                  <a:pt x="10593867" y="2122093"/>
                </a:cubicBezTo>
                <a:cubicBezTo>
                  <a:pt x="10593867" y="2143451"/>
                  <a:pt x="10593867" y="2143451"/>
                  <a:pt x="10593867" y="2143451"/>
                </a:cubicBezTo>
                <a:cubicBezTo>
                  <a:pt x="10569485" y="2143451"/>
                  <a:pt x="10569485" y="2143451"/>
                  <a:pt x="10569485" y="2143451"/>
                </a:cubicBezTo>
                <a:cubicBezTo>
                  <a:pt x="10569485" y="2097684"/>
                  <a:pt x="10569485" y="2097684"/>
                  <a:pt x="10569485" y="2097684"/>
                </a:cubicBezTo>
                <a:cubicBezTo>
                  <a:pt x="10548151" y="2097684"/>
                  <a:pt x="10548151" y="2097684"/>
                  <a:pt x="10548151" y="2097684"/>
                </a:cubicBezTo>
                <a:cubicBezTo>
                  <a:pt x="10548151" y="2070223"/>
                  <a:pt x="10548151" y="2070223"/>
                  <a:pt x="10548151" y="2070223"/>
                </a:cubicBezTo>
                <a:cubicBezTo>
                  <a:pt x="10523769" y="2070223"/>
                  <a:pt x="10523769" y="2070223"/>
                  <a:pt x="10523769" y="2070223"/>
                </a:cubicBezTo>
                <a:cubicBezTo>
                  <a:pt x="10493292" y="2070223"/>
                  <a:pt x="10493292" y="2070223"/>
                  <a:pt x="10493292" y="2070223"/>
                </a:cubicBezTo>
                <a:cubicBezTo>
                  <a:pt x="10493292" y="2056493"/>
                  <a:pt x="10493292" y="2056493"/>
                  <a:pt x="10493292" y="2056493"/>
                </a:cubicBezTo>
                <a:cubicBezTo>
                  <a:pt x="10441481" y="2056493"/>
                  <a:pt x="10441481" y="2056493"/>
                  <a:pt x="10441481" y="2056493"/>
                </a:cubicBezTo>
                <a:cubicBezTo>
                  <a:pt x="10441481" y="2035135"/>
                  <a:pt x="10441481" y="2035135"/>
                  <a:pt x="10441481" y="2035135"/>
                </a:cubicBezTo>
                <a:cubicBezTo>
                  <a:pt x="10421671" y="2035135"/>
                  <a:pt x="10421671" y="2035135"/>
                  <a:pt x="10421671" y="2035135"/>
                </a:cubicBezTo>
                <a:cubicBezTo>
                  <a:pt x="10421671" y="2050391"/>
                  <a:pt x="10421671" y="2050391"/>
                  <a:pt x="10421671" y="2050391"/>
                </a:cubicBezTo>
                <a:cubicBezTo>
                  <a:pt x="10340906" y="2050391"/>
                  <a:pt x="10340906" y="2050391"/>
                  <a:pt x="10340906" y="2050391"/>
                </a:cubicBezTo>
                <a:cubicBezTo>
                  <a:pt x="10340906" y="2067172"/>
                  <a:pt x="10340906" y="2067172"/>
                  <a:pt x="10340906" y="2067172"/>
                </a:cubicBezTo>
                <a:cubicBezTo>
                  <a:pt x="10325668" y="2067172"/>
                  <a:pt x="10325668" y="2067172"/>
                  <a:pt x="10325668" y="2067172"/>
                </a:cubicBezTo>
                <a:cubicBezTo>
                  <a:pt x="10325668" y="2090056"/>
                  <a:pt x="10325668" y="2090056"/>
                  <a:pt x="10325668" y="2090056"/>
                </a:cubicBezTo>
                <a:cubicBezTo>
                  <a:pt x="10310429" y="2105312"/>
                  <a:pt x="10310429" y="2105312"/>
                  <a:pt x="10310429" y="2105312"/>
                </a:cubicBezTo>
                <a:cubicBezTo>
                  <a:pt x="10310429" y="2152605"/>
                  <a:pt x="10310429" y="2152605"/>
                  <a:pt x="10310429" y="2152605"/>
                </a:cubicBezTo>
                <a:cubicBezTo>
                  <a:pt x="10293667" y="2152605"/>
                  <a:pt x="10293667" y="2152605"/>
                  <a:pt x="10293667" y="2152605"/>
                </a:cubicBezTo>
                <a:cubicBezTo>
                  <a:pt x="10293667" y="2106837"/>
                  <a:pt x="10293667" y="2106837"/>
                  <a:pt x="10293667" y="2106837"/>
                </a:cubicBezTo>
                <a:cubicBezTo>
                  <a:pt x="10276904" y="2085479"/>
                  <a:pt x="10276904" y="2085479"/>
                  <a:pt x="10276904" y="2085479"/>
                </a:cubicBezTo>
                <a:cubicBezTo>
                  <a:pt x="10276904" y="1969534"/>
                  <a:pt x="10276904" y="1969534"/>
                  <a:pt x="10276904" y="1969534"/>
                </a:cubicBezTo>
                <a:cubicBezTo>
                  <a:pt x="10250999" y="1969534"/>
                  <a:pt x="10250999" y="1969534"/>
                  <a:pt x="10250999" y="1969534"/>
                </a:cubicBezTo>
                <a:cubicBezTo>
                  <a:pt x="10250999" y="1856641"/>
                  <a:pt x="10250999" y="1856641"/>
                  <a:pt x="10250999" y="1856641"/>
                </a:cubicBezTo>
                <a:cubicBezTo>
                  <a:pt x="10164139" y="1856641"/>
                  <a:pt x="10164139" y="1856641"/>
                  <a:pt x="10164139" y="1856641"/>
                </a:cubicBezTo>
                <a:cubicBezTo>
                  <a:pt x="10164139" y="1821552"/>
                  <a:pt x="10164139" y="1821552"/>
                  <a:pt x="10164139" y="1821552"/>
                </a:cubicBezTo>
                <a:cubicBezTo>
                  <a:pt x="10118423" y="1821552"/>
                  <a:pt x="10118423" y="1821552"/>
                  <a:pt x="10118423" y="1821552"/>
                </a:cubicBezTo>
                <a:cubicBezTo>
                  <a:pt x="10118423" y="1900883"/>
                  <a:pt x="10118423" y="1900883"/>
                  <a:pt x="10118423" y="1900883"/>
                </a:cubicBezTo>
                <a:cubicBezTo>
                  <a:pt x="10095565" y="1900883"/>
                  <a:pt x="10095565" y="1900883"/>
                  <a:pt x="10095565" y="1900883"/>
                </a:cubicBezTo>
                <a:cubicBezTo>
                  <a:pt x="10095565" y="1874948"/>
                  <a:pt x="10095565" y="1874948"/>
                  <a:pt x="10095565" y="1874948"/>
                </a:cubicBezTo>
                <a:cubicBezTo>
                  <a:pt x="10095565" y="1874948"/>
                  <a:pt x="10078803" y="1874948"/>
                  <a:pt x="10071183" y="1874948"/>
                </a:cubicBezTo>
                <a:cubicBezTo>
                  <a:pt x="10063564" y="1874948"/>
                  <a:pt x="10063564" y="1900883"/>
                  <a:pt x="10063564" y="1900883"/>
                </a:cubicBezTo>
                <a:cubicBezTo>
                  <a:pt x="10063564" y="1972586"/>
                  <a:pt x="10063564" y="1972586"/>
                  <a:pt x="10063564" y="1972586"/>
                </a:cubicBezTo>
                <a:cubicBezTo>
                  <a:pt x="9999562" y="1972586"/>
                  <a:pt x="9999562" y="1972586"/>
                  <a:pt x="9999562" y="1972586"/>
                </a:cubicBezTo>
                <a:cubicBezTo>
                  <a:pt x="9999562" y="1723915"/>
                  <a:pt x="9999562" y="1723915"/>
                  <a:pt x="9999562" y="1723915"/>
                </a:cubicBezTo>
                <a:cubicBezTo>
                  <a:pt x="9912702" y="1723915"/>
                  <a:pt x="9912702" y="1723915"/>
                  <a:pt x="9912702" y="1723915"/>
                </a:cubicBezTo>
                <a:cubicBezTo>
                  <a:pt x="9912702" y="1765106"/>
                  <a:pt x="9912702" y="1765106"/>
                  <a:pt x="9912702" y="1765106"/>
                </a:cubicBezTo>
                <a:cubicBezTo>
                  <a:pt x="9876129" y="1765106"/>
                  <a:pt x="9870034" y="1783413"/>
                  <a:pt x="9870034" y="1783413"/>
                </a:cubicBezTo>
                <a:cubicBezTo>
                  <a:pt x="9828890" y="1783413"/>
                  <a:pt x="9828890" y="1783413"/>
                  <a:pt x="9828890" y="1783413"/>
                </a:cubicBezTo>
                <a:cubicBezTo>
                  <a:pt x="9828890" y="1833757"/>
                  <a:pt x="9828890" y="1833757"/>
                  <a:pt x="9828890" y="1833757"/>
                </a:cubicBezTo>
                <a:cubicBezTo>
                  <a:pt x="9810603" y="1833757"/>
                  <a:pt x="9810603" y="1833757"/>
                  <a:pt x="9810603" y="1833757"/>
                </a:cubicBezTo>
                <a:cubicBezTo>
                  <a:pt x="9810603" y="2033609"/>
                  <a:pt x="9810603" y="2033609"/>
                  <a:pt x="9810603" y="2033609"/>
                </a:cubicBezTo>
                <a:cubicBezTo>
                  <a:pt x="9774031" y="2033609"/>
                  <a:pt x="9774031" y="2033609"/>
                  <a:pt x="9774031" y="2033609"/>
                </a:cubicBezTo>
                <a:cubicBezTo>
                  <a:pt x="9774031" y="2004623"/>
                  <a:pt x="9774031" y="2004623"/>
                  <a:pt x="9774031" y="2004623"/>
                </a:cubicBezTo>
                <a:cubicBezTo>
                  <a:pt x="9754221" y="1984790"/>
                  <a:pt x="9754221" y="1984790"/>
                  <a:pt x="9754221" y="1984790"/>
                </a:cubicBezTo>
                <a:cubicBezTo>
                  <a:pt x="9743554" y="1984790"/>
                  <a:pt x="9743554" y="1984790"/>
                  <a:pt x="9743554" y="1984790"/>
                </a:cubicBezTo>
                <a:cubicBezTo>
                  <a:pt x="9723743" y="2000046"/>
                  <a:pt x="9723743" y="2000046"/>
                  <a:pt x="9723743" y="2000046"/>
                </a:cubicBezTo>
                <a:cubicBezTo>
                  <a:pt x="9723743" y="1644584"/>
                  <a:pt x="9723743" y="1644584"/>
                  <a:pt x="9723743" y="1644584"/>
                </a:cubicBezTo>
                <a:cubicBezTo>
                  <a:pt x="9633836" y="1624751"/>
                  <a:pt x="9633836" y="1624751"/>
                  <a:pt x="9633836" y="1624751"/>
                </a:cubicBezTo>
                <a:cubicBezTo>
                  <a:pt x="9595739" y="1624751"/>
                  <a:pt x="9595739" y="1624751"/>
                  <a:pt x="9595739" y="1624751"/>
                </a:cubicBezTo>
                <a:cubicBezTo>
                  <a:pt x="9595739" y="1647635"/>
                  <a:pt x="9595739" y="1647635"/>
                  <a:pt x="9595739" y="1647635"/>
                </a:cubicBezTo>
                <a:cubicBezTo>
                  <a:pt x="9569834" y="1647635"/>
                  <a:pt x="9569834" y="1647635"/>
                  <a:pt x="9569834" y="1647635"/>
                </a:cubicBezTo>
                <a:cubicBezTo>
                  <a:pt x="9569834" y="1731543"/>
                  <a:pt x="9569834" y="1731543"/>
                  <a:pt x="9569834" y="1731543"/>
                </a:cubicBezTo>
                <a:cubicBezTo>
                  <a:pt x="9545452" y="1731543"/>
                  <a:pt x="9545452" y="1731543"/>
                  <a:pt x="9545452" y="1731543"/>
                </a:cubicBezTo>
                <a:cubicBezTo>
                  <a:pt x="9545452" y="1841385"/>
                  <a:pt x="9545452" y="1841385"/>
                  <a:pt x="9545452" y="1841385"/>
                </a:cubicBezTo>
                <a:cubicBezTo>
                  <a:pt x="9511927" y="1841385"/>
                  <a:pt x="9511927" y="1841385"/>
                  <a:pt x="9511927" y="1841385"/>
                </a:cubicBezTo>
                <a:cubicBezTo>
                  <a:pt x="9511927" y="1801720"/>
                  <a:pt x="9511927" y="1801720"/>
                  <a:pt x="9511927" y="1801720"/>
                </a:cubicBezTo>
                <a:cubicBezTo>
                  <a:pt x="9469259" y="1801720"/>
                  <a:pt x="9469259" y="1801720"/>
                  <a:pt x="9469259" y="1801720"/>
                </a:cubicBezTo>
                <a:cubicBezTo>
                  <a:pt x="9469259" y="1675096"/>
                  <a:pt x="9469259" y="1675096"/>
                  <a:pt x="9469259" y="1675096"/>
                </a:cubicBezTo>
                <a:cubicBezTo>
                  <a:pt x="9441830" y="1675096"/>
                  <a:pt x="9441830" y="1675096"/>
                  <a:pt x="9441830" y="1675096"/>
                </a:cubicBezTo>
                <a:cubicBezTo>
                  <a:pt x="9441830" y="1598816"/>
                  <a:pt x="9441830" y="1598816"/>
                  <a:pt x="9441830" y="1598816"/>
                </a:cubicBezTo>
                <a:cubicBezTo>
                  <a:pt x="9316873" y="1585086"/>
                  <a:pt x="9316873" y="1585086"/>
                  <a:pt x="9316873" y="1585086"/>
                </a:cubicBezTo>
                <a:cubicBezTo>
                  <a:pt x="9316873" y="1562202"/>
                  <a:pt x="9316873" y="1562202"/>
                  <a:pt x="9316873" y="1562202"/>
                </a:cubicBezTo>
                <a:cubicBezTo>
                  <a:pt x="9083723" y="1546946"/>
                  <a:pt x="9083723" y="1546946"/>
                  <a:pt x="9083723" y="1546946"/>
                </a:cubicBezTo>
                <a:cubicBezTo>
                  <a:pt x="9083723" y="1255559"/>
                  <a:pt x="9083723" y="1255559"/>
                  <a:pt x="9083723" y="1255559"/>
                </a:cubicBezTo>
                <a:cubicBezTo>
                  <a:pt x="8878002" y="1205215"/>
                  <a:pt x="8878002" y="1205215"/>
                  <a:pt x="8878002" y="1205215"/>
                </a:cubicBezTo>
                <a:cubicBezTo>
                  <a:pt x="8667709" y="1247931"/>
                  <a:pt x="8667709" y="1247931"/>
                  <a:pt x="8667709" y="1247931"/>
                </a:cubicBezTo>
                <a:cubicBezTo>
                  <a:pt x="8667709" y="2073274"/>
                  <a:pt x="8667709" y="2073274"/>
                  <a:pt x="8667709" y="2073274"/>
                </a:cubicBezTo>
                <a:cubicBezTo>
                  <a:pt x="8541229" y="2073274"/>
                  <a:pt x="8541229" y="2073274"/>
                  <a:pt x="8541229" y="2073274"/>
                </a:cubicBezTo>
                <a:cubicBezTo>
                  <a:pt x="8541229" y="688040"/>
                  <a:pt x="8541229" y="688040"/>
                  <a:pt x="8541229" y="688040"/>
                </a:cubicBezTo>
                <a:cubicBezTo>
                  <a:pt x="8332460" y="742961"/>
                  <a:pt x="8332460" y="742961"/>
                  <a:pt x="8332460" y="742961"/>
                </a:cubicBezTo>
                <a:cubicBezTo>
                  <a:pt x="8332460" y="1943599"/>
                  <a:pt x="8332460" y="1943599"/>
                  <a:pt x="8332460" y="1943599"/>
                </a:cubicBezTo>
                <a:cubicBezTo>
                  <a:pt x="8250172" y="1943599"/>
                  <a:pt x="8250172" y="1943599"/>
                  <a:pt x="8250172" y="1943599"/>
                </a:cubicBezTo>
                <a:cubicBezTo>
                  <a:pt x="8250172" y="1041977"/>
                  <a:pt x="8250172" y="1041977"/>
                  <a:pt x="8250172" y="1041977"/>
                </a:cubicBezTo>
                <a:cubicBezTo>
                  <a:pt x="8234933" y="1041977"/>
                  <a:pt x="8234933" y="1041977"/>
                  <a:pt x="8234933" y="1041977"/>
                </a:cubicBezTo>
                <a:cubicBezTo>
                  <a:pt x="8234933" y="1028246"/>
                  <a:pt x="8234933" y="1028246"/>
                  <a:pt x="8234933" y="1028246"/>
                </a:cubicBezTo>
                <a:cubicBezTo>
                  <a:pt x="8222742" y="1028246"/>
                  <a:pt x="8222742" y="1028246"/>
                  <a:pt x="8222742" y="1028246"/>
                </a:cubicBezTo>
                <a:cubicBezTo>
                  <a:pt x="8222742" y="999260"/>
                  <a:pt x="8222742" y="999260"/>
                  <a:pt x="8222742" y="999260"/>
                </a:cubicBezTo>
                <a:cubicBezTo>
                  <a:pt x="8204456" y="999260"/>
                  <a:pt x="8204456" y="999260"/>
                  <a:pt x="8204456" y="999260"/>
                </a:cubicBezTo>
                <a:cubicBezTo>
                  <a:pt x="8204456" y="967223"/>
                  <a:pt x="8204456" y="967223"/>
                  <a:pt x="8204456" y="967223"/>
                </a:cubicBezTo>
                <a:cubicBezTo>
                  <a:pt x="8178551" y="967223"/>
                  <a:pt x="8178551" y="967223"/>
                  <a:pt x="8178551" y="967223"/>
                </a:cubicBezTo>
                <a:cubicBezTo>
                  <a:pt x="8178551" y="938237"/>
                  <a:pt x="8178551" y="938237"/>
                  <a:pt x="8178551" y="938237"/>
                </a:cubicBezTo>
                <a:cubicBezTo>
                  <a:pt x="8167884" y="938237"/>
                  <a:pt x="8167884" y="938237"/>
                  <a:pt x="8167884" y="938237"/>
                </a:cubicBezTo>
                <a:cubicBezTo>
                  <a:pt x="8167884" y="904674"/>
                  <a:pt x="8167884" y="904674"/>
                  <a:pt x="8167884" y="904674"/>
                </a:cubicBezTo>
                <a:cubicBezTo>
                  <a:pt x="8157217" y="811613"/>
                  <a:pt x="8157217" y="811613"/>
                  <a:pt x="8157217" y="811613"/>
                </a:cubicBezTo>
                <a:cubicBezTo>
                  <a:pt x="8146550" y="904674"/>
                  <a:pt x="8146550" y="904674"/>
                  <a:pt x="8146550" y="904674"/>
                </a:cubicBezTo>
                <a:cubicBezTo>
                  <a:pt x="8146550" y="938237"/>
                  <a:pt x="8146550" y="938237"/>
                  <a:pt x="8146550" y="938237"/>
                </a:cubicBezTo>
                <a:cubicBezTo>
                  <a:pt x="8135883" y="938237"/>
                  <a:pt x="8135883" y="938237"/>
                  <a:pt x="8135883" y="938237"/>
                </a:cubicBezTo>
                <a:cubicBezTo>
                  <a:pt x="8135883" y="967223"/>
                  <a:pt x="8135883" y="967223"/>
                  <a:pt x="8135883" y="967223"/>
                </a:cubicBezTo>
                <a:cubicBezTo>
                  <a:pt x="8109977" y="967223"/>
                  <a:pt x="8109977" y="967223"/>
                  <a:pt x="8109977" y="967223"/>
                </a:cubicBezTo>
                <a:cubicBezTo>
                  <a:pt x="8109977" y="999260"/>
                  <a:pt x="8109977" y="999260"/>
                  <a:pt x="8109977" y="999260"/>
                </a:cubicBezTo>
                <a:cubicBezTo>
                  <a:pt x="8091691" y="999260"/>
                  <a:pt x="8091691" y="999260"/>
                  <a:pt x="8091691" y="999260"/>
                </a:cubicBezTo>
                <a:cubicBezTo>
                  <a:pt x="8091691" y="1028246"/>
                  <a:pt x="8091691" y="1028246"/>
                  <a:pt x="8091691" y="1028246"/>
                </a:cubicBezTo>
                <a:cubicBezTo>
                  <a:pt x="8079500" y="1028246"/>
                  <a:pt x="8079500" y="1028246"/>
                  <a:pt x="8079500" y="1028246"/>
                </a:cubicBezTo>
                <a:cubicBezTo>
                  <a:pt x="8079500" y="1041977"/>
                  <a:pt x="8079500" y="1041977"/>
                  <a:pt x="8079500" y="1041977"/>
                </a:cubicBezTo>
                <a:cubicBezTo>
                  <a:pt x="8064261" y="1041977"/>
                  <a:pt x="8064261" y="1041977"/>
                  <a:pt x="8064261" y="1041977"/>
                </a:cubicBezTo>
                <a:cubicBezTo>
                  <a:pt x="8064261" y="1943599"/>
                  <a:pt x="8064261" y="1943599"/>
                  <a:pt x="8064261" y="1943599"/>
                </a:cubicBezTo>
                <a:cubicBezTo>
                  <a:pt x="8015498" y="1943599"/>
                  <a:pt x="8015498" y="1943599"/>
                  <a:pt x="8015498" y="1943599"/>
                </a:cubicBezTo>
                <a:cubicBezTo>
                  <a:pt x="8015498" y="1208266"/>
                  <a:pt x="8015498" y="1208266"/>
                  <a:pt x="8015498" y="1208266"/>
                </a:cubicBezTo>
                <a:cubicBezTo>
                  <a:pt x="7768633" y="1208266"/>
                  <a:pt x="7768633" y="1208266"/>
                  <a:pt x="7768633" y="1208266"/>
                </a:cubicBezTo>
                <a:cubicBezTo>
                  <a:pt x="7730536" y="1246406"/>
                  <a:pt x="7730536" y="1246406"/>
                  <a:pt x="7730536" y="1246406"/>
                </a:cubicBezTo>
                <a:cubicBezTo>
                  <a:pt x="7730536" y="1859692"/>
                  <a:pt x="7730536" y="1859692"/>
                  <a:pt x="7730536" y="1859692"/>
                </a:cubicBezTo>
                <a:cubicBezTo>
                  <a:pt x="7686344" y="1859692"/>
                  <a:pt x="7686344" y="1859692"/>
                  <a:pt x="7686344" y="1859692"/>
                </a:cubicBezTo>
                <a:cubicBezTo>
                  <a:pt x="7666534" y="1887153"/>
                  <a:pt x="7666534" y="1887153"/>
                  <a:pt x="7666534" y="1887153"/>
                </a:cubicBezTo>
                <a:cubicBezTo>
                  <a:pt x="7666534" y="2164810"/>
                  <a:pt x="7666534" y="2164810"/>
                  <a:pt x="7666534" y="2164810"/>
                </a:cubicBezTo>
                <a:cubicBezTo>
                  <a:pt x="7629961" y="2164810"/>
                  <a:pt x="7629961" y="2164810"/>
                  <a:pt x="7629961" y="2164810"/>
                </a:cubicBezTo>
                <a:cubicBezTo>
                  <a:pt x="7629961" y="1661366"/>
                  <a:pt x="7629961" y="1661366"/>
                  <a:pt x="7629961" y="1661366"/>
                </a:cubicBezTo>
                <a:cubicBezTo>
                  <a:pt x="7608627" y="1661366"/>
                  <a:pt x="7608627" y="1661366"/>
                  <a:pt x="7608627" y="1661366"/>
                </a:cubicBezTo>
                <a:cubicBezTo>
                  <a:pt x="7608627" y="1601868"/>
                  <a:pt x="7608627" y="1601868"/>
                  <a:pt x="7608627" y="1601868"/>
                </a:cubicBezTo>
                <a:cubicBezTo>
                  <a:pt x="7590341" y="1601868"/>
                  <a:pt x="7590341" y="1601868"/>
                  <a:pt x="7590341" y="1601868"/>
                </a:cubicBezTo>
                <a:cubicBezTo>
                  <a:pt x="7590341" y="1565253"/>
                  <a:pt x="7590341" y="1565253"/>
                  <a:pt x="7590341" y="1565253"/>
                </a:cubicBezTo>
                <a:cubicBezTo>
                  <a:pt x="7556816" y="1565253"/>
                  <a:pt x="7556816" y="1565253"/>
                  <a:pt x="7556816" y="1565253"/>
                </a:cubicBezTo>
                <a:cubicBezTo>
                  <a:pt x="7535482" y="1549998"/>
                  <a:pt x="7535482" y="1549998"/>
                  <a:pt x="7535482" y="1549998"/>
                </a:cubicBezTo>
                <a:cubicBezTo>
                  <a:pt x="7535482" y="1353197"/>
                  <a:pt x="7535482" y="1353197"/>
                  <a:pt x="7535482" y="1353197"/>
                </a:cubicBezTo>
                <a:cubicBezTo>
                  <a:pt x="7377001" y="1402016"/>
                  <a:pt x="7377001" y="1402016"/>
                  <a:pt x="7377001" y="1402016"/>
                </a:cubicBezTo>
                <a:cubicBezTo>
                  <a:pt x="7343476" y="1376081"/>
                  <a:pt x="7343476" y="1376081"/>
                  <a:pt x="7343476" y="1376081"/>
                </a:cubicBezTo>
                <a:cubicBezTo>
                  <a:pt x="7343476" y="1045028"/>
                  <a:pt x="7343476" y="1045028"/>
                  <a:pt x="7343476" y="1045028"/>
                </a:cubicBezTo>
                <a:cubicBezTo>
                  <a:pt x="7238330" y="1019093"/>
                  <a:pt x="7238330" y="1019093"/>
                  <a:pt x="7238330" y="1019093"/>
                </a:cubicBezTo>
                <a:cubicBezTo>
                  <a:pt x="7034133" y="1103000"/>
                  <a:pt x="7034133" y="1103000"/>
                  <a:pt x="7034133" y="1103000"/>
                </a:cubicBezTo>
                <a:cubicBezTo>
                  <a:pt x="7034133" y="1119782"/>
                  <a:pt x="7034133" y="1119782"/>
                  <a:pt x="7034133" y="1119782"/>
                </a:cubicBezTo>
                <a:cubicBezTo>
                  <a:pt x="6999084" y="1098424"/>
                  <a:pt x="6999084" y="1098424"/>
                  <a:pt x="6999084" y="1098424"/>
                </a:cubicBezTo>
                <a:cubicBezTo>
                  <a:pt x="6970130" y="1098424"/>
                  <a:pt x="6970130" y="1098424"/>
                  <a:pt x="6970130" y="1098424"/>
                </a:cubicBezTo>
                <a:cubicBezTo>
                  <a:pt x="6970130" y="1127410"/>
                  <a:pt x="6970130" y="1127410"/>
                  <a:pt x="6970130" y="1127410"/>
                </a:cubicBezTo>
                <a:cubicBezTo>
                  <a:pt x="6935082" y="1127410"/>
                  <a:pt x="6935082" y="1127410"/>
                  <a:pt x="6935082" y="1127410"/>
                </a:cubicBezTo>
                <a:cubicBezTo>
                  <a:pt x="6935082" y="1231150"/>
                  <a:pt x="6935082" y="1231150"/>
                  <a:pt x="6935082" y="1231150"/>
                </a:cubicBezTo>
                <a:cubicBezTo>
                  <a:pt x="6918319" y="1231150"/>
                  <a:pt x="6918319" y="1231150"/>
                  <a:pt x="6918319" y="1231150"/>
                </a:cubicBezTo>
                <a:cubicBezTo>
                  <a:pt x="6918319" y="1906985"/>
                  <a:pt x="6918319" y="1906985"/>
                  <a:pt x="6918319" y="1906985"/>
                </a:cubicBezTo>
                <a:cubicBezTo>
                  <a:pt x="6892414" y="1906985"/>
                  <a:pt x="6892414" y="1906985"/>
                  <a:pt x="6892414" y="1906985"/>
                </a:cubicBezTo>
                <a:cubicBezTo>
                  <a:pt x="6881747" y="1887153"/>
                  <a:pt x="6881747" y="1887153"/>
                  <a:pt x="6881747" y="1887153"/>
                </a:cubicBezTo>
                <a:cubicBezTo>
                  <a:pt x="6881747" y="1838334"/>
                  <a:pt x="6881747" y="1838334"/>
                  <a:pt x="6881747" y="1838334"/>
                </a:cubicBezTo>
                <a:cubicBezTo>
                  <a:pt x="6855841" y="1838334"/>
                  <a:pt x="6855841" y="1838334"/>
                  <a:pt x="6855841" y="1838334"/>
                </a:cubicBezTo>
                <a:cubicBezTo>
                  <a:pt x="6855841" y="1888678"/>
                  <a:pt x="6855841" y="1888678"/>
                  <a:pt x="6855841" y="1888678"/>
                </a:cubicBezTo>
                <a:cubicBezTo>
                  <a:pt x="6849746" y="1882576"/>
                  <a:pt x="6849746" y="1882576"/>
                  <a:pt x="6849746" y="1882576"/>
                </a:cubicBezTo>
                <a:cubicBezTo>
                  <a:pt x="6849746" y="1899357"/>
                  <a:pt x="6849746" y="1899357"/>
                  <a:pt x="6849746" y="1899357"/>
                </a:cubicBezTo>
                <a:cubicBezTo>
                  <a:pt x="6829935" y="1899357"/>
                  <a:pt x="6829935" y="1899357"/>
                  <a:pt x="6829935" y="1899357"/>
                </a:cubicBezTo>
                <a:cubicBezTo>
                  <a:pt x="6829935" y="1914613"/>
                  <a:pt x="6829935" y="1914613"/>
                  <a:pt x="6829935" y="1914613"/>
                </a:cubicBezTo>
                <a:cubicBezTo>
                  <a:pt x="6817745" y="1914613"/>
                  <a:pt x="6817745" y="1914613"/>
                  <a:pt x="6817745" y="1914613"/>
                </a:cubicBezTo>
                <a:cubicBezTo>
                  <a:pt x="6817745" y="1926818"/>
                  <a:pt x="6817745" y="1926818"/>
                  <a:pt x="6817745" y="1926818"/>
                </a:cubicBezTo>
                <a:cubicBezTo>
                  <a:pt x="6784220" y="1926818"/>
                  <a:pt x="6784220" y="1926818"/>
                  <a:pt x="6784220" y="1926818"/>
                </a:cubicBezTo>
                <a:cubicBezTo>
                  <a:pt x="6784220" y="1908511"/>
                  <a:pt x="6784220" y="1908511"/>
                  <a:pt x="6784220" y="1908511"/>
                </a:cubicBezTo>
                <a:cubicBezTo>
                  <a:pt x="6808601" y="1903934"/>
                  <a:pt x="6808601" y="1903934"/>
                  <a:pt x="6808601" y="1903934"/>
                </a:cubicBezTo>
                <a:cubicBezTo>
                  <a:pt x="6808601" y="1894781"/>
                  <a:pt x="6808601" y="1894781"/>
                  <a:pt x="6808601" y="1894781"/>
                </a:cubicBezTo>
                <a:cubicBezTo>
                  <a:pt x="6715646" y="1894781"/>
                  <a:pt x="6715646" y="1894781"/>
                  <a:pt x="6715646" y="1894781"/>
                </a:cubicBezTo>
                <a:cubicBezTo>
                  <a:pt x="6718694" y="1902408"/>
                  <a:pt x="6718694" y="1902408"/>
                  <a:pt x="6718694" y="1902408"/>
                </a:cubicBezTo>
                <a:cubicBezTo>
                  <a:pt x="6736980" y="1905460"/>
                  <a:pt x="6736980" y="1905460"/>
                  <a:pt x="6736980" y="1905460"/>
                </a:cubicBezTo>
                <a:cubicBezTo>
                  <a:pt x="6736980" y="1922241"/>
                  <a:pt x="6736980" y="1922241"/>
                  <a:pt x="6736980" y="1922241"/>
                </a:cubicBezTo>
                <a:cubicBezTo>
                  <a:pt x="6701931" y="1929869"/>
                  <a:pt x="6701931" y="1929869"/>
                  <a:pt x="6701931" y="1929869"/>
                </a:cubicBezTo>
                <a:cubicBezTo>
                  <a:pt x="6657739" y="1832231"/>
                  <a:pt x="6657739" y="1832231"/>
                  <a:pt x="6657739" y="1832231"/>
                </a:cubicBezTo>
                <a:cubicBezTo>
                  <a:pt x="6657739" y="1771208"/>
                  <a:pt x="6657739" y="1771208"/>
                  <a:pt x="6657739" y="1771208"/>
                </a:cubicBezTo>
                <a:cubicBezTo>
                  <a:pt x="6657739" y="1446258"/>
                  <a:pt x="6657739" y="1446258"/>
                  <a:pt x="6657739" y="1446258"/>
                </a:cubicBezTo>
                <a:cubicBezTo>
                  <a:pt x="6657739" y="1446258"/>
                  <a:pt x="6672978" y="1440155"/>
                  <a:pt x="6672978" y="1421848"/>
                </a:cubicBezTo>
                <a:cubicBezTo>
                  <a:pt x="6672978" y="1403541"/>
                  <a:pt x="6622691" y="1398964"/>
                  <a:pt x="6602881" y="1398964"/>
                </a:cubicBezTo>
                <a:cubicBezTo>
                  <a:pt x="6583070" y="1398964"/>
                  <a:pt x="6532783" y="1403541"/>
                  <a:pt x="6532783" y="1421848"/>
                </a:cubicBezTo>
                <a:cubicBezTo>
                  <a:pt x="6532783" y="1440155"/>
                  <a:pt x="6548022" y="1446258"/>
                  <a:pt x="6548022" y="1446258"/>
                </a:cubicBezTo>
                <a:cubicBezTo>
                  <a:pt x="6548022" y="1771208"/>
                  <a:pt x="6548022" y="1771208"/>
                  <a:pt x="6548022" y="1771208"/>
                </a:cubicBezTo>
                <a:cubicBezTo>
                  <a:pt x="6531259" y="1771208"/>
                  <a:pt x="6531259" y="1771208"/>
                  <a:pt x="6531259" y="1771208"/>
                </a:cubicBezTo>
                <a:cubicBezTo>
                  <a:pt x="6531259" y="1725440"/>
                  <a:pt x="6531259" y="1725440"/>
                  <a:pt x="6531259" y="1725440"/>
                </a:cubicBezTo>
                <a:cubicBezTo>
                  <a:pt x="6458114" y="1664417"/>
                  <a:pt x="6458114" y="1664417"/>
                  <a:pt x="6458114" y="1664417"/>
                </a:cubicBezTo>
                <a:cubicBezTo>
                  <a:pt x="6458114" y="1485923"/>
                  <a:pt x="6458114" y="1485923"/>
                  <a:pt x="6458114" y="1485923"/>
                </a:cubicBezTo>
                <a:cubicBezTo>
                  <a:pt x="6435256" y="1485923"/>
                  <a:pt x="6435256" y="1485923"/>
                  <a:pt x="6435256" y="1485923"/>
                </a:cubicBezTo>
                <a:cubicBezTo>
                  <a:pt x="6348396" y="1540844"/>
                  <a:pt x="6348396" y="1540844"/>
                  <a:pt x="6348396" y="1540844"/>
                </a:cubicBezTo>
                <a:cubicBezTo>
                  <a:pt x="6348396" y="1517960"/>
                  <a:pt x="6348396" y="1517960"/>
                  <a:pt x="6348396" y="1517960"/>
                </a:cubicBezTo>
                <a:cubicBezTo>
                  <a:pt x="6228011" y="1517960"/>
                  <a:pt x="6228011" y="1517960"/>
                  <a:pt x="6228011" y="1517960"/>
                </a:cubicBezTo>
                <a:cubicBezTo>
                  <a:pt x="6228011" y="1543895"/>
                  <a:pt x="6228011" y="1543895"/>
                  <a:pt x="6228011" y="1543895"/>
                </a:cubicBezTo>
                <a:cubicBezTo>
                  <a:pt x="6200582" y="1543895"/>
                  <a:pt x="6200582" y="1543895"/>
                  <a:pt x="6200582" y="1543895"/>
                </a:cubicBezTo>
                <a:cubicBezTo>
                  <a:pt x="6200582" y="1723915"/>
                  <a:pt x="6200582" y="1723915"/>
                  <a:pt x="6200582" y="1723915"/>
                </a:cubicBezTo>
                <a:cubicBezTo>
                  <a:pt x="6165533" y="1704082"/>
                  <a:pt x="6165533" y="1704082"/>
                  <a:pt x="6165533" y="1704082"/>
                </a:cubicBezTo>
                <a:cubicBezTo>
                  <a:pt x="6165533" y="1659840"/>
                  <a:pt x="6165533" y="1659840"/>
                  <a:pt x="6165533" y="1659840"/>
                </a:cubicBezTo>
                <a:cubicBezTo>
                  <a:pt x="6154866" y="1659840"/>
                  <a:pt x="6154866" y="1659840"/>
                  <a:pt x="6154866" y="1659840"/>
                </a:cubicBezTo>
                <a:cubicBezTo>
                  <a:pt x="6154866" y="1705608"/>
                  <a:pt x="6154866" y="1705608"/>
                  <a:pt x="6154866" y="1705608"/>
                </a:cubicBezTo>
                <a:cubicBezTo>
                  <a:pt x="6144199" y="1705608"/>
                  <a:pt x="6144199" y="1705608"/>
                  <a:pt x="6144199" y="1705608"/>
                </a:cubicBezTo>
                <a:cubicBezTo>
                  <a:pt x="6144199" y="1618649"/>
                  <a:pt x="6144199" y="1618649"/>
                  <a:pt x="6144199" y="1618649"/>
                </a:cubicBezTo>
                <a:cubicBezTo>
                  <a:pt x="6078673" y="1618649"/>
                  <a:pt x="6078673" y="1618649"/>
                  <a:pt x="6078673" y="1618649"/>
                </a:cubicBezTo>
                <a:cubicBezTo>
                  <a:pt x="6078673" y="1604919"/>
                  <a:pt x="6071054" y="1553049"/>
                  <a:pt x="6008576" y="1517960"/>
                </a:cubicBezTo>
                <a:cubicBezTo>
                  <a:pt x="6008576" y="1487448"/>
                  <a:pt x="6008576" y="1487448"/>
                  <a:pt x="6008576" y="1487448"/>
                </a:cubicBezTo>
                <a:cubicBezTo>
                  <a:pt x="5993337" y="1487448"/>
                  <a:pt x="5993337" y="1487448"/>
                  <a:pt x="5993337" y="1487448"/>
                </a:cubicBezTo>
                <a:cubicBezTo>
                  <a:pt x="5978098" y="1487448"/>
                  <a:pt x="5978098" y="1487448"/>
                  <a:pt x="5978098" y="1487448"/>
                </a:cubicBezTo>
                <a:cubicBezTo>
                  <a:pt x="5978098" y="1517960"/>
                  <a:pt x="5978098" y="1517960"/>
                  <a:pt x="5978098" y="1517960"/>
                </a:cubicBezTo>
                <a:cubicBezTo>
                  <a:pt x="5915620" y="1553049"/>
                  <a:pt x="5908001" y="1604919"/>
                  <a:pt x="5908001" y="1618649"/>
                </a:cubicBezTo>
                <a:cubicBezTo>
                  <a:pt x="5908001" y="1632379"/>
                  <a:pt x="5920192" y="1644584"/>
                  <a:pt x="5920192" y="1644584"/>
                </a:cubicBezTo>
                <a:cubicBezTo>
                  <a:pt x="5880571" y="1644584"/>
                  <a:pt x="5880571" y="1644584"/>
                  <a:pt x="5880571" y="1644584"/>
                </a:cubicBezTo>
                <a:cubicBezTo>
                  <a:pt x="5860761" y="1644584"/>
                  <a:pt x="5860761" y="1644584"/>
                  <a:pt x="5860761" y="1644584"/>
                </a:cubicBezTo>
                <a:cubicBezTo>
                  <a:pt x="5804378" y="1603393"/>
                  <a:pt x="5804378" y="1603393"/>
                  <a:pt x="5804378" y="1603393"/>
                </a:cubicBezTo>
                <a:cubicBezTo>
                  <a:pt x="5761710" y="1632379"/>
                  <a:pt x="5761710" y="1632379"/>
                  <a:pt x="5761710" y="1632379"/>
                </a:cubicBezTo>
                <a:cubicBezTo>
                  <a:pt x="5744948" y="1647635"/>
                  <a:pt x="5744948" y="1647635"/>
                  <a:pt x="5744948" y="1647635"/>
                </a:cubicBezTo>
                <a:cubicBezTo>
                  <a:pt x="5702280" y="1647635"/>
                  <a:pt x="5702280" y="1647635"/>
                  <a:pt x="5702280" y="1647635"/>
                </a:cubicBezTo>
                <a:cubicBezTo>
                  <a:pt x="5702280" y="1670519"/>
                  <a:pt x="5702280" y="1670519"/>
                  <a:pt x="5702280" y="1670519"/>
                </a:cubicBezTo>
                <a:cubicBezTo>
                  <a:pt x="5728186" y="1670519"/>
                  <a:pt x="5734281" y="1691877"/>
                  <a:pt x="5734281" y="1691877"/>
                </a:cubicBezTo>
                <a:cubicBezTo>
                  <a:pt x="5734281" y="1728491"/>
                  <a:pt x="5734281" y="1728491"/>
                  <a:pt x="5734281" y="1728491"/>
                </a:cubicBezTo>
                <a:cubicBezTo>
                  <a:pt x="5690089" y="1728491"/>
                  <a:pt x="5690089" y="1728491"/>
                  <a:pt x="5690089" y="1728491"/>
                </a:cubicBezTo>
                <a:cubicBezTo>
                  <a:pt x="5690089" y="1713236"/>
                  <a:pt x="5690089" y="1713236"/>
                  <a:pt x="5690089" y="1713236"/>
                </a:cubicBezTo>
                <a:cubicBezTo>
                  <a:pt x="5597134" y="1713236"/>
                  <a:pt x="5597134" y="1713236"/>
                  <a:pt x="5597134" y="1713236"/>
                </a:cubicBezTo>
                <a:cubicBezTo>
                  <a:pt x="5597134" y="1749850"/>
                  <a:pt x="5597134" y="1749850"/>
                  <a:pt x="5597134" y="1749850"/>
                </a:cubicBezTo>
                <a:cubicBezTo>
                  <a:pt x="5539227" y="1749850"/>
                  <a:pt x="5539227" y="1749850"/>
                  <a:pt x="5539227" y="1749850"/>
                </a:cubicBezTo>
                <a:cubicBezTo>
                  <a:pt x="5539227" y="2143451"/>
                  <a:pt x="5539227" y="2143451"/>
                  <a:pt x="5539227" y="2143451"/>
                </a:cubicBezTo>
                <a:cubicBezTo>
                  <a:pt x="5463034" y="2143451"/>
                  <a:pt x="5463034" y="2143451"/>
                  <a:pt x="5463034" y="2143451"/>
                </a:cubicBezTo>
                <a:cubicBezTo>
                  <a:pt x="5463034" y="2158707"/>
                  <a:pt x="5463034" y="2158707"/>
                  <a:pt x="5463034" y="2158707"/>
                </a:cubicBezTo>
                <a:cubicBezTo>
                  <a:pt x="5449319" y="2158707"/>
                  <a:pt x="5449319" y="2158707"/>
                  <a:pt x="5449319" y="2158707"/>
                </a:cubicBezTo>
                <a:cubicBezTo>
                  <a:pt x="5449319" y="2192270"/>
                  <a:pt x="5449319" y="2192270"/>
                  <a:pt x="5449319" y="2192270"/>
                </a:cubicBezTo>
                <a:cubicBezTo>
                  <a:pt x="5432557" y="2192270"/>
                  <a:pt x="5432557" y="2192270"/>
                  <a:pt x="5432557" y="2192270"/>
                </a:cubicBezTo>
                <a:cubicBezTo>
                  <a:pt x="5432557" y="2140400"/>
                  <a:pt x="5432557" y="2140400"/>
                  <a:pt x="5432557" y="2140400"/>
                </a:cubicBezTo>
                <a:cubicBezTo>
                  <a:pt x="5376174" y="2140400"/>
                  <a:pt x="5376174" y="2140400"/>
                  <a:pt x="5376174" y="2140400"/>
                </a:cubicBezTo>
                <a:cubicBezTo>
                  <a:pt x="5376174" y="1920716"/>
                  <a:pt x="5376174" y="1920716"/>
                  <a:pt x="5376174" y="1920716"/>
                </a:cubicBezTo>
                <a:cubicBezTo>
                  <a:pt x="5299981" y="1920716"/>
                  <a:pt x="5299981" y="1920716"/>
                  <a:pt x="5299981" y="1920716"/>
                </a:cubicBezTo>
                <a:cubicBezTo>
                  <a:pt x="5299981" y="1899357"/>
                  <a:pt x="5299981" y="1899357"/>
                  <a:pt x="5299981" y="1899357"/>
                </a:cubicBezTo>
                <a:cubicBezTo>
                  <a:pt x="5277123" y="1899357"/>
                  <a:pt x="5277123" y="1899357"/>
                  <a:pt x="5277123" y="1899357"/>
                </a:cubicBezTo>
                <a:cubicBezTo>
                  <a:pt x="5277123" y="1914613"/>
                  <a:pt x="5277123" y="1914613"/>
                  <a:pt x="5277123" y="1914613"/>
                </a:cubicBezTo>
                <a:cubicBezTo>
                  <a:pt x="5264932" y="1914613"/>
                  <a:pt x="5264932" y="1914613"/>
                  <a:pt x="5264932" y="1914613"/>
                </a:cubicBezTo>
                <a:cubicBezTo>
                  <a:pt x="5266456" y="1908511"/>
                  <a:pt x="5266456" y="1903934"/>
                  <a:pt x="5266456" y="1899357"/>
                </a:cubicBezTo>
                <a:cubicBezTo>
                  <a:pt x="5266456" y="1847487"/>
                  <a:pt x="5235979" y="1803245"/>
                  <a:pt x="5191787" y="1781887"/>
                </a:cubicBezTo>
                <a:cubicBezTo>
                  <a:pt x="5191787" y="1067912"/>
                  <a:pt x="5191787" y="1067912"/>
                  <a:pt x="5191787" y="1067912"/>
                </a:cubicBezTo>
                <a:cubicBezTo>
                  <a:pt x="5228360" y="1048079"/>
                  <a:pt x="5252742" y="1009939"/>
                  <a:pt x="5252742" y="967223"/>
                </a:cubicBezTo>
                <a:cubicBezTo>
                  <a:pt x="5252742" y="910776"/>
                  <a:pt x="5213121" y="865009"/>
                  <a:pt x="5161310" y="854329"/>
                </a:cubicBezTo>
                <a:cubicBezTo>
                  <a:pt x="5155215" y="654477"/>
                  <a:pt x="5155215" y="654477"/>
                  <a:pt x="5155215" y="654477"/>
                </a:cubicBezTo>
                <a:cubicBezTo>
                  <a:pt x="5167405" y="648375"/>
                  <a:pt x="5176549" y="636170"/>
                  <a:pt x="5176549" y="620914"/>
                </a:cubicBezTo>
                <a:cubicBezTo>
                  <a:pt x="5176549" y="610235"/>
                  <a:pt x="5171977" y="599556"/>
                  <a:pt x="5165882" y="593454"/>
                </a:cubicBezTo>
                <a:cubicBezTo>
                  <a:pt x="5165882" y="567519"/>
                  <a:pt x="5165882" y="567519"/>
                  <a:pt x="5165882" y="567519"/>
                </a:cubicBezTo>
                <a:cubicBezTo>
                  <a:pt x="5153691" y="567519"/>
                  <a:pt x="5153691" y="567519"/>
                  <a:pt x="5153691" y="567519"/>
                </a:cubicBezTo>
                <a:cubicBezTo>
                  <a:pt x="5153691" y="410383"/>
                  <a:pt x="5153691" y="410383"/>
                  <a:pt x="5153691" y="410383"/>
                </a:cubicBezTo>
                <a:cubicBezTo>
                  <a:pt x="5146071" y="410383"/>
                  <a:pt x="5146071" y="410383"/>
                  <a:pt x="5146071" y="410383"/>
                </a:cubicBezTo>
                <a:cubicBezTo>
                  <a:pt x="5146071" y="285285"/>
                  <a:pt x="5146071" y="285285"/>
                  <a:pt x="5146071" y="285285"/>
                </a:cubicBezTo>
                <a:cubicBezTo>
                  <a:pt x="5146071" y="285285"/>
                  <a:pt x="5158262" y="285285"/>
                  <a:pt x="5158262" y="270029"/>
                </a:cubicBezTo>
                <a:cubicBezTo>
                  <a:pt x="5158262" y="254773"/>
                  <a:pt x="5146071" y="259350"/>
                  <a:pt x="5146071" y="259350"/>
                </a:cubicBezTo>
                <a:cubicBezTo>
                  <a:pt x="5138452" y="0"/>
                  <a:pt x="5138452" y="0"/>
                  <a:pt x="5138452" y="0"/>
                </a:cubicBezTo>
                <a:cubicBezTo>
                  <a:pt x="5130833" y="259350"/>
                  <a:pt x="5130833" y="259350"/>
                  <a:pt x="5130833" y="259350"/>
                </a:cubicBezTo>
                <a:cubicBezTo>
                  <a:pt x="5130833" y="259350"/>
                  <a:pt x="5118642" y="254773"/>
                  <a:pt x="5118642" y="270029"/>
                </a:cubicBezTo>
                <a:cubicBezTo>
                  <a:pt x="5118642" y="285285"/>
                  <a:pt x="5130833" y="285285"/>
                  <a:pt x="5130833" y="285285"/>
                </a:cubicBezTo>
                <a:cubicBezTo>
                  <a:pt x="5130833" y="410383"/>
                  <a:pt x="5130833" y="410383"/>
                  <a:pt x="5130833" y="410383"/>
                </a:cubicBezTo>
                <a:cubicBezTo>
                  <a:pt x="5123214" y="410383"/>
                  <a:pt x="5123214" y="410383"/>
                  <a:pt x="5123214" y="410383"/>
                </a:cubicBezTo>
                <a:cubicBezTo>
                  <a:pt x="5123214" y="567519"/>
                  <a:pt x="5123214" y="567519"/>
                  <a:pt x="5123214" y="567519"/>
                </a:cubicBezTo>
                <a:cubicBezTo>
                  <a:pt x="5111023" y="567519"/>
                  <a:pt x="5111023" y="567519"/>
                  <a:pt x="5111023" y="567519"/>
                </a:cubicBezTo>
                <a:cubicBezTo>
                  <a:pt x="5111023" y="593454"/>
                  <a:pt x="5111023" y="593454"/>
                  <a:pt x="5111023" y="593454"/>
                </a:cubicBezTo>
                <a:cubicBezTo>
                  <a:pt x="5104927" y="599556"/>
                  <a:pt x="5100356" y="610235"/>
                  <a:pt x="5100356" y="620914"/>
                </a:cubicBezTo>
                <a:cubicBezTo>
                  <a:pt x="5100356" y="636170"/>
                  <a:pt x="5109499" y="648375"/>
                  <a:pt x="5121690" y="654477"/>
                </a:cubicBezTo>
                <a:cubicBezTo>
                  <a:pt x="5115594" y="854329"/>
                  <a:pt x="5115594" y="854329"/>
                  <a:pt x="5115594" y="854329"/>
                </a:cubicBezTo>
                <a:cubicBezTo>
                  <a:pt x="5063783" y="865009"/>
                  <a:pt x="5024163" y="910776"/>
                  <a:pt x="5024163" y="967223"/>
                </a:cubicBezTo>
                <a:cubicBezTo>
                  <a:pt x="5024163" y="1005363"/>
                  <a:pt x="5043973" y="1038926"/>
                  <a:pt x="5072926" y="1060284"/>
                </a:cubicBezTo>
                <a:cubicBezTo>
                  <a:pt x="5072926" y="1789515"/>
                  <a:pt x="5072926" y="1789515"/>
                  <a:pt x="5072926" y="1789515"/>
                </a:cubicBezTo>
                <a:cubicBezTo>
                  <a:pt x="5034830" y="1810873"/>
                  <a:pt x="5010448" y="1852064"/>
                  <a:pt x="5010448" y="1899357"/>
                </a:cubicBezTo>
                <a:cubicBezTo>
                  <a:pt x="5010448" y="1945125"/>
                  <a:pt x="5034830" y="1986316"/>
                  <a:pt x="5072926" y="2009200"/>
                </a:cubicBezTo>
                <a:cubicBezTo>
                  <a:pt x="5072926" y="2048865"/>
                  <a:pt x="5072926" y="2048865"/>
                  <a:pt x="5072926" y="2048865"/>
                </a:cubicBezTo>
                <a:cubicBezTo>
                  <a:pt x="5008924" y="2256345"/>
                  <a:pt x="5008924" y="2256345"/>
                  <a:pt x="5008924" y="2256345"/>
                </a:cubicBezTo>
                <a:cubicBezTo>
                  <a:pt x="4845871" y="2256345"/>
                  <a:pt x="4845871" y="2256345"/>
                  <a:pt x="4845871" y="2256345"/>
                </a:cubicBezTo>
                <a:cubicBezTo>
                  <a:pt x="4845871" y="2166335"/>
                  <a:pt x="4845871" y="2166335"/>
                  <a:pt x="4845871" y="2166335"/>
                </a:cubicBezTo>
                <a:cubicBezTo>
                  <a:pt x="4772726" y="2166335"/>
                  <a:pt x="4772726" y="2166335"/>
                  <a:pt x="4772726" y="2166335"/>
                </a:cubicBezTo>
                <a:cubicBezTo>
                  <a:pt x="4772726" y="2256345"/>
                  <a:pt x="4772726" y="2256345"/>
                  <a:pt x="4772726" y="2256345"/>
                </a:cubicBezTo>
                <a:cubicBezTo>
                  <a:pt x="4567005" y="2256345"/>
                  <a:pt x="4567005" y="2256345"/>
                  <a:pt x="4567005" y="2256345"/>
                </a:cubicBezTo>
                <a:cubicBezTo>
                  <a:pt x="4567005" y="2128196"/>
                  <a:pt x="4567005" y="2128196"/>
                  <a:pt x="4567005" y="2128196"/>
                </a:cubicBezTo>
                <a:cubicBezTo>
                  <a:pt x="4342998" y="2093107"/>
                  <a:pt x="4342998" y="2093107"/>
                  <a:pt x="4342998" y="2093107"/>
                </a:cubicBezTo>
                <a:cubicBezTo>
                  <a:pt x="4342998" y="1951227"/>
                  <a:pt x="4342998" y="1951227"/>
                  <a:pt x="4342998" y="1951227"/>
                </a:cubicBezTo>
                <a:cubicBezTo>
                  <a:pt x="4333855" y="1939023"/>
                  <a:pt x="4333855" y="1939023"/>
                  <a:pt x="4333855" y="1939023"/>
                </a:cubicBezTo>
                <a:cubicBezTo>
                  <a:pt x="4333855" y="1871897"/>
                  <a:pt x="4333855" y="1871897"/>
                  <a:pt x="4333855" y="1871897"/>
                </a:cubicBezTo>
                <a:cubicBezTo>
                  <a:pt x="4324711" y="1865794"/>
                  <a:pt x="4324711" y="1865794"/>
                  <a:pt x="4324711" y="1865794"/>
                </a:cubicBezTo>
                <a:cubicBezTo>
                  <a:pt x="4324711" y="1821552"/>
                  <a:pt x="4324711" y="1821552"/>
                  <a:pt x="4324711" y="1821552"/>
                </a:cubicBezTo>
                <a:cubicBezTo>
                  <a:pt x="4294234" y="1795617"/>
                  <a:pt x="4294234" y="1795617"/>
                  <a:pt x="4294234" y="1795617"/>
                </a:cubicBezTo>
                <a:cubicBezTo>
                  <a:pt x="4271376" y="1795617"/>
                  <a:pt x="4271376" y="1795617"/>
                  <a:pt x="4271376" y="1795617"/>
                </a:cubicBezTo>
                <a:cubicBezTo>
                  <a:pt x="4262233" y="1707133"/>
                  <a:pt x="4262233" y="1707133"/>
                  <a:pt x="4262233" y="1707133"/>
                </a:cubicBezTo>
                <a:cubicBezTo>
                  <a:pt x="4253090" y="1795617"/>
                  <a:pt x="4253090" y="1795617"/>
                  <a:pt x="4253090" y="1795617"/>
                </a:cubicBezTo>
                <a:cubicBezTo>
                  <a:pt x="4230232" y="1795617"/>
                  <a:pt x="4230232" y="1795617"/>
                  <a:pt x="4230232" y="1795617"/>
                </a:cubicBezTo>
                <a:cubicBezTo>
                  <a:pt x="4199755" y="1821552"/>
                  <a:pt x="4199755" y="1821552"/>
                  <a:pt x="4199755" y="1821552"/>
                </a:cubicBezTo>
                <a:cubicBezTo>
                  <a:pt x="4199755" y="1865794"/>
                  <a:pt x="4199755" y="1865794"/>
                  <a:pt x="4199755" y="1865794"/>
                </a:cubicBezTo>
                <a:cubicBezTo>
                  <a:pt x="4190612" y="1871897"/>
                  <a:pt x="4190612" y="1871897"/>
                  <a:pt x="4190612" y="1871897"/>
                </a:cubicBezTo>
                <a:cubicBezTo>
                  <a:pt x="4190612" y="1939023"/>
                  <a:pt x="4190612" y="1939023"/>
                  <a:pt x="4190612" y="1939023"/>
                </a:cubicBezTo>
                <a:cubicBezTo>
                  <a:pt x="4181469" y="1951227"/>
                  <a:pt x="4181469" y="1951227"/>
                  <a:pt x="4181469" y="1951227"/>
                </a:cubicBezTo>
                <a:cubicBezTo>
                  <a:pt x="4181469" y="2045814"/>
                  <a:pt x="4181469" y="2045814"/>
                  <a:pt x="4181469" y="2045814"/>
                </a:cubicBezTo>
                <a:cubicBezTo>
                  <a:pt x="4181469" y="2045814"/>
                  <a:pt x="4164706" y="2029032"/>
                  <a:pt x="4115943" y="2029032"/>
                </a:cubicBezTo>
                <a:cubicBezTo>
                  <a:pt x="4050417" y="2029032"/>
                  <a:pt x="4004701" y="2093107"/>
                  <a:pt x="4004701" y="2093107"/>
                </a:cubicBezTo>
                <a:cubicBezTo>
                  <a:pt x="3919365" y="2093107"/>
                  <a:pt x="3919365" y="2093107"/>
                  <a:pt x="3919365" y="2093107"/>
                </a:cubicBezTo>
                <a:cubicBezTo>
                  <a:pt x="3919365" y="2119042"/>
                  <a:pt x="3919365" y="2119042"/>
                  <a:pt x="3919365" y="2119042"/>
                </a:cubicBezTo>
                <a:cubicBezTo>
                  <a:pt x="3890412" y="2119042"/>
                  <a:pt x="3890412" y="2119042"/>
                  <a:pt x="3890412" y="2119042"/>
                </a:cubicBezTo>
                <a:cubicBezTo>
                  <a:pt x="3890412" y="2108363"/>
                  <a:pt x="3890412" y="2108363"/>
                  <a:pt x="3890412" y="2108363"/>
                </a:cubicBezTo>
                <a:cubicBezTo>
                  <a:pt x="3824886" y="2108363"/>
                  <a:pt x="3824886" y="2108363"/>
                  <a:pt x="3824886" y="2108363"/>
                </a:cubicBezTo>
                <a:cubicBezTo>
                  <a:pt x="3812695" y="2125144"/>
                  <a:pt x="3812695" y="2125144"/>
                  <a:pt x="3812695" y="2125144"/>
                </a:cubicBezTo>
                <a:cubicBezTo>
                  <a:pt x="3776122" y="2125144"/>
                  <a:pt x="3776122" y="2125144"/>
                  <a:pt x="3776122" y="2125144"/>
                </a:cubicBezTo>
                <a:cubicBezTo>
                  <a:pt x="3776122" y="2138875"/>
                  <a:pt x="3776122" y="2138875"/>
                  <a:pt x="3776122" y="2138875"/>
                </a:cubicBezTo>
                <a:cubicBezTo>
                  <a:pt x="3763931" y="2138875"/>
                  <a:pt x="3763931" y="2138875"/>
                  <a:pt x="3763931" y="2138875"/>
                </a:cubicBezTo>
                <a:cubicBezTo>
                  <a:pt x="3763931" y="2102261"/>
                  <a:pt x="3763931" y="2102261"/>
                  <a:pt x="3763931" y="2102261"/>
                </a:cubicBezTo>
                <a:cubicBezTo>
                  <a:pt x="3722787" y="2102261"/>
                  <a:pt x="3722787" y="2102261"/>
                  <a:pt x="3722787" y="2102261"/>
                </a:cubicBezTo>
                <a:cubicBezTo>
                  <a:pt x="3706025" y="2117516"/>
                  <a:pt x="3706025" y="2117516"/>
                  <a:pt x="3706025" y="2117516"/>
                </a:cubicBezTo>
                <a:cubicBezTo>
                  <a:pt x="3683167" y="2117516"/>
                  <a:pt x="3683167" y="2117516"/>
                  <a:pt x="3683167" y="2117516"/>
                </a:cubicBezTo>
                <a:cubicBezTo>
                  <a:pt x="3669452" y="2097684"/>
                  <a:pt x="3669452" y="2097684"/>
                  <a:pt x="3669452" y="2097684"/>
                </a:cubicBezTo>
                <a:cubicBezTo>
                  <a:pt x="3646594" y="2097684"/>
                  <a:pt x="3646594" y="2097684"/>
                  <a:pt x="3646594" y="2097684"/>
                </a:cubicBezTo>
                <a:cubicBezTo>
                  <a:pt x="3628308" y="2117516"/>
                  <a:pt x="3628308" y="2117516"/>
                  <a:pt x="3628308" y="2117516"/>
                </a:cubicBezTo>
                <a:cubicBezTo>
                  <a:pt x="3603926" y="2117516"/>
                  <a:pt x="3603926" y="2117516"/>
                  <a:pt x="3603926" y="2117516"/>
                </a:cubicBezTo>
                <a:cubicBezTo>
                  <a:pt x="3603926" y="2234987"/>
                  <a:pt x="3603926" y="2234987"/>
                  <a:pt x="3603926" y="2234987"/>
                </a:cubicBezTo>
                <a:cubicBezTo>
                  <a:pt x="3520114" y="2234987"/>
                  <a:pt x="3520114" y="2234987"/>
                  <a:pt x="3520114" y="2234987"/>
                </a:cubicBezTo>
                <a:cubicBezTo>
                  <a:pt x="3520114" y="2196847"/>
                  <a:pt x="3520114" y="2196847"/>
                  <a:pt x="3520114" y="2196847"/>
                </a:cubicBezTo>
                <a:cubicBezTo>
                  <a:pt x="3480494" y="2166335"/>
                  <a:pt x="3480494" y="2166335"/>
                  <a:pt x="3480494" y="2166335"/>
                </a:cubicBezTo>
                <a:cubicBezTo>
                  <a:pt x="3472874" y="2105312"/>
                  <a:pt x="3472874" y="2105312"/>
                  <a:pt x="3472874" y="2105312"/>
                </a:cubicBezTo>
                <a:cubicBezTo>
                  <a:pt x="3463731" y="2164810"/>
                  <a:pt x="3463731" y="2164810"/>
                  <a:pt x="3463731" y="2164810"/>
                </a:cubicBezTo>
                <a:cubicBezTo>
                  <a:pt x="3418015" y="2198373"/>
                  <a:pt x="3418015" y="2198373"/>
                  <a:pt x="3418015" y="2198373"/>
                </a:cubicBezTo>
                <a:cubicBezTo>
                  <a:pt x="3418015" y="2222782"/>
                  <a:pt x="3418015" y="2222782"/>
                  <a:pt x="3418015" y="2222782"/>
                </a:cubicBezTo>
                <a:cubicBezTo>
                  <a:pt x="3350966" y="2222782"/>
                  <a:pt x="3350966" y="2222782"/>
                  <a:pt x="3350966" y="2222782"/>
                </a:cubicBezTo>
                <a:cubicBezTo>
                  <a:pt x="3350966" y="2137349"/>
                  <a:pt x="3350966" y="2137349"/>
                  <a:pt x="3350966" y="2137349"/>
                </a:cubicBezTo>
                <a:cubicBezTo>
                  <a:pt x="3317441" y="2137349"/>
                  <a:pt x="3317441" y="2137349"/>
                  <a:pt x="3317441" y="2137349"/>
                </a:cubicBezTo>
                <a:cubicBezTo>
                  <a:pt x="3317441" y="2122093"/>
                  <a:pt x="3317441" y="2122093"/>
                  <a:pt x="3317441" y="2122093"/>
                </a:cubicBezTo>
                <a:cubicBezTo>
                  <a:pt x="3279344" y="2122093"/>
                  <a:pt x="3279344" y="2122093"/>
                  <a:pt x="3279344" y="2122093"/>
                </a:cubicBezTo>
                <a:cubicBezTo>
                  <a:pt x="3279344" y="2149554"/>
                  <a:pt x="3279344" y="2149554"/>
                  <a:pt x="3279344" y="2149554"/>
                </a:cubicBezTo>
                <a:cubicBezTo>
                  <a:pt x="3259534" y="2149554"/>
                  <a:pt x="3259534" y="2149554"/>
                  <a:pt x="3259534" y="2149554"/>
                </a:cubicBezTo>
                <a:cubicBezTo>
                  <a:pt x="3259534" y="2091581"/>
                  <a:pt x="3259534" y="2091581"/>
                  <a:pt x="3259534" y="2091581"/>
                </a:cubicBezTo>
                <a:cubicBezTo>
                  <a:pt x="3189437" y="2091581"/>
                  <a:pt x="3189437" y="2091581"/>
                  <a:pt x="3189437" y="2091581"/>
                </a:cubicBezTo>
                <a:cubicBezTo>
                  <a:pt x="3189437" y="2190745"/>
                  <a:pt x="3189437" y="2190745"/>
                  <a:pt x="3189437" y="2190745"/>
                </a:cubicBezTo>
                <a:cubicBezTo>
                  <a:pt x="3165055" y="2190745"/>
                  <a:pt x="3165055" y="2190745"/>
                  <a:pt x="3165055" y="2190745"/>
                </a:cubicBezTo>
                <a:cubicBezTo>
                  <a:pt x="3165055" y="2216680"/>
                  <a:pt x="3165055" y="2216680"/>
                  <a:pt x="3165055" y="2216680"/>
                </a:cubicBezTo>
                <a:cubicBezTo>
                  <a:pt x="3151340" y="2216680"/>
                  <a:pt x="3151340" y="2216680"/>
                  <a:pt x="3151340" y="2216680"/>
                </a:cubicBezTo>
                <a:cubicBezTo>
                  <a:pt x="3151340" y="2231936"/>
                  <a:pt x="3151340" y="2231936"/>
                  <a:pt x="3151340" y="2231936"/>
                </a:cubicBezTo>
                <a:cubicBezTo>
                  <a:pt x="3131530" y="2231936"/>
                  <a:pt x="3131530" y="2231936"/>
                  <a:pt x="3131530" y="2231936"/>
                </a:cubicBezTo>
                <a:cubicBezTo>
                  <a:pt x="3131530" y="2216680"/>
                  <a:pt x="3131530" y="2216680"/>
                  <a:pt x="3131530" y="2216680"/>
                </a:cubicBezTo>
                <a:cubicBezTo>
                  <a:pt x="3098005" y="2216680"/>
                  <a:pt x="3098005" y="2216680"/>
                  <a:pt x="3098005" y="2216680"/>
                </a:cubicBezTo>
                <a:cubicBezTo>
                  <a:pt x="3098005" y="2228884"/>
                  <a:pt x="3098005" y="2228884"/>
                  <a:pt x="3098005" y="2228884"/>
                </a:cubicBezTo>
                <a:cubicBezTo>
                  <a:pt x="3053813" y="2228884"/>
                  <a:pt x="3053813" y="2228884"/>
                  <a:pt x="3053813" y="2228884"/>
                </a:cubicBezTo>
                <a:cubicBezTo>
                  <a:pt x="3053813" y="2244140"/>
                  <a:pt x="3053813" y="2244140"/>
                  <a:pt x="3053813" y="2244140"/>
                </a:cubicBezTo>
                <a:cubicBezTo>
                  <a:pt x="3041622" y="2244140"/>
                  <a:pt x="3041622" y="2244140"/>
                  <a:pt x="3041622" y="2244140"/>
                </a:cubicBezTo>
                <a:cubicBezTo>
                  <a:pt x="3041622" y="2231936"/>
                  <a:pt x="3041622" y="2231936"/>
                  <a:pt x="3041622" y="2231936"/>
                </a:cubicBezTo>
                <a:cubicBezTo>
                  <a:pt x="3021812" y="2231936"/>
                  <a:pt x="3021812" y="2231936"/>
                  <a:pt x="3021812" y="2231936"/>
                </a:cubicBezTo>
                <a:cubicBezTo>
                  <a:pt x="3021812" y="2256345"/>
                  <a:pt x="3021812" y="2256345"/>
                  <a:pt x="3021812" y="2256345"/>
                </a:cubicBezTo>
                <a:cubicBezTo>
                  <a:pt x="3009621" y="2256345"/>
                  <a:pt x="3009621" y="2256345"/>
                  <a:pt x="3009621" y="2256345"/>
                </a:cubicBezTo>
                <a:cubicBezTo>
                  <a:pt x="3009621" y="2048865"/>
                  <a:pt x="3009621" y="2048865"/>
                  <a:pt x="3009621" y="2048865"/>
                </a:cubicBezTo>
                <a:cubicBezTo>
                  <a:pt x="2974573" y="2048865"/>
                  <a:pt x="2974573" y="2048865"/>
                  <a:pt x="2974573" y="2048865"/>
                </a:cubicBezTo>
                <a:cubicBezTo>
                  <a:pt x="2974573" y="2062595"/>
                  <a:pt x="2974573" y="2062595"/>
                  <a:pt x="2974573" y="2062595"/>
                </a:cubicBezTo>
                <a:cubicBezTo>
                  <a:pt x="2960858" y="2062595"/>
                  <a:pt x="2960858" y="2062595"/>
                  <a:pt x="2960858" y="2062595"/>
                </a:cubicBezTo>
                <a:cubicBezTo>
                  <a:pt x="2948667" y="2036660"/>
                  <a:pt x="2948667" y="2036660"/>
                  <a:pt x="2948667" y="2036660"/>
                </a:cubicBezTo>
                <a:cubicBezTo>
                  <a:pt x="2927333" y="2036660"/>
                  <a:pt x="2927333" y="2036660"/>
                  <a:pt x="2927333" y="2036660"/>
                </a:cubicBezTo>
                <a:cubicBezTo>
                  <a:pt x="2913618" y="2062595"/>
                  <a:pt x="2913618" y="2062595"/>
                  <a:pt x="2913618" y="2062595"/>
                </a:cubicBezTo>
                <a:cubicBezTo>
                  <a:pt x="2860283" y="2062595"/>
                  <a:pt x="2860283" y="2062595"/>
                  <a:pt x="2860283" y="2062595"/>
                </a:cubicBezTo>
                <a:cubicBezTo>
                  <a:pt x="2860283" y="2221256"/>
                  <a:pt x="2860283" y="2221256"/>
                  <a:pt x="2860283" y="2221256"/>
                </a:cubicBezTo>
                <a:cubicBezTo>
                  <a:pt x="2750565" y="2221256"/>
                  <a:pt x="2750565" y="2221256"/>
                  <a:pt x="2750565" y="2221256"/>
                </a:cubicBezTo>
                <a:cubicBezTo>
                  <a:pt x="2729231" y="2198373"/>
                  <a:pt x="2729231" y="2198373"/>
                  <a:pt x="2729231" y="2198373"/>
                </a:cubicBezTo>
                <a:cubicBezTo>
                  <a:pt x="2713993" y="2215154"/>
                  <a:pt x="2713993" y="2215154"/>
                  <a:pt x="2713993" y="2215154"/>
                </a:cubicBezTo>
                <a:cubicBezTo>
                  <a:pt x="2698754" y="2215154"/>
                  <a:pt x="2698754" y="2215154"/>
                  <a:pt x="2698754" y="2215154"/>
                </a:cubicBezTo>
                <a:cubicBezTo>
                  <a:pt x="2675896" y="2192270"/>
                  <a:pt x="2675896" y="2192270"/>
                  <a:pt x="2675896" y="2192270"/>
                </a:cubicBezTo>
                <a:cubicBezTo>
                  <a:pt x="2657610" y="2192270"/>
                  <a:pt x="2657610" y="2192270"/>
                  <a:pt x="2657610" y="2192270"/>
                </a:cubicBezTo>
                <a:cubicBezTo>
                  <a:pt x="2637800" y="2209052"/>
                  <a:pt x="2637800" y="2209052"/>
                  <a:pt x="2637800" y="2209052"/>
                </a:cubicBezTo>
                <a:cubicBezTo>
                  <a:pt x="2589036" y="2209052"/>
                  <a:pt x="2589036" y="2209052"/>
                  <a:pt x="2589036" y="2209052"/>
                </a:cubicBezTo>
                <a:cubicBezTo>
                  <a:pt x="2589036" y="2192270"/>
                  <a:pt x="2589036" y="2192270"/>
                  <a:pt x="2589036" y="2192270"/>
                </a:cubicBezTo>
                <a:cubicBezTo>
                  <a:pt x="2549416" y="2192270"/>
                  <a:pt x="2549416" y="2192270"/>
                  <a:pt x="2549416" y="2192270"/>
                </a:cubicBezTo>
                <a:cubicBezTo>
                  <a:pt x="2549416" y="2241089"/>
                  <a:pt x="2549416" y="2241089"/>
                  <a:pt x="2549416" y="2241089"/>
                </a:cubicBezTo>
                <a:cubicBezTo>
                  <a:pt x="2523510" y="2241089"/>
                  <a:pt x="2523510" y="2241089"/>
                  <a:pt x="2523510" y="2241089"/>
                </a:cubicBezTo>
                <a:cubicBezTo>
                  <a:pt x="2523510" y="2225833"/>
                  <a:pt x="2523510" y="2225833"/>
                  <a:pt x="2523510" y="2225833"/>
                </a:cubicBezTo>
                <a:cubicBezTo>
                  <a:pt x="2467128" y="2225833"/>
                  <a:pt x="2467128" y="2225833"/>
                  <a:pt x="2467128" y="2225833"/>
                </a:cubicBezTo>
                <a:cubicBezTo>
                  <a:pt x="2467128" y="2209052"/>
                  <a:pt x="2467128" y="2209052"/>
                  <a:pt x="2467128" y="2209052"/>
                </a:cubicBezTo>
                <a:cubicBezTo>
                  <a:pt x="2418364" y="2209052"/>
                  <a:pt x="2418364" y="2209052"/>
                  <a:pt x="2418364" y="2209052"/>
                </a:cubicBezTo>
                <a:cubicBezTo>
                  <a:pt x="2418364" y="2225833"/>
                  <a:pt x="2418364" y="2225833"/>
                  <a:pt x="2418364" y="2225833"/>
                </a:cubicBezTo>
                <a:cubicBezTo>
                  <a:pt x="2381791" y="2225833"/>
                  <a:pt x="2381791" y="2225833"/>
                  <a:pt x="2381791" y="2225833"/>
                </a:cubicBezTo>
                <a:cubicBezTo>
                  <a:pt x="2381791" y="2146503"/>
                  <a:pt x="2381791" y="2146503"/>
                  <a:pt x="2381791" y="2146503"/>
                </a:cubicBezTo>
                <a:cubicBezTo>
                  <a:pt x="2333028" y="2125144"/>
                  <a:pt x="2333028" y="2125144"/>
                  <a:pt x="2333028" y="2125144"/>
                </a:cubicBezTo>
                <a:cubicBezTo>
                  <a:pt x="2333028" y="2148028"/>
                  <a:pt x="2333028" y="2148028"/>
                  <a:pt x="2333028" y="2148028"/>
                </a:cubicBezTo>
                <a:cubicBezTo>
                  <a:pt x="2322361" y="2148028"/>
                  <a:pt x="2322361" y="2148028"/>
                  <a:pt x="2322361" y="2148028"/>
                </a:cubicBezTo>
                <a:cubicBezTo>
                  <a:pt x="2322361" y="2030558"/>
                  <a:pt x="2322361" y="2030558"/>
                  <a:pt x="2322361" y="2030558"/>
                </a:cubicBezTo>
                <a:cubicBezTo>
                  <a:pt x="2296455" y="2030558"/>
                  <a:pt x="2296455" y="2030558"/>
                  <a:pt x="2296455" y="2030558"/>
                </a:cubicBezTo>
                <a:cubicBezTo>
                  <a:pt x="2296455" y="1993944"/>
                  <a:pt x="2296455" y="1993944"/>
                  <a:pt x="2296455" y="1993944"/>
                </a:cubicBezTo>
                <a:cubicBezTo>
                  <a:pt x="2253787" y="1993944"/>
                  <a:pt x="2253787" y="1993944"/>
                  <a:pt x="2253787" y="1993944"/>
                </a:cubicBezTo>
                <a:cubicBezTo>
                  <a:pt x="2253787" y="1954278"/>
                  <a:pt x="2253787" y="1954278"/>
                  <a:pt x="2253787" y="1954278"/>
                </a:cubicBezTo>
                <a:cubicBezTo>
                  <a:pt x="2232453" y="1954278"/>
                  <a:pt x="2232453" y="1954278"/>
                  <a:pt x="2232453" y="1954278"/>
                </a:cubicBezTo>
                <a:cubicBezTo>
                  <a:pt x="2232453" y="1993944"/>
                  <a:pt x="2232453" y="1993944"/>
                  <a:pt x="2232453" y="1993944"/>
                </a:cubicBezTo>
                <a:cubicBezTo>
                  <a:pt x="2198928" y="1993944"/>
                  <a:pt x="2198928" y="1993944"/>
                  <a:pt x="2198928" y="1993944"/>
                </a:cubicBezTo>
                <a:cubicBezTo>
                  <a:pt x="2198928" y="1929869"/>
                  <a:pt x="2198928" y="1929869"/>
                  <a:pt x="2198928" y="1929869"/>
                </a:cubicBezTo>
                <a:cubicBezTo>
                  <a:pt x="2198928" y="1929869"/>
                  <a:pt x="2151689" y="1879525"/>
                  <a:pt x="2116640" y="1879525"/>
                </a:cubicBezTo>
                <a:cubicBezTo>
                  <a:pt x="2083115" y="1879525"/>
                  <a:pt x="2037399" y="1935971"/>
                  <a:pt x="2037399" y="1935971"/>
                </a:cubicBezTo>
                <a:cubicBezTo>
                  <a:pt x="2037399" y="2073274"/>
                  <a:pt x="2037399" y="2073274"/>
                  <a:pt x="2037399" y="2073274"/>
                </a:cubicBezTo>
                <a:cubicBezTo>
                  <a:pt x="2003874" y="2073274"/>
                  <a:pt x="2003874" y="2073274"/>
                  <a:pt x="2003874" y="2073274"/>
                </a:cubicBezTo>
                <a:cubicBezTo>
                  <a:pt x="2003874" y="2161758"/>
                  <a:pt x="2003874" y="2161758"/>
                  <a:pt x="2003874" y="2161758"/>
                </a:cubicBezTo>
                <a:cubicBezTo>
                  <a:pt x="1942920" y="2184642"/>
                  <a:pt x="1942920" y="2184642"/>
                  <a:pt x="1942920" y="2184642"/>
                </a:cubicBezTo>
                <a:cubicBezTo>
                  <a:pt x="1942920" y="2204475"/>
                  <a:pt x="1942920" y="2204475"/>
                  <a:pt x="1942920" y="2204475"/>
                </a:cubicBezTo>
                <a:cubicBezTo>
                  <a:pt x="1930729" y="2204475"/>
                  <a:pt x="1930729" y="2204475"/>
                  <a:pt x="1930729" y="2204475"/>
                </a:cubicBezTo>
                <a:cubicBezTo>
                  <a:pt x="1930729" y="2167861"/>
                  <a:pt x="1930729" y="2167861"/>
                  <a:pt x="1930729" y="2167861"/>
                </a:cubicBezTo>
                <a:cubicBezTo>
                  <a:pt x="1909395" y="2167861"/>
                  <a:pt x="1909395" y="2167861"/>
                  <a:pt x="1909395" y="2167861"/>
                </a:cubicBezTo>
                <a:cubicBezTo>
                  <a:pt x="1881966" y="2128196"/>
                  <a:pt x="1881966" y="2128196"/>
                  <a:pt x="1881966" y="2128196"/>
                </a:cubicBezTo>
                <a:cubicBezTo>
                  <a:pt x="1848441" y="2160233"/>
                  <a:pt x="1848441" y="2160233"/>
                  <a:pt x="1848441" y="2160233"/>
                </a:cubicBezTo>
                <a:cubicBezTo>
                  <a:pt x="1848441" y="2134298"/>
                  <a:pt x="1848441" y="2134298"/>
                  <a:pt x="1848441" y="2134298"/>
                </a:cubicBezTo>
                <a:cubicBezTo>
                  <a:pt x="1828631" y="2134298"/>
                  <a:pt x="1828631" y="2134298"/>
                  <a:pt x="1828631" y="2134298"/>
                </a:cubicBezTo>
                <a:cubicBezTo>
                  <a:pt x="1828631" y="2149554"/>
                  <a:pt x="1828631" y="2149554"/>
                  <a:pt x="1828631" y="2149554"/>
                </a:cubicBezTo>
                <a:cubicBezTo>
                  <a:pt x="1811868" y="2149554"/>
                  <a:pt x="1811868" y="2149554"/>
                  <a:pt x="1811868" y="2149554"/>
                </a:cubicBezTo>
                <a:cubicBezTo>
                  <a:pt x="1811868" y="2123619"/>
                  <a:pt x="1811868" y="2123619"/>
                  <a:pt x="1811868" y="2123619"/>
                </a:cubicBezTo>
                <a:cubicBezTo>
                  <a:pt x="1773772" y="2123619"/>
                  <a:pt x="1773772" y="2123619"/>
                  <a:pt x="1773772" y="2123619"/>
                </a:cubicBezTo>
                <a:cubicBezTo>
                  <a:pt x="1773772" y="2137349"/>
                  <a:pt x="1773772" y="2137349"/>
                  <a:pt x="1773772" y="2137349"/>
                </a:cubicBezTo>
                <a:cubicBezTo>
                  <a:pt x="1760057" y="2137349"/>
                  <a:pt x="1760057" y="2137349"/>
                  <a:pt x="1760057" y="2137349"/>
                </a:cubicBezTo>
                <a:cubicBezTo>
                  <a:pt x="1760057" y="2161758"/>
                  <a:pt x="1760057" y="2161758"/>
                  <a:pt x="1760057" y="2161758"/>
                </a:cubicBezTo>
                <a:cubicBezTo>
                  <a:pt x="1726532" y="2161758"/>
                  <a:pt x="1726532" y="2161758"/>
                  <a:pt x="1726532" y="2161758"/>
                </a:cubicBezTo>
                <a:cubicBezTo>
                  <a:pt x="1726532" y="2131247"/>
                  <a:pt x="1726532" y="2131247"/>
                  <a:pt x="1726532" y="2131247"/>
                </a:cubicBezTo>
                <a:cubicBezTo>
                  <a:pt x="1711294" y="2131247"/>
                  <a:pt x="1711294" y="2131247"/>
                  <a:pt x="1711294" y="2131247"/>
                </a:cubicBezTo>
                <a:cubicBezTo>
                  <a:pt x="1694531" y="2112940"/>
                  <a:pt x="1694531" y="2112940"/>
                  <a:pt x="1694531" y="2112940"/>
                </a:cubicBezTo>
                <a:cubicBezTo>
                  <a:pt x="1682340" y="2122093"/>
                  <a:pt x="1682340" y="2122093"/>
                  <a:pt x="1682340" y="2122093"/>
                </a:cubicBezTo>
                <a:cubicBezTo>
                  <a:pt x="1668625" y="2122093"/>
                  <a:pt x="1668625" y="2122093"/>
                  <a:pt x="1668625" y="2122093"/>
                </a:cubicBezTo>
                <a:cubicBezTo>
                  <a:pt x="1639672" y="2087005"/>
                  <a:pt x="1639672" y="2087005"/>
                  <a:pt x="1639672" y="2087005"/>
                </a:cubicBezTo>
                <a:cubicBezTo>
                  <a:pt x="1619862" y="2119042"/>
                  <a:pt x="1619862" y="2119042"/>
                  <a:pt x="1619862" y="2119042"/>
                </a:cubicBezTo>
                <a:cubicBezTo>
                  <a:pt x="1601576" y="2119042"/>
                  <a:pt x="1601576" y="2119042"/>
                  <a:pt x="1601576" y="2119042"/>
                </a:cubicBezTo>
                <a:cubicBezTo>
                  <a:pt x="1601576" y="2091581"/>
                  <a:pt x="1601576" y="2091581"/>
                  <a:pt x="1601576" y="2091581"/>
                </a:cubicBezTo>
                <a:cubicBezTo>
                  <a:pt x="1571099" y="2091581"/>
                  <a:pt x="1571099" y="2091581"/>
                  <a:pt x="1571099" y="2091581"/>
                </a:cubicBezTo>
                <a:cubicBezTo>
                  <a:pt x="1571099" y="2122093"/>
                  <a:pt x="1571099" y="2122093"/>
                  <a:pt x="1571099" y="2122093"/>
                </a:cubicBezTo>
                <a:cubicBezTo>
                  <a:pt x="1554336" y="2140400"/>
                  <a:pt x="1554336" y="2140400"/>
                  <a:pt x="1554336" y="2140400"/>
                </a:cubicBezTo>
                <a:cubicBezTo>
                  <a:pt x="1542145" y="2140400"/>
                  <a:pt x="1542145" y="2140400"/>
                  <a:pt x="1542145" y="2140400"/>
                </a:cubicBezTo>
                <a:cubicBezTo>
                  <a:pt x="1542145" y="2099209"/>
                  <a:pt x="1542145" y="2099209"/>
                  <a:pt x="1542145" y="2099209"/>
                </a:cubicBezTo>
                <a:cubicBezTo>
                  <a:pt x="1522335" y="2099209"/>
                  <a:pt x="1522335" y="2099209"/>
                  <a:pt x="1522335" y="2099209"/>
                </a:cubicBezTo>
                <a:cubicBezTo>
                  <a:pt x="1505573" y="2073274"/>
                  <a:pt x="1505573" y="2073274"/>
                  <a:pt x="1505573" y="2073274"/>
                </a:cubicBezTo>
                <a:cubicBezTo>
                  <a:pt x="1476619" y="2106837"/>
                  <a:pt x="1476619" y="2106837"/>
                  <a:pt x="1476619" y="2106837"/>
                </a:cubicBezTo>
                <a:cubicBezTo>
                  <a:pt x="1476619" y="1867320"/>
                  <a:pt x="1476619" y="1867320"/>
                  <a:pt x="1476619" y="1867320"/>
                </a:cubicBezTo>
                <a:cubicBezTo>
                  <a:pt x="1436999" y="1867320"/>
                  <a:pt x="1436999" y="1867320"/>
                  <a:pt x="1436999" y="1867320"/>
                </a:cubicBezTo>
                <a:cubicBezTo>
                  <a:pt x="1436999" y="1849013"/>
                  <a:pt x="1436999" y="1849013"/>
                  <a:pt x="1436999" y="1849013"/>
                </a:cubicBezTo>
                <a:cubicBezTo>
                  <a:pt x="1476619" y="1849013"/>
                  <a:pt x="1476619" y="1849013"/>
                  <a:pt x="1476619" y="1849013"/>
                </a:cubicBezTo>
                <a:cubicBezTo>
                  <a:pt x="1476619" y="1836808"/>
                  <a:pt x="1476619" y="1836808"/>
                  <a:pt x="1476619" y="1836808"/>
                </a:cubicBezTo>
                <a:cubicBezTo>
                  <a:pt x="1290708" y="1836808"/>
                  <a:pt x="1290708" y="1836808"/>
                  <a:pt x="1290708" y="1836808"/>
                </a:cubicBezTo>
                <a:cubicBezTo>
                  <a:pt x="1290708" y="1847487"/>
                  <a:pt x="1290708" y="1847487"/>
                  <a:pt x="1290708" y="1847487"/>
                </a:cubicBezTo>
                <a:cubicBezTo>
                  <a:pt x="1305947" y="1847487"/>
                  <a:pt x="1305947" y="1847487"/>
                  <a:pt x="1305947" y="1847487"/>
                </a:cubicBezTo>
                <a:cubicBezTo>
                  <a:pt x="1305947" y="1867320"/>
                  <a:pt x="1305947" y="1867320"/>
                  <a:pt x="1305947" y="1867320"/>
                </a:cubicBezTo>
                <a:cubicBezTo>
                  <a:pt x="1284613" y="1867320"/>
                  <a:pt x="1284613" y="1867320"/>
                  <a:pt x="1284613" y="1867320"/>
                </a:cubicBezTo>
                <a:cubicBezTo>
                  <a:pt x="1284613" y="2097684"/>
                  <a:pt x="1284613" y="2097684"/>
                  <a:pt x="1284613" y="2097684"/>
                </a:cubicBezTo>
                <a:cubicBezTo>
                  <a:pt x="1261755" y="2097684"/>
                  <a:pt x="1261755" y="2097684"/>
                  <a:pt x="1261755" y="2097684"/>
                </a:cubicBezTo>
                <a:cubicBezTo>
                  <a:pt x="1261755" y="2115991"/>
                  <a:pt x="1261755" y="2115991"/>
                  <a:pt x="1261755" y="2115991"/>
                </a:cubicBezTo>
                <a:cubicBezTo>
                  <a:pt x="1243469" y="2115991"/>
                  <a:pt x="1243469" y="2115991"/>
                  <a:pt x="1243469" y="2115991"/>
                </a:cubicBezTo>
                <a:cubicBezTo>
                  <a:pt x="1243469" y="2140400"/>
                  <a:pt x="1243469" y="2140400"/>
                  <a:pt x="1243469" y="2140400"/>
                </a:cubicBezTo>
                <a:cubicBezTo>
                  <a:pt x="1225183" y="2140400"/>
                  <a:pt x="1225183" y="2140400"/>
                  <a:pt x="1225183" y="2140400"/>
                </a:cubicBezTo>
                <a:cubicBezTo>
                  <a:pt x="1199277" y="2125144"/>
                  <a:pt x="1199277" y="2125144"/>
                  <a:pt x="1199277" y="2125144"/>
                </a:cubicBezTo>
                <a:cubicBezTo>
                  <a:pt x="1199277" y="1820027"/>
                  <a:pt x="1199277" y="1820027"/>
                  <a:pt x="1199277" y="1820027"/>
                </a:cubicBezTo>
                <a:cubicBezTo>
                  <a:pt x="1052986" y="1820027"/>
                  <a:pt x="1052986" y="1820027"/>
                  <a:pt x="1052986" y="1820027"/>
                </a:cubicBezTo>
                <a:cubicBezTo>
                  <a:pt x="1052986" y="2177014"/>
                  <a:pt x="1052986" y="2177014"/>
                  <a:pt x="1052986" y="2177014"/>
                </a:cubicBezTo>
                <a:cubicBezTo>
                  <a:pt x="1011842" y="2177014"/>
                  <a:pt x="1011842" y="2177014"/>
                  <a:pt x="1011842" y="2177014"/>
                </a:cubicBezTo>
                <a:cubicBezTo>
                  <a:pt x="1011842" y="2204475"/>
                  <a:pt x="1011842" y="2204475"/>
                  <a:pt x="1011842" y="2204475"/>
                </a:cubicBezTo>
                <a:cubicBezTo>
                  <a:pt x="975270" y="2204475"/>
                  <a:pt x="975270" y="2204475"/>
                  <a:pt x="975270" y="2204475"/>
                </a:cubicBezTo>
                <a:cubicBezTo>
                  <a:pt x="975270" y="2190745"/>
                  <a:pt x="975270" y="2190745"/>
                  <a:pt x="975270" y="2190745"/>
                </a:cubicBezTo>
                <a:cubicBezTo>
                  <a:pt x="952412" y="2190745"/>
                  <a:pt x="952412" y="2190745"/>
                  <a:pt x="952412" y="2190745"/>
                </a:cubicBezTo>
                <a:cubicBezTo>
                  <a:pt x="952412" y="1887153"/>
                  <a:pt x="952412" y="1887153"/>
                  <a:pt x="952412" y="1887153"/>
                </a:cubicBezTo>
                <a:cubicBezTo>
                  <a:pt x="915839" y="1887153"/>
                  <a:pt x="915839" y="1887153"/>
                  <a:pt x="915839" y="1887153"/>
                </a:cubicBezTo>
                <a:cubicBezTo>
                  <a:pt x="915839" y="1873422"/>
                  <a:pt x="915839" y="1873422"/>
                  <a:pt x="915839" y="1873422"/>
                </a:cubicBezTo>
                <a:cubicBezTo>
                  <a:pt x="816788" y="1873422"/>
                  <a:pt x="816788" y="1873422"/>
                  <a:pt x="816788" y="1873422"/>
                </a:cubicBezTo>
                <a:cubicBezTo>
                  <a:pt x="816788" y="1893255"/>
                  <a:pt x="816788" y="1893255"/>
                  <a:pt x="816788" y="1893255"/>
                </a:cubicBezTo>
                <a:cubicBezTo>
                  <a:pt x="784787" y="1893255"/>
                  <a:pt x="784787" y="1893255"/>
                  <a:pt x="784787" y="1893255"/>
                </a:cubicBezTo>
                <a:cubicBezTo>
                  <a:pt x="784787" y="1871897"/>
                  <a:pt x="784787" y="1871897"/>
                  <a:pt x="784787" y="1871897"/>
                </a:cubicBezTo>
                <a:cubicBezTo>
                  <a:pt x="763453" y="1871897"/>
                  <a:pt x="763453" y="1871897"/>
                  <a:pt x="763453" y="1871897"/>
                </a:cubicBezTo>
                <a:cubicBezTo>
                  <a:pt x="763453" y="1871897"/>
                  <a:pt x="742119" y="1783413"/>
                  <a:pt x="694880" y="1783413"/>
                </a:cubicBezTo>
                <a:cubicBezTo>
                  <a:pt x="647640" y="1783413"/>
                  <a:pt x="611067" y="1867320"/>
                  <a:pt x="611067" y="1867320"/>
                </a:cubicBezTo>
                <a:cubicBezTo>
                  <a:pt x="597353" y="1867320"/>
                  <a:pt x="597353" y="1867320"/>
                  <a:pt x="597353" y="1867320"/>
                </a:cubicBezTo>
                <a:cubicBezTo>
                  <a:pt x="597353" y="1896306"/>
                  <a:pt x="597353" y="1896306"/>
                  <a:pt x="597353" y="1896306"/>
                </a:cubicBezTo>
                <a:cubicBezTo>
                  <a:pt x="568399" y="1896306"/>
                  <a:pt x="568399" y="1896306"/>
                  <a:pt x="568399" y="1896306"/>
                </a:cubicBezTo>
                <a:cubicBezTo>
                  <a:pt x="568399" y="1881050"/>
                  <a:pt x="568399" y="1881050"/>
                  <a:pt x="568399" y="1881050"/>
                </a:cubicBezTo>
                <a:cubicBezTo>
                  <a:pt x="487635" y="1881050"/>
                  <a:pt x="487635" y="1881050"/>
                  <a:pt x="487635" y="1881050"/>
                </a:cubicBezTo>
                <a:cubicBezTo>
                  <a:pt x="487635" y="1899357"/>
                  <a:pt x="487635" y="1899357"/>
                  <a:pt x="487635" y="1899357"/>
                </a:cubicBezTo>
                <a:cubicBezTo>
                  <a:pt x="461729" y="1899357"/>
                  <a:pt x="461729" y="1899357"/>
                  <a:pt x="461729" y="1899357"/>
                </a:cubicBezTo>
                <a:cubicBezTo>
                  <a:pt x="438871" y="1917664"/>
                  <a:pt x="438871" y="1917664"/>
                  <a:pt x="438871" y="1917664"/>
                </a:cubicBezTo>
                <a:cubicBezTo>
                  <a:pt x="438871" y="2030558"/>
                  <a:pt x="438871" y="2030558"/>
                  <a:pt x="438871" y="2030558"/>
                </a:cubicBezTo>
                <a:cubicBezTo>
                  <a:pt x="408394" y="2030558"/>
                  <a:pt x="408394" y="2030558"/>
                  <a:pt x="408394" y="2030558"/>
                </a:cubicBezTo>
                <a:cubicBezTo>
                  <a:pt x="408394" y="2094633"/>
                  <a:pt x="408394" y="2094633"/>
                  <a:pt x="408394" y="2094633"/>
                </a:cubicBezTo>
                <a:cubicBezTo>
                  <a:pt x="384012" y="2094633"/>
                  <a:pt x="384012" y="2094633"/>
                  <a:pt x="384012" y="2094633"/>
                </a:cubicBezTo>
                <a:cubicBezTo>
                  <a:pt x="384012" y="2021404"/>
                  <a:pt x="384012" y="2021404"/>
                  <a:pt x="384012" y="2021404"/>
                </a:cubicBezTo>
                <a:cubicBezTo>
                  <a:pt x="359631" y="2021404"/>
                  <a:pt x="359631" y="2021404"/>
                  <a:pt x="359631" y="2021404"/>
                </a:cubicBezTo>
                <a:cubicBezTo>
                  <a:pt x="359631" y="2047339"/>
                  <a:pt x="359631" y="2047339"/>
                  <a:pt x="359631" y="2047339"/>
                </a:cubicBezTo>
                <a:cubicBezTo>
                  <a:pt x="332201" y="2047339"/>
                  <a:pt x="332201" y="2047339"/>
                  <a:pt x="332201" y="2047339"/>
                </a:cubicBezTo>
                <a:cubicBezTo>
                  <a:pt x="332201" y="2030558"/>
                  <a:pt x="332201" y="2030558"/>
                  <a:pt x="332201" y="2030558"/>
                </a:cubicBezTo>
                <a:cubicBezTo>
                  <a:pt x="297152" y="2030558"/>
                  <a:pt x="297152" y="2030558"/>
                  <a:pt x="297152" y="2030558"/>
                </a:cubicBezTo>
                <a:cubicBezTo>
                  <a:pt x="297152" y="2001572"/>
                  <a:pt x="297152" y="2001572"/>
                  <a:pt x="297152" y="2001572"/>
                </a:cubicBezTo>
                <a:cubicBezTo>
                  <a:pt x="277342" y="1981739"/>
                  <a:pt x="277342" y="1981739"/>
                  <a:pt x="277342" y="1981739"/>
                </a:cubicBezTo>
                <a:cubicBezTo>
                  <a:pt x="256008" y="1957330"/>
                  <a:pt x="256008" y="1957330"/>
                  <a:pt x="256008" y="1957330"/>
                </a:cubicBezTo>
                <a:cubicBezTo>
                  <a:pt x="204197" y="1957330"/>
                  <a:pt x="204197" y="1957330"/>
                  <a:pt x="204197" y="1957330"/>
                </a:cubicBezTo>
                <a:cubicBezTo>
                  <a:pt x="155434" y="1993944"/>
                  <a:pt x="155434" y="1993944"/>
                  <a:pt x="155434" y="1993944"/>
                </a:cubicBezTo>
                <a:cubicBezTo>
                  <a:pt x="118861" y="1993944"/>
                  <a:pt x="118861" y="1993944"/>
                  <a:pt x="118861" y="1993944"/>
                </a:cubicBezTo>
                <a:cubicBezTo>
                  <a:pt x="118861" y="2137349"/>
                  <a:pt x="118861" y="2137349"/>
                  <a:pt x="118861" y="2137349"/>
                </a:cubicBezTo>
                <a:cubicBezTo>
                  <a:pt x="85336" y="2070223"/>
                  <a:pt x="85336" y="2070223"/>
                  <a:pt x="85336" y="2070223"/>
                </a:cubicBezTo>
                <a:cubicBezTo>
                  <a:pt x="85336" y="2033609"/>
                  <a:pt x="85336" y="2033609"/>
                  <a:pt x="85336" y="2033609"/>
                </a:cubicBezTo>
                <a:cubicBezTo>
                  <a:pt x="0" y="2033609"/>
                  <a:pt x="0" y="2033609"/>
                  <a:pt x="0" y="2033609"/>
                </a:cubicBezTo>
                <a:cubicBezTo>
                  <a:pt x="0" y="2352457"/>
                  <a:pt x="0" y="2352457"/>
                  <a:pt x="0" y="2352457"/>
                </a:cubicBezTo>
                <a:cubicBezTo>
                  <a:pt x="12190871" y="2352457"/>
                  <a:pt x="12190871" y="2352457"/>
                  <a:pt x="12190871" y="2352457"/>
                </a:cubicBezTo>
                <a:cubicBezTo>
                  <a:pt x="12190871" y="2245666"/>
                  <a:pt x="12190871" y="2245666"/>
                  <a:pt x="12190871" y="2245666"/>
                </a:cubicBezTo>
                <a:lnTo>
                  <a:pt x="12157346" y="2245666"/>
                </a:lnTo>
                <a:close/>
                <a:moveTo>
                  <a:pt x="5133881" y="2222782"/>
                </a:moveTo>
                <a:cubicBezTo>
                  <a:pt x="5114070" y="2222782"/>
                  <a:pt x="5114070" y="2222782"/>
                  <a:pt x="5114070" y="2222782"/>
                </a:cubicBezTo>
                <a:cubicBezTo>
                  <a:pt x="5114070" y="2148028"/>
                  <a:pt x="5114070" y="2148028"/>
                  <a:pt x="5114070" y="2148028"/>
                </a:cubicBezTo>
                <a:cubicBezTo>
                  <a:pt x="5133881" y="2148028"/>
                  <a:pt x="5133881" y="2148028"/>
                  <a:pt x="5133881" y="2148028"/>
                </a:cubicBezTo>
                <a:lnTo>
                  <a:pt x="5133881" y="2222782"/>
                </a:lnTo>
                <a:close/>
                <a:moveTo>
                  <a:pt x="5133881" y="2119042"/>
                </a:moveTo>
                <a:cubicBezTo>
                  <a:pt x="5114070" y="2119042"/>
                  <a:pt x="5114070" y="2119042"/>
                  <a:pt x="5114070" y="2119042"/>
                </a:cubicBezTo>
                <a:cubicBezTo>
                  <a:pt x="5114070" y="2036660"/>
                  <a:pt x="5114070" y="2036660"/>
                  <a:pt x="5114070" y="2036660"/>
                </a:cubicBezTo>
                <a:cubicBezTo>
                  <a:pt x="5133881" y="2036660"/>
                  <a:pt x="5133881" y="2036660"/>
                  <a:pt x="5133881" y="2036660"/>
                </a:cubicBezTo>
                <a:lnTo>
                  <a:pt x="5133881" y="2119042"/>
                </a:lnTo>
                <a:close/>
                <a:moveTo>
                  <a:pt x="5114070" y="1740696"/>
                </a:moveTo>
                <a:cubicBezTo>
                  <a:pt x="5114070" y="1675096"/>
                  <a:pt x="5114070" y="1675096"/>
                  <a:pt x="5114070" y="1675096"/>
                </a:cubicBezTo>
                <a:cubicBezTo>
                  <a:pt x="5114070" y="1675096"/>
                  <a:pt x="5139976" y="1682724"/>
                  <a:pt x="5139976" y="1707133"/>
                </a:cubicBezTo>
                <a:cubicBezTo>
                  <a:pt x="5139976" y="1733068"/>
                  <a:pt x="5114070" y="1740696"/>
                  <a:pt x="5114070" y="1740696"/>
                </a:cubicBezTo>
                <a:close/>
                <a:moveTo>
                  <a:pt x="5114070" y="1617123"/>
                </a:moveTo>
                <a:cubicBezTo>
                  <a:pt x="5114070" y="1562202"/>
                  <a:pt x="5114070" y="1562202"/>
                  <a:pt x="5114070" y="1562202"/>
                </a:cubicBezTo>
                <a:cubicBezTo>
                  <a:pt x="5114070" y="1562202"/>
                  <a:pt x="5139976" y="1569830"/>
                  <a:pt x="5139976" y="1589663"/>
                </a:cubicBezTo>
                <a:cubicBezTo>
                  <a:pt x="5139976" y="1609496"/>
                  <a:pt x="5114070" y="1617123"/>
                  <a:pt x="5114070" y="1617123"/>
                </a:cubicBezTo>
                <a:close/>
                <a:moveTo>
                  <a:pt x="5114070" y="1507281"/>
                </a:moveTo>
                <a:cubicBezTo>
                  <a:pt x="5114070" y="1449309"/>
                  <a:pt x="5114070" y="1449309"/>
                  <a:pt x="5114070" y="1449309"/>
                </a:cubicBezTo>
                <a:cubicBezTo>
                  <a:pt x="5114070" y="1449309"/>
                  <a:pt x="5139976" y="1453886"/>
                  <a:pt x="5139976" y="1478295"/>
                </a:cubicBezTo>
                <a:cubicBezTo>
                  <a:pt x="5139976" y="1502704"/>
                  <a:pt x="5114070" y="1507281"/>
                  <a:pt x="5114070" y="1507281"/>
                </a:cubicBezTo>
                <a:close/>
                <a:moveTo>
                  <a:pt x="5114070" y="1389811"/>
                </a:moveTo>
                <a:cubicBezTo>
                  <a:pt x="5114070" y="1330313"/>
                  <a:pt x="5114070" y="1330313"/>
                  <a:pt x="5114070" y="1330313"/>
                </a:cubicBezTo>
                <a:cubicBezTo>
                  <a:pt x="5114070" y="1330313"/>
                  <a:pt x="5139976" y="1339466"/>
                  <a:pt x="5139976" y="1359299"/>
                </a:cubicBezTo>
                <a:cubicBezTo>
                  <a:pt x="5139976" y="1380657"/>
                  <a:pt x="5114070" y="1389811"/>
                  <a:pt x="5114070" y="1389811"/>
                </a:cubicBezTo>
                <a:close/>
                <a:moveTo>
                  <a:pt x="5114070" y="1273866"/>
                </a:moveTo>
                <a:cubicBezTo>
                  <a:pt x="5114070" y="1214368"/>
                  <a:pt x="5114070" y="1214368"/>
                  <a:pt x="5114070" y="1214368"/>
                </a:cubicBezTo>
                <a:cubicBezTo>
                  <a:pt x="5114070" y="1214368"/>
                  <a:pt x="5139976" y="1220471"/>
                  <a:pt x="5139976" y="1243354"/>
                </a:cubicBezTo>
                <a:cubicBezTo>
                  <a:pt x="5139976" y="1267764"/>
                  <a:pt x="5114070" y="1273866"/>
                  <a:pt x="5114070" y="1273866"/>
                </a:cubicBezTo>
                <a:close/>
                <a:moveTo>
                  <a:pt x="5114070" y="1153345"/>
                </a:moveTo>
                <a:cubicBezTo>
                  <a:pt x="5114070" y="1095372"/>
                  <a:pt x="5114070" y="1095372"/>
                  <a:pt x="5114070" y="1095372"/>
                </a:cubicBezTo>
                <a:cubicBezTo>
                  <a:pt x="5114070" y="1095372"/>
                  <a:pt x="5139976" y="1098424"/>
                  <a:pt x="5139976" y="1124359"/>
                </a:cubicBezTo>
                <a:cubicBezTo>
                  <a:pt x="5139976" y="1150294"/>
                  <a:pt x="5114070" y="1153345"/>
                  <a:pt x="5114070" y="1153345"/>
                </a:cubicBezTo>
                <a:close/>
                <a:moveTo>
                  <a:pt x="8466560" y="869585"/>
                </a:moveTo>
                <a:cubicBezTo>
                  <a:pt x="8393415" y="887892"/>
                  <a:pt x="8393415" y="887892"/>
                  <a:pt x="8393415" y="887892"/>
                </a:cubicBezTo>
                <a:cubicBezTo>
                  <a:pt x="8365985" y="807036"/>
                  <a:pt x="8365985" y="807036"/>
                  <a:pt x="8365985" y="807036"/>
                </a:cubicBezTo>
                <a:cubicBezTo>
                  <a:pt x="8481798" y="774999"/>
                  <a:pt x="8481798" y="774999"/>
                  <a:pt x="8481798" y="774999"/>
                </a:cubicBezTo>
                <a:lnTo>
                  <a:pt x="8466560" y="869585"/>
                </a:lnTo>
                <a:close/>
              </a:path>
            </a:pathLst>
          </a:custGeom>
          <a:noFill/>
          <a:ln w="9525" cap="flat" cmpd="sng">
            <a:solidFill>
              <a:schemeClr val="tx2"/>
            </a:solidFill>
            <a:prstDash val="solid"/>
            <a:miter/>
            <a:headEnd type="none" w="med" len="med"/>
            <a:tailEnd type="none" w="med" len="med"/>
          </a:ln>
        </p:spPr>
        <p:txBody>
          <a:bodyPr/>
          <a:lstStyle/>
          <a:p>
            <a:endParaRPr lang="zh-CN" altLang="en-US"/>
          </a:p>
        </p:txBody>
      </p:sp>
      <p:sp>
        <p:nvSpPr>
          <p:cNvPr id="6147" name="直接连接符 27"/>
          <p:cNvSpPr/>
          <p:nvPr/>
        </p:nvSpPr>
        <p:spPr>
          <a:xfrm>
            <a:off x="247" y="5208106"/>
            <a:ext cx="4319188"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sp>
        <p:nvSpPr>
          <p:cNvPr id="6148" name="直接连接符 29"/>
          <p:cNvSpPr/>
          <p:nvPr/>
        </p:nvSpPr>
        <p:spPr>
          <a:xfrm>
            <a:off x="247" y="5273187"/>
            <a:ext cx="4319188"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sp>
        <p:nvSpPr>
          <p:cNvPr id="6149" name="直接连接符 31"/>
          <p:cNvSpPr/>
          <p:nvPr/>
        </p:nvSpPr>
        <p:spPr>
          <a:xfrm>
            <a:off x="247" y="5339856"/>
            <a:ext cx="4319188"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sp>
        <p:nvSpPr>
          <p:cNvPr id="6150" name="直接连接符 39"/>
          <p:cNvSpPr/>
          <p:nvPr/>
        </p:nvSpPr>
        <p:spPr>
          <a:xfrm>
            <a:off x="7871931" y="5208106"/>
            <a:ext cx="4319187"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sp>
        <p:nvSpPr>
          <p:cNvPr id="6151" name="直接连接符 40"/>
          <p:cNvSpPr/>
          <p:nvPr/>
        </p:nvSpPr>
        <p:spPr>
          <a:xfrm>
            <a:off x="7871931" y="5273187"/>
            <a:ext cx="4319187"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sp>
        <p:nvSpPr>
          <p:cNvPr id="6152" name="直接连接符 41"/>
          <p:cNvSpPr/>
          <p:nvPr/>
        </p:nvSpPr>
        <p:spPr>
          <a:xfrm>
            <a:off x="7871931" y="5339856"/>
            <a:ext cx="4319187" cy="12699"/>
          </a:xfrm>
          <a:prstGeom prst="line">
            <a:avLst/>
          </a:prstGeom>
          <a:ln w="3175" cap="flat" cmpd="sng">
            <a:solidFill>
              <a:srgbClr val="0061AE"/>
            </a:solidFill>
            <a:prstDash val="solid"/>
            <a:bevel/>
            <a:headEnd type="none" w="med" len="med"/>
            <a:tailEnd type="none" w="med" len="med"/>
          </a:ln>
        </p:spPr>
        <p:txBody>
          <a:bodyPr anchor="t"/>
          <a:lstStyle/>
          <a:p>
            <a:endParaRPr lang="zh-CN" altLang="zh-CN">
              <a:solidFill>
                <a:srgbClr val="000000"/>
              </a:solidFill>
              <a:latin typeface="Arial" panose="020B0604020202020204"/>
              <a:ea typeface="微软雅黑" panose="020B0503020204020204" charset="-122"/>
            </a:endParaRPr>
          </a:p>
        </p:txBody>
      </p:sp>
      <p:pic>
        <p:nvPicPr>
          <p:cNvPr id="6153" name="图片 31" descr="鑫安利LOGO-12.29.png"/>
          <p:cNvPicPr>
            <a:picLocks noChangeAspect="1"/>
          </p:cNvPicPr>
          <p:nvPr/>
        </p:nvPicPr>
        <p:blipFill>
          <a:blip r:embed="rId1"/>
          <a:srcRect/>
          <a:stretch>
            <a:fillRect/>
          </a:stretch>
        </p:blipFill>
        <p:spPr>
          <a:xfrm>
            <a:off x="6094372" y="5085661"/>
            <a:ext cx="1531126" cy="396017"/>
          </a:xfrm>
          <a:prstGeom prst="rect">
            <a:avLst/>
          </a:prstGeom>
          <a:noFill/>
          <a:ln>
            <a:noFill/>
          </a:ln>
        </p:spPr>
      </p:pic>
      <p:sp>
        <p:nvSpPr>
          <p:cNvPr id="6154" name="内容占位符 1"/>
          <p:cNvSpPr>
            <a:spLocks noGrp="1"/>
          </p:cNvSpPr>
          <p:nvPr>
            <p:ph idx="4294967295"/>
          </p:nvPr>
        </p:nvSpPr>
        <p:spPr>
          <a:xfrm>
            <a:off x="0" y="2665095"/>
            <a:ext cx="12189460" cy="2000250"/>
          </a:xfrm>
          <a:prstGeom prst="rect">
            <a:avLst/>
          </a:prstGeom>
          <a:solidFill>
            <a:srgbClr val="0061AE"/>
          </a:solidFill>
          <a:ln>
            <a:noFill/>
          </a:ln>
        </p:spPr>
        <p:txBody>
          <a:bodyPr anchor="ctr"/>
          <a:lstStyle>
            <a:lvl1pPr lvl="0">
              <a:defRPr sz="2400"/>
            </a:lvl1pPr>
            <a:lvl2pPr lvl="1">
              <a:defRPr sz="2000"/>
            </a:lvl2pPr>
            <a:lvl3pPr lvl="2">
              <a:defRPr sz="1800"/>
            </a:lvl3pPr>
            <a:lvl4pPr lvl="3">
              <a:defRPr sz="1600"/>
            </a:lvl4pPr>
            <a:lvl5pPr lvl="4">
              <a:defRPr sz="1600"/>
            </a:lvl5pPr>
          </a:lstStyle>
          <a:p>
            <a:pPr marL="0" lvl="0" indent="0" algn="ctr">
              <a:buNone/>
            </a:pPr>
            <a:r>
              <a:rPr lang="zh-CN" altLang="en-US" sz="3800" b="1" dirty="0">
                <a:solidFill>
                  <a:srgbClr val="FFFFFF"/>
                </a:solidFill>
                <a:latin typeface="字魂手刻宋" panose="00000500000000000000" charset="-122"/>
                <a:ea typeface="字魂手刻宋" panose="00000500000000000000" charset="-122"/>
              </a:rPr>
              <a:t>安环家产业互联网平台介绍</a:t>
            </a:r>
            <a:endParaRPr lang="zh-CN" altLang="zh-CN" sz="3800" b="1" dirty="0">
              <a:solidFill>
                <a:srgbClr val="FFFFFF"/>
              </a:solidFill>
              <a:latin typeface="字魂手刻宋" panose="00000500000000000000" charset="-122"/>
              <a:ea typeface="字魂手刻宋" panose="00000500000000000000" charset="-122"/>
            </a:endParaRPr>
          </a:p>
        </p:txBody>
      </p:sp>
      <p:pic>
        <p:nvPicPr>
          <p:cNvPr id="6155" name="图片 6154"/>
          <p:cNvPicPr>
            <a:picLocks noChangeAspect="1"/>
          </p:cNvPicPr>
          <p:nvPr/>
        </p:nvPicPr>
        <p:blipFill>
          <a:blip r:embed="rId2"/>
          <a:srcRect/>
          <a:stretch>
            <a:fillRect/>
          </a:stretch>
        </p:blipFill>
        <p:spPr>
          <a:xfrm>
            <a:off x="4578569" y="5076771"/>
            <a:ext cx="1108848" cy="396017"/>
          </a:xfrm>
          <a:prstGeom prst="rect">
            <a:avLst/>
          </a:prstGeom>
          <a:noFill/>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med" Requires="p14" p14:dur="750">
        <p15:prstTrans prst="pageCurlDoubl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五边形 35"/>
          <p:cNvSpPr/>
          <p:nvPr>
            <p:custDataLst>
              <p:tags r:id="rId1"/>
            </p:custDataLst>
          </p:nvPr>
        </p:nvSpPr>
        <p:spPr>
          <a:xfrm>
            <a:off x="0" y="-26140"/>
            <a:ext cx="5423219" cy="6884487"/>
          </a:xfrm>
          <a:prstGeom prst="homePlate">
            <a:avLst/>
          </a:prstGeom>
          <a:gradFill>
            <a:gsLst>
              <a:gs pos="65000">
                <a:srgbClr val="0061AE"/>
              </a:gs>
              <a:gs pos="0">
                <a:srgbClr val="004098"/>
              </a:gs>
              <a:gs pos="100000">
                <a:srgbClr val="51BDF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sym typeface="字魂105号-简雅黑" panose="00000500000000000000" pitchFamily="2" charset="-122"/>
            </a:endParaRPr>
          </a:p>
        </p:txBody>
      </p:sp>
      <p:sp>
        <p:nvSpPr>
          <p:cNvPr id="9" name="TextBox 20"/>
          <p:cNvSpPr txBox="1"/>
          <p:nvPr/>
        </p:nvSpPr>
        <p:spPr>
          <a:xfrm>
            <a:off x="239318" y="3485226"/>
            <a:ext cx="4175921" cy="600075"/>
          </a:xfrm>
          <a:prstGeom prst="rect">
            <a:avLst/>
          </a:prstGeom>
          <a:noFill/>
        </p:spPr>
        <p:txBody>
          <a:bodyPr wrap="square" lIns="0" tIns="0" rIns="0" bIns="0">
            <a:spAutoFit/>
          </a:bodyPr>
          <a:lstStyle/>
          <a:p>
            <a:pPr algn="ctr"/>
            <a:r>
              <a:rPr lang="en-US" altLang="zh-CN" sz="3900">
                <a:solidFill>
                  <a:schemeClr val="bg1">
                    <a:lumMod val="95000"/>
                  </a:schemeClr>
                </a:solidFill>
                <a:latin typeface="字魂手刻宋" panose="00000500000000000000" charset="-122"/>
                <a:ea typeface="字魂手刻宋" panose="00000500000000000000" charset="-122"/>
              </a:rPr>
              <a:t>CONTENTS</a:t>
            </a:r>
            <a:endParaRPr lang="en-US" altLang="zh-CN" sz="3900">
              <a:solidFill>
                <a:schemeClr val="bg1">
                  <a:lumMod val="95000"/>
                </a:schemeClr>
              </a:solidFill>
              <a:latin typeface="字魂手刻宋" panose="00000500000000000000" charset="-122"/>
              <a:ea typeface="字魂手刻宋" panose="00000500000000000000" charset="-122"/>
            </a:endParaRPr>
          </a:p>
        </p:txBody>
      </p:sp>
      <p:sp>
        <p:nvSpPr>
          <p:cNvPr id="10" name="TextBox 19"/>
          <p:cNvSpPr txBox="1"/>
          <p:nvPr/>
        </p:nvSpPr>
        <p:spPr>
          <a:xfrm>
            <a:off x="815307" y="2382778"/>
            <a:ext cx="3023942" cy="1115695"/>
          </a:xfrm>
          <a:prstGeom prst="rect">
            <a:avLst/>
          </a:prstGeom>
          <a:noFill/>
        </p:spPr>
        <p:txBody>
          <a:bodyPr wrap="square" lIns="91428" tIns="45714" rIns="91428" bIns="45714">
            <a:spAutoFit/>
          </a:bodyPr>
          <a:lstStyle/>
          <a:p>
            <a:pPr algn="ctr"/>
            <a:r>
              <a:rPr lang="zh-CN" altLang="en-US" sz="6665" b="1">
                <a:solidFill>
                  <a:schemeClr val="bg1">
                    <a:lumMod val="95000"/>
                  </a:schemeClr>
                </a:solidFill>
                <a:latin typeface="字魂手刻宋" panose="00000500000000000000" charset="-122"/>
                <a:ea typeface="字魂手刻宋" panose="00000500000000000000" charset="-122"/>
              </a:rPr>
              <a:t>目录</a:t>
            </a:r>
            <a:endParaRPr lang="zh-CN" altLang="en-US" sz="6665" b="1">
              <a:solidFill>
                <a:schemeClr val="bg1">
                  <a:lumMod val="95000"/>
                </a:schemeClr>
              </a:solidFill>
              <a:latin typeface="字魂手刻宋" panose="00000500000000000000" charset="-122"/>
              <a:ea typeface="字魂手刻宋" panose="00000500000000000000" charset="-122"/>
            </a:endParaRPr>
          </a:p>
        </p:txBody>
      </p:sp>
      <p:grpSp>
        <p:nvGrpSpPr>
          <p:cNvPr id="22" name="组合 21"/>
          <p:cNvGrpSpPr/>
          <p:nvPr/>
        </p:nvGrpSpPr>
        <p:grpSpPr>
          <a:xfrm>
            <a:off x="6497955" y="1656715"/>
            <a:ext cx="6416675" cy="4034790"/>
            <a:chOff x="8764" y="2609"/>
            <a:chExt cx="10105" cy="6354"/>
          </a:xfrm>
        </p:grpSpPr>
        <p:grpSp>
          <p:nvGrpSpPr>
            <p:cNvPr id="23" name="组合 1"/>
            <p:cNvGrpSpPr/>
            <p:nvPr>
              <p:custDataLst>
                <p:tags r:id="rId2"/>
              </p:custDataLst>
            </p:nvPr>
          </p:nvGrpSpPr>
          <p:grpSpPr>
            <a:xfrm>
              <a:off x="8764" y="2772"/>
              <a:ext cx="834" cy="834"/>
              <a:chOff x="2659" y="2633"/>
              <a:chExt cx="1472" cy="1472"/>
            </a:xfrm>
            <a:gradFill>
              <a:gsLst>
                <a:gs pos="0">
                  <a:srgbClr val="0061AE">
                    <a:alpha val="90000"/>
                  </a:srgbClr>
                </a:gs>
                <a:gs pos="100000">
                  <a:srgbClr val="0061AE"/>
                </a:gs>
              </a:gsLst>
              <a:lin ang="3600000" scaled="0"/>
            </a:gradFill>
          </p:grpSpPr>
          <p:sp>
            <p:nvSpPr>
              <p:cNvPr id="54" name="任意多边形 10"/>
              <p:cNvSpPr/>
              <p:nvPr>
                <p:custDataLst>
                  <p:tags r:id="rId3"/>
                </p:custDataLst>
              </p:nvPr>
            </p:nvSpPr>
            <p:spPr>
              <a:xfrm>
                <a:off x="2659" y="2633"/>
                <a:ext cx="1472" cy="1472"/>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472" h="1472">
                    <a:moveTo>
                      <a:pt x="736" y="0"/>
                    </a:moveTo>
                    <a:lnTo>
                      <a:pt x="1472" y="736"/>
                    </a:lnTo>
                    <a:lnTo>
                      <a:pt x="736" y="1472"/>
                    </a:lnTo>
                    <a:lnTo>
                      <a:pt x="0" y="736"/>
                    </a:lnTo>
                    <a:close/>
                  </a:path>
                </a:pathLst>
              </a:custGeom>
              <a:grpFill/>
              <a:ln>
                <a:noFill/>
              </a:ln>
            </p:spPr>
            <p:txBody>
              <a:bodyPr wrap="square" anchor="ctr" anchorCtr="0"/>
              <a:lstStyle/>
              <a:p>
                <a:pPr algn="ctr"/>
                <a:r>
                  <a:rPr lang="en-US" altLang="zh-CN" sz="2400" b="1">
                    <a:solidFill>
                      <a:schemeClr val="bg1"/>
                    </a:solidFill>
                    <a:latin typeface="字魂手刻宋" panose="00000500000000000000" charset="-122"/>
                    <a:ea typeface="字魂手刻宋" panose="00000500000000000000" charset="-122"/>
                  </a:rPr>
                  <a:t>1</a:t>
                </a:r>
                <a:endParaRPr lang="en-US" altLang="zh-CN" sz="2400" b="1">
                  <a:solidFill>
                    <a:schemeClr val="bg1"/>
                  </a:solidFill>
                  <a:latin typeface="字魂手刻宋" panose="00000500000000000000" charset="-122"/>
                  <a:ea typeface="字魂手刻宋" panose="00000500000000000000" charset="-122"/>
                </a:endParaRPr>
              </a:p>
            </p:txBody>
          </p:sp>
          <p:cxnSp>
            <p:nvCxnSpPr>
              <p:cNvPr id="55" name="直接连接符 2"/>
              <p:cNvCxnSpPr/>
              <p:nvPr>
                <p:custDataLst>
                  <p:tags r:id="rId4"/>
                </p:custDataLst>
              </p:nvPr>
            </p:nvCxnSpPr>
            <p:spPr>
              <a:xfrm flipV="1">
                <a:off x="3027" y="2633"/>
                <a:ext cx="348" cy="368"/>
              </a:xfrm>
              <a:prstGeom prst="line">
                <a:avLst/>
              </a:prstGeom>
              <a:grpFill/>
              <a:ln w="28575">
                <a:solidFill>
                  <a:schemeClr val="accent1">
                    <a:lumMod val="20000"/>
                    <a:lumOff val="80000"/>
                  </a:schemeClr>
                </a:solidFill>
                <a:prstDash val="solid"/>
              </a:ln>
            </p:spPr>
          </p:cxnSp>
          <p:cxnSp>
            <p:nvCxnSpPr>
              <p:cNvPr id="56" name="直接连接符 3"/>
              <p:cNvCxnSpPr/>
              <p:nvPr>
                <p:custDataLst>
                  <p:tags r:id="rId5"/>
                </p:custDataLst>
              </p:nvPr>
            </p:nvCxnSpPr>
            <p:spPr>
              <a:xfrm flipV="1">
                <a:off x="3395" y="3737"/>
                <a:ext cx="348" cy="368"/>
              </a:xfrm>
              <a:prstGeom prst="line">
                <a:avLst/>
              </a:prstGeom>
              <a:grpFill/>
              <a:ln w="28575">
                <a:solidFill>
                  <a:schemeClr val="accent1">
                    <a:lumMod val="20000"/>
                    <a:lumOff val="80000"/>
                  </a:schemeClr>
                </a:solidFill>
                <a:prstDash val="solid"/>
              </a:ln>
            </p:spPr>
          </p:cxnSp>
          <p:cxnSp>
            <p:nvCxnSpPr>
              <p:cNvPr id="57" name="直接连接符 4"/>
              <p:cNvCxnSpPr/>
              <p:nvPr>
                <p:custDataLst>
                  <p:tags r:id="rId6"/>
                </p:custDataLst>
              </p:nvPr>
            </p:nvCxnSpPr>
            <p:spPr>
              <a:xfrm rot="16200000" flipV="1">
                <a:off x="3773" y="2991"/>
                <a:ext cx="348" cy="368"/>
              </a:xfrm>
              <a:prstGeom prst="line">
                <a:avLst/>
              </a:prstGeom>
              <a:grpFill/>
              <a:ln w="28575">
                <a:solidFill>
                  <a:schemeClr val="accent1">
                    <a:lumMod val="20000"/>
                    <a:lumOff val="80000"/>
                  </a:schemeClr>
                </a:solidFill>
                <a:prstDash val="solid"/>
              </a:ln>
            </p:spPr>
          </p:cxnSp>
          <p:cxnSp>
            <p:nvCxnSpPr>
              <p:cNvPr id="58" name="直接连接符 5"/>
              <p:cNvCxnSpPr/>
              <p:nvPr>
                <p:custDataLst>
                  <p:tags r:id="rId7"/>
                </p:custDataLst>
              </p:nvPr>
            </p:nvCxnSpPr>
            <p:spPr>
              <a:xfrm rot="16200000" flipV="1">
                <a:off x="2669" y="3379"/>
                <a:ext cx="348" cy="368"/>
              </a:xfrm>
              <a:prstGeom prst="line">
                <a:avLst/>
              </a:prstGeom>
              <a:grpFill/>
              <a:ln w="28575">
                <a:solidFill>
                  <a:schemeClr val="accent1">
                    <a:lumMod val="20000"/>
                    <a:lumOff val="80000"/>
                  </a:schemeClr>
                </a:solidFill>
                <a:prstDash val="solid"/>
              </a:ln>
            </p:spPr>
          </p:cxnSp>
        </p:grpSp>
        <p:sp>
          <p:nvSpPr>
            <p:cNvPr id="30" name="文本框 29"/>
            <p:cNvSpPr txBox="1"/>
            <p:nvPr>
              <p:custDataLst>
                <p:tags r:id="rId8"/>
              </p:custDataLst>
            </p:nvPr>
          </p:nvSpPr>
          <p:spPr>
            <a:xfrm>
              <a:off x="9939" y="2609"/>
              <a:ext cx="8930" cy="1144"/>
            </a:xfrm>
            <a:prstGeom prst="rect">
              <a:avLst/>
            </a:prstGeom>
            <a:noFill/>
          </p:spPr>
          <p:txBody>
            <a:bodyPr wrap="square" anchor="ctr" anchorCtr="0"/>
            <a:lstStyle/>
            <a:p>
              <a:pPr lvl="0">
                <a:lnSpc>
                  <a:spcPct val="120000"/>
                </a:lnSpc>
              </a:pPr>
              <a:r>
                <a:rPr lang="zh-CN" sz="2200" b="1" dirty="0">
                  <a:solidFill>
                    <a:srgbClr val="0061AE"/>
                  </a:solidFill>
                  <a:latin typeface="字魂手刻宋" panose="00000500000000000000" charset="-122"/>
                  <a:ea typeface="字魂手刻宋" panose="00000500000000000000" charset="-122"/>
                </a:rPr>
                <a:t>发展背景</a:t>
              </a:r>
              <a:endParaRPr lang="zh-CN" sz="2200" b="1" dirty="0">
                <a:solidFill>
                  <a:srgbClr val="0061AE"/>
                </a:solidFill>
                <a:latin typeface="字魂手刻宋" panose="00000500000000000000" charset="-122"/>
                <a:ea typeface="字魂手刻宋" panose="00000500000000000000" charset="-122"/>
              </a:endParaRPr>
            </a:p>
          </p:txBody>
        </p:sp>
        <p:grpSp>
          <p:nvGrpSpPr>
            <p:cNvPr id="31" name="组合 6"/>
            <p:cNvGrpSpPr/>
            <p:nvPr>
              <p:custDataLst>
                <p:tags r:id="rId9"/>
              </p:custDataLst>
            </p:nvPr>
          </p:nvGrpSpPr>
          <p:grpSpPr>
            <a:xfrm>
              <a:off x="8764" y="4509"/>
              <a:ext cx="834" cy="834"/>
              <a:chOff x="2659" y="4370"/>
              <a:chExt cx="1472" cy="1472"/>
            </a:xfrm>
            <a:gradFill>
              <a:gsLst>
                <a:gs pos="0">
                  <a:srgbClr val="0061AE">
                    <a:alpha val="90000"/>
                  </a:srgbClr>
                </a:gs>
                <a:gs pos="100000">
                  <a:srgbClr val="0061AE"/>
                </a:gs>
              </a:gsLst>
              <a:lin ang="3600000" scaled="0"/>
            </a:gradFill>
          </p:grpSpPr>
          <p:sp>
            <p:nvSpPr>
              <p:cNvPr id="49" name="任意多边形 16"/>
              <p:cNvSpPr/>
              <p:nvPr>
                <p:custDataLst>
                  <p:tags r:id="rId10"/>
                </p:custDataLst>
              </p:nvPr>
            </p:nvSpPr>
            <p:spPr>
              <a:xfrm>
                <a:off x="2659" y="4370"/>
                <a:ext cx="1472" cy="1472"/>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472" h="1472">
                    <a:moveTo>
                      <a:pt x="736" y="0"/>
                    </a:moveTo>
                    <a:lnTo>
                      <a:pt x="1472" y="736"/>
                    </a:lnTo>
                    <a:lnTo>
                      <a:pt x="736" y="1472"/>
                    </a:lnTo>
                    <a:lnTo>
                      <a:pt x="0" y="736"/>
                    </a:lnTo>
                    <a:close/>
                  </a:path>
                </a:pathLst>
              </a:custGeom>
              <a:grpFill/>
              <a:ln>
                <a:noFill/>
              </a:ln>
            </p:spPr>
            <p:txBody>
              <a:bodyPr wrap="square" anchor="ctr" anchorCtr="0"/>
              <a:lstStyle/>
              <a:p>
                <a:pPr algn="ctr"/>
                <a:r>
                  <a:rPr lang="en-US" altLang="zh-CN" sz="2400" b="1">
                    <a:solidFill>
                      <a:schemeClr val="bg1"/>
                    </a:solidFill>
                    <a:latin typeface="字魂手刻宋" panose="00000500000000000000" charset="-122"/>
                    <a:ea typeface="字魂手刻宋" panose="00000500000000000000" charset="-122"/>
                  </a:rPr>
                  <a:t>2</a:t>
                </a:r>
                <a:endParaRPr lang="en-US" altLang="zh-CN" sz="2400" b="1">
                  <a:solidFill>
                    <a:schemeClr val="bg1"/>
                  </a:solidFill>
                  <a:latin typeface="字魂手刻宋" panose="00000500000000000000" charset="-122"/>
                  <a:ea typeface="字魂手刻宋" panose="00000500000000000000" charset="-122"/>
                </a:endParaRPr>
              </a:p>
            </p:txBody>
          </p:sp>
          <p:cxnSp>
            <p:nvCxnSpPr>
              <p:cNvPr id="50" name="直接连接符 49"/>
              <p:cNvCxnSpPr/>
              <p:nvPr>
                <p:custDataLst>
                  <p:tags r:id="rId11"/>
                </p:custDataLst>
              </p:nvPr>
            </p:nvCxnSpPr>
            <p:spPr>
              <a:xfrm flipV="1">
                <a:off x="3027" y="4370"/>
                <a:ext cx="348" cy="368"/>
              </a:xfrm>
              <a:prstGeom prst="line">
                <a:avLst/>
              </a:prstGeom>
              <a:grpFill/>
              <a:ln w="28575">
                <a:solidFill>
                  <a:schemeClr val="accent2">
                    <a:lumMod val="20000"/>
                    <a:lumOff val="80000"/>
                  </a:schemeClr>
                </a:solidFill>
                <a:prstDash val="solid"/>
              </a:ln>
            </p:spPr>
          </p:cxnSp>
          <p:cxnSp>
            <p:nvCxnSpPr>
              <p:cNvPr id="51" name="直接连接符 50"/>
              <p:cNvCxnSpPr/>
              <p:nvPr>
                <p:custDataLst>
                  <p:tags r:id="rId12"/>
                </p:custDataLst>
              </p:nvPr>
            </p:nvCxnSpPr>
            <p:spPr>
              <a:xfrm flipV="1">
                <a:off x="3395" y="5474"/>
                <a:ext cx="348" cy="368"/>
              </a:xfrm>
              <a:prstGeom prst="line">
                <a:avLst/>
              </a:prstGeom>
              <a:grpFill/>
              <a:ln w="28575">
                <a:solidFill>
                  <a:schemeClr val="accent2">
                    <a:lumMod val="20000"/>
                    <a:lumOff val="80000"/>
                  </a:schemeClr>
                </a:solidFill>
                <a:prstDash val="solid"/>
              </a:ln>
            </p:spPr>
          </p:cxnSp>
          <p:cxnSp>
            <p:nvCxnSpPr>
              <p:cNvPr id="52" name="直接连接符 19"/>
              <p:cNvCxnSpPr/>
              <p:nvPr>
                <p:custDataLst>
                  <p:tags r:id="rId13"/>
                </p:custDataLst>
              </p:nvPr>
            </p:nvCxnSpPr>
            <p:spPr>
              <a:xfrm rot="16200000" flipV="1">
                <a:off x="3773" y="4728"/>
                <a:ext cx="348" cy="368"/>
              </a:xfrm>
              <a:prstGeom prst="line">
                <a:avLst/>
              </a:prstGeom>
              <a:grpFill/>
              <a:ln w="28575">
                <a:solidFill>
                  <a:schemeClr val="accent2">
                    <a:lumMod val="20000"/>
                    <a:lumOff val="80000"/>
                  </a:schemeClr>
                </a:solidFill>
                <a:prstDash val="solid"/>
              </a:ln>
            </p:spPr>
          </p:cxnSp>
          <p:cxnSp>
            <p:nvCxnSpPr>
              <p:cNvPr id="53" name="直接连接符 20"/>
              <p:cNvCxnSpPr/>
              <p:nvPr>
                <p:custDataLst>
                  <p:tags r:id="rId14"/>
                </p:custDataLst>
              </p:nvPr>
            </p:nvCxnSpPr>
            <p:spPr>
              <a:xfrm rot="16200000" flipV="1">
                <a:off x="2669" y="5116"/>
                <a:ext cx="348" cy="368"/>
              </a:xfrm>
              <a:prstGeom prst="line">
                <a:avLst/>
              </a:prstGeom>
              <a:grpFill/>
              <a:ln w="28575">
                <a:solidFill>
                  <a:schemeClr val="accent2">
                    <a:lumMod val="20000"/>
                    <a:lumOff val="80000"/>
                  </a:schemeClr>
                </a:solidFill>
                <a:prstDash val="solid"/>
              </a:ln>
            </p:spPr>
          </p:cxnSp>
        </p:grpSp>
        <p:sp>
          <p:nvSpPr>
            <p:cNvPr id="32" name="文本框 31"/>
            <p:cNvSpPr txBox="1"/>
            <p:nvPr>
              <p:custDataLst>
                <p:tags r:id="rId15"/>
              </p:custDataLst>
            </p:nvPr>
          </p:nvSpPr>
          <p:spPr>
            <a:xfrm>
              <a:off x="9939" y="4345"/>
              <a:ext cx="8379" cy="1144"/>
            </a:xfrm>
            <a:prstGeom prst="rect">
              <a:avLst/>
            </a:prstGeom>
            <a:noFill/>
          </p:spPr>
          <p:txBody>
            <a:bodyPr wrap="square" anchor="ctr" anchorCtr="0"/>
            <a:lstStyle/>
            <a:p>
              <a:pPr lvl="0">
                <a:lnSpc>
                  <a:spcPct val="120000"/>
                </a:lnSpc>
              </a:pPr>
              <a:r>
                <a:rPr lang="zh-CN" altLang="en-US" sz="2200" b="1" dirty="0">
                  <a:solidFill>
                    <a:srgbClr val="0061AE"/>
                  </a:solidFill>
                  <a:latin typeface="字魂手刻宋" panose="00000500000000000000" charset="-122"/>
                  <a:ea typeface="字魂手刻宋" panose="00000500000000000000" charset="-122"/>
                </a:rPr>
                <a:t>平台概述</a:t>
              </a:r>
              <a:endParaRPr lang="zh-CN" altLang="zh-CN" sz="2200" b="1" dirty="0">
                <a:solidFill>
                  <a:srgbClr val="0061AE"/>
                </a:solidFill>
                <a:latin typeface="字魂手刻宋" panose="00000500000000000000" charset="-122"/>
                <a:ea typeface="字魂手刻宋" panose="00000500000000000000" charset="-122"/>
              </a:endParaRPr>
            </a:p>
          </p:txBody>
        </p:sp>
        <p:grpSp>
          <p:nvGrpSpPr>
            <p:cNvPr id="33" name="组合 7"/>
            <p:cNvGrpSpPr/>
            <p:nvPr>
              <p:custDataLst>
                <p:tags r:id="rId16"/>
              </p:custDataLst>
            </p:nvPr>
          </p:nvGrpSpPr>
          <p:grpSpPr>
            <a:xfrm>
              <a:off x="8764" y="6245"/>
              <a:ext cx="834" cy="835"/>
              <a:chOff x="2659" y="6107"/>
              <a:chExt cx="1472" cy="1473"/>
            </a:xfrm>
            <a:gradFill>
              <a:gsLst>
                <a:gs pos="0">
                  <a:srgbClr val="0061AE">
                    <a:alpha val="90000"/>
                  </a:srgbClr>
                </a:gs>
                <a:gs pos="100000">
                  <a:srgbClr val="0061AE"/>
                </a:gs>
              </a:gsLst>
              <a:lin ang="3600000" scaled="0"/>
            </a:gradFill>
          </p:grpSpPr>
          <p:sp>
            <p:nvSpPr>
              <p:cNvPr id="44" name="任意多边形 24"/>
              <p:cNvSpPr/>
              <p:nvPr>
                <p:custDataLst>
                  <p:tags r:id="rId17"/>
                </p:custDataLst>
              </p:nvPr>
            </p:nvSpPr>
            <p:spPr>
              <a:xfrm>
                <a:off x="2659" y="6107"/>
                <a:ext cx="1472" cy="1472"/>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472" h="1472">
                    <a:moveTo>
                      <a:pt x="736" y="0"/>
                    </a:moveTo>
                    <a:lnTo>
                      <a:pt x="1472" y="736"/>
                    </a:lnTo>
                    <a:lnTo>
                      <a:pt x="736" y="1472"/>
                    </a:lnTo>
                    <a:lnTo>
                      <a:pt x="0" y="736"/>
                    </a:lnTo>
                    <a:close/>
                  </a:path>
                </a:pathLst>
              </a:custGeom>
              <a:grpFill/>
              <a:ln w="25400">
                <a:solidFill>
                  <a:schemeClr val="accent3">
                    <a:lumMod val="20000"/>
                    <a:lumOff val="80000"/>
                  </a:schemeClr>
                </a:solidFill>
                <a:prstDash val="solid"/>
              </a:ln>
            </p:spPr>
            <p:txBody>
              <a:bodyPr wrap="square" anchor="ctr" anchorCtr="0"/>
              <a:lstStyle/>
              <a:p>
                <a:pPr algn="ctr"/>
                <a:r>
                  <a:rPr lang="en-US" altLang="zh-CN" sz="2400" b="1">
                    <a:solidFill>
                      <a:schemeClr val="bg1"/>
                    </a:solidFill>
                    <a:latin typeface="字魂手刻宋" panose="00000500000000000000" charset="-122"/>
                    <a:ea typeface="字魂手刻宋" panose="00000500000000000000" charset="-122"/>
                  </a:rPr>
                  <a:t>3</a:t>
                </a:r>
                <a:endParaRPr lang="en-US" altLang="zh-CN" sz="2400" b="1">
                  <a:solidFill>
                    <a:schemeClr val="bg1"/>
                  </a:solidFill>
                  <a:latin typeface="字魂手刻宋" panose="00000500000000000000" charset="-122"/>
                  <a:ea typeface="字魂手刻宋" panose="00000500000000000000" charset="-122"/>
                </a:endParaRPr>
              </a:p>
            </p:txBody>
          </p:sp>
          <p:cxnSp>
            <p:nvCxnSpPr>
              <p:cNvPr id="45" name="直接连接符 44"/>
              <p:cNvCxnSpPr/>
              <p:nvPr>
                <p:custDataLst>
                  <p:tags r:id="rId18"/>
                </p:custDataLst>
              </p:nvPr>
            </p:nvCxnSpPr>
            <p:spPr>
              <a:xfrm flipV="1">
                <a:off x="3027" y="6107"/>
                <a:ext cx="348" cy="368"/>
              </a:xfrm>
              <a:prstGeom prst="line">
                <a:avLst/>
              </a:prstGeom>
              <a:grpFill/>
              <a:ln w="28575">
                <a:solidFill>
                  <a:schemeClr val="accent3">
                    <a:lumMod val="20000"/>
                    <a:lumOff val="80000"/>
                  </a:schemeClr>
                </a:solidFill>
                <a:prstDash val="solid"/>
              </a:ln>
            </p:spPr>
          </p:cxnSp>
          <p:cxnSp>
            <p:nvCxnSpPr>
              <p:cNvPr id="46" name="直接连接符 45"/>
              <p:cNvCxnSpPr/>
              <p:nvPr>
                <p:custDataLst>
                  <p:tags r:id="rId19"/>
                </p:custDataLst>
              </p:nvPr>
            </p:nvCxnSpPr>
            <p:spPr>
              <a:xfrm flipV="1">
                <a:off x="3395" y="7212"/>
                <a:ext cx="348" cy="368"/>
              </a:xfrm>
              <a:prstGeom prst="line">
                <a:avLst/>
              </a:prstGeom>
              <a:grpFill/>
              <a:ln w="28575">
                <a:solidFill>
                  <a:schemeClr val="accent3">
                    <a:lumMod val="20000"/>
                    <a:lumOff val="80000"/>
                  </a:schemeClr>
                </a:solidFill>
                <a:prstDash val="solid"/>
              </a:ln>
            </p:spPr>
          </p:cxnSp>
          <p:cxnSp>
            <p:nvCxnSpPr>
              <p:cNvPr id="47" name="直接连接符 46"/>
              <p:cNvCxnSpPr/>
              <p:nvPr>
                <p:custDataLst>
                  <p:tags r:id="rId20"/>
                </p:custDataLst>
              </p:nvPr>
            </p:nvCxnSpPr>
            <p:spPr>
              <a:xfrm rot="16200000" flipV="1">
                <a:off x="3773" y="6465"/>
                <a:ext cx="348" cy="368"/>
              </a:xfrm>
              <a:prstGeom prst="line">
                <a:avLst/>
              </a:prstGeom>
              <a:grpFill/>
              <a:ln w="28575">
                <a:solidFill>
                  <a:schemeClr val="accent3">
                    <a:lumMod val="20000"/>
                    <a:lumOff val="80000"/>
                  </a:schemeClr>
                </a:solidFill>
                <a:prstDash val="solid"/>
              </a:ln>
            </p:spPr>
          </p:cxnSp>
          <p:cxnSp>
            <p:nvCxnSpPr>
              <p:cNvPr id="48" name="直接连接符 47"/>
              <p:cNvCxnSpPr/>
              <p:nvPr>
                <p:custDataLst>
                  <p:tags r:id="rId21"/>
                </p:custDataLst>
              </p:nvPr>
            </p:nvCxnSpPr>
            <p:spPr>
              <a:xfrm rot="16200000" flipV="1">
                <a:off x="2669" y="6854"/>
                <a:ext cx="348" cy="368"/>
              </a:xfrm>
              <a:prstGeom prst="line">
                <a:avLst/>
              </a:prstGeom>
              <a:grpFill/>
              <a:ln w="28575">
                <a:solidFill>
                  <a:schemeClr val="accent3">
                    <a:lumMod val="20000"/>
                    <a:lumOff val="80000"/>
                  </a:schemeClr>
                </a:solidFill>
                <a:prstDash val="solid"/>
              </a:ln>
            </p:spPr>
          </p:cxnSp>
        </p:grpSp>
        <p:sp>
          <p:nvSpPr>
            <p:cNvPr id="34" name="文本框 33"/>
            <p:cNvSpPr txBox="1"/>
            <p:nvPr>
              <p:custDataLst>
                <p:tags r:id="rId22"/>
              </p:custDataLst>
            </p:nvPr>
          </p:nvSpPr>
          <p:spPr>
            <a:xfrm>
              <a:off x="9939" y="6082"/>
              <a:ext cx="6349" cy="1144"/>
            </a:xfrm>
            <a:prstGeom prst="rect">
              <a:avLst/>
            </a:prstGeom>
            <a:noFill/>
          </p:spPr>
          <p:txBody>
            <a:bodyPr wrap="square" anchor="ctr" anchorCtr="0">
              <a:normAutofit/>
            </a:bodyPr>
            <a:lstStyle/>
            <a:p>
              <a:pPr lvl="0">
                <a:lnSpc>
                  <a:spcPct val="120000"/>
                </a:lnSpc>
              </a:pPr>
              <a:r>
                <a:rPr lang="zh-CN" altLang="en-US" sz="2200" b="1" dirty="0">
                  <a:solidFill>
                    <a:srgbClr val="0061AE"/>
                  </a:solidFill>
                  <a:latin typeface="字魂手刻宋" panose="00000500000000000000" charset="-122"/>
                  <a:ea typeface="字魂手刻宋" panose="00000500000000000000" charset="-122"/>
                  <a:cs typeface="字魂手刻宋" panose="00000500000000000000" charset="-122"/>
                </a:rPr>
                <a:t>价值路径</a:t>
              </a:r>
              <a:endParaRPr lang="zh-CN" altLang="zh-CN" sz="2200" b="1" dirty="0">
                <a:solidFill>
                  <a:srgbClr val="0061AE"/>
                </a:solidFill>
                <a:latin typeface="字魂手刻宋" panose="00000500000000000000" charset="-122"/>
                <a:ea typeface="字魂手刻宋" panose="00000500000000000000" charset="-122"/>
                <a:cs typeface="字魂手刻宋" panose="00000500000000000000" charset="-122"/>
              </a:endParaRPr>
            </a:p>
          </p:txBody>
        </p:sp>
        <p:grpSp>
          <p:nvGrpSpPr>
            <p:cNvPr id="37" name="组合 7"/>
            <p:cNvGrpSpPr/>
            <p:nvPr>
              <p:custDataLst>
                <p:tags r:id="rId23"/>
              </p:custDataLst>
            </p:nvPr>
          </p:nvGrpSpPr>
          <p:grpSpPr>
            <a:xfrm>
              <a:off x="8764" y="7982"/>
              <a:ext cx="834" cy="835"/>
              <a:chOff x="2659" y="6107"/>
              <a:chExt cx="1472" cy="1473"/>
            </a:xfrm>
            <a:gradFill>
              <a:gsLst>
                <a:gs pos="0">
                  <a:srgbClr val="0061AE">
                    <a:alpha val="90000"/>
                  </a:srgbClr>
                </a:gs>
                <a:gs pos="100000">
                  <a:srgbClr val="0061AE"/>
                </a:gs>
              </a:gsLst>
              <a:lin ang="3600000" scaled="0"/>
            </a:gradFill>
          </p:grpSpPr>
          <p:sp>
            <p:nvSpPr>
              <p:cNvPr id="39" name="任意多边形 24"/>
              <p:cNvSpPr/>
              <p:nvPr>
                <p:custDataLst>
                  <p:tags r:id="rId24"/>
                </p:custDataLst>
              </p:nvPr>
            </p:nvSpPr>
            <p:spPr>
              <a:xfrm>
                <a:off x="2659" y="6107"/>
                <a:ext cx="1472" cy="1472"/>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472" h="1472">
                    <a:moveTo>
                      <a:pt x="736" y="0"/>
                    </a:moveTo>
                    <a:lnTo>
                      <a:pt x="1472" y="736"/>
                    </a:lnTo>
                    <a:lnTo>
                      <a:pt x="736" y="1472"/>
                    </a:lnTo>
                    <a:lnTo>
                      <a:pt x="0" y="736"/>
                    </a:lnTo>
                    <a:close/>
                  </a:path>
                </a:pathLst>
              </a:custGeom>
              <a:grpFill/>
              <a:ln w="25400">
                <a:solidFill>
                  <a:schemeClr val="accent3">
                    <a:lumMod val="20000"/>
                    <a:lumOff val="80000"/>
                  </a:schemeClr>
                </a:solidFill>
                <a:prstDash val="solid"/>
              </a:ln>
            </p:spPr>
            <p:txBody>
              <a:bodyPr wrap="square" anchor="ctr" anchorCtr="0"/>
              <a:lstStyle/>
              <a:p>
                <a:pPr algn="ctr"/>
                <a:r>
                  <a:rPr lang="en-US" altLang="zh-CN" sz="2400" b="1">
                    <a:solidFill>
                      <a:schemeClr val="bg1"/>
                    </a:solidFill>
                    <a:latin typeface="字魂手刻宋" panose="00000500000000000000" charset="-122"/>
                    <a:ea typeface="字魂手刻宋" panose="00000500000000000000" charset="-122"/>
                  </a:rPr>
                  <a:t>4</a:t>
                </a:r>
                <a:endParaRPr lang="en-US" altLang="zh-CN" sz="2400" b="1">
                  <a:solidFill>
                    <a:schemeClr val="bg1"/>
                  </a:solidFill>
                  <a:latin typeface="字魂手刻宋" panose="00000500000000000000" charset="-122"/>
                  <a:ea typeface="字魂手刻宋" panose="00000500000000000000" charset="-122"/>
                </a:endParaRPr>
              </a:p>
            </p:txBody>
          </p:sp>
          <p:cxnSp>
            <p:nvCxnSpPr>
              <p:cNvPr id="40" name="直接连接符 39"/>
              <p:cNvCxnSpPr/>
              <p:nvPr>
                <p:custDataLst>
                  <p:tags r:id="rId25"/>
                </p:custDataLst>
              </p:nvPr>
            </p:nvCxnSpPr>
            <p:spPr>
              <a:xfrm flipV="1">
                <a:off x="3027" y="6107"/>
                <a:ext cx="348" cy="368"/>
              </a:xfrm>
              <a:prstGeom prst="line">
                <a:avLst/>
              </a:prstGeom>
              <a:grpFill/>
              <a:ln w="28575">
                <a:solidFill>
                  <a:schemeClr val="accent3">
                    <a:lumMod val="20000"/>
                    <a:lumOff val="80000"/>
                  </a:schemeClr>
                </a:solidFill>
                <a:prstDash val="solid"/>
              </a:ln>
            </p:spPr>
          </p:cxnSp>
          <p:cxnSp>
            <p:nvCxnSpPr>
              <p:cNvPr id="41" name="直接连接符 40"/>
              <p:cNvCxnSpPr/>
              <p:nvPr>
                <p:custDataLst>
                  <p:tags r:id="rId26"/>
                </p:custDataLst>
              </p:nvPr>
            </p:nvCxnSpPr>
            <p:spPr>
              <a:xfrm flipV="1">
                <a:off x="3395" y="7212"/>
                <a:ext cx="348" cy="368"/>
              </a:xfrm>
              <a:prstGeom prst="line">
                <a:avLst/>
              </a:prstGeom>
              <a:grpFill/>
              <a:ln w="28575">
                <a:solidFill>
                  <a:schemeClr val="accent3">
                    <a:lumMod val="20000"/>
                    <a:lumOff val="80000"/>
                  </a:schemeClr>
                </a:solidFill>
                <a:prstDash val="solid"/>
              </a:ln>
            </p:spPr>
          </p:cxnSp>
          <p:cxnSp>
            <p:nvCxnSpPr>
              <p:cNvPr id="42" name="直接连接符 41"/>
              <p:cNvCxnSpPr/>
              <p:nvPr>
                <p:custDataLst>
                  <p:tags r:id="rId27"/>
                </p:custDataLst>
              </p:nvPr>
            </p:nvCxnSpPr>
            <p:spPr>
              <a:xfrm rot="16200000" flipV="1">
                <a:off x="3773" y="6465"/>
                <a:ext cx="348" cy="368"/>
              </a:xfrm>
              <a:prstGeom prst="line">
                <a:avLst/>
              </a:prstGeom>
              <a:grpFill/>
              <a:ln w="28575">
                <a:solidFill>
                  <a:schemeClr val="accent3">
                    <a:lumMod val="20000"/>
                    <a:lumOff val="80000"/>
                  </a:schemeClr>
                </a:solidFill>
                <a:prstDash val="solid"/>
              </a:ln>
            </p:spPr>
          </p:cxnSp>
          <p:cxnSp>
            <p:nvCxnSpPr>
              <p:cNvPr id="43" name="直接连接符 42"/>
              <p:cNvCxnSpPr/>
              <p:nvPr>
                <p:custDataLst>
                  <p:tags r:id="rId28"/>
                </p:custDataLst>
              </p:nvPr>
            </p:nvCxnSpPr>
            <p:spPr>
              <a:xfrm rot="16200000" flipV="1">
                <a:off x="2669" y="6854"/>
                <a:ext cx="348" cy="368"/>
              </a:xfrm>
              <a:prstGeom prst="line">
                <a:avLst/>
              </a:prstGeom>
              <a:grpFill/>
              <a:ln w="28575">
                <a:solidFill>
                  <a:schemeClr val="accent3">
                    <a:lumMod val="20000"/>
                    <a:lumOff val="80000"/>
                  </a:schemeClr>
                </a:solidFill>
                <a:prstDash val="solid"/>
              </a:ln>
            </p:spPr>
          </p:cxnSp>
        </p:grpSp>
        <p:sp>
          <p:nvSpPr>
            <p:cNvPr id="38" name="文本框 37"/>
            <p:cNvSpPr txBox="1"/>
            <p:nvPr>
              <p:custDataLst>
                <p:tags r:id="rId29"/>
              </p:custDataLst>
            </p:nvPr>
          </p:nvSpPr>
          <p:spPr>
            <a:xfrm>
              <a:off x="9939" y="7819"/>
              <a:ext cx="6349" cy="1144"/>
            </a:xfrm>
            <a:prstGeom prst="rect">
              <a:avLst/>
            </a:prstGeom>
            <a:noFill/>
          </p:spPr>
          <p:txBody>
            <a:bodyPr wrap="square" anchor="ctr" anchorCtr="0">
              <a:normAutofit/>
            </a:bodyPr>
            <a:lstStyle/>
            <a:p>
              <a:pPr lvl="0">
                <a:lnSpc>
                  <a:spcPct val="120000"/>
                </a:lnSpc>
              </a:pPr>
              <a:r>
                <a:rPr lang="zh-CN" altLang="en-US" sz="2200" b="1" dirty="0">
                  <a:solidFill>
                    <a:srgbClr val="0061AE"/>
                  </a:solidFill>
                  <a:latin typeface="字魂手刻宋" panose="00000500000000000000" charset="-122"/>
                  <a:ea typeface="字魂手刻宋" panose="00000500000000000000" charset="-122"/>
                </a:rPr>
                <a:t>技术积淀</a:t>
              </a:r>
              <a:endParaRPr lang="zh-CN" altLang="zh-CN" sz="2200" b="1" dirty="0">
                <a:solidFill>
                  <a:srgbClr val="0061AE"/>
                </a:solidFill>
                <a:latin typeface="字魂手刻宋" panose="00000500000000000000" charset="-122"/>
                <a:ea typeface="字魂手刻宋" panose="00000500000000000000" charset="-122"/>
              </a:endParaRPr>
            </a:p>
          </p:txBody>
        </p:sp>
      </p:grpSp>
    </p:spTree>
    <p:custDataLst>
      <p:tags r:id="rId30"/>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lstStyle/>
          <a:p>
            <a:pPr algn="ctr"/>
            <a:endParaRPr lang="zh-CN" altLang="en-US">
              <a:solidFill>
                <a:schemeClr val="lt1"/>
              </a:solidFill>
              <a:latin typeface="字魂95号-手刻宋"/>
              <a:ea typeface="字魂95号-手刻宋"/>
            </a:endParaRPr>
          </a:p>
        </p:txBody>
      </p:sp>
      <p:sp>
        <p:nvSpPr>
          <p:cNvPr id="5" name="文本框 4"/>
          <p:cNvSpPr txBox="1"/>
          <p:nvPr/>
        </p:nvSpPr>
        <p:spPr>
          <a:xfrm>
            <a:off x="1584075" y="3227070"/>
            <a:ext cx="9116695" cy="769620"/>
          </a:xfrm>
          <a:prstGeom prst="rect">
            <a:avLst/>
          </a:prstGeom>
          <a:noFill/>
        </p:spPr>
        <p:txBody>
          <a:bodyPr wrap="square" lIns="90158" tIns="46984" rIns="90158" bIns="46984" anchor="ctr" anchorCtr="0">
            <a:spAutoFit/>
          </a:bodyPr>
          <a:lstStyle/>
          <a:p>
            <a:pPr lvl="0" algn="ctr"/>
            <a:r>
              <a:rPr 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rPr>
              <a:t>发展背景</a:t>
            </a:r>
            <a:endParaRPr 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6" name="文本框 5"/>
          <p:cNvSpPr txBox="1"/>
          <p:nvPr/>
        </p:nvSpPr>
        <p:spPr>
          <a:xfrm>
            <a:off x="5338512" y="2057869"/>
            <a:ext cx="1607820" cy="521970"/>
          </a:xfrm>
          <a:prstGeom prst="rect">
            <a:avLst/>
          </a:prstGeom>
          <a:noFill/>
        </p:spPr>
        <p:txBody>
          <a:bodyPr wrap="none">
            <a:spAutoFit/>
          </a:bodyPr>
          <a:lstStyle/>
          <a:p>
            <a:r>
              <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rPr>
              <a:t>第一部分</a:t>
            </a:r>
            <a:endPar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4" name="矩形 3"/>
          <p:cNvSpPr/>
          <p:nvPr>
            <p:custDataLst>
              <p:tags r:id="rId1"/>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
        <p:nvSpPr>
          <p:cNvPr id="7" name="矩形 6"/>
          <p:cNvSpPr/>
          <p:nvPr>
            <p:custDataLst>
              <p:tags r:id="rId2"/>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custDataLst>
              <p:tags r:id="rId1"/>
            </p:custDataLst>
          </p:nvPr>
        </p:nvSpPr>
        <p:spPr>
          <a:xfrm>
            <a:off x="145396" y="69812"/>
            <a:ext cx="757456" cy="737235"/>
          </a:xfrm>
          <a:prstGeom prst="rect">
            <a:avLst/>
          </a:prstGeom>
          <a:noFill/>
        </p:spPr>
        <p:txBody>
          <a:bodyPr wrap="square">
            <a:spAutoFit/>
          </a:bodyPr>
          <a:lst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a:lstStyle>
          <a:p>
            <a:pPr algn="ctr">
              <a:lnSpc>
                <a:spcPct val="150000"/>
              </a:lnSpc>
              <a:spcBef>
                <a:spcPts val="1200"/>
              </a:spcBef>
            </a:pPr>
            <a:r>
              <a:rPr lang="en-US" altLang="zh-CN" sz="2800" b="1" dirty="0">
                <a:solidFill>
                  <a:schemeClr val="bg1"/>
                </a:solidFill>
                <a:latin typeface="微软雅黑" panose="020B0503020204020204" charset="-122"/>
              </a:rPr>
              <a:t>1</a:t>
            </a:r>
            <a:endParaRPr lang="en-US" altLang="zh-CN" sz="2800" b="1" dirty="0">
              <a:solidFill>
                <a:schemeClr val="bg1"/>
              </a:solidFill>
              <a:latin typeface="微软雅黑" panose="020B0503020204020204" charset="-122"/>
            </a:endParaRPr>
          </a:p>
        </p:txBody>
      </p:sp>
      <p:sp>
        <p:nvSpPr>
          <p:cNvPr id="14" name="文本框 13"/>
          <p:cNvSpPr txBox="1"/>
          <p:nvPr>
            <p:custDataLst>
              <p:tags r:id="rId2"/>
            </p:custDataLst>
          </p:nvPr>
        </p:nvSpPr>
        <p:spPr>
          <a:xfrm>
            <a:off x="962660" y="69850"/>
            <a:ext cx="978789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安全风险管理行业发展的“关键掣肘”</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88" name="矩形 87"/>
          <p:cNvSpPr/>
          <p:nvPr>
            <p:custDataLst>
              <p:tags r:id="rId3"/>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grpSp>
        <p:nvGrpSpPr>
          <p:cNvPr id="6" name="组合 5"/>
          <p:cNvGrpSpPr/>
          <p:nvPr>
            <p:custDataLst>
              <p:tags r:id="rId4"/>
            </p:custDataLst>
          </p:nvPr>
        </p:nvGrpSpPr>
        <p:grpSpPr>
          <a:xfrm>
            <a:off x="669290" y="1683385"/>
            <a:ext cx="10799445" cy="4925695"/>
            <a:chOff x="1054" y="2651"/>
            <a:chExt cx="17007" cy="7757"/>
          </a:xfrm>
        </p:grpSpPr>
        <p:sp>
          <p:nvSpPr>
            <p:cNvPr id="7" name="矩形 6"/>
            <p:cNvSpPr/>
            <p:nvPr>
              <p:custDataLst>
                <p:tags r:id="rId5"/>
              </p:custDataLst>
            </p:nvPr>
          </p:nvSpPr>
          <p:spPr>
            <a:xfrm>
              <a:off x="1073" y="2715"/>
              <a:ext cx="16980" cy="7633"/>
            </a:xfrm>
            <a:prstGeom prst="rect">
              <a:avLst/>
            </a:prstGeom>
            <a:gradFill flip="none" rotWithShape="1">
              <a:gsLst>
                <a:gs pos="52000">
                  <a:schemeClr val="accent1">
                    <a:alpha val="0"/>
                  </a:schemeClr>
                </a:gs>
                <a:gs pos="0">
                  <a:schemeClr val="accent1">
                    <a:alpha val="15000"/>
                  </a:schemeClr>
                </a:gs>
                <a:gs pos="100000">
                  <a:schemeClr val="accent1">
                    <a:alpha val="10000"/>
                  </a:schemeClr>
                </a:gs>
              </a:gsLst>
              <a:lin ang="2700000" scaled="0"/>
            </a:gradFill>
            <a:ln w="6350">
              <a:gradFill>
                <a:gsLst>
                  <a:gs pos="24000">
                    <a:schemeClr val="accent1">
                      <a:alpha val="0"/>
                    </a:schemeClr>
                  </a:gs>
                  <a:gs pos="100000">
                    <a:schemeClr val="accent1">
                      <a:alpha val="70000"/>
                    </a:schemeClr>
                  </a:gs>
                </a:gsLst>
                <a:path path="circl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8" name="任意多边形 7"/>
            <p:cNvSpPr/>
            <p:nvPr>
              <p:custDataLst>
                <p:tags r:id="rId6"/>
              </p:custDataLst>
            </p:nvPr>
          </p:nvSpPr>
          <p:spPr>
            <a:xfrm>
              <a:off x="17471" y="2717"/>
              <a:ext cx="590" cy="589"/>
            </a:xfrm>
            <a:custGeom>
              <a:avLst/>
              <a:gdLst>
                <a:gd name="connsiteX0" fmla="*/ 0 w 616689"/>
                <a:gd name="connsiteY0" fmla="*/ 0 h 482009"/>
                <a:gd name="connsiteX1" fmla="*/ 609600 w 616689"/>
                <a:gd name="connsiteY1" fmla="*/ 0 h 482009"/>
                <a:gd name="connsiteX2" fmla="*/ 609600 w 616689"/>
                <a:gd name="connsiteY2" fmla="*/ 482009 h 482009"/>
                <a:gd name="connsiteX3" fmla="*/ 616689 w 616689"/>
                <a:gd name="connsiteY3" fmla="*/ 482009 h 482009"/>
              </a:gdLst>
              <a:ahLst/>
              <a:cxnLst>
                <a:cxn ang="0">
                  <a:pos x="connsiteX0" y="connsiteY0"/>
                </a:cxn>
                <a:cxn ang="0">
                  <a:pos x="connsiteX1" y="connsiteY1"/>
                </a:cxn>
                <a:cxn ang="0">
                  <a:pos x="connsiteX2" y="connsiteY2"/>
                </a:cxn>
                <a:cxn ang="0">
                  <a:pos x="connsiteX3" y="connsiteY3"/>
                </a:cxn>
              </a:cxnLst>
              <a:rect l="l" t="t" r="r" b="b"/>
              <a:pathLst>
                <a:path w="616689" h="482009">
                  <a:moveTo>
                    <a:pt x="0" y="0"/>
                  </a:moveTo>
                  <a:lnTo>
                    <a:pt x="609600" y="0"/>
                  </a:lnTo>
                  <a:lnTo>
                    <a:pt x="609600" y="482009"/>
                  </a:lnTo>
                  <a:lnTo>
                    <a:pt x="616689" y="482009"/>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9" name="任意多边形 48"/>
            <p:cNvSpPr/>
            <p:nvPr>
              <p:custDataLst>
                <p:tags r:id="rId7"/>
              </p:custDataLst>
            </p:nvPr>
          </p:nvSpPr>
          <p:spPr>
            <a:xfrm flipH="1" flipV="1">
              <a:off x="16791" y="9688"/>
              <a:ext cx="1262" cy="659"/>
            </a:xfrm>
            <a:custGeom>
              <a:avLst/>
              <a:gdLst>
                <a:gd name="connsiteX0" fmla="*/ 1360968 w 1360968"/>
                <a:gd name="connsiteY0" fmla="*/ 0 h 457200"/>
                <a:gd name="connsiteX1" fmla="*/ 0 w 1360968"/>
                <a:gd name="connsiteY1" fmla="*/ 0 h 457200"/>
                <a:gd name="connsiteX2" fmla="*/ 0 w 1360968"/>
                <a:gd name="connsiteY2" fmla="*/ 457200 h 457200"/>
              </a:gdLst>
              <a:ahLst/>
              <a:cxnLst>
                <a:cxn ang="0">
                  <a:pos x="connsiteX0" y="connsiteY0"/>
                </a:cxn>
                <a:cxn ang="0">
                  <a:pos x="connsiteX1" y="connsiteY1"/>
                </a:cxn>
                <a:cxn ang="0">
                  <a:pos x="connsiteX2" y="connsiteY2"/>
                </a:cxn>
              </a:cxnLst>
              <a:rect l="l" t="t" r="r" b="b"/>
              <a:pathLst>
                <a:path w="1360968" h="457200">
                  <a:moveTo>
                    <a:pt x="1360968" y="0"/>
                  </a:moveTo>
                  <a:lnTo>
                    <a:pt x="0" y="0"/>
                  </a:lnTo>
                  <a:lnTo>
                    <a:pt x="0" y="4572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 name="等腰三角形 9"/>
            <p:cNvSpPr/>
            <p:nvPr>
              <p:custDataLst>
                <p:tags r:id="rId8"/>
              </p:custDataLst>
            </p:nvPr>
          </p:nvSpPr>
          <p:spPr>
            <a:xfrm rot="10800000" flipV="1">
              <a:off x="17758" y="10162"/>
              <a:ext cx="295" cy="185"/>
            </a:xfrm>
            <a:prstGeom prst="triangle">
              <a:avLst>
                <a:gd name="adj" fmla="val 0"/>
              </a:avLst>
            </a:prstGeom>
            <a:solidFill>
              <a:srgbClr val="0061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cxnSp>
          <p:nvCxnSpPr>
            <p:cNvPr id="22" name="直接连接符 21"/>
            <p:cNvCxnSpPr/>
            <p:nvPr>
              <p:custDataLst>
                <p:tags r:id="rId9"/>
              </p:custDataLst>
            </p:nvPr>
          </p:nvCxnSpPr>
          <p:spPr>
            <a:xfrm flipH="1" flipV="1">
              <a:off x="18004" y="9756"/>
              <a:ext cx="0" cy="19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任意多边形: 形状 73"/>
            <p:cNvSpPr/>
            <p:nvPr>
              <p:custDataLst>
                <p:tags r:id="rId10"/>
              </p:custDataLst>
            </p:nvPr>
          </p:nvSpPr>
          <p:spPr>
            <a:xfrm flipH="1" flipV="1">
              <a:off x="17096" y="10344"/>
              <a:ext cx="451" cy="64"/>
            </a:xfrm>
            <a:custGeom>
              <a:avLst/>
              <a:gdLst>
                <a:gd name="connsiteX0" fmla="*/ 149306 w 220641"/>
                <a:gd name="connsiteY0" fmla="*/ 0 h 40720"/>
                <a:gd name="connsiteX1" fmla="*/ 220641 w 220641"/>
                <a:gd name="connsiteY1" fmla="*/ 39541 h 40720"/>
                <a:gd name="connsiteX2" fmla="*/ 0 w 220641"/>
                <a:gd name="connsiteY2" fmla="*/ 40720 h 40720"/>
                <a:gd name="connsiteX3" fmla="*/ 22194 w 220641"/>
                <a:gd name="connsiteY3" fmla="*/ 680 h 40720"/>
                <a:gd name="connsiteX4" fmla="*/ 149306 w 220641"/>
                <a:gd name="connsiteY4" fmla="*/ 0 h 40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41" h="40720">
                  <a:moveTo>
                    <a:pt x="149306" y="0"/>
                  </a:moveTo>
                  <a:lnTo>
                    <a:pt x="220641" y="39541"/>
                  </a:lnTo>
                  <a:lnTo>
                    <a:pt x="0" y="40720"/>
                  </a:lnTo>
                  <a:lnTo>
                    <a:pt x="22194" y="680"/>
                  </a:lnTo>
                  <a:lnTo>
                    <a:pt x="14930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black"/>
                </a:solidFill>
                <a:latin typeface="字魂手刻宋" panose="00000500000000000000" charset="-122"/>
                <a:ea typeface="字魂手刻宋" panose="00000500000000000000" charset="-122"/>
              </a:endParaRPr>
            </a:p>
          </p:txBody>
        </p:sp>
        <p:sp>
          <p:nvSpPr>
            <p:cNvPr id="12" name="任意多边形 48"/>
            <p:cNvSpPr/>
            <p:nvPr>
              <p:custDataLst>
                <p:tags r:id="rId11"/>
              </p:custDataLst>
            </p:nvPr>
          </p:nvSpPr>
          <p:spPr>
            <a:xfrm>
              <a:off x="1054" y="2715"/>
              <a:ext cx="1262" cy="659"/>
            </a:xfrm>
            <a:custGeom>
              <a:avLst/>
              <a:gdLst>
                <a:gd name="connsiteX0" fmla="*/ 1360968 w 1360968"/>
                <a:gd name="connsiteY0" fmla="*/ 0 h 457200"/>
                <a:gd name="connsiteX1" fmla="*/ 0 w 1360968"/>
                <a:gd name="connsiteY1" fmla="*/ 0 h 457200"/>
                <a:gd name="connsiteX2" fmla="*/ 0 w 1360968"/>
                <a:gd name="connsiteY2" fmla="*/ 457200 h 457200"/>
              </a:gdLst>
              <a:ahLst/>
              <a:cxnLst>
                <a:cxn ang="0">
                  <a:pos x="connsiteX0" y="connsiteY0"/>
                </a:cxn>
                <a:cxn ang="0">
                  <a:pos x="connsiteX1" y="connsiteY1"/>
                </a:cxn>
                <a:cxn ang="0">
                  <a:pos x="connsiteX2" y="connsiteY2"/>
                </a:cxn>
              </a:cxnLst>
              <a:rect l="l" t="t" r="r" b="b"/>
              <a:pathLst>
                <a:path w="1360968" h="457200">
                  <a:moveTo>
                    <a:pt x="1360968" y="0"/>
                  </a:moveTo>
                  <a:lnTo>
                    <a:pt x="0" y="0"/>
                  </a:lnTo>
                  <a:lnTo>
                    <a:pt x="0" y="4572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5" name="等腰三角形 14"/>
            <p:cNvSpPr/>
            <p:nvPr>
              <p:custDataLst>
                <p:tags r:id="rId12"/>
              </p:custDataLst>
            </p:nvPr>
          </p:nvSpPr>
          <p:spPr>
            <a:xfrm rot="10800000" flipH="1">
              <a:off x="1054" y="2715"/>
              <a:ext cx="295" cy="185"/>
            </a:xfrm>
            <a:prstGeom prst="triangle">
              <a:avLst>
                <a:gd name="adj" fmla="val 0"/>
              </a:avLst>
            </a:prstGeom>
            <a:solidFill>
              <a:srgbClr val="0061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cxnSp>
          <p:nvCxnSpPr>
            <p:cNvPr id="16" name="直接连接符 15"/>
            <p:cNvCxnSpPr/>
            <p:nvPr>
              <p:custDataLst>
                <p:tags r:id="rId13"/>
              </p:custDataLst>
            </p:nvPr>
          </p:nvCxnSpPr>
          <p:spPr>
            <a:xfrm>
              <a:off x="1103" y="3110"/>
              <a:ext cx="0" cy="19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任意多边形: 形状 73"/>
            <p:cNvSpPr/>
            <p:nvPr>
              <p:custDataLst>
                <p:tags r:id="rId14"/>
              </p:custDataLst>
            </p:nvPr>
          </p:nvSpPr>
          <p:spPr>
            <a:xfrm>
              <a:off x="1559" y="2651"/>
              <a:ext cx="451" cy="64"/>
            </a:xfrm>
            <a:custGeom>
              <a:avLst/>
              <a:gdLst>
                <a:gd name="connsiteX0" fmla="*/ 149306 w 220641"/>
                <a:gd name="connsiteY0" fmla="*/ 0 h 40720"/>
                <a:gd name="connsiteX1" fmla="*/ 220641 w 220641"/>
                <a:gd name="connsiteY1" fmla="*/ 39541 h 40720"/>
                <a:gd name="connsiteX2" fmla="*/ 0 w 220641"/>
                <a:gd name="connsiteY2" fmla="*/ 40720 h 40720"/>
                <a:gd name="connsiteX3" fmla="*/ 22194 w 220641"/>
                <a:gd name="connsiteY3" fmla="*/ 680 h 40720"/>
                <a:gd name="connsiteX4" fmla="*/ 149306 w 220641"/>
                <a:gd name="connsiteY4" fmla="*/ 0 h 40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41" h="40720">
                  <a:moveTo>
                    <a:pt x="149306" y="0"/>
                  </a:moveTo>
                  <a:lnTo>
                    <a:pt x="220641" y="39541"/>
                  </a:lnTo>
                  <a:lnTo>
                    <a:pt x="0" y="40720"/>
                  </a:lnTo>
                  <a:lnTo>
                    <a:pt x="22194" y="680"/>
                  </a:lnTo>
                  <a:lnTo>
                    <a:pt x="14930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black"/>
                </a:solidFill>
                <a:latin typeface="字魂手刻宋" panose="00000500000000000000" charset="-122"/>
                <a:ea typeface="字魂手刻宋" panose="00000500000000000000" charset="-122"/>
              </a:endParaRPr>
            </a:p>
          </p:txBody>
        </p:sp>
        <p:sp>
          <p:nvSpPr>
            <p:cNvPr id="19" name="任意多边形 2"/>
            <p:cNvSpPr/>
            <p:nvPr>
              <p:custDataLst>
                <p:tags r:id="rId15"/>
              </p:custDataLst>
            </p:nvPr>
          </p:nvSpPr>
          <p:spPr>
            <a:xfrm flipH="1" flipV="1">
              <a:off x="1054" y="9756"/>
              <a:ext cx="590" cy="589"/>
            </a:xfrm>
            <a:custGeom>
              <a:avLst/>
              <a:gdLst>
                <a:gd name="connsiteX0" fmla="*/ 0 w 616689"/>
                <a:gd name="connsiteY0" fmla="*/ 0 h 482009"/>
                <a:gd name="connsiteX1" fmla="*/ 609600 w 616689"/>
                <a:gd name="connsiteY1" fmla="*/ 0 h 482009"/>
                <a:gd name="connsiteX2" fmla="*/ 609600 w 616689"/>
                <a:gd name="connsiteY2" fmla="*/ 482009 h 482009"/>
                <a:gd name="connsiteX3" fmla="*/ 616689 w 616689"/>
                <a:gd name="connsiteY3" fmla="*/ 482009 h 482009"/>
              </a:gdLst>
              <a:ahLst/>
              <a:cxnLst>
                <a:cxn ang="0">
                  <a:pos x="connsiteX0" y="connsiteY0"/>
                </a:cxn>
                <a:cxn ang="0">
                  <a:pos x="connsiteX1" y="connsiteY1"/>
                </a:cxn>
                <a:cxn ang="0">
                  <a:pos x="connsiteX2" y="connsiteY2"/>
                </a:cxn>
                <a:cxn ang="0">
                  <a:pos x="connsiteX3" y="connsiteY3"/>
                </a:cxn>
              </a:cxnLst>
              <a:rect l="l" t="t" r="r" b="b"/>
              <a:pathLst>
                <a:path w="616689" h="482009">
                  <a:moveTo>
                    <a:pt x="0" y="0"/>
                  </a:moveTo>
                  <a:lnTo>
                    <a:pt x="609600" y="0"/>
                  </a:lnTo>
                  <a:lnTo>
                    <a:pt x="609600" y="482009"/>
                  </a:lnTo>
                  <a:lnTo>
                    <a:pt x="616689" y="482009"/>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42" name="任意多边形: 形状 43"/>
            <p:cNvSpPr/>
            <p:nvPr>
              <p:custDataLst>
                <p:tags r:id="rId16"/>
              </p:custDataLst>
            </p:nvPr>
          </p:nvSpPr>
          <p:spPr>
            <a:xfrm>
              <a:off x="14881" y="3569"/>
              <a:ext cx="1344" cy="1342"/>
            </a:xfrm>
            <a:custGeom>
              <a:avLst/>
              <a:gdLst>
                <a:gd name="connsiteX0" fmla="*/ 162422 w 973178"/>
                <a:gd name="connsiteY0" fmla="*/ 0 h 973178"/>
                <a:gd name="connsiteX1" fmla="*/ 973178 w 973178"/>
                <a:gd name="connsiteY1" fmla="*/ 0 h 973178"/>
                <a:gd name="connsiteX2" fmla="*/ 973178 w 973178"/>
                <a:gd name="connsiteY2" fmla="*/ 812655 h 973178"/>
                <a:gd name="connsiteX3" fmla="*/ 812655 w 973178"/>
                <a:gd name="connsiteY3" fmla="*/ 973178 h 973178"/>
                <a:gd name="connsiteX4" fmla="*/ 113981 w 973178"/>
                <a:gd name="connsiteY4" fmla="*/ 973178 h 973178"/>
                <a:gd name="connsiteX5" fmla="*/ 113981 w 973178"/>
                <a:gd name="connsiteY5" fmla="*/ 569595 h 973178"/>
                <a:gd name="connsiteX6" fmla="*/ 0 w 973178"/>
                <a:gd name="connsiteY6" fmla="*/ 569595 h 973178"/>
                <a:gd name="connsiteX7" fmla="*/ 0 w 973178"/>
                <a:gd name="connsiteY7" fmla="*/ 162422 h 973178"/>
                <a:gd name="connsiteX0-1" fmla="*/ 162422 w 973178"/>
                <a:gd name="connsiteY0-2" fmla="*/ 0 h 973178"/>
                <a:gd name="connsiteX1-3" fmla="*/ 973178 w 973178"/>
                <a:gd name="connsiteY1-4" fmla="*/ 0 h 973178"/>
                <a:gd name="connsiteX2-5" fmla="*/ 973178 w 973178"/>
                <a:gd name="connsiteY2-6" fmla="*/ 812655 h 973178"/>
                <a:gd name="connsiteX3-7" fmla="*/ 812655 w 973178"/>
                <a:gd name="connsiteY3-8" fmla="*/ 973178 h 973178"/>
                <a:gd name="connsiteX4-9" fmla="*/ 113981 w 973178"/>
                <a:gd name="connsiteY4-10" fmla="*/ 973178 h 973178"/>
                <a:gd name="connsiteX5-11" fmla="*/ 113981 w 973178"/>
                <a:gd name="connsiteY5-12" fmla="*/ 569595 h 973178"/>
                <a:gd name="connsiteX6-13" fmla="*/ 0 w 973178"/>
                <a:gd name="connsiteY6-14" fmla="*/ 494617 h 973178"/>
                <a:gd name="connsiteX7-15" fmla="*/ 0 w 973178"/>
                <a:gd name="connsiteY7-16" fmla="*/ 162422 h 973178"/>
                <a:gd name="connsiteX8" fmla="*/ 162422 w 973178"/>
                <a:gd name="connsiteY8" fmla="*/ 0 h 9731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 y="connsiteY8"/>
                </a:cxn>
              </a:cxnLst>
              <a:rect l="l" t="t" r="r" b="b"/>
              <a:pathLst>
                <a:path w="973178" h="973178">
                  <a:moveTo>
                    <a:pt x="162422" y="0"/>
                  </a:moveTo>
                  <a:lnTo>
                    <a:pt x="973178" y="0"/>
                  </a:lnTo>
                  <a:lnTo>
                    <a:pt x="973178" y="812655"/>
                  </a:lnTo>
                  <a:lnTo>
                    <a:pt x="812655" y="973178"/>
                  </a:lnTo>
                  <a:lnTo>
                    <a:pt x="113981" y="973178"/>
                  </a:lnTo>
                  <a:lnTo>
                    <a:pt x="113981" y="569595"/>
                  </a:lnTo>
                  <a:lnTo>
                    <a:pt x="0" y="494617"/>
                  </a:lnTo>
                  <a:lnTo>
                    <a:pt x="0" y="162422"/>
                  </a:lnTo>
                  <a:lnTo>
                    <a:pt x="162422" y="0"/>
                  </a:lnTo>
                  <a:close/>
                </a:path>
              </a:pathLst>
            </a:custGeom>
            <a:gradFill>
              <a:gsLst>
                <a:gs pos="0">
                  <a:schemeClr val="accent1">
                    <a:alpha val="0"/>
                  </a:schemeClr>
                </a:gs>
                <a:gs pos="100000">
                  <a:schemeClr val="accent1">
                    <a:alpha val="30000"/>
                  </a:schemeClr>
                </a:gs>
              </a:gsLst>
              <a:lin ang="16200000" scaled="0"/>
            </a:gradFill>
            <a:ln w="6350">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2400">
                <a:solidFill>
                  <a:schemeClr val="tx1">
                    <a:lumMod val="85000"/>
                    <a:lumOff val="15000"/>
                    <a:alpha val="9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sp>
          <p:nvSpPr>
            <p:cNvPr id="43" name="等腰三角形 42"/>
            <p:cNvSpPr/>
            <p:nvPr>
              <p:custDataLst>
                <p:tags r:id="rId17"/>
              </p:custDataLst>
            </p:nvPr>
          </p:nvSpPr>
          <p:spPr>
            <a:xfrm rot="16200000">
              <a:off x="16048" y="3642"/>
              <a:ext cx="103" cy="103"/>
            </a:xfrm>
            <a:prstGeom prst="triangle">
              <a:avLst>
                <a:gd name="adj" fmla="val 1000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44" name="任意多边形: 形状 40"/>
            <p:cNvSpPr/>
            <p:nvPr>
              <p:custDataLst>
                <p:tags r:id="rId18"/>
              </p:custDataLst>
            </p:nvPr>
          </p:nvSpPr>
          <p:spPr>
            <a:xfrm>
              <a:off x="14862" y="4341"/>
              <a:ext cx="129" cy="590"/>
            </a:xfrm>
            <a:custGeom>
              <a:avLst/>
              <a:gdLst>
                <a:gd name="connsiteX0" fmla="*/ 13335 w 146685"/>
                <a:gd name="connsiteY0" fmla="*/ 0 h 198120"/>
                <a:gd name="connsiteX1" fmla="*/ 144780 w 146685"/>
                <a:gd name="connsiteY1" fmla="*/ 85725 h 198120"/>
                <a:gd name="connsiteX2" fmla="*/ 146685 w 146685"/>
                <a:gd name="connsiteY2" fmla="*/ 198120 h 198120"/>
                <a:gd name="connsiteX3" fmla="*/ 0 w 146685"/>
                <a:gd name="connsiteY3" fmla="*/ 89535 h 198120"/>
                <a:gd name="connsiteX4" fmla="*/ 13335 w 146685"/>
                <a:gd name="connsiteY4" fmla="*/ 0 h 198120"/>
                <a:gd name="connsiteX0-1" fmla="*/ 13335 w 144780"/>
                <a:gd name="connsiteY0-2" fmla="*/ 0 h 203835"/>
                <a:gd name="connsiteX1-3" fmla="*/ 144780 w 144780"/>
                <a:gd name="connsiteY1-4" fmla="*/ 85725 h 203835"/>
                <a:gd name="connsiteX2-5" fmla="*/ 137160 w 144780"/>
                <a:gd name="connsiteY2-6" fmla="*/ 203835 h 203835"/>
                <a:gd name="connsiteX3-7" fmla="*/ 0 w 144780"/>
                <a:gd name="connsiteY3-8" fmla="*/ 89535 h 203835"/>
                <a:gd name="connsiteX4-9" fmla="*/ 13335 w 144780"/>
                <a:gd name="connsiteY4-10" fmla="*/ 0 h 203835"/>
                <a:gd name="connsiteX0-11" fmla="*/ 13335 w 144780"/>
                <a:gd name="connsiteY0-12" fmla="*/ 0 h 203835"/>
                <a:gd name="connsiteX1-13" fmla="*/ 144780 w 144780"/>
                <a:gd name="connsiteY1-14" fmla="*/ 85725 h 203835"/>
                <a:gd name="connsiteX2-15" fmla="*/ 144780 w 144780"/>
                <a:gd name="connsiteY2-16" fmla="*/ 203835 h 203835"/>
                <a:gd name="connsiteX3-17" fmla="*/ 0 w 144780"/>
                <a:gd name="connsiteY3-18" fmla="*/ 89535 h 203835"/>
                <a:gd name="connsiteX4-19" fmla="*/ 13335 w 144780"/>
                <a:gd name="connsiteY4-20" fmla="*/ 0 h 203835"/>
                <a:gd name="connsiteX0-21" fmla="*/ 1905 w 133350"/>
                <a:gd name="connsiteY0-22" fmla="*/ 0 h 203835"/>
                <a:gd name="connsiteX1-23" fmla="*/ 133350 w 133350"/>
                <a:gd name="connsiteY1-24" fmla="*/ 85725 h 203835"/>
                <a:gd name="connsiteX2-25" fmla="*/ 133350 w 133350"/>
                <a:gd name="connsiteY2-26" fmla="*/ 203835 h 203835"/>
                <a:gd name="connsiteX3-27" fmla="*/ 0 w 133350"/>
                <a:gd name="connsiteY3-28" fmla="*/ 118110 h 203835"/>
                <a:gd name="connsiteX4-29" fmla="*/ 1905 w 133350"/>
                <a:gd name="connsiteY4-30" fmla="*/ 0 h 2038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 h="632">
                  <a:moveTo>
                    <a:pt x="2" y="0"/>
                  </a:moveTo>
                  <a:lnTo>
                    <a:pt x="138" y="89"/>
                  </a:lnTo>
                  <a:lnTo>
                    <a:pt x="138" y="211"/>
                  </a:lnTo>
                  <a:lnTo>
                    <a:pt x="0" y="122"/>
                  </a:lnTo>
                  <a:lnTo>
                    <a:pt x="2" y="0"/>
                  </a:lnTo>
                  <a:close/>
                  <a:moveTo>
                    <a:pt x="2" y="208"/>
                  </a:moveTo>
                  <a:lnTo>
                    <a:pt x="138" y="297"/>
                  </a:lnTo>
                  <a:lnTo>
                    <a:pt x="138" y="419"/>
                  </a:lnTo>
                  <a:lnTo>
                    <a:pt x="0" y="330"/>
                  </a:lnTo>
                  <a:lnTo>
                    <a:pt x="2" y="208"/>
                  </a:lnTo>
                  <a:close/>
                  <a:moveTo>
                    <a:pt x="2" y="421"/>
                  </a:moveTo>
                  <a:lnTo>
                    <a:pt x="138" y="510"/>
                  </a:lnTo>
                  <a:lnTo>
                    <a:pt x="138" y="632"/>
                  </a:lnTo>
                  <a:lnTo>
                    <a:pt x="0" y="543"/>
                  </a:lnTo>
                  <a:lnTo>
                    <a:pt x="2" y="421"/>
                  </a:lnTo>
                  <a:close/>
                </a:path>
              </a:pathLst>
            </a:custGeom>
            <a:gradFill>
              <a:gsLst>
                <a:gs pos="0">
                  <a:schemeClr val="accent1">
                    <a:alpha val="0"/>
                  </a:schemeClr>
                </a:gs>
                <a:gs pos="100000">
                  <a:schemeClr val="accent1">
                    <a:alpha val="10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pPr>
              <a:endParaRPr lang="zh-CN" altLang="en-US" noProof="0">
                <a:ln>
                  <a:noFill/>
                </a:ln>
                <a:solidFill>
                  <a:prstClr val="white"/>
                </a:solidFill>
                <a:effectLst/>
                <a:uLnTx/>
                <a:uFillTx/>
                <a:latin typeface="字魂手刻宋" panose="00000500000000000000" charset="-122"/>
                <a:ea typeface="字魂手刻宋" panose="00000500000000000000" charset="-122"/>
                <a:sym typeface="+mn-ea"/>
              </a:endParaRPr>
            </a:p>
          </p:txBody>
        </p:sp>
        <p:sp>
          <p:nvSpPr>
            <p:cNvPr id="37" name="任意多边形: 形状 43"/>
            <p:cNvSpPr/>
            <p:nvPr>
              <p:custDataLst>
                <p:tags r:id="rId19"/>
              </p:custDataLst>
            </p:nvPr>
          </p:nvSpPr>
          <p:spPr>
            <a:xfrm>
              <a:off x="8896" y="3569"/>
              <a:ext cx="1344" cy="1342"/>
            </a:xfrm>
            <a:custGeom>
              <a:avLst/>
              <a:gdLst>
                <a:gd name="connsiteX0" fmla="*/ 162422 w 973178"/>
                <a:gd name="connsiteY0" fmla="*/ 0 h 973178"/>
                <a:gd name="connsiteX1" fmla="*/ 973178 w 973178"/>
                <a:gd name="connsiteY1" fmla="*/ 0 h 973178"/>
                <a:gd name="connsiteX2" fmla="*/ 973178 w 973178"/>
                <a:gd name="connsiteY2" fmla="*/ 812655 h 973178"/>
                <a:gd name="connsiteX3" fmla="*/ 812655 w 973178"/>
                <a:gd name="connsiteY3" fmla="*/ 973178 h 973178"/>
                <a:gd name="connsiteX4" fmla="*/ 113981 w 973178"/>
                <a:gd name="connsiteY4" fmla="*/ 973178 h 973178"/>
                <a:gd name="connsiteX5" fmla="*/ 113981 w 973178"/>
                <a:gd name="connsiteY5" fmla="*/ 569595 h 973178"/>
                <a:gd name="connsiteX6" fmla="*/ 0 w 973178"/>
                <a:gd name="connsiteY6" fmla="*/ 569595 h 973178"/>
                <a:gd name="connsiteX7" fmla="*/ 0 w 973178"/>
                <a:gd name="connsiteY7" fmla="*/ 162422 h 973178"/>
                <a:gd name="connsiteX0-1" fmla="*/ 162422 w 973178"/>
                <a:gd name="connsiteY0-2" fmla="*/ 0 h 973178"/>
                <a:gd name="connsiteX1-3" fmla="*/ 973178 w 973178"/>
                <a:gd name="connsiteY1-4" fmla="*/ 0 h 973178"/>
                <a:gd name="connsiteX2-5" fmla="*/ 973178 w 973178"/>
                <a:gd name="connsiteY2-6" fmla="*/ 812655 h 973178"/>
                <a:gd name="connsiteX3-7" fmla="*/ 812655 w 973178"/>
                <a:gd name="connsiteY3-8" fmla="*/ 973178 h 973178"/>
                <a:gd name="connsiteX4-9" fmla="*/ 113981 w 973178"/>
                <a:gd name="connsiteY4-10" fmla="*/ 973178 h 973178"/>
                <a:gd name="connsiteX5-11" fmla="*/ 113981 w 973178"/>
                <a:gd name="connsiteY5-12" fmla="*/ 569595 h 973178"/>
                <a:gd name="connsiteX6-13" fmla="*/ 0 w 973178"/>
                <a:gd name="connsiteY6-14" fmla="*/ 494617 h 973178"/>
                <a:gd name="connsiteX7-15" fmla="*/ 0 w 973178"/>
                <a:gd name="connsiteY7-16" fmla="*/ 162422 h 973178"/>
                <a:gd name="connsiteX8" fmla="*/ 162422 w 973178"/>
                <a:gd name="connsiteY8" fmla="*/ 0 h 9731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 y="connsiteY8"/>
                </a:cxn>
              </a:cxnLst>
              <a:rect l="l" t="t" r="r" b="b"/>
              <a:pathLst>
                <a:path w="973178" h="973178">
                  <a:moveTo>
                    <a:pt x="162422" y="0"/>
                  </a:moveTo>
                  <a:lnTo>
                    <a:pt x="973178" y="0"/>
                  </a:lnTo>
                  <a:lnTo>
                    <a:pt x="973178" y="812655"/>
                  </a:lnTo>
                  <a:lnTo>
                    <a:pt x="812655" y="973178"/>
                  </a:lnTo>
                  <a:lnTo>
                    <a:pt x="113981" y="973178"/>
                  </a:lnTo>
                  <a:lnTo>
                    <a:pt x="113981" y="569595"/>
                  </a:lnTo>
                  <a:lnTo>
                    <a:pt x="0" y="494617"/>
                  </a:lnTo>
                  <a:lnTo>
                    <a:pt x="0" y="162422"/>
                  </a:lnTo>
                  <a:lnTo>
                    <a:pt x="162422" y="0"/>
                  </a:lnTo>
                  <a:close/>
                </a:path>
              </a:pathLst>
            </a:custGeom>
            <a:gradFill>
              <a:gsLst>
                <a:gs pos="0">
                  <a:schemeClr val="accent1">
                    <a:alpha val="0"/>
                  </a:schemeClr>
                </a:gs>
                <a:gs pos="100000">
                  <a:schemeClr val="accent1">
                    <a:alpha val="30000"/>
                  </a:schemeClr>
                </a:gs>
              </a:gsLst>
              <a:lin ang="16200000" scaled="0"/>
            </a:gradFill>
            <a:ln w="6350">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2400">
                <a:solidFill>
                  <a:schemeClr val="tx1">
                    <a:lumMod val="85000"/>
                    <a:lumOff val="15000"/>
                    <a:alpha val="9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sp>
          <p:nvSpPr>
            <p:cNvPr id="38" name="等腰三角形 37"/>
            <p:cNvSpPr/>
            <p:nvPr>
              <p:custDataLst>
                <p:tags r:id="rId20"/>
              </p:custDataLst>
            </p:nvPr>
          </p:nvSpPr>
          <p:spPr>
            <a:xfrm rot="16200000">
              <a:off x="10063" y="3642"/>
              <a:ext cx="103" cy="103"/>
            </a:xfrm>
            <a:prstGeom prst="triangle">
              <a:avLst>
                <a:gd name="adj" fmla="val 1000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39" name="任意多边形: 形状 40"/>
            <p:cNvSpPr/>
            <p:nvPr>
              <p:custDataLst>
                <p:tags r:id="rId21"/>
              </p:custDataLst>
            </p:nvPr>
          </p:nvSpPr>
          <p:spPr>
            <a:xfrm>
              <a:off x="8877" y="4341"/>
              <a:ext cx="129" cy="590"/>
            </a:xfrm>
            <a:custGeom>
              <a:avLst/>
              <a:gdLst>
                <a:gd name="connsiteX0" fmla="*/ 13335 w 146685"/>
                <a:gd name="connsiteY0" fmla="*/ 0 h 198120"/>
                <a:gd name="connsiteX1" fmla="*/ 144780 w 146685"/>
                <a:gd name="connsiteY1" fmla="*/ 85725 h 198120"/>
                <a:gd name="connsiteX2" fmla="*/ 146685 w 146685"/>
                <a:gd name="connsiteY2" fmla="*/ 198120 h 198120"/>
                <a:gd name="connsiteX3" fmla="*/ 0 w 146685"/>
                <a:gd name="connsiteY3" fmla="*/ 89535 h 198120"/>
                <a:gd name="connsiteX4" fmla="*/ 13335 w 146685"/>
                <a:gd name="connsiteY4" fmla="*/ 0 h 198120"/>
                <a:gd name="connsiteX0-1" fmla="*/ 13335 w 144780"/>
                <a:gd name="connsiteY0-2" fmla="*/ 0 h 203835"/>
                <a:gd name="connsiteX1-3" fmla="*/ 144780 w 144780"/>
                <a:gd name="connsiteY1-4" fmla="*/ 85725 h 203835"/>
                <a:gd name="connsiteX2-5" fmla="*/ 137160 w 144780"/>
                <a:gd name="connsiteY2-6" fmla="*/ 203835 h 203835"/>
                <a:gd name="connsiteX3-7" fmla="*/ 0 w 144780"/>
                <a:gd name="connsiteY3-8" fmla="*/ 89535 h 203835"/>
                <a:gd name="connsiteX4-9" fmla="*/ 13335 w 144780"/>
                <a:gd name="connsiteY4-10" fmla="*/ 0 h 203835"/>
                <a:gd name="connsiteX0-11" fmla="*/ 13335 w 144780"/>
                <a:gd name="connsiteY0-12" fmla="*/ 0 h 203835"/>
                <a:gd name="connsiteX1-13" fmla="*/ 144780 w 144780"/>
                <a:gd name="connsiteY1-14" fmla="*/ 85725 h 203835"/>
                <a:gd name="connsiteX2-15" fmla="*/ 144780 w 144780"/>
                <a:gd name="connsiteY2-16" fmla="*/ 203835 h 203835"/>
                <a:gd name="connsiteX3-17" fmla="*/ 0 w 144780"/>
                <a:gd name="connsiteY3-18" fmla="*/ 89535 h 203835"/>
                <a:gd name="connsiteX4-19" fmla="*/ 13335 w 144780"/>
                <a:gd name="connsiteY4-20" fmla="*/ 0 h 203835"/>
                <a:gd name="connsiteX0-21" fmla="*/ 1905 w 133350"/>
                <a:gd name="connsiteY0-22" fmla="*/ 0 h 203835"/>
                <a:gd name="connsiteX1-23" fmla="*/ 133350 w 133350"/>
                <a:gd name="connsiteY1-24" fmla="*/ 85725 h 203835"/>
                <a:gd name="connsiteX2-25" fmla="*/ 133350 w 133350"/>
                <a:gd name="connsiteY2-26" fmla="*/ 203835 h 203835"/>
                <a:gd name="connsiteX3-27" fmla="*/ 0 w 133350"/>
                <a:gd name="connsiteY3-28" fmla="*/ 118110 h 203835"/>
                <a:gd name="connsiteX4-29" fmla="*/ 1905 w 133350"/>
                <a:gd name="connsiteY4-30" fmla="*/ 0 h 2038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 h="632">
                  <a:moveTo>
                    <a:pt x="2" y="0"/>
                  </a:moveTo>
                  <a:lnTo>
                    <a:pt x="138" y="89"/>
                  </a:lnTo>
                  <a:lnTo>
                    <a:pt x="138" y="211"/>
                  </a:lnTo>
                  <a:lnTo>
                    <a:pt x="0" y="122"/>
                  </a:lnTo>
                  <a:lnTo>
                    <a:pt x="2" y="0"/>
                  </a:lnTo>
                  <a:close/>
                  <a:moveTo>
                    <a:pt x="2" y="208"/>
                  </a:moveTo>
                  <a:lnTo>
                    <a:pt x="138" y="297"/>
                  </a:lnTo>
                  <a:lnTo>
                    <a:pt x="138" y="419"/>
                  </a:lnTo>
                  <a:lnTo>
                    <a:pt x="0" y="330"/>
                  </a:lnTo>
                  <a:lnTo>
                    <a:pt x="2" y="208"/>
                  </a:lnTo>
                  <a:close/>
                  <a:moveTo>
                    <a:pt x="2" y="421"/>
                  </a:moveTo>
                  <a:lnTo>
                    <a:pt x="138" y="510"/>
                  </a:lnTo>
                  <a:lnTo>
                    <a:pt x="138" y="632"/>
                  </a:lnTo>
                  <a:lnTo>
                    <a:pt x="0" y="543"/>
                  </a:lnTo>
                  <a:lnTo>
                    <a:pt x="2" y="421"/>
                  </a:lnTo>
                  <a:close/>
                </a:path>
              </a:pathLst>
            </a:custGeom>
            <a:gradFill>
              <a:gsLst>
                <a:gs pos="0">
                  <a:schemeClr val="accent1">
                    <a:alpha val="0"/>
                  </a:schemeClr>
                </a:gs>
                <a:gs pos="100000">
                  <a:schemeClr val="accent1">
                    <a:alpha val="10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pPr>
              <a:endParaRPr lang="zh-CN" altLang="en-US" noProof="0">
                <a:ln>
                  <a:noFill/>
                </a:ln>
                <a:solidFill>
                  <a:prstClr val="white"/>
                </a:solidFill>
                <a:effectLst/>
                <a:uLnTx/>
                <a:uFillTx/>
                <a:latin typeface="字魂手刻宋" panose="00000500000000000000" charset="-122"/>
                <a:ea typeface="字魂手刻宋" panose="00000500000000000000" charset="-122"/>
                <a:sym typeface="+mn-ea"/>
              </a:endParaRPr>
            </a:p>
          </p:txBody>
        </p:sp>
        <p:sp>
          <p:nvSpPr>
            <p:cNvPr id="20" name="任意多边形: 形状 43"/>
            <p:cNvSpPr/>
            <p:nvPr>
              <p:custDataLst>
                <p:tags r:id="rId22"/>
              </p:custDataLst>
            </p:nvPr>
          </p:nvSpPr>
          <p:spPr>
            <a:xfrm>
              <a:off x="2910" y="3569"/>
              <a:ext cx="1344" cy="1342"/>
            </a:xfrm>
            <a:custGeom>
              <a:avLst/>
              <a:gdLst>
                <a:gd name="connsiteX0" fmla="*/ 162422 w 973178"/>
                <a:gd name="connsiteY0" fmla="*/ 0 h 973178"/>
                <a:gd name="connsiteX1" fmla="*/ 973178 w 973178"/>
                <a:gd name="connsiteY1" fmla="*/ 0 h 973178"/>
                <a:gd name="connsiteX2" fmla="*/ 973178 w 973178"/>
                <a:gd name="connsiteY2" fmla="*/ 812655 h 973178"/>
                <a:gd name="connsiteX3" fmla="*/ 812655 w 973178"/>
                <a:gd name="connsiteY3" fmla="*/ 973178 h 973178"/>
                <a:gd name="connsiteX4" fmla="*/ 113981 w 973178"/>
                <a:gd name="connsiteY4" fmla="*/ 973178 h 973178"/>
                <a:gd name="connsiteX5" fmla="*/ 113981 w 973178"/>
                <a:gd name="connsiteY5" fmla="*/ 569595 h 973178"/>
                <a:gd name="connsiteX6" fmla="*/ 0 w 973178"/>
                <a:gd name="connsiteY6" fmla="*/ 569595 h 973178"/>
                <a:gd name="connsiteX7" fmla="*/ 0 w 973178"/>
                <a:gd name="connsiteY7" fmla="*/ 162422 h 973178"/>
                <a:gd name="connsiteX0-1" fmla="*/ 162422 w 973178"/>
                <a:gd name="connsiteY0-2" fmla="*/ 0 h 973178"/>
                <a:gd name="connsiteX1-3" fmla="*/ 973178 w 973178"/>
                <a:gd name="connsiteY1-4" fmla="*/ 0 h 973178"/>
                <a:gd name="connsiteX2-5" fmla="*/ 973178 w 973178"/>
                <a:gd name="connsiteY2-6" fmla="*/ 812655 h 973178"/>
                <a:gd name="connsiteX3-7" fmla="*/ 812655 w 973178"/>
                <a:gd name="connsiteY3-8" fmla="*/ 973178 h 973178"/>
                <a:gd name="connsiteX4-9" fmla="*/ 113981 w 973178"/>
                <a:gd name="connsiteY4-10" fmla="*/ 973178 h 973178"/>
                <a:gd name="connsiteX5-11" fmla="*/ 113981 w 973178"/>
                <a:gd name="connsiteY5-12" fmla="*/ 569595 h 973178"/>
                <a:gd name="connsiteX6-13" fmla="*/ 0 w 973178"/>
                <a:gd name="connsiteY6-14" fmla="*/ 494617 h 973178"/>
                <a:gd name="connsiteX7-15" fmla="*/ 0 w 973178"/>
                <a:gd name="connsiteY7-16" fmla="*/ 162422 h 973178"/>
                <a:gd name="connsiteX8" fmla="*/ 162422 w 973178"/>
                <a:gd name="connsiteY8" fmla="*/ 0 h 9731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 y="connsiteY8"/>
                </a:cxn>
              </a:cxnLst>
              <a:rect l="l" t="t" r="r" b="b"/>
              <a:pathLst>
                <a:path w="973178" h="973178">
                  <a:moveTo>
                    <a:pt x="162422" y="0"/>
                  </a:moveTo>
                  <a:lnTo>
                    <a:pt x="973178" y="0"/>
                  </a:lnTo>
                  <a:lnTo>
                    <a:pt x="973178" y="812655"/>
                  </a:lnTo>
                  <a:lnTo>
                    <a:pt x="812655" y="973178"/>
                  </a:lnTo>
                  <a:lnTo>
                    <a:pt x="113981" y="973178"/>
                  </a:lnTo>
                  <a:lnTo>
                    <a:pt x="113981" y="569595"/>
                  </a:lnTo>
                  <a:lnTo>
                    <a:pt x="0" y="494617"/>
                  </a:lnTo>
                  <a:lnTo>
                    <a:pt x="0" y="162422"/>
                  </a:lnTo>
                  <a:lnTo>
                    <a:pt x="162422" y="0"/>
                  </a:lnTo>
                  <a:close/>
                </a:path>
              </a:pathLst>
            </a:custGeom>
            <a:gradFill>
              <a:gsLst>
                <a:gs pos="0">
                  <a:schemeClr val="accent1">
                    <a:alpha val="0"/>
                  </a:schemeClr>
                </a:gs>
                <a:gs pos="100000">
                  <a:schemeClr val="accent1">
                    <a:alpha val="30000"/>
                  </a:schemeClr>
                </a:gs>
              </a:gsLst>
              <a:lin ang="16200000" scaled="0"/>
            </a:gradFill>
            <a:ln w="6350">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2400">
                <a:solidFill>
                  <a:schemeClr val="tx1">
                    <a:lumMod val="85000"/>
                    <a:lumOff val="15000"/>
                    <a:alpha val="9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sp>
          <p:nvSpPr>
            <p:cNvPr id="59" name="等腰三角形 58"/>
            <p:cNvSpPr/>
            <p:nvPr>
              <p:custDataLst>
                <p:tags r:id="rId23"/>
              </p:custDataLst>
            </p:nvPr>
          </p:nvSpPr>
          <p:spPr>
            <a:xfrm rot="16200000">
              <a:off x="4077" y="3642"/>
              <a:ext cx="103" cy="103"/>
            </a:xfrm>
            <a:prstGeom prst="triangle">
              <a:avLst>
                <a:gd name="adj" fmla="val 1000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60" name="任意多边形: 形状 40"/>
            <p:cNvSpPr/>
            <p:nvPr>
              <p:custDataLst>
                <p:tags r:id="rId24"/>
              </p:custDataLst>
            </p:nvPr>
          </p:nvSpPr>
          <p:spPr>
            <a:xfrm>
              <a:off x="2891" y="4341"/>
              <a:ext cx="129" cy="590"/>
            </a:xfrm>
            <a:custGeom>
              <a:avLst/>
              <a:gdLst>
                <a:gd name="connsiteX0" fmla="*/ 13335 w 146685"/>
                <a:gd name="connsiteY0" fmla="*/ 0 h 198120"/>
                <a:gd name="connsiteX1" fmla="*/ 144780 w 146685"/>
                <a:gd name="connsiteY1" fmla="*/ 85725 h 198120"/>
                <a:gd name="connsiteX2" fmla="*/ 146685 w 146685"/>
                <a:gd name="connsiteY2" fmla="*/ 198120 h 198120"/>
                <a:gd name="connsiteX3" fmla="*/ 0 w 146685"/>
                <a:gd name="connsiteY3" fmla="*/ 89535 h 198120"/>
                <a:gd name="connsiteX4" fmla="*/ 13335 w 146685"/>
                <a:gd name="connsiteY4" fmla="*/ 0 h 198120"/>
                <a:gd name="connsiteX0-1" fmla="*/ 13335 w 144780"/>
                <a:gd name="connsiteY0-2" fmla="*/ 0 h 203835"/>
                <a:gd name="connsiteX1-3" fmla="*/ 144780 w 144780"/>
                <a:gd name="connsiteY1-4" fmla="*/ 85725 h 203835"/>
                <a:gd name="connsiteX2-5" fmla="*/ 137160 w 144780"/>
                <a:gd name="connsiteY2-6" fmla="*/ 203835 h 203835"/>
                <a:gd name="connsiteX3-7" fmla="*/ 0 w 144780"/>
                <a:gd name="connsiteY3-8" fmla="*/ 89535 h 203835"/>
                <a:gd name="connsiteX4-9" fmla="*/ 13335 w 144780"/>
                <a:gd name="connsiteY4-10" fmla="*/ 0 h 203835"/>
                <a:gd name="connsiteX0-11" fmla="*/ 13335 w 144780"/>
                <a:gd name="connsiteY0-12" fmla="*/ 0 h 203835"/>
                <a:gd name="connsiteX1-13" fmla="*/ 144780 w 144780"/>
                <a:gd name="connsiteY1-14" fmla="*/ 85725 h 203835"/>
                <a:gd name="connsiteX2-15" fmla="*/ 144780 w 144780"/>
                <a:gd name="connsiteY2-16" fmla="*/ 203835 h 203835"/>
                <a:gd name="connsiteX3-17" fmla="*/ 0 w 144780"/>
                <a:gd name="connsiteY3-18" fmla="*/ 89535 h 203835"/>
                <a:gd name="connsiteX4-19" fmla="*/ 13335 w 144780"/>
                <a:gd name="connsiteY4-20" fmla="*/ 0 h 203835"/>
                <a:gd name="connsiteX0-21" fmla="*/ 1905 w 133350"/>
                <a:gd name="connsiteY0-22" fmla="*/ 0 h 203835"/>
                <a:gd name="connsiteX1-23" fmla="*/ 133350 w 133350"/>
                <a:gd name="connsiteY1-24" fmla="*/ 85725 h 203835"/>
                <a:gd name="connsiteX2-25" fmla="*/ 133350 w 133350"/>
                <a:gd name="connsiteY2-26" fmla="*/ 203835 h 203835"/>
                <a:gd name="connsiteX3-27" fmla="*/ 0 w 133350"/>
                <a:gd name="connsiteY3-28" fmla="*/ 118110 h 203835"/>
                <a:gd name="connsiteX4-29" fmla="*/ 1905 w 133350"/>
                <a:gd name="connsiteY4-30" fmla="*/ 0 h 2038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 h="632">
                  <a:moveTo>
                    <a:pt x="2" y="0"/>
                  </a:moveTo>
                  <a:lnTo>
                    <a:pt x="138" y="89"/>
                  </a:lnTo>
                  <a:lnTo>
                    <a:pt x="138" y="211"/>
                  </a:lnTo>
                  <a:lnTo>
                    <a:pt x="0" y="122"/>
                  </a:lnTo>
                  <a:lnTo>
                    <a:pt x="2" y="0"/>
                  </a:lnTo>
                  <a:close/>
                  <a:moveTo>
                    <a:pt x="2" y="208"/>
                  </a:moveTo>
                  <a:lnTo>
                    <a:pt x="138" y="297"/>
                  </a:lnTo>
                  <a:lnTo>
                    <a:pt x="138" y="419"/>
                  </a:lnTo>
                  <a:lnTo>
                    <a:pt x="0" y="330"/>
                  </a:lnTo>
                  <a:lnTo>
                    <a:pt x="2" y="208"/>
                  </a:lnTo>
                  <a:close/>
                  <a:moveTo>
                    <a:pt x="2" y="421"/>
                  </a:moveTo>
                  <a:lnTo>
                    <a:pt x="138" y="510"/>
                  </a:lnTo>
                  <a:lnTo>
                    <a:pt x="138" y="632"/>
                  </a:lnTo>
                  <a:lnTo>
                    <a:pt x="0" y="543"/>
                  </a:lnTo>
                  <a:lnTo>
                    <a:pt x="2" y="421"/>
                  </a:lnTo>
                  <a:close/>
                </a:path>
              </a:pathLst>
            </a:custGeom>
            <a:gradFill>
              <a:gsLst>
                <a:gs pos="0">
                  <a:schemeClr val="accent1">
                    <a:alpha val="0"/>
                  </a:schemeClr>
                </a:gs>
                <a:gs pos="100000">
                  <a:schemeClr val="accent1">
                    <a:alpha val="10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pPr>
              <a:endParaRPr lang="zh-CN" altLang="en-US" noProof="0">
                <a:ln>
                  <a:noFill/>
                </a:ln>
                <a:solidFill>
                  <a:prstClr val="white"/>
                </a:solidFill>
                <a:effectLst/>
                <a:uLnTx/>
                <a:uFillTx/>
                <a:latin typeface="字魂手刻宋" panose="00000500000000000000" charset="-122"/>
                <a:ea typeface="字魂手刻宋" panose="00000500000000000000" charset="-122"/>
                <a:sym typeface="+mn-ea"/>
              </a:endParaRPr>
            </a:p>
          </p:txBody>
        </p:sp>
        <p:sp>
          <p:nvSpPr>
            <p:cNvPr id="21" name="矩形 20"/>
            <p:cNvSpPr/>
            <p:nvPr>
              <p:custDataLst>
                <p:tags r:id="rId25"/>
              </p:custDataLst>
            </p:nvPr>
          </p:nvSpPr>
          <p:spPr>
            <a:xfrm>
              <a:off x="1376" y="6499"/>
              <a:ext cx="4393" cy="3014"/>
            </a:xfrm>
            <a:prstGeom prst="rect">
              <a:avLst/>
            </a:prstGeom>
            <a:noFill/>
          </p:spPr>
          <p:txBody>
            <a:bodyPr wrap="square" lIns="0" tIns="0" rIns="0" bIns="0" rtlCol="0">
              <a:noAutofit/>
            </a:bodyPr>
            <a:lstStyle/>
            <a:p>
              <a:pPr algn="l">
                <a:lnSpc>
                  <a:spcPct val="150000"/>
                </a:lnSpc>
                <a:spcBef>
                  <a:spcPct val="0"/>
                </a:spcBef>
                <a:spcAft>
                  <a:spcPct val="0"/>
                </a:spcAft>
              </a:pPr>
              <a:r>
                <a:rPr kumimoji="1" lang="zh-CN" altLang="en-US" sz="1400">
                  <a:solidFill>
                    <a:schemeClr val="tx1">
                      <a:lumMod val="75000"/>
                      <a:lumOff val="25000"/>
                    </a:schemeClr>
                  </a:solidFill>
                  <a:latin typeface="字魂手刻宋" panose="00000500000000000000" charset="-122"/>
                  <a:ea typeface="字魂手刻宋" panose="00000500000000000000" charset="-122"/>
                  <a:cs typeface="+mn-ea"/>
                  <a:sym typeface="+mn-ea"/>
                </a:rPr>
                <a:t>行业的发展需要一批具有影响力和引领力的龙头企业来带动整个产业链的升级和进步。当前行业龙头企业数量不足，质量参差不齐，制约了行业的跨越式发展。</a:t>
              </a:r>
              <a:endParaRPr kumimoji="1" lang="zh-CN" altLang="en-US" sz="1400">
                <a:solidFill>
                  <a:schemeClr val="tx1">
                    <a:lumMod val="75000"/>
                    <a:lumOff val="25000"/>
                  </a:schemeClr>
                </a:solidFill>
                <a:latin typeface="字魂手刻宋" panose="00000500000000000000" charset="-122"/>
                <a:ea typeface="字魂手刻宋" panose="00000500000000000000" charset="-122"/>
                <a:cs typeface="+mn-ea"/>
                <a:sym typeface="+mn-ea"/>
              </a:endParaRPr>
            </a:p>
          </p:txBody>
        </p:sp>
        <p:sp>
          <p:nvSpPr>
            <p:cNvPr id="28" name="矩形 27"/>
            <p:cNvSpPr/>
            <p:nvPr>
              <p:custDataLst>
                <p:tags r:id="rId26"/>
              </p:custDataLst>
            </p:nvPr>
          </p:nvSpPr>
          <p:spPr>
            <a:xfrm>
              <a:off x="7353" y="6499"/>
              <a:ext cx="4411" cy="3014"/>
            </a:xfrm>
            <a:prstGeom prst="rect">
              <a:avLst/>
            </a:prstGeom>
            <a:noFill/>
          </p:spPr>
          <p:txBody>
            <a:bodyPr wrap="square" lIns="0" tIns="0" rIns="0" bIns="0" rtlCol="0">
              <a:noAutofit/>
            </a:bodyPr>
            <a:lstStyle/>
            <a:p>
              <a:pPr algn="l">
                <a:lnSpc>
                  <a:spcPct val="150000"/>
                </a:lnSpc>
                <a:spcBef>
                  <a:spcPct val="0"/>
                </a:spcBef>
                <a:spcAft>
                  <a:spcPct val="0"/>
                </a:spcAft>
              </a:pPr>
              <a:r>
                <a:rPr kumimoji="1" lang="zh-CN" altLang="en-US" sz="1400">
                  <a:solidFill>
                    <a:schemeClr val="tx1">
                      <a:lumMod val="75000"/>
                      <a:lumOff val="25000"/>
                    </a:schemeClr>
                  </a:solidFill>
                  <a:latin typeface="字魂手刻宋" panose="00000500000000000000" charset="-122"/>
                  <a:ea typeface="字魂手刻宋" panose="00000500000000000000" charset="-122"/>
                  <a:cs typeface="+mn-ea"/>
                  <a:sym typeface="+mn-ea"/>
                </a:rPr>
                <a:t>底层数据支撑平台，尤其是聚焦领域内</a:t>
              </a:r>
              <a:r>
                <a:rPr kumimoji="1" lang="zh-CN" altLang="en-US" sz="1400" b="1">
                  <a:solidFill>
                    <a:srgbClr val="054487"/>
                  </a:solidFill>
                  <a:latin typeface="字魂手刻宋" panose="00000500000000000000" charset="-122"/>
                  <a:ea typeface="字魂手刻宋" panose="00000500000000000000" charset="-122"/>
                  <a:cs typeface="+mn-ea"/>
                  <a:sym typeface="+mn-ea"/>
                </a:rPr>
                <a:t>产业互联网平台的缺失</a:t>
              </a:r>
              <a:r>
                <a:rPr kumimoji="1" lang="zh-CN" altLang="en-US" sz="1400">
                  <a:solidFill>
                    <a:schemeClr val="tx1">
                      <a:lumMod val="75000"/>
                      <a:lumOff val="25000"/>
                    </a:schemeClr>
                  </a:solidFill>
                  <a:latin typeface="字魂手刻宋" panose="00000500000000000000" charset="-122"/>
                  <a:ea typeface="字魂手刻宋" panose="00000500000000000000" charset="-122"/>
                  <a:cs typeface="+mn-ea"/>
                  <a:sym typeface="+mn-ea"/>
                </a:rPr>
                <a:t>导致行业内部信息流通不畅，无法实现数据的有效整合和利用，进而影响了行业的创新能力和竞争力。</a:t>
              </a:r>
              <a:endParaRPr kumimoji="1" lang="zh-CN" altLang="en-US" sz="1400">
                <a:solidFill>
                  <a:schemeClr val="tx1">
                    <a:lumMod val="75000"/>
                    <a:lumOff val="25000"/>
                  </a:schemeClr>
                </a:solidFill>
                <a:latin typeface="字魂手刻宋" panose="00000500000000000000" charset="-122"/>
                <a:ea typeface="字魂手刻宋" panose="00000500000000000000" charset="-122"/>
                <a:cs typeface="+mn-ea"/>
                <a:sym typeface="+mn-ea"/>
              </a:endParaRPr>
            </a:p>
          </p:txBody>
        </p:sp>
        <p:sp>
          <p:nvSpPr>
            <p:cNvPr id="36" name="矩形 35"/>
            <p:cNvSpPr/>
            <p:nvPr>
              <p:custDataLst>
                <p:tags r:id="rId27"/>
              </p:custDataLst>
            </p:nvPr>
          </p:nvSpPr>
          <p:spPr>
            <a:xfrm>
              <a:off x="13347" y="6499"/>
              <a:ext cx="4393" cy="3014"/>
            </a:xfrm>
            <a:prstGeom prst="rect">
              <a:avLst/>
            </a:prstGeom>
            <a:noFill/>
          </p:spPr>
          <p:txBody>
            <a:bodyPr wrap="square" lIns="0" tIns="0" rIns="0" bIns="0" rtlCol="0">
              <a:noAutofit/>
            </a:bodyPr>
            <a:lstStyle/>
            <a:p>
              <a:pPr algn="l">
                <a:lnSpc>
                  <a:spcPct val="150000"/>
                </a:lnSpc>
                <a:spcBef>
                  <a:spcPct val="0"/>
                </a:spcBef>
                <a:spcAft>
                  <a:spcPct val="0"/>
                </a:spcAft>
              </a:pPr>
              <a:r>
                <a:rPr kumimoji="1" lang="zh-CN" altLang="en-US" sz="1400" dirty="0">
                  <a:solidFill>
                    <a:schemeClr val="tx1">
                      <a:lumMod val="75000"/>
                      <a:lumOff val="25000"/>
                    </a:schemeClr>
                  </a:solidFill>
                  <a:latin typeface="字魂手刻宋" panose="00000500000000000000" charset="-122"/>
                  <a:ea typeface="字魂手刻宋" panose="00000500000000000000" charset="-122"/>
                  <a:cs typeface="+mn-ea"/>
                  <a:sym typeface="+mn-ea"/>
                </a:rPr>
                <a:t>人才是行业发展的核心驱动力。当前行业缺乏高层次创新型技术人才，无法满足行业技术创新和转型升级的需求。</a:t>
              </a:r>
              <a:endParaRPr kumimoji="1" lang="zh-CN" altLang="en-US" sz="1400" dirty="0">
                <a:solidFill>
                  <a:schemeClr val="tx1">
                    <a:lumMod val="75000"/>
                    <a:lumOff val="25000"/>
                  </a:schemeClr>
                </a:solidFill>
                <a:latin typeface="字魂手刻宋" panose="00000500000000000000" charset="-122"/>
                <a:ea typeface="字魂手刻宋" panose="00000500000000000000" charset="-122"/>
                <a:cs typeface="+mn-ea"/>
                <a:sym typeface="+mn-ea"/>
              </a:endParaRPr>
            </a:p>
          </p:txBody>
        </p:sp>
        <p:sp>
          <p:nvSpPr>
            <p:cNvPr id="40" name="矩形 39"/>
            <p:cNvSpPr/>
            <p:nvPr>
              <p:custDataLst>
                <p:tags r:id="rId28"/>
              </p:custDataLst>
            </p:nvPr>
          </p:nvSpPr>
          <p:spPr>
            <a:xfrm>
              <a:off x="1376" y="5439"/>
              <a:ext cx="4393" cy="628"/>
            </a:xfrm>
            <a:prstGeom prst="rect">
              <a:avLst/>
            </a:prstGeom>
            <a:noFill/>
          </p:spPr>
          <p:txBody>
            <a:bodyPr wrap="square" lIns="0" tIns="0" rIns="0" bIns="0" rtlCol="0" anchor="b" anchorCtr="0">
              <a:noAutofit/>
            </a:bodyPr>
            <a:lstStyle/>
            <a:p>
              <a:pPr algn="ctr">
                <a:spcBef>
                  <a:spcPct val="0"/>
                </a:spcBef>
                <a:spcAft>
                  <a:spcPct val="0"/>
                </a:spcAft>
              </a:pPr>
              <a:r>
                <a:rPr lang="zh-CN" altLang="en-US" sz="1800" b="1">
                  <a:solidFill>
                    <a:srgbClr val="0061AE"/>
                  </a:solidFill>
                  <a:latin typeface="字魂手刻宋" panose="00000500000000000000" charset="-122"/>
                  <a:ea typeface="字魂手刻宋" panose="00000500000000000000" charset="-122"/>
                  <a:cs typeface="+mn-ea"/>
                  <a:sym typeface="+mn-ea"/>
                </a:rPr>
                <a:t>缺乏高质量龙头企业</a:t>
              </a:r>
              <a:endParaRPr lang="zh-CN" altLang="en-US" sz="1800" b="1">
                <a:solidFill>
                  <a:srgbClr val="0061AE"/>
                </a:solidFill>
                <a:latin typeface="字魂手刻宋" panose="00000500000000000000" charset="-122"/>
                <a:ea typeface="字魂手刻宋" panose="00000500000000000000" charset="-122"/>
                <a:cs typeface="+mn-ea"/>
                <a:sym typeface="+mn-ea"/>
              </a:endParaRPr>
            </a:p>
          </p:txBody>
        </p:sp>
        <p:sp>
          <p:nvSpPr>
            <p:cNvPr id="41" name="矩形 40"/>
            <p:cNvSpPr/>
            <p:nvPr>
              <p:custDataLst>
                <p:tags r:id="rId29"/>
              </p:custDataLst>
            </p:nvPr>
          </p:nvSpPr>
          <p:spPr>
            <a:xfrm>
              <a:off x="7198" y="5439"/>
              <a:ext cx="4556" cy="628"/>
            </a:xfrm>
            <a:prstGeom prst="rect">
              <a:avLst/>
            </a:prstGeom>
            <a:noFill/>
          </p:spPr>
          <p:txBody>
            <a:bodyPr wrap="square" lIns="0" tIns="0" rIns="0" bIns="0" rtlCol="0" anchor="b" anchorCtr="0">
              <a:noAutofit/>
            </a:bodyPr>
            <a:lstStyle/>
            <a:p>
              <a:pPr algn="ctr">
                <a:spcBef>
                  <a:spcPct val="0"/>
                </a:spcBef>
                <a:spcAft>
                  <a:spcPct val="0"/>
                </a:spcAft>
              </a:pPr>
              <a:r>
                <a:rPr lang="zh-CN" altLang="en-US" sz="1800" b="1">
                  <a:solidFill>
                    <a:srgbClr val="0061AE"/>
                  </a:solidFill>
                  <a:latin typeface="字魂手刻宋" panose="00000500000000000000" charset="-122"/>
                  <a:ea typeface="字魂手刻宋" panose="00000500000000000000" charset="-122"/>
                  <a:cs typeface="+mn-ea"/>
                  <a:sym typeface="+mn-ea"/>
                </a:rPr>
                <a:t>缺乏底层数据支撑平台</a:t>
              </a:r>
              <a:endParaRPr lang="zh-CN" altLang="en-US" sz="1800" b="1">
                <a:solidFill>
                  <a:srgbClr val="0061AE"/>
                </a:solidFill>
                <a:latin typeface="字魂手刻宋" panose="00000500000000000000" charset="-122"/>
                <a:ea typeface="字魂手刻宋" panose="00000500000000000000" charset="-122"/>
                <a:cs typeface="+mn-ea"/>
                <a:sym typeface="+mn-ea"/>
              </a:endParaRPr>
            </a:p>
          </p:txBody>
        </p:sp>
        <p:sp>
          <p:nvSpPr>
            <p:cNvPr id="45" name="矩形 44"/>
            <p:cNvSpPr/>
            <p:nvPr>
              <p:custDataLst>
                <p:tags r:id="rId30"/>
              </p:custDataLst>
            </p:nvPr>
          </p:nvSpPr>
          <p:spPr>
            <a:xfrm>
              <a:off x="12820" y="5439"/>
              <a:ext cx="5165" cy="628"/>
            </a:xfrm>
            <a:prstGeom prst="rect">
              <a:avLst/>
            </a:prstGeom>
            <a:noFill/>
          </p:spPr>
          <p:txBody>
            <a:bodyPr wrap="square" lIns="0" tIns="0" rIns="0" bIns="0" rtlCol="0" anchor="b" anchorCtr="0">
              <a:noAutofit/>
            </a:bodyPr>
            <a:lstStyle/>
            <a:p>
              <a:pPr algn="ctr">
                <a:spcBef>
                  <a:spcPct val="0"/>
                </a:spcBef>
                <a:spcAft>
                  <a:spcPct val="0"/>
                </a:spcAft>
              </a:pPr>
              <a:r>
                <a:rPr lang="zh-CN" altLang="en-US" sz="1800" b="1">
                  <a:solidFill>
                    <a:srgbClr val="0061AE"/>
                  </a:solidFill>
                  <a:latin typeface="字魂手刻宋" panose="00000500000000000000" charset="-122"/>
                  <a:ea typeface="字魂手刻宋" panose="00000500000000000000" charset="-122"/>
                  <a:cs typeface="+mn-ea"/>
                  <a:sym typeface="+mn-ea"/>
                </a:rPr>
                <a:t>缺乏高层次创新型人才</a:t>
              </a:r>
              <a:endParaRPr lang="zh-CN" altLang="en-US" sz="1800" b="1">
                <a:solidFill>
                  <a:srgbClr val="0061AE"/>
                </a:solidFill>
                <a:latin typeface="字魂手刻宋" panose="00000500000000000000" charset="-122"/>
                <a:ea typeface="字魂手刻宋" panose="00000500000000000000" charset="-122"/>
                <a:cs typeface="+mn-ea"/>
                <a:sym typeface="+mn-ea"/>
              </a:endParaRPr>
            </a:p>
          </p:txBody>
        </p:sp>
        <p:cxnSp>
          <p:nvCxnSpPr>
            <p:cNvPr id="46" name="直接连接符 45"/>
            <p:cNvCxnSpPr/>
            <p:nvPr>
              <p:custDataLst>
                <p:tags r:id="rId31"/>
              </p:custDataLst>
            </p:nvPr>
          </p:nvCxnSpPr>
          <p:spPr>
            <a:xfrm>
              <a:off x="6565" y="5804"/>
              <a:ext cx="0" cy="3798"/>
            </a:xfrm>
            <a:prstGeom prst="line">
              <a:avLst/>
            </a:prstGeom>
            <a:ln w="9525">
              <a:gradFill>
                <a:gsLst>
                  <a:gs pos="26000">
                    <a:schemeClr val="accent1">
                      <a:alpha val="0"/>
                    </a:schemeClr>
                  </a:gs>
                  <a:gs pos="100000">
                    <a:schemeClr val="accent1"/>
                  </a:gs>
                </a:gsLst>
                <a:lin ang="16200000" scaled="1"/>
              </a:gra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custDataLst>
                <p:tags r:id="rId32"/>
              </p:custDataLst>
            </p:nvPr>
          </p:nvCxnSpPr>
          <p:spPr>
            <a:xfrm>
              <a:off x="12551" y="5804"/>
              <a:ext cx="0" cy="3798"/>
            </a:xfrm>
            <a:prstGeom prst="line">
              <a:avLst/>
            </a:prstGeom>
            <a:ln w="9525">
              <a:gradFill>
                <a:gsLst>
                  <a:gs pos="26000">
                    <a:schemeClr val="accent1">
                      <a:alpha val="0"/>
                    </a:schemeClr>
                  </a:gs>
                  <a:gs pos="100000">
                    <a:schemeClr val="accent1"/>
                  </a:gs>
                </a:gsLst>
                <a:lin ang="16200000" scaled="1"/>
              </a:gradFill>
            </a:ln>
          </p:spPr>
          <p:style>
            <a:lnRef idx="1">
              <a:schemeClr val="accent1"/>
            </a:lnRef>
            <a:fillRef idx="0">
              <a:schemeClr val="accent1"/>
            </a:fillRef>
            <a:effectRef idx="0">
              <a:schemeClr val="accent1"/>
            </a:effectRef>
            <a:fontRef idx="minor">
              <a:schemeClr val="tx1"/>
            </a:fontRef>
          </p:style>
        </p:cxnSp>
        <p:sp>
          <p:nvSpPr>
            <p:cNvPr id="50" name="任意多边形 49"/>
            <p:cNvSpPr/>
            <p:nvPr>
              <p:custDataLst>
                <p:tags r:id="rId33"/>
              </p:custDataLst>
            </p:nvPr>
          </p:nvSpPr>
          <p:spPr>
            <a:xfrm>
              <a:off x="3329" y="4073"/>
              <a:ext cx="507" cy="334"/>
            </a:xfrm>
            <a:custGeom>
              <a:avLst/>
              <a:gdLst/>
              <a:ahLst/>
              <a:cxnLst>
                <a:cxn ang="3">
                  <a:pos x="hc" y="t"/>
                </a:cxn>
                <a:cxn ang="cd2">
                  <a:pos x="l" y="vc"/>
                </a:cxn>
                <a:cxn ang="cd4">
                  <a:pos x="hc" y="b"/>
                </a:cxn>
                <a:cxn ang="0">
                  <a:pos x="r" y="vc"/>
                </a:cxn>
              </a:cxnLst>
              <a:rect l="l" t="t" r="r" b="b"/>
              <a:pathLst>
                <a:path w="507" h="334">
                  <a:moveTo>
                    <a:pt x="0" y="0"/>
                  </a:moveTo>
                  <a:lnTo>
                    <a:pt x="89" y="0"/>
                  </a:lnTo>
                  <a:lnTo>
                    <a:pt x="89" y="286"/>
                  </a:lnTo>
                  <a:lnTo>
                    <a:pt x="204" y="286"/>
                  </a:lnTo>
                  <a:lnTo>
                    <a:pt x="204" y="49"/>
                  </a:lnTo>
                  <a:lnTo>
                    <a:pt x="89" y="49"/>
                  </a:lnTo>
                  <a:lnTo>
                    <a:pt x="105" y="0"/>
                  </a:lnTo>
                  <a:lnTo>
                    <a:pt x="227" y="0"/>
                  </a:lnTo>
                  <a:lnTo>
                    <a:pt x="293" y="63"/>
                  </a:lnTo>
                  <a:lnTo>
                    <a:pt x="293" y="272"/>
                  </a:lnTo>
                  <a:lnTo>
                    <a:pt x="227" y="334"/>
                  </a:lnTo>
                  <a:lnTo>
                    <a:pt x="66" y="334"/>
                  </a:lnTo>
                  <a:lnTo>
                    <a:pt x="0" y="272"/>
                  </a:lnTo>
                  <a:lnTo>
                    <a:pt x="0" y="0"/>
                  </a:lnTo>
                  <a:close/>
                  <a:moveTo>
                    <a:pt x="350" y="0"/>
                  </a:moveTo>
                  <a:lnTo>
                    <a:pt x="465" y="0"/>
                  </a:lnTo>
                  <a:lnTo>
                    <a:pt x="465" y="286"/>
                  </a:lnTo>
                  <a:lnTo>
                    <a:pt x="507" y="286"/>
                  </a:lnTo>
                  <a:lnTo>
                    <a:pt x="507" y="334"/>
                  </a:lnTo>
                  <a:lnTo>
                    <a:pt x="325" y="334"/>
                  </a:lnTo>
                  <a:lnTo>
                    <a:pt x="340" y="286"/>
                  </a:lnTo>
                  <a:lnTo>
                    <a:pt x="376" y="286"/>
                  </a:lnTo>
                  <a:lnTo>
                    <a:pt x="376" y="48"/>
                  </a:lnTo>
                  <a:lnTo>
                    <a:pt x="335" y="48"/>
                  </a:lnTo>
                  <a:lnTo>
                    <a:pt x="350" y="0"/>
                  </a:lnTo>
                  <a:close/>
                </a:path>
              </a:pathLst>
            </a:cu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rgbClr val="0061AE"/>
                </a:solidFill>
                <a:latin typeface="字魂手刻宋" panose="00000500000000000000" charset="-122"/>
                <a:ea typeface="字魂手刻宋" panose="00000500000000000000" charset="-122"/>
              </a:endParaRPr>
            </a:p>
          </p:txBody>
        </p:sp>
        <p:sp>
          <p:nvSpPr>
            <p:cNvPr id="51" name="任意多边形 50"/>
            <p:cNvSpPr/>
            <p:nvPr>
              <p:custDataLst>
                <p:tags r:id="rId34"/>
              </p:custDataLst>
            </p:nvPr>
          </p:nvSpPr>
          <p:spPr>
            <a:xfrm>
              <a:off x="9248" y="4008"/>
              <a:ext cx="620" cy="333"/>
            </a:xfrm>
            <a:custGeom>
              <a:avLst/>
              <a:gdLst/>
              <a:ahLst/>
              <a:cxnLst>
                <a:cxn ang="3">
                  <a:pos x="hc" y="t"/>
                </a:cxn>
                <a:cxn ang="cd2">
                  <a:pos x="l" y="vc"/>
                </a:cxn>
                <a:cxn ang="cd4">
                  <a:pos x="hc" y="b"/>
                </a:cxn>
                <a:cxn ang="0">
                  <a:pos x="r" y="vc"/>
                </a:cxn>
              </a:cxnLst>
              <a:rect l="l" t="t" r="r" b="b"/>
              <a:pathLst>
                <a:path w="620" h="333">
                  <a:moveTo>
                    <a:pt x="333" y="142"/>
                  </a:moveTo>
                  <a:lnTo>
                    <a:pt x="422" y="142"/>
                  </a:lnTo>
                  <a:lnTo>
                    <a:pt x="422" y="285"/>
                  </a:lnTo>
                  <a:lnTo>
                    <a:pt x="620" y="285"/>
                  </a:lnTo>
                  <a:lnTo>
                    <a:pt x="620" y="333"/>
                  </a:lnTo>
                  <a:lnTo>
                    <a:pt x="333" y="333"/>
                  </a:lnTo>
                  <a:lnTo>
                    <a:pt x="333" y="142"/>
                  </a:lnTo>
                  <a:close/>
                  <a:moveTo>
                    <a:pt x="344" y="0"/>
                  </a:moveTo>
                  <a:lnTo>
                    <a:pt x="613" y="0"/>
                  </a:lnTo>
                  <a:lnTo>
                    <a:pt x="613" y="127"/>
                  </a:lnTo>
                  <a:lnTo>
                    <a:pt x="547" y="190"/>
                  </a:lnTo>
                  <a:lnTo>
                    <a:pt x="422" y="190"/>
                  </a:lnTo>
                  <a:lnTo>
                    <a:pt x="438" y="142"/>
                  </a:lnTo>
                  <a:lnTo>
                    <a:pt x="524" y="142"/>
                  </a:lnTo>
                  <a:lnTo>
                    <a:pt x="524" y="48"/>
                  </a:lnTo>
                  <a:lnTo>
                    <a:pt x="329" y="48"/>
                  </a:lnTo>
                  <a:lnTo>
                    <a:pt x="344" y="0"/>
                  </a:lnTo>
                  <a:close/>
                  <a:moveTo>
                    <a:pt x="0" y="0"/>
                  </a:moveTo>
                  <a:lnTo>
                    <a:pt x="89" y="0"/>
                  </a:lnTo>
                  <a:lnTo>
                    <a:pt x="89" y="285"/>
                  </a:lnTo>
                  <a:lnTo>
                    <a:pt x="205" y="285"/>
                  </a:lnTo>
                  <a:lnTo>
                    <a:pt x="205" y="48"/>
                  </a:lnTo>
                  <a:lnTo>
                    <a:pt x="89" y="48"/>
                  </a:lnTo>
                  <a:lnTo>
                    <a:pt x="105" y="0"/>
                  </a:lnTo>
                  <a:lnTo>
                    <a:pt x="227" y="0"/>
                  </a:lnTo>
                  <a:lnTo>
                    <a:pt x="293" y="62"/>
                  </a:lnTo>
                  <a:lnTo>
                    <a:pt x="293" y="271"/>
                  </a:lnTo>
                  <a:lnTo>
                    <a:pt x="227" y="333"/>
                  </a:lnTo>
                  <a:lnTo>
                    <a:pt x="66" y="333"/>
                  </a:lnTo>
                  <a:lnTo>
                    <a:pt x="0" y="271"/>
                  </a:lnTo>
                  <a:lnTo>
                    <a:pt x="0" y="0"/>
                  </a:lnTo>
                  <a:close/>
                </a:path>
              </a:pathLst>
            </a:cu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rgbClr val="0061AE"/>
                </a:solidFill>
                <a:latin typeface="字魂手刻宋" panose="00000500000000000000" charset="-122"/>
                <a:ea typeface="字魂手刻宋" panose="00000500000000000000" charset="-122"/>
              </a:endParaRPr>
            </a:p>
          </p:txBody>
        </p:sp>
        <p:sp>
          <p:nvSpPr>
            <p:cNvPr id="52" name="任意多边形 51"/>
            <p:cNvSpPr/>
            <p:nvPr>
              <p:custDataLst>
                <p:tags r:id="rId35"/>
              </p:custDataLst>
            </p:nvPr>
          </p:nvSpPr>
          <p:spPr>
            <a:xfrm>
              <a:off x="15249" y="4074"/>
              <a:ext cx="609" cy="333"/>
            </a:xfrm>
            <a:custGeom>
              <a:avLst/>
              <a:gdLst/>
              <a:ahLst/>
              <a:cxnLst>
                <a:cxn ang="3">
                  <a:pos x="hc" y="t"/>
                </a:cxn>
                <a:cxn ang="cd2">
                  <a:pos x="l" y="vc"/>
                </a:cxn>
                <a:cxn ang="cd4">
                  <a:pos x="hc" y="b"/>
                </a:cxn>
                <a:cxn ang="0">
                  <a:pos x="r" y="vc"/>
                </a:cxn>
              </a:cxnLst>
              <a:rect l="l" t="t" r="r" b="b"/>
              <a:pathLst>
                <a:path w="609" h="333">
                  <a:moveTo>
                    <a:pt x="347" y="0"/>
                  </a:moveTo>
                  <a:lnTo>
                    <a:pt x="609" y="0"/>
                  </a:lnTo>
                  <a:lnTo>
                    <a:pt x="609" y="97"/>
                  </a:lnTo>
                  <a:lnTo>
                    <a:pt x="546" y="159"/>
                  </a:lnTo>
                  <a:lnTo>
                    <a:pt x="609" y="159"/>
                  </a:lnTo>
                  <a:lnTo>
                    <a:pt x="609" y="271"/>
                  </a:lnTo>
                  <a:lnTo>
                    <a:pt x="543" y="333"/>
                  </a:lnTo>
                  <a:lnTo>
                    <a:pt x="325" y="333"/>
                  </a:lnTo>
                  <a:lnTo>
                    <a:pt x="340" y="285"/>
                  </a:lnTo>
                  <a:lnTo>
                    <a:pt x="520" y="285"/>
                  </a:lnTo>
                  <a:lnTo>
                    <a:pt x="520" y="190"/>
                  </a:lnTo>
                  <a:lnTo>
                    <a:pt x="339" y="190"/>
                  </a:lnTo>
                  <a:lnTo>
                    <a:pt x="355" y="142"/>
                  </a:lnTo>
                  <a:lnTo>
                    <a:pt x="520" y="142"/>
                  </a:lnTo>
                  <a:lnTo>
                    <a:pt x="520" y="48"/>
                  </a:lnTo>
                  <a:lnTo>
                    <a:pt x="332" y="48"/>
                  </a:lnTo>
                  <a:lnTo>
                    <a:pt x="347" y="0"/>
                  </a:lnTo>
                  <a:close/>
                  <a:moveTo>
                    <a:pt x="0" y="0"/>
                  </a:moveTo>
                  <a:lnTo>
                    <a:pt x="89" y="0"/>
                  </a:lnTo>
                  <a:lnTo>
                    <a:pt x="89" y="285"/>
                  </a:lnTo>
                  <a:lnTo>
                    <a:pt x="205" y="285"/>
                  </a:lnTo>
                  <a:lnTo>
                    <a:pt x="205" y="48"/>
                  </a:lnTo>
                  <a:lnTo>
                    <a:pt x="89" y="48"/>
                  </a:lnTo>
                  <a:lnTo>
                    <a:pt x="105" y="0"/>
                  </a:lnTo>
                  <a:lnTo>
                    <a:pt x="227" y="0"/>
                  </a:lnTo>
                  <a:lnTo>
                    <a:pt x="293" y="62"/>
                  </a:lnTo>
                  <a:lnTo>
                    <a:pt x="293" y="271"/>
                  </a:lnTo>
                  <a:lnTo>
                    <a:pt x="227" y="333"/>
                  </a:lnTo>
                  <a:lnTo>
                    <a:pt x="66" y="333"/>
                  </a:lnTo>
                  <a:lnTo>
                    <a:pt x="0" y="271"/>
                  </a:lnTo>
                  <a:lnTo>
                    <a:pt x="0" y="0"/>
                  </a:lnTo>
                  <a:close/>
                </a:path>
              </a:pathLst>
            </a:cu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rgbClr val="0061AE"/>
                </a:solidFill>
                <a:latin typeface="字魂手刻宋" panose="00000500000000000000" charset="-122"/>
                <a:ea typeface="字魂手刻宋" panose="00000500000000000000" charset="-122"/>
              </a:endParaRPr>
            </a:p>
          </p:txBody>
        </p:sp>
      </p:grpSp>
      <p:sp>
        <p:nvSpPr>
          <p:cNvPr id="53" name="文本框 52"/>
          <p:cNvSpPr txBox="1"/>
          <p:nvPr/>
        </p:nvSpPr>
        <p:spPr>
          <a:xfrm>
            <a:off x="944245" y="628650"/>
            <a:ext cx="10443845" cy="1060450"/>
          </a:xfrm>
          <a:prstGeom prst="rect">
            <a:avLst/>
          </a:prstGeom>
          <a:noFill/>
        </p:spPr>
        <p:txBody>
          <a:bodyPr wrap="square" rtlCol="0" anchor="t">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近年来，我们的安全风险管理事业取得了长足进步，但是我们的安全生产形势依然面临着诸多不确定性，安全生产总体仍处于爬坡过坎期和平台瓶颈期。究其原因，</a:t>
            </a:r>
            <a:r>
              <a:rPr lang="zh-CN" altLang="en-US" sz="1400" b="1" dirty="0">
                <a:solidFill>
                  <a:srgbClr val="054487"/>
                </a:solidFill>
                <a:latin typeface="字魂手刻宋" panose="00000500000000000000" charset="-122"/>
                <a:ea typeface="字魂手刻宋" panose="00000500000000000000" charset="-122"/>
                <a:sym typeface="+mn-ea"/>
              </a:rPr>
              <a:t>主要是安全生产社会化服务力量和市场协同机制建设不够充分，对产业链创新模式和数字化经济发展理念应用不足</a:t>
            </a: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，存在关键掣肘制约行业发展。</a:t>
            </a:r>
            <a:endParaRPr lang="zh-CN" altLang="en-US" sz="1400" dirty="0">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3" name="文本框 2"/>
          <p:cNvSpPr txBox="1"/>
          <p:nvPr/>
        </p:nvSpPr>
        <p:spPr>
          <a:xfrm>
            <a:off x="145415" y="69850"/>
            <a:ext cx="757555" cy="883285"/>
          </a:xfrm>
          <a:prstGeom prst="rect">
            <a:avLst/>
          </a:prstGeom>
          <a:noFill/>
        </p:spPr>
        <p:txBody>
          <a:bodyPr wrap="square">
            <a:noAutofit/>
          </a:bodyPr>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1</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custDataLst>
              <p:tags r:id="rId1"/>
            </p:custDataLst>
          </p:nvPr>
        </p:nvSpPr>
        <p:spPr>
          <a:xfrm>
            <a:off x="145396" y="69812"/>
            <a:ext cx="757456" cy="737235"/>
          </a:xfrm>
          <a:prstGeom prst="rect">
            <a:avLst/>
          </a:prstGeom>
          <a:noFill/>
        </p:spPr>
        <p:txBody>
          <a:bodyPr wrap="square">
            <a:spAutoFit/>
          </a:bodyPr>
          <a:lst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a:lstStyle>
          <a:p>
            <a:pPr algn="ctr">
              <a:lnSpc>
                <a:spcPct val="150000"/>
              </a:lnSpc>
              <a:spcBef>
                <a:spcPts val="1200"/>
              </a:spcBef>
            </a:pPr>
            <a:r>
              <a:rPr lang="en-US" altLang="zh-CN" sz="2800" b="1" dirty="0">
                <a:solidFill>
                  <a:schemeClr val="bg1"/>
                </a:solidFill>
                <a:latin typeface="微软雅黑" panose="020B0503020204020204" charset="-122"/>
              </a:rPr>
              <a:t>1</a:t>
            </a:r>
            <a:endParaRPr lang="en-US" altLang="zh-CN" sz="2800" b="1" dirty="0">
              <a:solidFill>
                <a:schemeClr val="bg1"/>
              </a:solidFill>
              <a:latin typeface="微软雅黑" panose="020B0503020204020204" charset="-122"/>
            </a:endParaRPr>
          </a:p>
        </p:txBody>
      </p:sp>
      <p:sp>
        <p:nvSpPr>
          <p:cNvPr id="14" name="文本框 13"/>
          <p:cNvSpPr txBox="1"/>
          <p:nvPr>
            <p:custDataLst>
              <p:tags r:id="rId2"/>
            </p:custDataLst>
          </p:nvPr>
        </p:nvSpPr>
        <p:spPr>
          <a:xfrm>
            <a:off x="962660" y="69850"/>
            <a:ext cx="978789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安全风险管理行业的发展机遇</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8" name="直接连接符 17"/>
          <p:cNvCxnSpPr/>
          <p:nvPr>
            <p:custDataLst>
              <p:tags r:id="rId3"/>
            </p:custDataLst>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88" name="矩形 87"/>
          <p:cNvSpPr/>
          <p:nvPr>
            <p:custDataLst>
              <p:tags r:id="rId4"/>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grpSp>
        <p:nvGrpSpPr>
          <p:cNvPr id="4" name="组合 3"/>
          <p:cNvGrpSpPr/>
          <p:nvPr>
            <p:custDataLst>
              <p:tags r:id="rId5"/>
            </p:custDataLst>
          </p:nvPr>
        </p:nvGrpSpPr>
        <p:grpSpPr>
          <a:xfrm>
            <a:off x="26670" y="1464310"/>
            <a:ext cx="11287760" cy="4882515"/>
            <a:chOff x="42" y="2306"/>
            <a:chExt cx="17776" cy="7689"/>
          </a:xfrm>
        </p:grpSpPr>
        <p:sp>
          <p:nvSpPr>
            <p:cNvPr id="8" name="任意多边形: 形状 3"/>
            <p:cNvSpPr/>
            <p:nvPr>
              <p:custDataLst>
                <p:tags r:id="rId6"/>
              </p:custDataLst>
            </p:nvPr>
          </p:nvSpPr>
          <p:spPr>
            <a:xfrm>
              <a:off x="5656" y="4049"/>
              <a:ext cx="2063" cy="2032"/>
            </a:xfrm>
            <a:custGeom>
              <a:avLst/>
              <a:gdLst>
                <a:gd name="connsiteX0" fmla="*/ 1012393 w 1023385"/>
                <a:gd name="connsiteY0" fmla="*/ 457215 h 1008195"/>
                <a:gd name="connsiteX1" fmla="*/ 886635 w 1023385"/>
                <a:gd name="connsiteY1" fmla="*/ 73779 h 1008195"/>
                <a:gd name="connsiteX2" fmla="*/ 803048 w 1023385"/>
                <a:gd name="connsiteY2" fmla="*/ 1 h 1008195"/>
                <a:gd name="connsiteX3" fmla="*/ 83503 w 1023385"/>
                <a:gd name="connsiteY3" fmla="*/ 3271 h 1008195"/>
                <a:gd name="connsiteX4" fmla="*/ 209 w 1023385"/>
                <a:gd name="connsiteY4" fmla="*/ 92768 h 1008195"/>
                <a:gd name="connsiteX5" fmla="*/ 288656 w 1023385"/>
                <a:gd name="connsiteY5" fmla="*/ 969553 h 1008195"/>
                <a:gd name="connsiteX6" fmla="*/ 408839 w 1023385"/>
                <a:gd name="connsiteY6" fmla="*/ 991896 h 1008195"/>
                <a:gd name="connsiteX7" fmla="*/ 989170 w 1023385"/>
                <a:gd name="connsiteY7" fmla="*/ 566247 h 1008195"/>
                <a:gd name="connsiteX8" fmla="*/ 1012393 w 1023385"/>
                <a:gd name="connsiteY8" fmla="*/ 457215 h 10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3385" h="1008195">
                  <a:moveTo>
                    <a:pt x="1012393" y="457215"/>
                  </a:moveTo>
                  <a:cubicBezTo>
                    <a:pt x="946245" y="341434"/>
                    <a:pt x="902481" y="211568"/>
                    <a:pt x="886635" y="73779"/>
                  </a:cubicBezTo>
                  <a:cubicBezTo>
                    <a:pt x="881773" y="31482"/>
                    <a:pt x="845596" y="-209"/>
                    <a:pt x="803048" y="1"/>
                  </a:cubicBezTo>
                  <a:lnTo>
                    <a:pt x="83503" y="3271"/>
                  </a:lnTo>
                  <a:cubicBezTo>
                    <a:pt x="35128" y="3480"/>
                    <a:pt x="-3186" y="44519"/>
                    <a:pt x="209" y="92768"/>
                  </a:cubicBezTo>
                  <a:cubicBezTo>
                    <a:pt x="22762" y="412445"/>
                    <a:pt x="125255" y="711749"/>
                    <a:pt x="288656" y="969553"/>
                  </a:cubicBezTo>
                  <a:cubicBezTo>
                    <a:pt x="314562" y="1010424"/>
                    <a:pt x="369812" y="1020527"/>
                    <a:pt x="408839" y="991896"/>
                  </a:cubicBezTo>
                  <a:lnTo>
                    <a:pt x="989170" y="566247"/>
                  </a:lnTo>
                  <a:cubicBezTo>
                    <a:pt x="1023418" y="541095"/>
                    <a:pt x="1033479" y="494188"/>
                    <a:pt x="1012393" y="457215"/>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字魂手刻宋" panose="00000500000000000000" charset="-122"/>
                <a:ea typeface="字魂手刻宋" panose="00000500000000000000" charset="-122"/>
              </a:endParaRPr>
            </a:p>
          </p:txBody>
        </p:sp>
        <p:sp>
          <p:nvSpPr>
            <p:cNvPr id="10" name="任意多边形: 形状 4"/>
            <p:cNvSpPr/>
            <p:nvPr>
              <p:custDataLst>
                <p:tags r:id="rId7"/>
              </p:custDataLst>
            </p:nvPr>
          </p:nvSpPr>
          <p:spPr>
            <a:xfrm>
              <a:off x="10219" y="5273"/>
              <a:ext cx="2225" cy="2238"/>
            </a:xfrm>
            <a:custGeom>
              <a:avLst/>
              <a:gdLst>
                <a:gd name="connsiteX0" fmla="*/ 373923 w 1103904"/>
                <a:gd name="connsiteY0" fmla="*/ 27378 h 1110445"/>
                <a:gd name="connsiteX1" fmla="*/ 48336 w 1103904"/>
                <a:gd name="connsiteY1" fmla="*/ 266905 h 1110445"/>
                <a:gd name="connsiteX2" fmla="*/ 4237 w 1103904"/>
                <a:gd name="connsiteY2" fmla="*/ 369104 h 1110445"/>
                <a:gd name="connsiteX3" fmla="*/ 229804 w 1103904"/>
                <a:gd name="connsiteY3" fmla="*/ 1052766 h 1110445"/>
                <a:gd name="connsiteX4" fmla="*/ 340849 w 1103904"/>
                <a:gd name="connsiteY4" fmla="*/ 1104243 h 1110445"/>
                <a:gd name="connsiteX5" fmla="*/ 1084791 w 1103904"/>
                <a:gd name="connsiteY5" fmla="*/ 557406 h 1110445"/>
                <a:gd name="connsiteX6" fmla="*/ 1068945 w 1103904"/>
                <a:gd name="connsiteY6" fmla="*/ 436133 h 1110445"/>
                <a:gd name="connsiteX7" fmla="*/ 484799 w 1103904"/>
                <a:gd name="connsiteY7" fmla="*/ 15808 h 1110445"/>
                <a:gd name="connsiteX8" fmla="*/ 373923 w 1103904"/>
                <a:gd name="connsiteY8" fmla="*/ 27378 h 111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904" h="1110445">
                  <a:moveTo>
                    <a:pt x="373923" y="27378"/>
                  </a:moveTo>
                  <a:cubicBezTo>
                    <a:pt x="283000" y="127775"/>
                    <a:pt x="172291" y="209601"/>
                    <a:pt x="48336" y="266905"/>
                  </a:cubicBezTo>
                  <a:cubicBezTo>
                    <a:pt x="9812" y="284721"/>
                    <a:pt x="-9052" y="328778"/>
                    <a:pt x="4237" y="369104"/>
                  </a:cubicBezTo>
                  <a:lnTo>
                    <a:pt x="229804" y="1052766"/>
                  </a:lnTo>
                  <a:cubicBezTo>
                    <a:pt x="244979" y="1098794"/>
                    <a:pt x="295995" y="1122562"/>
                    <a:pt x="340849" y="1104243"/>
                  </a:cubicBezTo>
                  <a:cubicBezTo>
                    <a:pt x="631308" y="985570"/>
                    <a:pt x="886680" y="796514"/>
                    <a:pt x="1084791" y="557406"/>
                  </a:cubicBezTo>
                  <a:cubicBezTo>
                    <a:pt x="1115685" y="520140"/>
                    <a:pt x="1108224" y="464429"/>
                    <a:pt x="1068945" y="436133"/>
                  </a:cubicBezTo>
                  <a:lnTo>
                    <a:pt x="484799" y="15808"/>
                  </a:lnTo>
                  <a:cubicBezTo>
                    <a:pt x="450258" y="-9050"/>
                    <a:pt x="402470" y="-4145"/>
                    <a:pt x="373923" y="27378"/>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字魂手刻宋" panose="00000500000000000000" charset="-122"/>
                <a:ea typeface="字魂手刻宋" panose="00000500000000000000" charset="-122"/>
              </a:endParaRPr>
            </a:p>
          </p:txBody>
        </p:sp>
        <p:sp>
          <p:nvSpPr>
            <p:cNvPr id="11" name="任意多边形: 形状 5"/>
            <p:cNvSpPr/>
            <p:nvPr>
              <p:custDataLst>
                <p:tags r:id="rId8"/>
              </p:custDataLst>
            </p:nvPr>
          </p:nvSpPr>
          <p:spPr>
            <a:xfrm>
              <a:off x="8422" y="5951"/>
              <a:ext cx="2116" cy="1829"/>
            </a:xfrm>
            <a:custGeom>
              <a:avLst/>
              <a:gdLst>
                <a:gd name="connsiteX0" fmla="*/ 820152 w 1049963"/>
                <a:gd name="connsiteY0" fmla="*/ 57539 h 907389"/>
                <a:gd name="connsiteX1" fmla="*/ 723319 w 1049963"/>
                <a:gd name="connsiteY1" fmla="*/ 1786 h 907389"/>
                <a:gd name="connsiteX2" fmla="*/ 468617 w 1049963"/>
                <a:gd name="connsiteY2" fmla="*/ 21740 h 907389"/>
                <a:gd name="connsiteX3" fmla="*/ 319803 w 1049963"/>
                <a:gd name="connsiteY3" fmla="*/ 3547 h 907389"/>
                <a:gd name="connsiteX4" fmla="*/ 223389 w 1049963"/>
                <a:gd name="connsiteY4" fmla="*/ 60180 h 907389"/>
                <a:gd name="connsiteX5" fmla="*/ 4025 w 1049963"/>
                <a:gd name="connsiteY5" fmla="*/ 745770 h 907389"/>
                <a:gd name="connsiteX6" fmla="*/ 63425 w 1049963"/>
                <a:gd name="connsiteY6" fmla="*/ 852623 h 907389"/>
                <a:gd name="connsiteX7" fmla="*/ 426320 w 1049963"/>
                <a:gd name="connsiteY7" fmla="*/ 905190 h 907389"/>
                <a:gd name="connsiteX8" fmla="*/ 987285 w 1049963"/>
                <a:gd name="connsiteY8" fmla="*/ 848473 h 907389"/>
                <a:gd name="connsiteX9" fmla="*/ 1045720 w 1049963"/>
                <a:gd name="connsiteY9" fmla="*/ 741075 h 907389"/>
                <a:gd name="connsiteX10" fmla="*/ 820152 w 1049963"/>
                <a:gd name="connsiteY10" fmla="*/ 57539 h 90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9963" h="907389">
                  <a:moveTo>
                    <a:pt x="820152" y="57539"/>
                  </a:moveTo>
                  <a:cubicBezTo>
                    <a:pt x="806780" y="17003"/>
                    <a:pt x="765112" y="-6933"/>
                    <a:pt x="723319" y="1786"/>
                  </a:cubicBezTo>
                  <a:cubicBezTo>
                    <a:pt x="641408" y="18848"/>
                    <a:pt x="556061" y="25932"/>
                    <a:pt x="468617" y="21740"/>
                  </a:cubicBezTo>
                  <a:cubicBezTo>
                    <a:pt x="417853" y="19309"/>
                    <a:pt x="368178" y="13147"/>
                    <a:pt x="319803" y="3547"/>
                  </a:cubicBezTo>
                  <a:cubicBezTo>
                    <a:pt x="277884" y="-4753"/>
                    <a:pt x="236384" y="19476"/>
                    <a:pt x="223389" y="60180"/>
                  </a:cubicBezTo>
                  <a:lnTo>
                    <a:pt x="4025" y="745770"/>
                  </a:lnTo>
                  <a:cubicBezTo>
                    <a:pt x="-10730" y="791840"/>
                    <a:pt x="16433" y="841095"/>
                    <a:pt x="63425" y="852623"/>
                  </a:cubicBezTo>
                  <a:cubicBezTo>
                    <a:pt x="180296" y="881295"/>
                    <a:pt x="301610" y="899195"/>
                    <a:pt x="426320" y="905190"/>
                  </a:cubicBezTo>
                  <a:cubicBezTo>
                    <a:pt x="620155" y="914454"/>
                    <a:pt x="808583" y="894249"/>
                    <a:pt x="987285" y="848473"/>
                  </a:cubicBezTo>
                  <a:cubicBezTo>
                    <a:pt x="1034150" y="836484"/>
                    <a:pt x="1060853" y="787019"/>
                    <a:pt x="1045720" y="741075"/>
                  </a:cubicBezTo>
                  <a:lnTo>
                    <a:pt x="820152" y="57539"/>
                  </a:ln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字魂手刻宋" panose="00000500000000000000" charset="-122"/>
                <a:ea typeface="字魂手刻宋" panose="00000500000000000000" charset="-122"/>
              </a:endParaRPr>
            </a:p>
          </p:txBody>
        </p:sp>
        <p:sp>
          <p:nvSpPr>
            <p:cNvPr id="12" name="任意多边形: 形状 6"/>
            <p:cNvSpPr/>
            <p:nvPr>
              <p:custDataLst>
                <p:tags r:id="rId9"/>
              </p:custDataLst>
            </p:nvPr>
          </p:nvSpPr>
          <p:spPr>
            <a:xfrm>
              <a:off x="6505" y="5288"/>
              <a:ext cx="2222" cy="2236"/>
            </a:xfrm>
            <a:custGeom>
              <a:avLst/>
              <a:gdLst>
                <a:gd name="connsiteX0" fmla="*/ 1053391 w 1102427"/>
                <a:gd name="connsiteY0" fmla="*/ 263504 h 1109291"/>
                <a:gd name="connsiteX1" fmla="*/ 725624 w 1102427"/>
                <a:gd name="connsiteY1" fmla="*/ 26870 h 1109291"/>
                <a:gd name="connsiteX2" fmla="*/ 614580 w 1102427"/>
                <a:gd name="connsiteY2" fmla="*/ 16264 h 1109291"/>
                <a:gd name="connsiteX3" fmla="*/ 34333 w 1102427"/>
                <a:gd name="connsiteY3" fmla="*/ 441829 h 1109291"/>
                <a:gd name="connsiteX4" fmla="*/ 19577 w 1102427"/>
                <a:gd name="connsiteY4" fmla="*/ 563186 h 1109291"/>
                <a:gd name="connsiteX5" fmla="*/ 768592 w 1102427"/>
                <a:gd name="connsiteY5" fmla="*/ 1103400 h 1109291"/>
                <a:gd name="connsiteX6" fmla="*/ 879091 w 1102427"/>
                <a:gd name="connsiteY6" fmla="*/ 1050875 h 1109291"/>
                <a:gd name="connsiteX7" fmla="*/ 1098413 w 1102427"/>
                <a:gd name="connsiteY7" fmla="*/ 365285 h 1109291"/>
                <a:gd name="connsiteX8" fmla="*/ 1053391 w 1102427"/>
                <a:gd name="connsiteY8" fmla="*/ 263504 h 110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427" h="1109291">
                  <a:moveTo>
                    <a:pt x="1053391" y="263504"/>
                  </a:moveTo>
                  <a:cubicBezTo>
                    <a:pt x="928262" y="207123"/>
                    <a:pt x="817050" y="126093"/>
                    <a:pt x="725624" y="26870"/>
                  </a:cubicBezTo>
                  <a:cubicBezTo>
                    <a:pt x="696784" y="-4444"/>
                    <a:pt x="648912" y="-8929"/>
                    <a:pt x="614580" y="16264"/>
                  </a:cubicBezTo>
                  <a:lnTo>
                    <a:pt x="34333" y="441829"/>
                  </a:lnTo>
                  <a:cubicBezTo>
                    <a:pt x="-4694" y="470460"/>
                    <a:pt x="-11611" y="526213"/>
                    <a:pt x="19577" y="563186"/>
                  </a:cubicBezTo>
                  <a:cubicBezTo>
                    <a:pt x="218778" y="799443"/>
                    <a:pt x="475114" y="986864"/>
                    <a:pt x="768592" y="1103400"/>
                  </a:cubicBezTo>
                  <a:cubicBezTo>
                    <a:pt x="813613" y="1121258"/>
                    <a:pt x="864335" y="1097028"/>
                    <a:pt x="879091" y="1050875"/>
                  </a:cubicBezTo>
                  <a:lnTo>
                    <a:pt x="1098413" y="365285"/>
                  </a:lnTo>
                  <a:cubicBezTo>
                    <a:pt x="1111366" y="324874"/>
                    <a:pt x="1092083" y="280943"/>
                    <a:pt x="1053391" y="263504"/>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latin typeface="字魂手刻宋" panose="00000500000000000000" charset="-122"/>
                <a:ea typeface="字魂手刻宋" panose="00000500000000000000" charset="-122"/>
              </a:endParaRPr>
            </a:p>
          </p:txBody>
        </p:sp>
        <p:sp>
          <p:nvSpPr>
            <p:cNvPr id="15" name="任意多边形: 形状 7"/>
            <p:cNvSpPr/>
            <p:nvPr>
              <p:custDataLst>
                <p:tags r:id="rId10"/>
              </p:custDataLst>
            </p:nvPr>
          </p:nvSpPr>
          <p:spPr>
            <a:xfrm>
              <a:off x="11242" y="4050"/>
              <a:ext cx="2063" cy="2032"/>
            </a:xfrm>
            <a:custGeom>
              <a:avLst/>
              <a:gdLst>
                <a:gd name="connsiteX0" fmla="*/ 11019 w 1023412"/>
                <a:gd name="connsiteY0" fmla="*/ 457215 h 1008195"/>
                <a:gd name="connsiteX1" fmla="*/ 136777 w 1023412"/>
                <a:gd name="connsiteY1" fmla="*/ 73779 h 1008195"/>
                <a:gd name="connsiteX2" fmla="*/ 220364 w 1023412"/>
                <a:gd name="connsiteY2" fmla="*/ 1 h 1008195"/>
                <a:gd name="connsiteX3" fmla="*/ 939909 w 1023412"/>
                <a:gd name="connsiteY3" fmla="*/ 3271 h 1008195"/>
                <a:gd name="connsiteX4" fmla="*/ 1023203 w 1023412"/>
                <a:gd name="connsiteY4" fmla="*/ 92769 h 1008195"/>
                <a:gd name="connsiteX5" fmla="*/ 734756 w 1023412"/>
                <a:gd name="connsiteY5" fmla="*/ 969553 h 1008195"/>
                <a:gd name="connsiteX6" fmla="*/ 614573 w 1023412"/>
                <a:gd name="connsiteY6" fmla="*/ 991896 h 1008195"/>
                <a:gd name="connsiteX7" fmla="*/ 34284 w 1023412"/>
                <a:gd name="connsiteY7" fmla="*/ 566247 h 1008195"/>
                <a:gd name="connsiteX8" fmla="*/ 11019 w 1023412"/>
                <a:gd name="connsiteY8" fmla="*/ 457215 h 10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3412" h="1008195">
                  <a:moveTo>
                    <a:pt x="11019" y="457215"/>
                  </a:moveTo>
                  <a:cubicBezTo>
                    <a:pt x="77168" y="341434"/>
                    <a:pt x="120932" y="211568"/>
                    <a:pt x="136777" y="73779"/>
                  </a:cubicBezTo>
                  <a:cubicBezTo>
                    <a:pt x="141640" y="31482"/>
                    <a:pt x="177816" y="-209"/>
                    <a:pt x="220364" y="1"/>
                  </a:cubicBezTo>
                  <a:lnTo>
                    <a:pt x="939909" y="3271"/>
                  </a:lnTo>
                  <a:cubicBezTo>
                    <a:pt x="988284" y="3480"/>
                    <a:pt x="1026599" y="44519"/>
                    <a:pt x="1023203" y="92769"/>
                  </a:cubicBezTo>
                  <a:cubicBezTo>
                    <a:pt x="1000651" y="412445"/>
                    <a:pt x="898158" y="711749"/>
                    <a:pt x="734756" y="969553"/>
                  </a:cubicBezTo>
                  <a:cubicBezTo>
                    <a:pt x="708850" y="1010424"/>
                    <a:pt x="653600" y="1020527"/>
                    <a:pt x="614573" y="991896"/>
                  </a:cubicBezTo>
                  <a:lnTo>
                    <a:pt x="34284" y="566247"/>
                  </a:lnTo>
                  <a:cubicBezTo>
                    <a:pt x="-48" y="541054"/>
                    <a:pt x="-10108" y="494146"/>
                    <a:pt x="11019" y="457215"/>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字魂手刻宋" panose="00000500000000000000" charset="-122"/>
                <a:ea typeface="字魂手刻宋" panose="00000500000000000000" charset="-122"/>
              </a:endParaRPr>
            </a:p>
          </p:txBody>
        </p:sp>
        <p:sp>
          <p:nvSpPr>
            <p:cNvPr id="16" name="图形 27" descr="343439383331313b343532303032373bbfcdbba7b5b5b0b8"/>
            <p:cNvSpPr/>
            <p:nvPr>
              <p:custDataLst>
                <p:tags r:id="rId11"/>
              </p:custDataLst>
            </p:nvPr>
          </p:nvSpPr>
          <p:spPr>
            <a:xfrm>
              <a:off x="6436" y="4600"/>
              <a:ext cx="500" cy="465"/>
            </a:xfrm>
            <a:custGeom>
              <a:avLst/>
              <a:gdLst>
                <a:gd name="connsiteX0" fmla="*/ 800683 w 914400"/>
                <a:gd name="connsiteY0" fmla="*/ 238215 h 850000"/>
                <a:gd name="connsiteX1" fmla="*/ 800683 w 914400"/>
                <a:gd name="connsiteY1" fmla="*/ 178333 h 850000"/>
                <a:gd name="connsiteX2" fmla="*/ 784881 w 914400"/>
                <a:gd name="connsiteY2" fmla="*/ 135923 h 850000"/>
                <a:gd name="connsiteX3" fmla="*/ 743797 w 914400"/>
                <a:gd name="connsiteY3" fmla="*/ 117179 h 850000"/>
                <a:gd name="connsiteX4" fmla="*/ 400738 w 914400"/>
                <a:gd name="connsiteY4" fmla="*/ 117179 h 850000"/>
                <a:gd name="connsiteX5" fmla="*/ 400738 w 914400"/>
                <a:gd name="connsiteY5" fmla="*/ 61268 h 850000"/>
                <a:gd name="connsiteX6" fmla="*/ 384936 w 914400"/>
                <a:gd name="connsiteY6" fmla="*/ 18858 h 850000"/>
                <a:gd name="connsiteX7" fmla="*/ 343852 w 914400"/>
                <a:gd name="connsiteY7" fmla="*/ 115 h 850000"/>
                <a:gd name="connsiteX8" fmla="*/ 57049 w 914400"/>
                <a:gd name="connsiteY8" fmla="*/ 115 h 850000"/>
                <a:gd name="connsiteX9" fmla="*/ 15964 w 914400"/>
                <a:gd name="connsiteY9" fmla="*/ 18858 h 850000"/>
                <a:gd name="connsiteX10" fmla="*/ 162 w 914400"/>
                <a:gd name="connsiteY10" fmla="*/ 61268 h 850000"/>
                <a:gd name="connsiteX11" fmla="*/ 162 w 914400"/>
                <a:gd name="connsiteY11" fmla="*/ 799710 h 850000"/>
                <a:gd name="connsiteX12" fmla="*/ 2691 w 914400"/>
                <a:gd name="connsiteY12" fmla="*/ 787480 h 850000"/>
                <a:gd name="connsiteX13" fmla="*/ 9485 w 914400"/>
                <a:gd name="connsiteY13" fmla="*/ 753965 h 850000"/>
                <a:gd name="connsiteX14" fmla="*/ 19599 w 914400"/>
                <a:gd name="connsiteY14" fmla="*/ 704089 h 850000"/>
                <a:gd name="connsiteX15" fmla="*/ 32082 w 914400"/>
                <a:gd name="connsiteY15" fmla="*/ 642777 h 850000"/>
                <a:gd name="connsiteX16" fmla="*/ 45829 w 914400"/>
                <a:gd name="connsiteY16" fmla="*/ 574796 h 850000"/>
                <a:gd name="connsiteX17" fmla="*/ 60051 w 914400"/>
                <a:gd name="connsiteY17" fmla="*/ 505065 h 850000"/>
                <a:gd name="connsiteX18" fmla="*/ 73641 w 914400"/>
                <a:gd name="connsiteY18" fmla="*/ 438353 h 850000"/>
                <a:gd name="connsiteX19" fmla="*/ 86598 w 914400"/>
                <a:gd name="connsiteY19" fmla="*/ 374817 h 850000"/>
                <a:gd name="connsiteX20" fmla="*/ 97818 w 914400"/>
                <a:gd name="connsiteY20" fmla="*/ 314140 h 850000"/>
                <a:gd name="connsiteX21" fmla="*/ 114725 w 914400"/>
                <a:gd name="connsiteY21" fmla="*/ 262994 h 850000"/>
                <a:gd name="connsiteX22" fmla="*/ 160393 w 914400"/>
                <a:gd name="connsiteY22" fmla="*/ 238533 h 850000"/>
                <a:gd name="connsiteX23" fmla="*/ 216489 w 914400"/>
                <a:gd name="connsiteY23" fmla="*/ 237897 h 850000"/>
                <a:gd name="connsiteX24" fmla="*/ 345907 w 914400"/>
                <a:gd name="connsiteY24" fmla="*/ 238215 h 850000"/>
                <a:gd name="connsiteX25" fmla="*/ 800522 w 914400"/>
                <a:gd name="connsiteY25" fmla="*/ 238215 h 850000"/>
                <a:gd name="connsiteX26" fmla="*/ 800683 w 914400"/>
                <a:gd name="connsiteY26" fmla="*/ 238215 h 850000"/>
                <a:gd name="connsiteX27" fmla="*/ 758016 w 914400"/>
                <a:gd name="connsiteY27" fmla="*/ 849903 h 850000"/>
                <a:gd name="connsiteX28" fmla="*/ 735894 w 914400"/>
                <a:gd name="connsiteY28" fmla="*/ 849903 h 850000"/>
                <a:gd name="connsiteX29" fmla="*/ 703501 w 914400"/>
                <a:gd name="connsiteY29" fmla="*/ 849746 h 850000"/>
                <a:gd name="connsiteX30" fmla="*/ 676163 w 914400"/>
                <a:gd name="connsiteY30" fmla="*/ 849903 h 850000"/>
                <a:gd name="connsiteX31" fmla="*/ 46145 w 914400"/>
                <a:gd name="connsiteY31" fmla="*/ 849903 h 850000"/>
                <a:gd name="connsiteX32" fmla="*/ 48358 w 914400"/>
                <a:gd name="connsiteY32" fmla="*/ 838628 h 850000"/>
                <a:gd name="connsiteX33" fmla="*/ 54362 w 914400"/>
                <a:gd name="connsiteY33" fmla="*/ 807652 h 850000"/>
                <a:gd name="connsiteX34" fmla="*/ 63211 w 914400"/>
                <a:gd name="connsiteY34" fmla="*/ 761272 h 850000"/>
                <a:gd name="connsiteX35" fmla="*/ 74273 w 914400"/>
                <a:gd name="connsiteY35" fmla="*/ 703772 h 850000"/>
                <a:gd name="connsiteX36" fmla="*/ 86598 w 914400"/>
                <a:gd name="connsiteY36" fmla="*/ 639284 h 850000"/>
                <a:gd name="connsiteX37" fmla="*/ 99556 w 914400"/>
                <a:gd name="connsiteY37" fmla="*/ 572255 h 850000"/>
                <a:gd name="connsiteX38" fmla="*/ 112197 w 914400"/>
                <a:gd name="connsiteY38" fmla="*/ 506812 h 850000"/>
                <a:gd name="connsiteX39" fmla="*/ 136058 w 914400"/>
                <a:gd name="connsiteY39" fmla="*/ 378788 h 850000"/>
                <a:gd name="connsiteX40" fmla="*/ 158180 w 914400"/>
                <a:gd name="connsiteY40" fmla="*/ 304610 h 850000"/>
                <a:gd name="connsiteX41" fmla="*/ 238612 w 914400"/>
                <a:gd name="connsiteY41" fmla="*/ 283802 h 850000"/>
                <a:gd name="connsiteX42" fmla="*/ 349384 w 914400"/>
                <a:gd name="connsiteY42" fmla="*/ 283961 h 850000"/>
                <a:gd name="connsiteX43" fmla="*/ 793254 w 914400"/>
                <a:gd name="connsiteY43" fmla="*/ 283961 h 850000"/>
                <a:gd name="connsiteX44" fmla="*/ 854883 w 914400"/>
                <a:gd name="connsiteY44" fmla="*/ 284278 h 850000"/>
                <a:gd name="connsiteX45" fmla="*/ 902447 w 914400"/>
                <a:gd name="connsiteY45" fmla="*/ 305881 h 850000"/>
                <a:gd name="connsiteX46" fmla="*/ 913980 w 914400"/>
                <a:gd name="connsiteY46" fmla="*/ 350991 h 850000"/>
                <a:gd name="connsiteX47" fmla="*/ 900075 w 914400"/>
                <a:gd name="connsiteY47" fmla="*/ 412460 h 850000"/>
                <a:gd name="connsiteX48" fmla="*/ 885379 w 914400"/>
                <a:gd name="connsiteY48" fmla="*/ 476634 h 850000"/>
                <a:gd name="connsiteX49" fmla="*/ 865468 w 914400"/>
                <a:gd name="connsiteY49" fmla="*/ 563835 h 850000"/>
                <a:gd name="connsiteX50" fmla="*/ 847929 w 914400"/>
                <a:gd name="connsiteY50" fmla="*/ 640236 h 850000"/>
                <a:gd name="connsiteX51" fmla="*/ 819959 w 914400"/>
                <a:gd name="connsiteY51" fmla="*/ 766990 h 850000"/>
                <a:gd name="connsiteX52" fmla="*/ 804000 w 914400"/>
                <a:gd name="connsiteY52" fmla="*/ 818613 h 850000"/>
                <a:gd name="connsiteX53" fmla="*/ 768130 w 914400"/>
                <a:gd name="connsiteY53" fmla="*/ 848634 h 850000"/>
                <a:gd name="connsiteX54" fmla="*/ 758016 w 914400"/>
                <a:gd name="connsiteY54" fmla="*/ 849903 h 8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14400" h="850000">
                  <a:moveTo>
                    <a:pt x="800683" y="238215"/>
                  </a:moveTo>
                  <a:lnTo>
                    <a:pt x="800683" y="178333"/>
                  </a:lnTo>
                  <a:cubicBezTo>
                    <a:pt x="801157" y="162607"/>
                    <a:pt x="795469" y="147359"/>
                    <a:pt x="784881" y="135923"/>
                  </a:cubicBezTo>
                  <a:cubicBezTo>
                    <a:pt x="774135" y="124486"/>
                    <a:pt x="759439" y="117656"/>
                    <a:pt x="743797" y="117179"/>
                  </a:cubicBezTo>
                  <a:lnTo>
                    <a:pt x="400738" y="117179"/>
                  </a:lnTo>
                  <a:lnTo>
                    <a:pt x="400738" y="61268"/>
                  </a:lnTo>
                  <a:cubicBezTo>
                    <a:pt x="401213" y="45543"/>
                    <a:pt x="395524" y="30294"/>
                    <a:pt x="384936" y="18858"/>
                  </a:cubicBezTo>
                  <a:cubicBezTo>
                    <a:pt x="374191" y="7422"/>
                    <a:pt x="359494" y="592"/>
                    <a:pt x="343852" y="115"/>
                  </a:cubicBezTo>
                  <a:lnTo>
                    <a:pt x="57049" y="115"/>
                  </a:lnTo>
                  <a:cubicBezTo>
                    <a:pt x="41405" y="592"/>
                    <a:pt x="26709" y="7422"/>
                    <a:pt x="15964" y="18858"/>
                  </a:cubicBezTo>
                  <a:cubicBezTo>
                    <a:pt x="5223" y="30274"/>
                    <a:pt x="-475" y="45568"/>
                    <a:pt x="162" y="61268"/>
                  </a:cubicBezTo>
                  <a:lnTo>
                    <a:pt x="162" y="799710"/>
                  </a:lnTo>
                  <a:cubicBezTo>
                    <a:pt x="952" y="795582"/>
                    <a:pt x="1901" y="791611"/>
                    <a:pt x="2691" y="787480"/>
                  </a:cubicBezTo>
                  <a:cubicBezTo>
                    <a:pt x="4903" y="776361"/>
                    <a:pt x="7273" y="765083"/>
                    <a:pt x="9485" y="753965"/>
                  </a:cubicBezTo>
                  <a:cubicBezTo>
                    <a:pt x="12804" y="737286"/>
                    <a:pt x="16280" y="720768"/>
                    <a:pt x="19599" y="704089"/>
                  </a:cubicBezTo>
                  <a:cubicBezTo>
                    <a:pt x="23707" y="683599"/>
                    <a:pt x="27973" y="663110"/>
                    <a:pt x="32082" y="642777"/>
                  </a:cubicBezTo>
                  <a:cubicBezTo>
                    <a:pt x="36664" y="620064"/>
                    <a:pt x="41247" y="597510"/>
                    <a:pt x="45829" y="574796"/>
                  </a:cubicBezTo>
                  <a:cubicBezTo>
                    <a:pt x="50570" y="551605"/>
                    <a:pt x="55311" y="528256"/>
                    <a:pt x="60051" y="505065"/>
                  </a:cubicBezTo>
                  <a:cubicBezTo>
                    <a:pt x="64634" y="482826"/>
                    <a:pt x="69058" y="460589"/>
                    <a:pt x="73641" y="438353"/>
                  </a:cubicBezTo>
                  <a:cubicBezTo>
                    <a:pt x="77907" y="417226"/>
                    <a:pt x="82332" y="395941"/>
                    <a:pt x="86598" y="374817"/>
                  </a:cubicBezTo>
                  <a:cubicBezTo>
                    <a:pt x="90548" y="354645"/>
                    <a:pt x="94183" y="334473"/>
                    <a:pt x="97818" y="314140"/>
                  </a:cubicBezTo>
                  <a:cubicBezTo>
                    <a:pt x="100978" y="296668"/>
                    <a:pt x="104454" y="277925"/>
                    <a:pt x="114725" y="262994"/>
                  </a:cubicBezTo>
                  <a:cubicBezTo>
                    <a:pt x="124997" y="247904"/>
                    <a:pt x="142695" y="240439"/>
                    <a:pt x="160393" y="238533"/>
                  </a:cubicBezTo>
                  <a:cubicBezTo>
                    <a:pt x="179039" y="236468"/>
                    <a:pt x="197843" y="237580"/>
                    <a:pt x="216489" y="237897"/>
                  </a:cubicBezTo>
                  <a:cubicBezTo>
                    <a:pt x="259628" y="238533"/>
                    <a:pt x="302767" y="238215"/>
                    <a:pt x="345907" y="238215"/>
                  </a:cubicBezTo>
                  <a:lnTo>
                    <a:pt x="800522" y="238215"/>
                  </a:lnTo>
                  <a:lnTo>
                    <a:pt x="800683" y="238215"/>
                  </a:lnTo>
                  <a:moveTo>
                    <a:pt x="758016" y="849903"/>
                  </a:moveTo>
                  <a:cubicBezTo>
                    <a:pt x="750591" y="850381"/>
                    <a:pt x="742848" y="849903"/>
                    <a:pt x="735894" y="849903"/>
                  </a:cubicBezTo>
                  <a:cubicBezTo>
                    <a:pt x="725149" y="849903"/>
                    <a:pt x="714247" y="849586"/>
                    <a:pt x="703501" y="849746"/>
                  </a:cubicBezTo>
                  <a:cubicBezTo>
                    <a:pt x="694336" y="849746"/>
                    <a:pt x="685328" y="849903"/>
                    <a:pt x="676163" y="849903"/>
                  </a:cubicBezTo>
                  <a:lnTo>
                    <a:pt x="46145" y="849903"/>
                  </a:lnTo>
                  <a:cubicBezTo>
                    <a:pt x="46936" y="846092"/>
                    <a:pt x="47568" y="842439"/>
                    <a:pt x="48358" y="838628"/>
                  </a:cubicBezTo>
                  <a:cubicBezTo>
                    <a:pt x="50412" y="828302"/>
                    <a:pt x="52308" y="817978"/>
                    <a:pt x="54362" y="807652"/>
                  </a:cubicBezTo>
                  <a:cubicBezTo>
                    <a:pt x="57365" y="792245"/>
                    <a:pt x="60367" y="776679"/>
                    <a:pt x="63211" y="761272"/>
                  </a:cubicBezTo>
                  <a:cubicBezTo>
                    <a:pt x="66846" y="742052"/>
                    <a:pt x="70638" y="722992"/>
                    <a:pt x="74273" y="703772"/>
                  </a:cubicBezTo>
                  <a:cubicBezTo>
                    <a:pt x="78381" y="682330"/>
                    <a:pt x="82490" y="660886"/>
                    <a:pt x="86598" y="639284"/>
                  </a:cubicBezTo>
                  <a:cubicBezTo>
                    <a:pt x="90865" y="616887"/>
                    <a:pt x="95131" y="594491"/>
                    <a:pt x="99556" y="572255"/>
                  </a:cubicBezTo>
                  <a:cubicBezTo>
                    <a:pt x="103822" y="550493"/>
                    <a:pt x="107931" y="528574"/>
                    <a:pt x="112197" y="506812"/>
                  </a:cubicBezTo>
                  <a:cubicBezTo>
                    <a:pt x="120414" y="464243"/>
                    <a:pt x="128315" y="421514"/>
                    <a:pt x="136058" y="378788"/>
                  </a:cubicBezTo>
                  <a:cubicBezTo>
                    <a:pt x="140641" y="354007"/>
                    <a:pt x="141430" y="324941"/>
                    <a:pt x="158180" y="304610"/>
                  </a:cubicBezTo>
                  <a:cubicBezTo>
                    <a:pt x="177301" y="281260"/>
                    <a:pt x="211274" y="282531"/>
                    <a:pt x="238612" y="283802"/>
                  </a:cubicBezTo>
                  <a:cubicBezTo>
                    <a:pt x="275430" y="285390"/>
                    <a:pt x="312564" y="283961"/>
                    <a:pt x="349384" y="283961"/>
                  </a:cubicBezTo>
                  <a:lnTo>
                    <a:pt x="793254" y="283961"/>
                  </a:lnTo>
                  <a:cubicBezTo>
                    <a:pt x="813639" y="283961"/>
                    <a:pt x="834498" y="282690"/>
                    <a:pt x="854883" y="284278"/>
                  </a:cubicBezTo>
                  <a:cubicBezTo>
                    <a:pt x="872422" y="285708"/>
                    <a:pt x="890753" y="292062"/>
                    <a:pt x="902447" y="305881"/>
                  </a:cubicBezTo>
                  <a:cubicBezTo>
                    <a:pt x="912875" y="318429"/>
                    <a:pt x="915877" y="335108"/>
                    <a:pt x="913980" y="350991"/>
                  </a:cubicBezTo>
                  <a:cubicBezTo>
                    <a:pt x="911452" y="371641"/>
                    <a:pt x="904815" y="392288"/>
                    <a:pt x="900075" y="412460"/>
                  </a:cubicBezTo>
                  <a:cubicBezTo>
                    <a:pt x="895018" y="433744"/>
                    <a:pt x="890122" y="455189"/>
                    <a:pt x="885379" y="476634"/>
                  </a:cubicBezTo>
                  <a:cubicBezTo>
                    <a:pt x="878902" y="505700"/>
                    <a:pt x="872105" y="534769"/>
                    <a:pt x="865468" y="563835"/>
                  </a:cubicBezTo>
                  <a:cubicBezTo>
                    <a:pt x="859623" y="589251"/>
                    <a:pt x="853778" y="614823"/>
                    <a:pt x="847929" y="640236"/>
                  </a:cubicBezTo>
                  <a:cubicBezTo>
                    <a:pt x="838289" y="682487"/>
                    <a:pt x="829124" y="724739"/>
                    <a:pt x="819959" y="766990"/>
                  </a:cubicBezTo>
                  <a:cubicBezTo>
                    <a:pt x="816168" y="784464"/>
                    <a:pt x="812059" y="802572"/>
                    <a:pt x="804000" y="818613"/>
                  </a:cubicBezTo>
                  <a:cubicBezTo>
                    <a:pt x="796888" y="832750"/>
                    <a:pt x="783615" y="844663"/>
                    <a:pt x="768130" y="848634"/>
                  </a:cubicBezTo>
                  <a:cubicBezTo>
                    <a:pt x="764653" y="849269"/>
                    <a:pt x="761336" y="849746"/>
                    <a:pt x="758016" y="849903"/>
                  </a:cubicBezTo>
                </a:path>
              </a:pathLst>
            </a:custGeom>
            <a:gradFill flip="none" rotWithShape="1">
              <a:gsLst>
                <a:gs pos="0">
                  <a:schemeClr val="accent1">
                    <a:lumMod val="60000"/>
                    <a:lumOff val="40000"/>
                  </a:schemeClr>
                </a:gs>
                <a:gs pos="70000">
                  <a:srgbClr val="0061AE"/>
                </a:gs>
              </a:gsLst>
              <a:lin ang="2700000"/>
            </a:gradFill>
            <a:ln>
              <a:noFill/>
            </a:ln>
            <a:effectLst>
              <a:outerShdw blurRad="508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字魂手刻宋" panose="00000500000000000000" charset="-122"/>
                <a:ea typeface="字魂手刻宋" panose="00000500000000000000" charset="-122"/>
              </a:endParaRPr>
            </a:p>
          </p:txBody>
        </p:sp>
        <p:sp>
          <p:nvSpPr>
            <p:cNvPr id="17" name="图形 28" descr="343439383331313b343532303033313bd3a6d3c3c9ccb3c7"/>
            <p:cNvSpPr/>
            <p:nvPr>
              <p:custDataLst>
                <p:tags r:id="rId12"/>
              </p:custDataLst>
            </p:nvPr>
          </p:nvSpPr>
          <p:spPr>
            <a:xfrm>
              <a:off x="7528" y="6047"/>
              <a:ext cx="463" cy="500"/>
            </a:xfrm>
            <a:custGeom>
              <a:avLst/>
              <a:gdLst>
                <a:gd name="connsiteX0" fmla="*/ 688654 w 847432"/>
                <a:gd name="connsiteY0" fmla="*/ 914514 h 914400"/>
                <a:gd name="connsiteX1" fmla="*/ 159008 w 847432"/>
                <a:gd name="connsiteY1" fmla="*/ 914514 h 914400"/>
                <a:gd name="connsiteX2" fmla="*/ 115 w 847432"/>
                <a:gd name="connsiteY2" fmla="*/ 762113 h 914400"/>
                <a:gd name="connsiteX3" fmla="*/ 115 w 847432"/>
                <a:gd name="connsiteY3" fmla="*/ 152514 h 914400"/>
                <a:gd name="connsiteX4" fmla="*/ 159008 w 847432"/>
                <a:gd name="connsiteY4" fmla="*/ 114 h 914400"/>
                <a:gd name="connsiteX5" fmla="*/ 688654 w 847432"/>
                <a:gd name="connsiteY5" fmla="*/ 114 h 914400"/>
                <a:gd name="connsiteX6" fmla="*/ 847547 w 847432"/>
                <a:gd name="connsiteY6" fmla="*/ 152514 h 914400"/>
                <a:gd name="connsiteX7" fmla="*/ 847547 w 847432"/>
                <a:gd name="connsiteY7" fmla="*/ 762113 h 914400"/>
                <a:gd name="connsiteX8" fmla="*/ 688654 w 847432"/>
                <a:gd name="connsiteY8" fmla="*/ 914514 h 914400"/>
                <a:gd name="connsiteX9" fmla="*/ 423830 w 847432"/>
                <a:gd name="connsiteY9" fmla="*/ 421029 h 914400"/>
                <a:gd name="connsiteX10" fmla="*/ 635687 w 847432"/>
                <a:gd name="connsiteY10" fmla="*/ 210571 h 914400"/>
                <a:gd name="connsiteX11" fmla="*/ 582724 w 847432"/>
                <a:gd name="connsiteY11" fmla="*/ 157957 h 914400"/>
                <a:gd name="connsiteX12" fmla="*/ 529760 w 847432"/>
                <a:gd name="connsiteY12" fmla="*/ 210571 h 914400"/>
                <a:gd name="connsiteX13" fmla="*/ 423830 w 847432"/>
                <a:gd name="connsiteY13" fmla="*/ 315800 h 914400"/>
                <a:gd name="connsiteX14" fmla="*/ 317902 w 847432"/>
                <a:gd name="connsiteY14" fmla="*/ 210571 h 914400"/>
                <a:gd name="connsiteX15" fmla="*/ 264937 w 847432"/>
                <a:gd name="connsiteY15" fmla="*/ 157957 h 914400"/>
                <a:gd name="connsiteX16" fmla="*/ 211973 w 847432"/>
                <a:gd name="connsiteY16" fmla="*/ 210571 h 914400"/>
                <a:gd name="connsiteX17" fmla="*/ 423830 w 847432"/>
                <a:gd name="connsiteY17" fmla="*/ 421029 h 914400"/>
                <a:gd name="connsiteX18" fmla="*/ 529760 w 847432"/>
                <a:gd name="connsiteY18" fmla="*/ 736716 h 914400"/>
                <a:gd name="connsiteX19" fmla="*/ 582724 w 847432"/>
                <a:gd name="connsiteY19" fmla="*/ 684099 h 914400"/>
                <a:gd name="connsiteX20" fmla="*/ 529760 w 847432"/>
                <a:gd name="connsiteY20" fmla="*/ 631485 h 914400"/>
                <a:gd name="connsiteX21" fmla="*/ 317902 w 847432"/>
                <a:gd name="connsiteY21" fmla="*/ 631485 h 914400"/>
                <a:gd name="connsiteX22" fmla="*/ 264937 w 847432"/>
                <a:gd name="connsiteY22" fmla="*/ 684099 h 914400"/>
                <a:gd name="connsiteX23" fmla="*/ 317902 w 847432"/>
                <a:gd name="connsiteY23" fmla="*/ 736716 h 914400"/>
                <a:gd name="connsiteX24" fmla="*/ 529760 w 847432"/>
                <a:gd name="connsiteY24" fmla="*/ 736716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47432" h="914400">
                  <a:moveTo>
                    <a:pt x="688654" y="914514"/>
                  </a:moveTo>
                  <a:lnTo>
                    <a:pt x="159008" y="914514"/>
                  </a:lnTo>
                  <a:cubicBezTo>
                    <a:pt x="68969" y="914514"/>
                    <a:pt x="115" y="848475"/>
                    <a:pt x="115" y="762113"/>
                  </a:cubicBezTo>
                  <a:lnTo>
                    <a:pt x="115" y="152514"/>
                  </a:lnTo>
                  <a:cubicBezTo>
                    <a:pt x="115" y="66154"/>
                    <a:pt x="68969" y="114"/>
                    <a:pt x="159008" y="114"/>
                  </a:cubicBezTo>
                  <a:lnTo>
                    <a:pt x="688654" y="114"/>
                  </a:lnTo>
                  <a:cubicBezTo>
                    <a:pt x="778693" y="114"/>
                    <a:pt x="847547" y="66154"/>
                    <a:pt x="847547" y="152514"/>
                  </a:cubicBezTo>
                  <a:lnTo>
                    <a:pt x="847547" y="762113"/>
                  </a:lnTo>
                  <a:cubicBezTo>
                    <a:pt x="847547" y="848475"/>
                    <a:pt x="778693" y="914514"/>
                    <a:pt x="688654" y="914514"/>
                  </a:cubicBezTo>
                  <a:moveTo>
                    <a:pt x="423830" y="421029"/>
                  </a:moveTo>
                  <a:cubicBezTo>
                    <a:pt x="540351" y="421029"/>
                    <a:pt x="635687" y="326323"/>
                    <a:pt x="635687" y="210571"/>
                  </a:cubicBezTo>
                  <a:cubicBezTo>
                    <a:pt x="635687" y="179003"/>
                    <a:pt x="614503" y="157957"/>
                    <a:pt x="582724" y="157957"/>
                  </a:cubicBezTo>
                  <a:cubicBezTo>
                    <a:pt x="550945" y="157957"/>
                    <a:pt x="529760" y="179003"/>
                    <a:pt x="529760" y="210571"/>
                  </a:cubicBezTo>
                  <a:cubicBezTo>
                    <a:pt x="529760" y="268447"/>
                    <a:pt x="482091" y="315800"/>
                    <a:pt x="423830" y="315800"/>
                  </a:cubicBezTo>
                  <a:cubicBezTo>
                    <a:pt x="365570" y="315800"/>
                    <a:pt x="317902" y="268447"/>
                    <a:pt x="317902" y="210571"/>
                  </a:cubicBezTo>
                  <a:cubicBezTo>
                    <a:pt x="317902" y="179003"/>
                    <a:pt x="296716" y="157957"/>
                    <a:pt x="264937" y="157957"/>
                  </a:cubicBezTo>
                  <a:cubicBezTo>
                    <a:pt x="233158" y="157957"/>
                    <a:pt x="211973" y="179003"/>
                    <a:pt x="211973" y="210571"/>
                  </a:cubicBezTo>
                  <a:cubicBezTo>
                    <a:pt x="211973" y="326323"/>
                    <a:pt x="307309" y="421029"/>
                    <a:pt x="423830" y="421029"/>
                  </a:cubicBezTo>
                  <a:moveTo>
                    <a:pt x="529760" y="736716"/>
                  </a:moveTo>
                  <a:cubicBezTo>
                    <a:pt x="561539" y="736716"/>
                    <a:pt x="582724" y="715668"/>
                    <a:pt x="582724" y="684099"/>
                  </a:cubicBezTo>
                  <a:cubicBezTo>
                    <a:pt x="582724" y="652532"/>
                    <a:pt x="561539" y="631485"/>
                    <a:pt x="529760" y="631485"/>
                  </a:cubicBezTo>
                  <a:lnTo>
                    <a:pt x="317902" y="631485"/>
                  </a:lnTo>
                  <a:cubicBezTo>
                    <a:pt x="286123" y="631485"/>
                    <a:pt x="264937" y="652532"/>
                    <a:pt x="264937" y="684099"/>
                  </a:cubicBezTo>
                  <a:cubicBezTo>
                    <a:pt x="264937" y="715668"/>
                    <a:pt x="286123" y="736716"/>
                    <a:pt x="317902" y="736716"/>
                  </a:cubicBezTo>
                  <a:lnTo>
                    <a:pt x="529760" y="736716"/>
                  </a:lnTo>
                </a:path>
              </a:pathLst>
            </a:custGeom>
            <a:gradFill flip="none" rotWithShape="1">
              <a:gsLst>
                <a:gs pos="0">
                  <a:schemeClr val="accent1">
                    <a:lumMod val="60000"/>
                    <a:lumOff val="40000"/>
                  </a:schemeClr>
                </a:gs>
                <a:gs pos="70000">
                  <a:srgbClr val="0061AE"/>
                </a:gs>
              </a:gsLst>
              <a:lin ang="2700000"/>
            </a:gradFill>
            <a:ln>
              <a:noFill/>
            </a:ln>
            <a:effectLst>
              <a:outerShdw blurRad="508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字魂手刻宋" panose="00000500000000000000" charset="-122"/>
                <a:ea typeface="字魂手刻宋" panose="00000500000000000000" charset="-122"/>
              </a:endParaRPr>
            </a:p>
          </p:txBody>
        </p:sp>
        <p:sp>
          <p:nvSpPr>
            <p:cNvPr id="21" name="任意多边形: 形状 12"/>
            <p:cNvSpPr/>
            <p:nvPr>
              <p:custDataLst>
                <p:tags r:id="rId13"/>
              </p:custDataLst>
            </p:nvPr>
          </p:nvSpPr>
          <p:spPr>
            <a:xfrm>
              <a:off x="9231" y="6630"/>
              <a:ext cx="499" cy="499"/>
            </a:xfrm>
            <a:custGeom>
              <a:avLst/>
              <a:gdLst>
                <a:gd name="connsiteX0" fmla="*/ 243454 w 486638"/>
                <a:gd name="connsiteY0" fmla="*/ 152320 h 482968"/>
                <a:gd name="connsiteX1" fmla="*/ 153583 w 486638"/>
                <a:gd name="connsiteY1" fmla="*/ 241513 h 482968"/>
                <a:gd name="connsiteX2" fmla="*/ 243454 w 486638"/>
                <a:gd name="connsiteY2" fmla="*/ 330708 h 482968"/>
                <a:gd name="connsiteX3" fmla="*/ 333327 w 486638"/>
                <a:gd name="connsiteY3" fmla="*/ 241513 h 482968"/>
                <a:gd name="connsiteX4" fmla="*/ 243454 w 486638"/>
                <a:gd name="connsiteY4" fmla="*/ 152320 h 482968"/>
                <a:gd name="connsiteX5" fmla="*/ 288389 w 486638"/>
                <a:gd name="connsiteY5" fmla="*/ 18529 h 482968"/>
                <a:gd name="connsiteX6" fmla="*/ 468198 w 486638"/>
                <a:gd name="connsiteY6" fmla="*/ 196916 h 482968"/>
                <a:gd name="connsiteX7" fmla="*/ 468198 w 486638"/>
                <a:gd name="connsiteY7" fmla="*/ 286110 h 482968"/>
                <a:gd name="connsiteX8" fmla="*/ 288389 w 486638"/>
                <a:gd name="connsiteY8" fmla="*/ 464559 h 482968"/>
                <a:gd name="connsiteX9" fmla="*/ 198519 w 486638"/>
                <a:gd name="connsiteY9" fmla="*/ 464559 h 482968"/>
                <a:gd name="connsiteX10" fmla="*/ 18775 w 486638"/>
                <a:gd name="connsiteY10" fmla="*/ 286110 h 482968"/>
                <a:gd name="connsiteX11" fmla="*/ 18775 w 486638"/>
                <a:gd name="connsiteY11" fmla="*/ 196916 h 482968"/>
                <a:gd name="connsiteX12" fmla="*/ 198457 w 486638"/>
                <a:gd name="connsiteY12" fmla="*/ 18529 h 482968"/>
                <a:gd name="connsiteX13" fmla="*/ 288327 w 486638"/>
                <a:gd name="connsiteY13" fmla="*/ 18529 h 482968"/>
                <a:gd name="connsiteX14" fmla="*/ 288389 w 486638"/>
                <a:gd name="connsiteY14" fmla="*/ 18529 h 48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 h="570">
                  <a:moveTo>
                    <a:pt x="418" y="95"/>
                  </a:moveTo>
                  <a:lnTo>
                    <a:pt x="362" y="151"/>
                  </a:lnTo>
                  <a:lnTo>
                    <a:pt x="418" y="207"/>
                  </a:lnTo>
                  <a:lnTo>
                    <a:pt x="474" y="151"/>
                  </a:lnTo>
                  <a:lnTo>
                    <a:pt x="418" y="95"/>
                  </a:lnTo>
                  <a:close/>
                  <a:moveTo>
                    <a:pt x="446" y="12"/>
                  </a:moveTo>
                  <a:lnTo>
                    <a:pt x="558" y="123"/>
                  </a:lnTo>
                  <a:cubicBezTo>
                    <a:pt x="574" y="138"/>
                    <a:pt x="574" y="163"/>
                    <a:pt x="558" y="179"/>
                  </a:cubicBezTo>
                  <a:lnTo>
                    <a:pt x="446" y="290"/>
                  </a:lnTo>
                  <a:cubicBezTo>
                    <a:pt x="431" y="306"/>
                    <a:pt x="405" y="306"/>
                    <a:pt x="390" y="290"/>
                  </a:cubicBezTo>
                  <a:lnTo>
                    <a:pt x="278" y="179"/>
                  </a:lnTo>
                  <a:cubicBezTo>
                    <a:pt x="262" y="163"/>
                    <a:pt x="262" y="138"/>
                    <a:pt x="278" y="123"/>
                  </a:cubicBezTo>
                  <a:lnTo>
                    <a:pt x="390" y="12"/>
                  </a:lnTo>
                  <a:cubicBezTo>
                    <a:pt x="405" y="-4"/>
                    <a:pt x="431" y="-4"/>
                    <a:pt x="446" y="12"/>
                  </a:cubicBezTo>
                  <a:lnTo>
                    <a:pt x="446" y="12"/>
                  </a:lnTo>
                  <a:close/>
                  <a:moveTo>
                    <a:pt x="40" y="35"/>
                  </a:moveTo>
                  <a:lnTo>
                    <a:pt x="209" y="35"/>
                  </a:lnTo>
                  <a:cubicBezTo>
                    <a:pt x="231" y="35"/>
                    <a:pt x="248" y="53"/>
                    <a:pt x="248" y="74"/>
                  </a:cubicBezTo>
                  <a:lnTo>
                    <a:pt x="248" y="243"/>
                  </a:lnTo>
                  <a:cubicBezTo>
                    <a:pt x="248" y="264"/>
                    <a:pt x="231" y="282"/>
                    <a:pt x="209" y="282"/>
                  </a:cubicBezTo>
                  <a:lnTo>
                    <a:pt x="40" y="282"/>
                  </a:lnTo>
                  <a:cubicBezTo>
                    <a:pt x="18" y="282"/>
                    <a:pt x="0" y="264"/>
                    <a:pt x="0" y="243"/>
                  </a:cubicBezTo>
                  <a:lnTo>
                    <a:pt x="0" y="74"/>
                  </a:lnTo>
                  <a:cubicBezTo>
                    <a:pt x="0" y="53"/>
                    <a:pt x="18" y="35"/>
                    <a:pt x="40" y="35"/>
                  </a:cubicBezTo>
                  <a:close/>
                  <a:moveTo>
                    <a:pt x="40" y="323"/>
                  </a:moveTo>
                  <a:lnTo>
                    <a:pt x="209" y="323"/>
                  </a:lnTo>
                  <a:cubicBezTo>
                    <a:pt x="231" y="323"/>
                    <a:pt x="248" y="341"/>
                    <a:pt x="248" y="363"/>
                  </a:cubicBezTo>
                  <a:lnTo>
                    <a:pt x="248" y="531"/>
                  </a:lnTo>
                  <a:cubicBezTo>
                    <a:pt x="248" y="552"/>
                    <a:pt x="231" y="570"/>
                    <a:pt x="209" y="570"/>
                  </a:cubicBezTo>
                  <a:lnTo>
                    <a:pt x="40" y="570"/>
                  </a:lnTo>
                  <a:cubicBezTo>
                    <a:pt x="18" y="570"/>
                    <a:pt x="0" y="552"/>
                    <a:pt x="0" y="531"/>
                  </a:cubicBezTo>
                  <a:lnTo>
                    <a:pt x="0" y="363"/>
                  </a:lnTo>
                  <a:cubicBezTo>
                    <a:pt x="0" y="341"/>
                    <a:pt x="18" y="323"/>
                    <a:pt x="40" y="323"/>
                  </a:cubicBezTo>
                  <a:close/>
                  <a:moveTo>
                    <a:pt x="329" y="323"/>
                  </a:moveTo>
                  <a:lnTo>
                    <a:pt x="498" y="323"/>
                  </a:lnTo>
                  <a:cubicBezTo>
                    <a:pt x="520" y="323"/>
                    <a:pt x="538" y="341"/>
                    <a:pt x="538" y="363"/>
                  </a:cubicBezTo>
                  <a:lnTo>
                    <a:pt x="538" y="531"/>
                  </a:lnTo>
                  <a:cubicBezTo>
                    <a:pt x="538" y="552"/>
                    <a:pt x="520" y="570"/>
                    <a:pt x="498" y="570"/>
                  </a:cubicBezTo>
                  <a:lnTo>
                    <a:pt x="329" y="570"/>
                  </a:lnTo>
                  <a:cubicBezTo>
                    <a:pt x="307" y="570"/>
                    <a:pt x="290" y="552"/>
                    <a:pt x="290" y="531"/>
                  </a:cubicBezTo>
                  <a:lnTo>
                    <a:pt x="290" y="363"/>
                  </a:lnTo>
                  <a:cubicBezTo>
                    <a:pt x="290" y="341"/>
                    <a:pt x="307" y="323"/>
                    <a:pt x="329" y="323"/>
                  </a:cubicBezTo>
                  <a:close/>
                </a:path>
              </a:pathLst>
            </a:custGeom>
            <a:gradFill flip="none" rotWithShape="1">
              <a:gsLst>
                <a:gs pos="0">
                  <a:schemeClr val="accent1">
                    <a:lumMod val="60000"/>
                    <a:lumOff val="40000"/>
                  </a:schemeClr>
                </a:gs>
                <a:gs pos="70000">
                  <a:srgbClr val="0061AE"/>
                </a:gs>
              </a:gsLst>
              <a:lin ang="2700000"/>
            </a:gradFill>
            <a:ln>
              <a:noFill/>
            </a:ln>
            <a:effectLst>
              <a:outerShdw blurRad="508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字魂手刻宋" panose="00000500000000000000" charset="-122"/>
                <a:ea typeface="字魂手刻宋" panose="00000500000000000000" charset="-122"/>
              </a:endParaRPr>
            </a:p>
          </p:txBody>
        </p:sp>
        <p:sp>
          <p:nvSpPr>
            <p:cNvPr id="22" name="图形 26" descr="343439383331313b343532303031393bd2b5bca8b9dcc0ed"/>
            <p:cNvSpPr/>
            <p:nvPr>
              <p:custDataLst>
                <p:tags r:id="rId14"/>
              </p:custDataLst>
            </p:nvPr>
          </p:nvSpPr>
          <p:spPr>
            <a:xfrm>
              <a:off x="10992" y="6065"/>
              <a:ext cx="499" cy="464"/>
            </a:xfrm>
            <a:custGeom>
              <a:avLst/>
              <a:gdLst>
                <a:gd name="connsiteX0" fmla="*/ 807213 w 914399"/>
                <a:gd name="connsiteY0" fmla="*/ 115 h 848873"/>
                <a:gd name="connsiteX1" fmla="*/ 105083 w 914399"/>
                <a:gd name="connsiteY1" fmla="*/ 115 h 848873"/>
                <a:gd name="connsiteX2" fmla="*/ 114 w 914399"/>
                <a:gd name="connsiteY2" fmla="*/ 105930 h 848873"/>
                <a:gd name="connsiteX3" fmla="*/ 114 w 914399"/>
                <a:gd name="connsiteY3" fmla="*/ 562112 h 848873"/>
                <a:gd name="connsiteX4" fmla="*/ 105083 w 914399"/>
                <a:gd name="connsiteY4" fmla="*/ 667926 h 848873"/>
                <a:gd name="connsiteX5" fmla="*/ 368675 w 914399"/>
                <a:gd name="connsiteY5" fmla="*/ 667926 h 848873"/>
                <a:gd name="connsiteX6" fmla="*/ 368675 w 914399"/>
                <a:gd name="connsiteY6" fmla="*/ 797257 h 848873"/>
                <a:gd name="connsiteX7" fmla="*/ 224049 w 914399"/>
                <a:gd name="connsiteY7" fmla="*/ 797257 h 848873"/>
                <a:gd name="connsiteX8" fmla="*/ 198390 w 914399"/>
                <a:gd name="connsiteY8" fmla="*/ 823121 h 848873"/>
                <a:gd name="connsiteX9" fmla="*/ 224049 w 914399"/>
                <a:gd name="connsiteY9" fmla="*/ 848989 h 848873"/>
                <a:gd name="connsiteX10" fmla="*/ 669586 w 914399"/>
                <a:gd name="connsiteY10" fmla="*/ 848989 h 848873"/>
                <a:gd name="connsiteX11" fmla="*/ 695245 w 914399"/>
                <a:gd name="connsiteY11" fmla="*/ 823121 h 848873"/>
                <a:gd name="connsiteX12" fmla="*/ 669586 w 914399"/>
                <a:gd name="connsiteY12" fmla="*/ 797257 h 848873"/>
                <a:gd name="connsiteX13" fmla="*/ 527295 w 914399"/>
                <a:gd name="connsiteY13" fmla="*/ 797257 h 848873"/>
                <a:gd name="connsiteX14" fmla="*/ 527295 w 914399"/>
                <a:gd name="connsiteY14" fmla="*/ 667926 h 848873"/>
                <a:gd name="connsiteX15" fmla="*/ 809544 w 914399"/>
                <a:gd name="connsiteY15" fmla="*/ 667926 h 848873"/>
                <a:gd name="connsiteX16" fmla="*/ 914514 w 914399"/>
                <a:gd name="connsiteY16" fmla="*/ 562112 h 848873"/>
                <a:gd name="connsiteX17" fmla="*/ 914514 w 914399"/>
                <a:gd name="connsiteY17" fmla="*/ 105930 h 848873"/>
                <a:gd name="connsiteX18" fmla="*/ 807213 w 914399"/>
                <a:gd name="connsiteY18" fmla="*/ 115 h 848873"/>
                <a:gd name="connsiteX19" fmla="*/ 760557 w 914399"/>
                <a:gd name="connsiteY19" fmla="*/ 157662 h 848873"/>
                <a:gd name="connsiteX20" fmla="*/ 760557 w 914399"/>
                <a:gd name="connsiteY20" fmla="*/ 157662 h 848873"/>
                <a:gd name="connsiteX21" fmla="*/ 760557 w 914399"/>
                <a:gd name="connsiteY21" fmla="*/ 160013 h 848873"/>
                <a:gd name="connsiteX22" fmla="*/ 499303 w 914399"/>
                <a:gd name="connsiteY22" fmla="*/ 510381 h 848873"/>
                <a:gd name="connsiteX23" fmla="*/ 492305 w 914399"/>
                <a:gd name="connsiteY23" fmla="*/ 505677 h 848873"/>
                <a:gd name="connsiteX24" fmla="*/ 287030 w 914399"/>
                <a:gd name="connsiteY24" fmla="*/ 355185 h 848873"/>
                <a:gd name="connsiteX25" fmla="*/ 214718 w 914399"/>
                <a:gd name="connsiteY25" fmla="*/ 449242 h 848873"/>
                <a:gd name="connsiteX26" fmla="*/ 182061 w 914399"/>
                <a:gd name="connsiteY26" fmla="*/ 460999 h 848873"/>
                <a:gd name="connsiteX27" fmla="*/ 165733 w 914399"/>
                <a:gd name="connsiteY27" fmla="*/ 425728 h 848873"/>
                <a:gd name="connsiteX28" fmla="*/ 168065 w 914399"/>
                <a:gd name="connsiteY28" fmla="*/ 421024 h 848873"/>
                <a:gd name="connsiteX29" fmla="*/ 266036 w 914399"/>
                <a:gd name="connsiteY29" fmla="*/ 291695 h 848873"/>
                <a:gd name="connsiteX30" fmla="*/ 275368 w 914399"/>
                <a:gd name="connsiteY30" fmla="*/ 279937 h 848873"/>
                <a:gd name="connsiteX31" fmla="*/ 487638 w 914399"/>
                <a:gd name="connsiteY31" fmla="*/ 437485 h 848873"/>
                <a:gd name="connsiteX32" fmla="*/ 718573 w 914399"/>
                <a:gd name="connsiteY32" fmla="*/ 129444 h 848873"/>
                <a:gd name="connsiteX33" fmla="*/ 746561 w 914399"/>
                <a:gd name="connsiteY33" fmla="*/ 124741 h 848873"/>
                <a:gd name="connsiteX34" fmla="*/ 760557 w 914399"/>
                <a:gd name="connsiteY34" fmla="*/ 157662 h 84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399" h="848873">
                  <a:moveTo>
                    <a:pt x="807213" y="115"/>
                  </a:moveTo>
                  <a:lnTo>
                    <a:pt x="105083" y="115"/>
                  </a:lnTo>
                  <a:cubicBezTo>
                    <a:pt x="46767" y="115"/>
                    <a:pt x="114" y="47143"/>
                    <a:pt x="114" y="105930"/>
                  </a:cubicBezTo>
                  <a:lnTo>
                    <a:pt x="114" y="562112"/>
                  </a:lnTo>
                  <a:cubicBezTo>
                    <a:pt x="114" y="620898"/>
                    <a:pt x="46767" y="667926"/>
                    <a:pt x="105083" y="667926"/>
                  </a:cubicBezTo>
                  <a:lnTo>
                    <a:pt x="368675" y="667926"/>
                  </a:lnTo>
                  <a:lnTo>
                    <a:pt x="368675" y="797257"/>
                  </a:lnTo>
                  <a:lnTo>
                    <a:pt x="224049" y="797257"/>
                  </a:lnTo>
                  <a:cubicBezTo>
                    <a:pt x="210053" y="797257"/>
                    <a:pt x="198390" y="809014"/>
                    <a:pt x="198390" y="823121"/>
                  </a:cubicBezTo>
                  <a:cubicBezTo>
                    <a:pt x="198390" y="837232"/>
                    <a:pt x="210053" y="848989"/>
                    <a:pt x="224049" y="848989"/>
                  </a:cubicBezTo>
                  <a:lnTo>
                    <a:pt x="669586" y="848989"/>
                  </a:lnTo>
                  <a:cubicBezTo>
                    <a:pt x="683582" y="848989"/>
                    <a:pt x="695245" y="837232"/>
                    <a:pt x="695245" y="823121"/>
                  </a:cubicBezTo>
                  <a:cubicBezTo>
                    <a:pt x="695245" y="809014"/>
                    <a:pt x="683582" y="797257"/>
                    <a:pt x="669586" y="797257"/>
                  </a:cubicBezTo>
                  <a:lnTo>
                    <a:pt x="527295" y="797257"/>
                  </a:lnTo>
                  <a:lnTo>
                    <a:pt x="527295" y="667926"/>
                  </a:lnTo>
                  <a:lnTo>
                    <a:pt x="809544" y="667926"/>
                  </a:lnTo>
                  <a:cubicBezTo>
                    <a:pt x="867862" y="667926"/>
                    <a:pt x="914514" y="620898"/>
                    <a:pt x="914514" y="562112"/>
                  </a:cubicBezTo>
                  <a:lnTo>
                    <a:pt x="914514" y="105930"/>
                  </a:lnTo>
                  <a:cubicBezTo>
                    <a:pt x="912180" y="49495"/>
                    <a:pt x="865528" y="115"/>
                    <a:pt x="807213" y="115"/>
                  </a:cubicBezTo>
                  <a:moveTo>
                    <a:pt x="760557" y="157662"/>
                  </a:moveTo>
                  <a:cubicBezTo>
                    <a:pt x="760557" y="157662"/>
                    <a:pt x="760557" y="160013"/>
                    <a:pt x="760557" y="157662"/>
                  </a:cubicBezTo>
                  <a:lnTo>
                    <a:pt x="760557" y="160013"/>
                  </a:lnTo>
                  <a:lnTo>
                    <a:pt x="499303" y="510381"/>
                  </a:lnTo>
                  <a:lnTo>
                    <a:pt x="492305" y="505677"/>
                  </a:lnTo>
                  <a:lnTo>
                    <a:pt x="287030" y="355185"/>
                  </a:lnTo>
                  <a:lnTo>
                    <a:pt x="214718" y="449242"/>
                  </a:lnTo>
                  <a:cubicBezTo>
                    <a:pt x="207721" y="460999"/>
                    <a:pt x="193724" y="465703"/>
                    <a:pt x="182061" y="460999"/>
                  </a:cubicBezTo>
                  <a:cubicBezTo>
                    <a:pt x="168065" y="456296"/>
                    <a:pt x="161067" y="439835"/>
                    <a:pt x="165733" y="425728"/>
                  </a:cubicBezTo>
                  <a:cubicBezTo>
                    <a:pt x="165733" y="423378"/>
                    <a:pt x="165733" y="423378"/>
                    <a:pt x="168065" y="421024"/>
                  </a:cubicBezTo>
                  <a:lnTo>
                    <a:pt x="266036" y="291695"/>
                  </a:lnTo>
                  <a:lnTo>
                    <a:pt x="275368" y="279937"/>
                  </a:lnTo>
                  <a:lnTo>
                    <a:pt x="487638" y="437485"/>
                  </a:lnTo>
                  <a:lnTo>
                    <a:pt x="718573" y="129444"/>
                  </a:lnTo>
                  <a:cubicBezTo>
                    <a:pt x="725571" y="122390"/>
                    <a:pt x="737233" y="120039"/>
                    <a:pt x="746561" y="124741"/>
                  </a:cubicBezTo>
                  <a:cubicBezTo>
                    <a:pt x="760557" y="129444"/>
                    <a:pt x="767555" y="143553"/>
                    <a:pt x="760557" y="157662"/>
                  </a:cubicBezTo>
                </a:path>
              </a:pathLst>
            </a:custGeom>
            <a:gradFill flip="none" rotWithShape="1">
              <a:gsLst>
                <a:gs pos="0">
                  <a:schemeClr val="accent1">
                    <a:lumMod val="60000"/>
                    <a:lumOff val="40000"/>
                  </a:schemeClr>
                </a:gs>
                <a:gs pos="70000">
                  <a:srgbClr val="0061AE"/>
                </a:gs>
              </a:gsLst>
              <a:lin ang="2700000"/>
            </a:gradFill>
            <a:ln>
              <a:noFill/>
            </a:ln>
            <a:effectLst>
              <a:outerShdw blurRad="508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字魂手刻宋" panose="00000500000000000000" charset="-122"/>
                <a:ea typeface="字魂手刻宋" panose="00000500000000000000" charset="-122"/>
              </a:endParaRPr>
            </a:p>
          </p:txBody>
        </p:sp>
        <p:sp>
          <p:nvSpPr>
            <p:cNvPr id="23" name="图形 44" descr="333639373138363b343435303831343bb9b5cda8b9dcc0ed"/>
            <p:cNvSpPr/>
            <p:nvPr>
              <p:custDataLst>
                <p:tags r:id="rId15"/>
              </p:custDataLst>
            </p:nvPr>
          </p:nvSpPr>
          <p:spPr>
            <a:xfrm>
              <a:off x="12118" y="4611"/>
              <a:ext cx="475" cy="442"/>
            </a:xfrm>
            <a:custGeom>
              <a:avLst/>
              <a:gdLst>
                <a:gd name="connsiteX0" fmla="*/ 160931 w 914399"/>
                <a:gd name="connsiteY0" fmla="*/ 611349 h 852035"/>
                <a:gd name="connsiteX1" fmla="*/ 33402 w 914399"/>
                <a:gd name="connsiteY1" fmla="*/ 724193 h 852035"/>
                <a:gd name="connsiteX2" fmla="*/ 4718 w 914399"/>
                <a:gd name="connsiteY2" fmla="*/ 722441 h 852035"/>
                <a:gd name="connsiteX3" fmla="*/ -384 w 914399"/>
                <a:gd name="connsiteY3" fmla="*/ 708975 h 852035"/>
                <a:gd name="connsiteX4" fmla="*/ -384 w 914399"/>
                <a:gd name="connsiteY4" fmla="*/ 570709 h 852035"/>
                <a:gd name="connsiteX5" fmla="*/ -384 w 914399"/>
                <a:gd name="connsiteY5" fmla="*/ 40248 h 852035"/>
                <a:gd name="connsiteX6" fmla="*/ 40256 w 914399"/>
                <a:gd name="connsiteY6" fmla="*/ -392 h 852035"/>
                <a:gd name="connsiteX7" fmla="*/ 690495 w 914399"/>
                <a:gd name="connsiteY7" fmla="*/ -392 h 852035"/>
                <a:gd name="connsiteX8" fmla="*/ 731135 w 914399"/>
                <a:gd name="connsiteY8" fmla="*/ 40248 h 852035"/>
                <a:gd name="connsiteX9" fmla="*/ 731135 w 914399"/>
                <a:gd name="connsiteY9" fmla="*/ 570709 h 852035"/>
                <a:gd name="connsiteX10" fmla="*/ 690495 w 914399"/>
                <a:gd name="connsiteY10" fmla="*/ 611349 h 852035"/>
                <a:gd name="connsiteX11" fmla="*/ 160931 w 914399"/>
                <a:gd name="connsiteY11" fmla="*/ 611349 h 852035"/>
                <a:gd name="connsiteX12" fmla="*/ 182496 w 914399"/>
                <a:gd name="connsiteY12" fmla="*/ 183131 h 852035"/>
                <a:gd name="connsiteX13" fmla="*/ 162176 w 914399"/>
                <a:gd name="connsiteY13" fmla="*/ 203450 h 852035"/>
                <a:gd name="connsiteX14" fmla="*/ 162176 w 914399"/>
                <a:gd name="connsiteY14" fmla="*/ 223984 h 852035"/>
                <a:gd name="connsiteX15" fmla="*/ 182496 w 914399"/>
                <a:gd name="connsiteY15" fmla="*/ 244305 h 852035"/>
                <a:gd name="connsiteX16" fmla="*/ 548256 w 914399"/>
                <a:gd name="connsiteY16" fmla="*/ 244305 h 852035"/>
                <a:gd name="connsiteX17" fmla="*/ 568575 w 914399"/>
                <a:gd name="connsiteY17" fmla="*/ 223984 h 852035"/>
                <a:gd name="connsiteX18" fmla="*/ 568575 w 914399"/>
                <a:gd name="connsiteY18" fmla="*/ 203450 h 852035"/>
                <a:gd name="connsiteX19" fmla="*/ 548256 w 914399"/>
                <a:gd name="connsiteY19" fmla="*/ 183131 h 852035"/>
                <a:gd name="connsiteX20" fmla="*/ 182496 w 914399"/>
                <a:gd name="connsiteY20" fmla="*/ 183131 h 852035"/>
                <a:gd name="connsiteX21" fmla="*/ 182496 w 914399"/>
                <a:gd name="connsiteY21" fmla="*/ 366652 h 852035"/>
                <a:gd name="connsiteX22" fmla="*/ 162176 w 914399"/>
                <a:gd name="connsiteY22" fmla="*/ 386973 h 852035"/>
                <a:gd name="connsiteX23" fmla="*/ 162176 w 914399"/>
                <a:gd name="connsiteY23" fmla="*/ 407507 h 852035"/>
                <a:gd name="connsiteX24" fmla="*/ 182496 w 914399"/>
                <a:gd name="connsiteY24" fmla="*/ 427826 h 852035"/>
                <a:gd name="connsiteX25" fmla="*/ 548256 w 914399"/>
                <a:gd name="connsiteY25" fmla="*/ 427826 h 852035"/>
                <a:gd name="connsiteX26" fmla="*/ 568575 w 914399"/>
                <a:gd name="connsiteY26" fmla="*/ 407507 h 852035"/>
                <a:gd name="connsiteX27" fmla="*/ 568575 w 914399"/>
                <a:gd name="connsiteY27" fmla="*/ 386973 h 852035"/>
                <a:gd name="connsiteX28" fmla="*/ 548256 w 914399"/>
                <a:gd name="connsiteY28" fmla="*/ 366652 h 852035"/>
                <a:gd name="connsiteX29" fmla="*/ 182496 w 914399"/>
                <a:gd name="connsiteY29" fmla="*/ 366652 h 852035"/>
                <a:gd name="connsiteX30" fmla="*/ 771775 w 914399"/>
                <a:gd name="connsiteY30" fmla="*/ 121956 h 852035"/>
                <a:gd name="connsiteX31" fmla="*/ 873375 w 914399"/>
                <a:gd name="connsiteY31" fmla="*/ 121956 h 852035"/>
                <a:gd name="connsiteX32" fmla="*/ 914015 w 914399"/>
                <a:gd name="connsiteY32" fmla="*/ 162596 h 852035"/>
                <a:gd name="connsiteX33" fmla="*/ 914015 w 914399"/>
                <a:gd name="connsiteY33" fmla="*/ 693056 h 852035"/>
                <a:gd name="connsiteX34" fmla="*/ 914015 w 914399"/>
                <a:gd name="connsiteY34" fmla="*/ 831324 h 852035"/>
                <a:gd name="connsiteX35" fmla="*/ 908913 w 914399"/>
                <a:gd name="connsiteY35" fmla="*/ 844789 h 852035"/>
                <a:gd name="connsiteX36" fmla="*/ 880229 w 914399"/>
                <a:gd name="connsiteY36" fmla="*/ 846542 h 852035"/>
                <a:gd name="connsiteX37" fmla="*/ 752700 w 914399"/>
                <a:gd name="connsiteY37" fmla="*/ 733696 h 852035"/>
                <a:gd name="connsiteX38" fmla="*/ 223136 w 914399"/>
                <a:gd name="connsiteY38" fmla="*/ 733696 h 852035"/>
                <a:gd name="connsiteX39" fmla="*/ 182496 w 914399"/>
                <a:gd name="connsiteY39" fmla="*/ 693056 h 852035"/>
                <a:gd name="connsiteX40" fmla="*/ 182496 w 914399"/>
                <a:gd name="connsiteY40" fmla="*/ 652132 h 852035"/>
                <a:gd name="connsiteX41" fmla="*/ 731135 w 914399"/>
                <a:gd name="connsiteY41" fmla="*/ 652132 h 852035"/>
                <a:gd name="connsiteX42" fmla="*/ 771775 w 914399"/>
                <a:gd name="connsiteY42" fmla="*/ 611492 h 852035"/>
                <a:gd name="connsiteX43" fmla="*/ 771775 w 914399"/>
                <a:gd name="connsiteY43" fmla="*/ 121956 h 852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14399" h="852035">
                  <a:moveTo>
                    <a:pt x="160931" y="611349"/>
                  </a:moveTo>
                  <a:lnTo>
                    <a:pt x="33402" y="724193"/>
                  </a:lnTo>
                  <a:cubicBezTo>
                    <a:pt x="24997" y="731630"/>
                    <a:pt x="12155" y="730845"/>
                    <a:pt x="4718" y="722441"/>
                  </a:cubicBezTo>
                  <a:cubicBezTo>
                    <a:pt x="1431" y="718726"/>
                    <a:pt x="-384" y="713937"/>
                    <a:pt x="-384" y="708975"/>
                  </a:cubicBezTo>
                  <a:lnTo>
                    <a:pt x="-384" y="570709"/>
                  </a:lnTo>
                  <a:lnTo>
                    <a:pt x="-384" y="40248"/>
                  </a:lnTo>
                  <a:cubicBezTo>
                    <a:pt x="-384" y="17804"/>
                    <a:pt x="17812" y="-392"/>
                    <a:pt x="40256" y="-392"/>
                  </a:cubicBezTo>
                  <a:lnTo>
                    <a:pt x="690495" y="-392"/>
                  </a:lnTo>
                  <a:cubicBezTo>
                    <a:pt x="712940" y="-392"/>
                    <a:pt x="731135" y="17804"/>
                    <a:pt x="731135" y="40248"/>
                  </a:cubicBezTo>
                  <a:lnTo>
                    <a:pt x="731135" y="570709"/>
                  </a:lnTo>
                  <a:cubicBezTo>
                    <a:pt x="731135" y="593153"/>
                    <a:pt x="712940" y="611349"/>
                    <a:pt x="690495" y="611349"/>
                  </a:cubicBezTo>
                  <a:lnTo>
                    <a:pt x="160931" y="611349"/>
                  </a:lnTo>
                  <a:moveTo>
                    <a:pt x="182496" y="183131"/>
                  </a:moveTo>
                  <a:cubicBezTo>
                    <a:pt x="171274" y="183131"/>
                    <a:pt x="162176" y="192228"/>
                    <a:pt x="162176" y="203450"/>
                  </a:cubicBezTo>
                  <a:lnTo>
                    <a:pt x="162176" y="223984"/>
                  </a:lnTo>
                  <a:cubicBezTo>
                    <a:pt x="162176" y="235207"/>
                    <a:pt x="171274" y="244305"/>
                    <a:pt x="182496" y="244305"/>
                  </a:cubicBezTo>
                  <a:lnTo>
                    <a:pt x="548256" y="244305"/>
                  </a:lnTo>
                  <a:cubicBezTo>
                    <a:pt x="559478" y="244305"/>
                    <a:pt x="568575" y="235207"/>
                    <a:pt x="568575" y="223984"/>
                  </a:cubicBezTo>
                  <a:lnTo>
                    <a:pt x="568575" y="203450"/>
                  </a:lnTo>
                  <a:cubicBezTo>
                    <a:pt x="568575" y="192228"/>
                    <a:pt x="559478" y="183131"/>
                    <a:pt x="548256" y="183131"/>
                  </a:cubicBezTo>
                  <a:lnTo>
                    <a:pt x="182496" y="183131"/>
                  </a:lnTo>
                  <a:moveTo>
                    <a:pt x="182496" y="366652"/>
                  </a:moveTo>
                  <a:cubicBezTo>
                    <a:pt x="171274" y="366652"/>
                    <a:pt x="162176" y="375749"/>
                    <a:pt x="162176" y="386973"/>
                  </a:cubicBezTo>
                  <a:lnTo>
                    <a:pt x="162176" y="407507"/>
                  </a:lnTo>
                  <a:cubicBezTo>
                    <a:pt x="162176" y="418729"/>
                    <a:pt x="171274" y="427826"/>
                    <a:pt x="182496" y="427826"/>
                  </a:cubicBezTo>
                  <a:lnTo>
                    <a:pt x="548256" y="427826"/>
                  </a:lnTo>
                  <a:cubicBezTo>
                    <a:pt x="559478" y="427826"/>
                    <a:pt x="568575" y="418729"/>
                    <a:pt x="568575" y="407507"/>
                  </a:cubicBezTo>
                  <a:lnTo>
                    <a:pt x="568575" y="386973"/>
                  </a:lnTo>
                  <a:cubicBezTo>
                    <a:pt x="568575" y="375749"/>
                    <a:pt x="559478" y="366652"/>
                    <a:pt x="548256" y="366652"/>
                  </a:cubicBezTo>
                  <a:lnTo>
                    <a:pt x="182496" y="366652"/>
                  </a:lnTo>
                  <a:moveTo>
                    <a:pt x="771775" y="121956"/>
                  </a:moveTo>
                  <a:lnTo>
                    <a:pt x="873375" y="121956"/>
                  </a:lnTo>
                  <a:cubicBezTo>
                    <a:pt x="895819" y="121956"/>
                    <a:pt x="914015" y="140151"/>
                    <a:pt x="914015" y="162596"/>
                  </a:cubicBezTo>
                  <a:lnTo>
                    <a:pt x="914015" y="693056"/>
                  </a:lnTo>
                  <a:lnTo>
                    <a:pt x="914015" y="831324"/>
                  </a:lnTo>
                  <a:cubicBezTo>
                    <a:pt x="914015" y="836285"/>
                    <a:pt x="912201" y="841073"/>
                    <a:pt x="908913" y="844789"/>
                  </a:cubicBezTo>
                  <a:cubicBezTo>
                    <a:pt x="901476" y="853193"/>
                    <a:pt x="888634" y="853978"/>
                    <a:pt x="880229" y="846542"/>
                  </a:cubicBezTo>
                  <a:lnTo>
                    <a:pt x="752700" y="733696"/>
                  </a:lnTo>
                  <a:lnTo>
                    <a:pt x="223136" y="733696"/>
                  </a:lnTo>
                  <a:cubicBezTo>
                    <a:pt x="200692" y="733696"/>
                    <a:pt x="182496" y="715502"/>
                    <a:pt x="182496" y="693056"/>
                  </a:cubicBezTo>
                  <a:lnTo>
                    <a:pt x="182496" y="652132"/>
                  </a:lnTo>
                  <a:lnTo>
                    <a:pt x="731135" y="652132"/>
                  </a:lnTo>
                  <a:cubicBezTo>
                    <a:pt x="753580" y="652132"/>
                    <a:pt x="771775" y="633936"/>
                    <a:pt x="771775" y="611492"/>
                  </a:cubicBezTo>
                  <a:lnTo>
                    <a:pt x="771775" y="121956"/>
                  </a:lnTo>
                </a:path>
              </a:pathLst>
            </a:custGeom>
            <a:gradFill flip="none" rotWithShape="1">
              <a:gsLst>
                <a:gs pos="0">
                  <a:schemeClr val="accent1">
                    <a:lumMod val="60000"/>
                    <a:lumOff val="40000"/>
                  </a:schemeClr>
                </a:gs>
                <a:gs pos="70000">
                  <a:srgbClr val="0061AE"/>
                </a:gs>
              </a:gsLst>
              <a:lin ang="2700000"/>
            </a:gradFill>
            <a:ln>
              <a:noFill/>
            </a:ln>
            <a:effectLst>
              <a:outerShdw blurRad="508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FFFFFF"/>
                </a:solidFill>
                <a:latin typeface="字魂手刻宋" panose="00000500000000000000" charset="-122"/>
                <a:ea typeface="字魂手刻宋" panose="00000500000000000000" charset="-122"/>
              </a:endParaRPr>
            </a:p>
          </p:txBody>
        </p:sp>
        <p:sp>
          <p:nvSpPr>
            <p:cNvPr id="24" name="文本框 23"/>
            <p:cNvSpPr txBox="1"/>
            <p:nvPr>
              <p:custDataLst>
                <p:tags r:id="rId16"/>
              </p:custDataLst>
            </p:nvPr>
          </p:nvSpPr>
          <p:spPr>
            <a:xfrm>
              <a:off x="3702" y="6836"/>
              <a:ext cx="3045" cy="58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800" b="1" spc="100" dirty="0">
                  <a:solidFill>
                    <a:srgbClr val="0061AE"/>
                  </a:solidFill>
                  <a:latin typeface="字魂手刻宋" panose="00000500000000000000" charset="-122"/>
                  <a:ea typeface="字魂手刻宋" panose="00000500000000000000" charset="-122"/>
                </a:rPr>
                <a:t>人工智能的应用</a:t>
              </a:r>
              <a:endParaRPr lang="zh-CN" altLang="en-US" sz="1800" b="1" spc="100" dirty="0">
                <a:solidFill>
                  <a:srgbClr val="0061AE"/>
                </a:solidFill>
                <a:latin typeface="字魂手刻宋" panose="00000500000000000000" charset="-122"/>
                <a:ea typeface="字魂手刻宋" panose="00000500000000000000" charset="-122"/>
              </a:endParaRPr>
            </a:p>
          </p:txBody>
        </p:sp>
        <p:sp>
          <p:nvSpPr>
            <p:cNvPr id="25" name="文本框 24"/>
            <p:cNvSpPr txBox="1"/>
            <p:nvPr>
              <p:custDataLst>
                <p:tags r:id="rId17"/>
              </p:custDataLst>
            </p:nvPr>
          </p:nvSpPr>
          <p:spPr>
            <a:xfrm>
              <a:off x="3468" y="7416"/>
              <a:ext cx="3463" cy="1276"/>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lnSpc>
                  <a:spcPct val="130000"/>
                </a:lnSpc>
                <a:spcBef>
                  <a:spcPts val="0"/>
                </a:spcBef>
                <a:spcAft>
                  <a:spcPts val="0"/>
                </a:spcAft>
                <a:buClrTx/>
                <a:buSzTx/>
                <a:buFontTx/>
              </a:pPr>
              <a:r>
                <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rPr>
                <a:t>随着深度学习技术的发展，可以通过大量数据的学习和分析，挖掘出更为深层次的风险关联规律，进一步提高风险管理的效果。</a:t>
              </a:r>
              <a:endPar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26" name="文本框 25"/>
            <p:cNvSpPr txBox="1"/>
            <p:nvPr>
              <p:custDataLst>
                <p:tags r:id="rId18"/>
              </p:custDataLst>
            </p:nvPr>
          </p:nvSpPr>
          <p:spPr>
            <a:xfrm>
              <a:off x="42" y="4357"/>
              <a:ext cx="5440" cy="582"/>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800" b="1" spc="100" dirty="0">
                  <a:solidFill>
                    <a:srgbClr val="0061AE"/>
                  </a:solidFill>
                  <a:latin typeface="字魂手刻宋" panose="00000500000000000000" charset="-122"/>
                  <a:ea typeface="字魂手刻宋" panose="00000500000000000000" charset="-122"/>
                </a:rPr>
                <a:t>新质生产力与数字经济的推动</a:t>
              </a:r>
              <a:endParaRPr lang="zh-CN" altLang="en-US" sz="1800" b="1" spc="100" dirty="0">
                <a:solidFill>
                  <a:srgbClr val="0061AE"/>
                </a:solidFill>
                <a:latin typeface="字魂手刻宋" panose="00000500000000000000" charset="-122"/>
                <a:ea typeface="字魂手刻宋" panose="00000500000000000000" charset="-122"/>
              </a:endParaRPr>
            </a:p>
          </p:txBody>
        </p:sp>
        <p:sp>
          <p:nvSpPr>
            <p:cNvPr id="28" name="文本框 27"/>
            <p:cNvSpPr txBox="1"/>
            <p:nvPr>
              <p:custDataLst>
                <p:tags r:id="rId19"/>
              </p:custDataLst>
            </p:nvPr>
          </p:nvSpPr>
          <p:spPr>
            <a:xfrm>
              <a:off x="1819" y="4966"/>
              <a:ext cx="3430" cy="1264"/>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lnSpc>
                  <a:spcPct val="130000"/>
                </a:lnSpc>
                <a:spcBef>
                  <a:spcPts val="0"/>
                </a:spcBef>
                <a:spcAft>
                  <a:spcPts val="0"/>
                </a:spcAft>
                <a:buClrTx/>
                <a:buSzTx/>
                <a:buFontTx/>
              </a:pPr>
              <a:r>
                <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rPr>
                <a:t>在数字经经济中，大数据分析技术可实时处理数据，提供精准信息，使安全风险管理行业能更精确预测并防范潜在风险。</a:t>
              </a:r>
              <a:endPar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29" name="文本框 28"/>
            <p:cNvSpPr txBox="1"/>
            <p:nvPr>
              <p:custDataLst>
                <p:tags r:id="rId20"/>
              </p:custDataLst>
            </p:nvPr>
          </p:nvSpPr>
          <p:spPr>
            <a:xfrm>
              <a:off x="7291" y="8164"/>
              <a:ext cx="4615" cy="58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spc="100" dirty="0">
                  <a:solidFill>
                    <a:srgbClr val="0061AE"/>
                  </a:solidFill>
                  <a:latin typeface="字魂手刻宋" panose="00000500000000000000" charset="-122"/>
                  <a:ea typeface="字魂手刻宋" panose="00000500000000000000" charset="-122"/>
                  <a:sym typeface="+mn-ea"/>
                </a:rPr>
                <a:t>政策法规体系完善</a:t>
              </a:r>
              <a:endParaRPr lang="zh-CN" altLang="en-US" b="1" spc="100" dirty="0">
                <a:solidFill>
                  <a:srgbClr val="0061AE"/>
                </a:solidFill>
                <a:latin typeface="字魂手刻宋" panose="00000500000000000000" charset="-122"/>
                <a:ea typeface="字魂手刻宋" panose="00000500000000000000" charset="-122"/>
                <a:sym typeface="+mn-ea"/>
              </a:endParaRPr>
            </a:p>
          </p:txBody>
        </p:sp>
        <p:sp>
          <p:nvSpPr>
            <p:cNvPr id="30" name="文本框 29"/>
            <p:cNvSpPr txBox="1"/>
            <p:nvPr>
              <p:custDataLst>
                <p:tags r:id="rId21"/>
              </p:custDataLst>
            </p:nvPr>
          </p:nvSpPr>
          <p:spPr>
            <a:xfrm>
              <a:off x="7758" y="8719"/>
              <a:ext cx="3463" cy="1276"/>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30000"/>
                </a:lnSpc>
                <a:spcBef>
                  <a:spcPts val="0"/>
                </a:spcBef>
                <a:spcAft>
                  <a:spcPts val="0"/>
                </a:spcAft>
                <a:buClrTx/>
                <a:buSzTx/>
                <a:buFontTx/>
              </a:pPr>
              <a:r>
                <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rPr>
                <a:t>相关的政策法规体系不断完善为安全风险管理行业提供了明确的指导方向，也为行业内的企业提供了合规性的保障。</a:t>
              </a:r>
              <a:endPar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31" name="文本框 30"/>
            <p:cNvSpPr txBox="1"/>
            <p:nvPr>
              <p:custDataLst>
                <p:tags r:id="rId22"/>
              </p:custDataLst>
            </p:nvPr>
          </p:nvSpPr>
          <p:spPr>
            <a:xfrm>
              <a:off x="12039" y="6824"/>
              <a:ext cx="4472" cy="58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800" b="1" spc="100" dirty="0">
                  <a:solidFill>
                    <a:srgbClr val="0061AE"/>
                  </a:solidFill>
                  <a:latin typeface="字魂手刻宋" panose="00000500000000000000" charset="-122"/>
                  <a:ea typeface="字魂手刻宋" panose="00000500000000000000" charset="-122"/>
                </a:rPr>
                <a:t>生产安全责任制度健全</a:t>
              </a:r>
              <a:endParaRPr lang="zh-CN" altLang="en-US" sz="1800" b="1" spc="100" dirty="0">
                <a:solidFill>
                  <a:srgbClr val="0061AE"/>
                </a:solidFill>
                <a:latin typeface="字魂手刻宋" panose="00000500000000000000" charset="-122"/>
                <a:ea typeface="字魂手刻宋" panose="00000500000000000000" charset="-122"/>
              </a:endParaRPr>
            </a:p>
          </p:txBody>
        </p:sp>
        <p:sp>
          <p:nvSpPr>
            <p:cNvPr id="33" name="文本框 32"/>
            <p:cNvSpPr txBox="1"/>
            <p:nvPr>
              <p:custDataLst>
                <p:tags r:id="rId23"/>
              </p:custDataLst>
            </p:nvPr>
          </p:nvSpPr>
          <p:spPr>
            <a:xfrm>
              <a:off x="12039" y="7416"/>
              <a:ext cx="3463" cy="1276"/>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spcBef>
                  <a:spcPts val="0"/>
                </a:spcBef>
                <a:spcAft>
                  <a:spcPts val="0"/>
                </a:spcAft>
                <a:buClrTx/>
                <a:buSzTx/>
                <a:buFontTx/>
              </a:pPr>
              <a:r>
                <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rPr>
                <a:t>为企业提供更加全面和深入的安全生产咨询和服务，帮助企业提升安全生产管理水平。</a:t>
              </a:r>
              <a:endPar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34" name="文本框 33"/>
            <p:cNvSpPr txBox="1"/>
            <p:nvPr>
              <p:custDataLst>
                <p:tags r:id="rId24"/>
              </p:custDataLst>
            </p:nvPr>
          </p:nvSpPr>
          <p:spPr>
            <a:xfrm>
              <a:off x="13481" y="4396"/>
              <a:ext cx="4337" cy="582"/>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800" b="1" spc="100" dirty="0">
                  <a:solidFill>
                    <a:srgbClr val="0061AE"/>
                  </a:solidFill>
                  <a:latin typeface="字魂手刻宋" panose="00000500000000000000" charset="-122"/>
                  <a:ea typeface="字魂手刻宋" panose="00000500000000000000" charset="-122"/>
                </a:rPr>
                <a:t>行业整合与标准化</a:t>
              </a:r>
              <a:endParaRPr lang="zh-CN" altLang="en-US" sz="1800" b="1" spc="100" dirty="0">
                <a:solidFill>
                  <a:srgbClr val="0061AE"/>
                </a:solidFill>
                <a:latin typeface="字魂手刻宋" panose="00000500000000000000" charset="-122"/>
                <a:ea typeface="字魂手刻宋" panose="00000500000000000000" charset="-122"/>
              </a:endParaRPr>
            </a:p>
          </p:txBody>
        </p:sp>
        <p:sp>
          <p:nvSpPr>
            <p:cNvPr id="35" name="文本框 34"/>
            <p:cNvSpPr txBox="1"/>
            <p:nvPr>
              <p:custDataLst>
                <p:tags r:id="rId25"/>
              </p:custDataLst>
            </p:nvPr>
          </p:nvSpPr>
          <p:spPr>
            <a:xfrm>
              <a:off x="13481" y="4966"/>
              <a:ext cx="4075" cy="1264"/>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spcBef>
                  <a:spcPts val="0"/>
                </a:spcBef>
                <a:spcAft>
                  <a:spcPts val="0"/>
                </a:spcAft>
                <a:buClrTx/>
                <a:buSzTx/>
                <a:buFontTx/>
              </a:pPr>
              <a:r>
                <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rPr>
                <a:t>随着安全风险管理行业的不断发展，行业整合和标准化也将成为未来的趋势。由此提高行业的整体竞争力，实现资源共享和优势互补。</a:t>
              </a:r>
              <a:endParaRPr lang="zh-CN" altLang="en-US" sz="1200" kern="0" dirty="0">
                <a:ln>
                  <a:noFill/>
                  <a:prstDash val="sysDot"/>
                </a:ln>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36" name="椭圆 35"/>
            <p:cNvSpPr/>
            <p:nvPr>
              <p:custDataLst>
                <p:tags r:id="rId26"/>
              </p:custDataLst>
            </p:nvPr>
          </p:nvSpPr>
          <p:spPr>
            <a:xfrm>
              <a:off x="7850" y="2306"/>
              <a:ext cx="3262" cy="3262"/>
            </a:xfrm>
            <a:prstGeom prst="ellipse">
              <a:avLst/>
            </a:prstGeom>
            <a:gradFill flip="none" rotWithShape="1">
              <a:gsLst>
                <a:gs pos="0">
                  <a:schemeClr val="accent1">
                    <a:alpha val="5000"/>
                  </a:schemeClr>
                </a:gs>
                <a:gs pos="100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手刻宋" panose="00000500000000000000" charset="-122"/>
                <a:ea typeface="字魂手刻宋" panose="00000500000000000000" charset="-122"/>
              </a:endParaRPr>
            </a:p>
          </p:txBody>
        </p:sp>
        <p:sp>
          <p:nvSpPr>
            <p:cNvPr id="37" name="椭圆 36"/>
            <p:cNvSpPr/>
            <p:nvPr>
              <p:custDataLst>
                <p:tags r:id="rId27"/>
              </p:custDataLst>
            </p:nvPr>
          </p:nvSpPr>
          <p:spPr>
            <a:xfrm>
              <a:off x="8024" y="2480"/>
              <a:ext cx="2914" cy="2914"/>
            </a:xfrm>
            <a:prstGeom prst="ellipse">
              <a:avLst/>
            </a:prstGeom>
            <a:gradFill flip="none" rotWithShape="1">
              <a:gsLst>
                <a:gs pos="0">
                  <a:schemeClr val="accent1">
                    <a:alpha val="5000"/>
                  </a:schemeClr>
                </a:gs>
                <a:gs pos="100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手刻宋" panose="00000500000000000000" charset="-122"/>
                <a:ea typeface="字魂手刻宋" panose="00000500000000000000" charset="-122"/>
              </a:endParaRPr>
            </a:p>
          </p:txBody>
        </p:sp>
        <p:sp>
          <p:nvSpPr>
            <p:cNvPr id="38" name="任意多边形: 形状 27"/>
            <p:cNvSpPr/>
            <p:nvPr>
              <p:custDataLst>
                <p:tags r:id="rId28"/>
              </p:custDataLst>
            </p:nvPr>
          </p:nvSpPr>
          <p:spPr>
            <a:xfrm>
              <a:off x="8221" y="2676"/>
              <a:ext cx="2521" cy="2521"/>
            </a:xfrm>
            <a:custGeom>
              <a:avLst/>
              <a:gdLst>
                <a:gd name="connsiteX0" fmla="*/ 1864997 w 1864996"/>
                <a:gd name="connsiteY0" fmla="*/ 932499 h 1864997"/>
                <a:gd name="connsiteX1" fmla="*/ 932498 w 1864996"/>
                <a:gd name="connsiteY1" fmla="*/ 1864997 h 1864997"/>
                <a:gd name="connsiteX2" fmla="*/ 0 w 1864996"/>
                <a:gd name="connsiteY2" fmla="*/ 932499 h 1864997"/>
                <a:gd name="connsiteX3" fmla="*/ 932498 w 1864996"/>
                <a:gd name="connsiteY3" fmla="*/ 0 h 1864997"/>
                <a:gd name="connsiteX4" fmla="*/ 1864997 w 1864996"/>
                <a:gd name="connsiteY4" fmla="*/ 932499 h 186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4996" h="1864997">
                  <a:moveTo>
                    <a:pt x="1864997" y="932499"/>
                  </a:moveTo>
                  <a:cubicBezTo>
                    <a:pt x="1864997" y="1447503"/>
                    <a:pt x="1447503" y="1864997"/>
                    <a:pt x="932498" y="1864997"/>
                  </a:cubicBezTo>
                  <a:cubicBezTo>
                    <a:pt x="417494" y="1864997"/>
                    <a:pt x="0" y="1447503"/>
                    <a:pt x="0" y="932499"/>
                  </a:cubicBezTo>
                  <a:cubicBezTo>
                    <a:pt x="0" y="417494"/>
                    <a:pt x="417494" y="0"/>
                    <a:pt x="932498" y="0"/>
                  </a:cubicBezTo>
                  <a:cubicBezTo>
                    <a:pt x="1447503" y="0"/>
                    <a:pt x="1864997" y="417494"/>
                    <a:pt x="1864997" y="932499"/>
                  </a:cubicBezTo>
                  <a:close/>
                </a:path>
              </a:pathLst>
            </a:custGeom>
            <a:gradFill flip="none" rotWithShape="1">
              <a:gsLst>
                <a:gs pos="0">
                  <a:schemeClr val="accent1">
                    <a:lumMod val="60000"/>
                    <a:lumOff val="40000"/>
                  </a:schemeClr>
                </a:gs>
                <a:gs pos="70000">
                  <a:srgbClr val="0061AE"/>
                </a:gs>
              </a:gsLst>
              <a:lin ang="2700000"/>
            </a:gradFill>
            <a:ln>
              <a:noFill/>
            </a:ln>
            <a:effectLst>
              <a:outerShdw blurRad="101600" dist="38100" dir="2700000" algn="tl" rotWithShape="0">
                <a:schemeClr val="accent1">
                  <a:lumMod val="75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spc="100" dirty="0">
                  <a:solidFill>
                    <a:srgbClr val="FFFFFF"/>
                  </a:solidFill>
                  <a:latin typeface="字魂手刻宋" panose="00000500000000000000" charset="-122"/>
                  <a:ea typeface="字魂手刻宋" panose="00000500000000000000" charset="-122"/>
                </a:rPr>
                <a:t>发展机遇</a:t>
              </a:r>
              <a:endParaRPr lang="zh-CN" altLang="en-US" sz="2200" b="1" spc="100" dirty="0">
                <a:solidFill>
                  <a:srgbClr val="FFFFFF"/>
                </a:solidFill>
                <a:latin typeface="字魂手刻宋" panose="00000500000000000000" charset="-122"/>
                <a:ea typeface="字魂手刻宋" panose="00000500000000000000" charset="-122"/>
              </a:endParaRPr>
            </a:p>
          </p:txBody>
        </p:sp>
      </p:grpSp>
      <p:sp>
        <p:nvSpPr>
          <p:cNvPr id="39" name="文本框 38"/>
          <p:cNvSpPr txBox="1"/>
          <p:nvPr/>
        </p:nvSpPr>
        <p:spPr>
          <a:xfrm>
            <a:off x="874395" y="550545"/>
            <a:ext cx="11128375" cy="1060450"/>
          </a:xfrm>
          <a:prstGeom prst="rect">
            <a:avLst/>
          </a:prstGeom>
          <a:noFill/>
        </p:spPr>
        <p:txBody>
          <a:bodyPr wrap="square" rtlCol="0" anchor="t">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随着国家</a:t>
            </a:r>
            <a:r>
              <a:rPr lang="zh-CN" altLang="en-US" sz="1400" b="1" dirty="0">
                <a:solidFill>
                  <a:srgbClr val="0061AE"/>
                </a:solidFill>
                <a:latin typeface="字魂手刻宋" panose="00000500000000000000" charset="-122"/>
                <a:ea typeface="字魂手刻宋" panose="00000500000000000000" charset="-122"/>
                <a:sym typeface="+mn-ea"/>
              </a:rPr>
              <a:t>“新质生产力”</a:t>
            </a: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的提出，</a:t>
            </a:r>
            <a:r>
              <a:rPr lang="zh-CN" altLang="en-US" sz="1400" b="1" dirty="0">
                <a:solidFill>
                  <a:srgbClr val="054487"/>
                </a:solidFill>
                <a:latin typeface="字魂手刻宋" panose="00000500000000000000" charset="-122"/>
                <a:ea typeface="字魂手刻宋" panose="00000500000000000000" charset="-122"/>
                <a:sym typeface="+mn-ea"/>
              </a:rPr>
              <a:t>加之产业大脑和产业互联网的普及与推动</a:t>
            </a: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，使得数智驱动应急产业升级已上升为国家战略，安全风险管理行业也亟待通过“新质生产力”打通制约高质量发展的所有堵点卡点，同时，这也为安全风险管理行业提供了新的发展机遇，尤其是在</a:t>
            </a:r>
            <a:r>
              <a:rPr lang="zh-CN" altLang="en-US" sz="1400" b="1" dirty="0">
                <a:solidFill>
                  <a:srgbClr val="054487"/>
                </a:solidFill>
                <a:latin typeface="字魂手刻宋" panose="00000500000000000000" charset="-122"/>
                <a:ea typeface="字魂手刻宋" panose="00000500000000000000" charset="-122"/>
                <a:sym typeface="+mn-ea"/>
              </a:rPr>
              <a:t>产业协同发展模式创新、数字化驱动资源共享</a:t>
            </a:r>
            <a:r>
              <a:rPr lang="zh-CN" altLang="en-US" sz="1400" dirty="0">
                <a:solidFill>
                  <a:schemeClr val="tx1">
                    <a:lumMod val="75000"/>
                    <a:lumOff val="25000"/>
                  </a:schemeClr>
                </a:solidFill>
                <a:latin typeface="字魂手刻宋" panose="00000500000000000000" charset="-122"/>
                <a:ea typeface="字魂手刻宋" panose="00000500000000000000" charset="-122"/>
                <a:sym typeface="+mn-ea"/>
              </a:rPr>
              <a:t>、共赢等诸多层面指明了新的解题思路。</a:t>
            </a:r>
            <a:endParaRPr lang="zh-CN" altLang="en-US" sz="1400" dirty="0">
              <a:solidFill>
                <a:schemeClr val="tx1">
                  <a:lumMod val="75000"/>
                  <a:lumOff val="25000"/>
                </a:schemeClr>
              </a:solidFill>
              <a:latin typeface="字魂手刻宋" panose="00000500000000000000" charset="-122"/>
              <a:ea typeface="字魂手刻宋" panose="00000500000000000000" charset="-122"/>
              <a:sym typeface="+mn-ea"/>
            </a:endParaRPr>
          </a:p>
        </p:txBody>
      </p:sp>
      <p:sp>
        <p:nvSpPr>
          <p:cNvPr id="3" name="文本框 2"/>
          <p:cNvSpPr txBox="1"/>
          <p:nvPr/>
        </p:nvSpPr>
        <p:spPr>
          <a:xfrm>
            <a:off x="145415" y="69850"/>
            <a:ext cx="757555" cy="883285"/>
          </a:xfrm>
          <a:prstGeom prst="rect">
            <a:avLst/>
          </a:prstGeom>
          <a:noFill/>
        </p:spPr>
        <p:txBody>
          <a:bodyPr wrap="square">
            <a:noAutofit/>
          </a:bodyPr>
          <a:lstStyle/>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1</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lstStyle/>
          <a:p>
            <a:pPr algn="ctr"/>
            <a:endParaRPr lang="zh-CN" altLang="en-US">
              <a:solidFill>
                <a:schemeClr val="lt1"/>
              </a:solidFill>
              <a:latin typeface="字魂95号-手刻宋"/>
              <a:ea typeface="字魂95号-手刻宋"/>
            </a:endParaRPr>
          </a:p>
        </p:txBody>
      </p:sp>
      <p:sp>
        <p:nvSpPr>
          <p:cNvPr id="5" name="文本框 4"/>
          <p:cNvSpPr txBox="1"/>
          <p:nvPr/>
        </p:nvSpPr>
        <p:spPr>
          <a:xfrm>
            <a:off x="1584075" y="3227070"/>
            <a:ext cx="9116695" cy="769620"/>
          </a:xfrm>
          <a:prstGeom prst="rect">
            <a:avLst/>
          </a:prstGeom>
          <a:noFill/>
        </p:spPr>
        <p:txBody>
          <a:bodyPr wrap="square" lIns="90158" tIns="46984" rIns="90158" bIns="46984" anchor="ctr" anchorCtr="0">
            <a:spAutoFit/>
          </a:bodyPr>
          <a:lstStyle/>
          <a:p>
            <a:pPr lvl="0" algn="ctr"/>
            <a:r>
              <a:rPr 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rPr>
              <a:t>安环家平台概述</a:t>
            </a:r>
            <a:endParaRPr 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6" name="文本框 5"/>
          <p:cNvSpPr txBox="1"/>
          <p:nvPr/>
        </p:nvSpPr>
        <p:spPr>
          <a:xfrm>
            <a:off x="5338512" y="2057869"/>
            <a:ext cx="1607820" cy="521970"/>
          </a:xfrm>
          <a:prstGeom prst="rect">
            <a:avLst/>
          </a:prstGeom>
          <a:noFill/>
        </p:spPr>
        <p:txBody>
          <a:bodyPr wrap="none">
            <a:spAutoFit/>
          </a:bodyPr>
          <a:lstStyle/>
          <a:p>
            <a:r>
              <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rPr>
              <a:t>第二部分</a:t>
            </a:r>
            <a:endPar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4" name="矩形 3"/>
          <p:cNvSpPr/>
          <p:nvPr>
            <p:custDataLst>
              <p:tags r:id="rId1"/>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
        <p:nvSpPr>
          <p:cNvPr id="7" name="矩形 6"/>
          <p:cNvSpPr/>
          <p:nvPr>
            <p:custDataLst>
              <p:tags r:id="rId2"/>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5415" y="69850"/>
            <a:ext cx="757555" cy="883285"/>
          </a:xfrm>
          <a:prstGeom prst="rect">
            <a:avLst/>
          </a:prstGeom>
          <a:noFill/>
        </p:spPr>
        <p:txBody>
          <a:bodyPr wrap="square">
            <a:noAutofit/>
          </a:bodyPr>
          <a:lstStyle/>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2.1</a:t>
            </a:r>
            <a:endParaRPr lang="en-US" altLang="zh-CN" sz="3200" b="1" spc="150">
              <a:solidFill>
                <a:schemeClr val="bg1"/>
              </a:solidFill>
              <a:latin typeface="字魂手刻宋" panose="00000500000000000000" charset="-122"/>
              <a:ea typeface="字魂手刻宋" panose="00000500000000000000" charset="-122"/>
            </a:endParaRPr>
          </a:p>
        </p:txBody>
      </p:sp>
      <p:sp>
        <p:nvSpPr>
          <p:cNvPr id="4" name="文本框 3"/>
          <p:cNvSpPr txBox="1"/>
          <p:nvPr/>
        </p:nvSpPr>
        <p:spPr>
          <a:xfrm>
            <a:off x="962660" y="69850"/>
            <a:ext cx="5200650" cy="460375"/>
          </a:xfrm>
          <a:prstGeom prst="rect">
            <a:avLst/>
          </a:prstGeom>
          <a:noFill/>
        </p:spPr>
        <p:txBody>
          <a:bodyPr wrap="square">
            <a:spAutoFit/>
          </a:bodyPr>
          <a:lstStyle/>
          <a:p>
            <a:r>
              <a:rPr lang="zh-CN" altLang="en-US" sz="2400" b="1" spc="150" dirty="0">
                <a:solidFill>
                  <a:srgbClr val="0061AE"/>
                </a:solidFill>
                <a:latin typeface="字魂手刻宋" panose="00000500000000000000" charset="-122"/>
                <a:ea typeface="字魂手刻宋" panose="00000500000000000000" charset="-122"/>
              </a:rPr>
              <a:t>安环家平台定位</a:t>
            </a:r>
            <a:endParaRPr lang="zh-CN" altLang="en-US" sz="2400" b="1" spc="150" dirty="0">
              <a:solidFill>
                <a:srgbClr val="0061AE"/>
              </a:solidFill>
              <a:latin typeface="字魂手刻宋" panose="00000500000000000000" charset="-122"/>
              <a:ea typeface="字魂手刻宋" panose="00000500000000000000" charset="-122"/>
            </a:endParaRPr>
          </a:p>
        </p:txBody>
      </p:sp>
      <p:sp>
        <p:nvSpPr>
          <p:cNvPr id="10" name="文本框 9"/>
          <p:cNvSpPr txBox="1"/>
          <p:nvPr/>
        </p:nvSpPr>
        <p:spPr>
          <a:xfrm>
            <a:off x="944436" y="594812"/>
            <a:ext cx="10656971" cy="1060450"/>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安环家作为安全风险管理产业互联网平台，创新打造了以</a:t>
            </a: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rPr>
              <a:t>“一心六端”</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为核心应用的智能化产业新生态，通过交易中心紧密连接各方市场主体，赋能产业生态合作伙伴在</a:t>
            </a: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rPr>
              <a:t>业务、交易、技术、管理</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等领域的全面提升，各级金融监管端和应急监管端通过平台数据支撑，可高效解决监管过程中信息不畅、数据不准、反馈不及时、效率低下等治理难题，有效提升监管效能。</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38841" y="1989504"/>
            <a:ext cx="7101959" cy="476574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125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52006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安环家平台核心价值</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0" name="文本框 9"/>
          <p:cNvSpPr txBox="1"/>
          <p:nvPr/>
        </p:nvSpPr>
        <p:spPr>
          <a:xfrm>
            <a:off x="962660" y="621735"/>
            <a:ext cx="10656971" cy="1060450"/>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rPr>
              <a:t>平台通过撮合交易、综合赋能、深度服务的理念，运用互联网、物联网、大数据、人工智能等先进技术，将传统的安全生产管理方式转变为</a:t>
            </a:r>
            <a:r>
              <a:rPr lang="zh-CN" altLang="en-US" sz="1400" b="1" dirty="0">
                <a:solidFill>
                  <a:srgbClr val="0061AE"/>
                </a:solidFill>
                <a:latin typeface="字魂手刻宋" panose="00000500000000000000" charset="-122"/>
                <a:ea typeface="字魂手刻宋" panose="00000500000000000000" charset="-122"/>
              </a:rPr>
              <a:t>数字化、智能化、网络化的新型管理方式，深度挖掘和运用安全风险管理数据资源核心要素</a:t>
            </a:r>
            <a:r>
              <a:rPr lang="zh-CN" altLang="en-US" sz="1400" dirty="0">
                <a:solidFill>
                  <a:schemeClr val="tx1">
                    <a:lumMod val="75000"/>
                    <a:lumOff val="25000"/>
                  </a:schemeClr>
                </a:solidFill>
                <a:latin typeface="字魂手刻宋" panose="00000500000000000000" charset="-122"/>
                <a:ea typeface="字魂手刻宋" panose="00000500000000000000" charset="-122"/>
              </a:rPr>
              <a:t>，</a:t>
            </a:r>
            <a:r>
              <a:rPr lang="zh-CN" altLang="en-US" sz="1400" b="1" dirty="0">
                <a:solidFill>
                  <a:srgbClr val="054487"/>
                </a:solidFill>
                <a:latin typeface="字魂手刻宋" panose="00000500000000000000" charset="-122"/>
                <a:ea typeface="字魂手刻宋" panose="00000500000000000000" charset="-122"/>
              </a:rPr>
              <a:t>对安全风险管理产业链进行深度整合与重构</a:t>
            </a:r>
            <a:r>
              <a:rPr lang="zh-CN" altLang="en-US" sz="1400" dirty="0">
                <a:solidFill>
                  <a:schemeClr val="tx1">
                    <a:lumMod val="75000"/>
                    <a:lumOff val="25000"/>
                  </a:schemeClr>
                </a:solidFill>
                <a:latin typeface="字魂手刻宋" panose="00000500000000000000" charset="-122"/>
                <a:ea typeface="字魂手刻宋" panose="00000500000000000000" charset="-122"/>
              </a:rPr>
              <a:t>，致力于实现数据价值最大化，为政府决策、企业运营、数字经济发展等提供有力支持。</a:t>
            </a:r>
            <a:endParaRPr lang="zh-CN" altLang="en-US" sz="1400" dirty="0">
              <a:solidFill>
                <a:schemeClr val="tx1">
                  <a:lumMod val="75000"/>
                  <a:lumOff val="25000"/>
                </a:schemeClr>
              </a:solidFill>
              <a:latin typeface="字魂手刻宋" panose="00000500000000000000" charset="-122"/>
              <a:ea typeface="字魂手刻宋" panose="00000500000000000000" charset="-122"/>
            </a:endParaRPr>
          </a:p>
        </p:txBody>
      </p:sp>
      <p:grpSp>
        <p:nvGrpSpPr>
          <p:cNvPr id="5" name="组合 4"/>
          <p:cNvGrpSpPr/>
          <p:nvPr>
            <p:custDataLst>
              <p:tags r:id="rId1"/>
            </p:custDataLst>
          </p:nvPr>
        </p:nvGrpSpPr>
        <p:grpSpPr>
          <a:xfrm>
            <a:off x="433070" y="2493645"/>
            <a:ext cx="11438255" cy="3492500"/>
            <a:chOff x="682" y="3927"/>
            <a:chExt cx="18013" cy="5500"/>
          </a:xfrm>
        </p:grpSpPr>
        <p:sp>
          <p:nvSpPr>
            <p:cNvPr id="16" name="矩形 15"/>
            <p:cNvSpPr/>
            <p:nvPr>
              <p:custDataLst>
                <p:tags r:id="rId2"/>
              </p:custDataLst>
            </p:nvPr>
          </p:nvSpPr>
          <p:spPr>
            <a:xfrm>
              <a:off x="682" y="3927"/>
              <a:ext cx="3994" cy="5500"/>
            </a:xfrm>
            <a:prstGeom prst="rect">
              <a:avLst/>
            </a:prstGeom>
            <a:solidFill>
              <a:schemeClr val="bg1"/>
            </a:solidFill>
            <a:ln>
              <a:no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sp>
          <p:nvSpPr>
            <p:cNvPr id="17" name="文本框 16"/>
            <p:cNvSpPr txBox="1"/>
            <p:nvPr>
              <p:custDataLst>
                <p:tags r:id="rId3"/>
              </p:custDataLst>
            </p:nvPr>
          </p:nvSpPr>
          <p:spPr>
            <a:xfrm>
              <a:off x="774" y="7404"/>
              <a:ext cx="3809" cy="1743"/>
            </a:xfrm>
            <a:prstGeom prst="rect">
              <a:avLst/>
            </a:prstGeom>
            <a:noFill/>
          </p:spPr>
          <p:txBody>
            <a:bodyPr wrap="square">
              <a:spAutoFit/>
            </a:bodyPr>
            <a:lstStyle/>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20</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年行业经验资源</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84</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个绍分行业市场机会</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200</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项业务能力支持</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120000</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家工矿商贸企业数据</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p:txBody>
        </p:sp>
        <p:sp>
          <p:nvSpPr>
            <p:cNvPr id="18" name="文本框 17"/>
            <p:cNvSpPr txBox="1"/>
            <p:nvPr>
              <p:custDataLst>
                <p:tags r:id="rId4"/>
              </p:custDataLst>
            </p:nvPr>
          </p:nvSpPr>
          <p:spPr>
            <a:xfrm>
              <a:off x="932" y="6786"/>
              <a:ext cx="3493" cy="652"/>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rPr>
                <a:t>业务赋能</a:t>
              </a:r>
              <a:endPar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19" name="矩形 18"/>
            <p:cNvSpPr/>
            <p:nvPr>
              <p:custDataLst>
                <p:tags r:id="rId5"/>
              </p:custDataLst>
            </p:nvPr>
          </p:nvSpPr>
          <p:spPr>
            <a:xfrm>
              <a:off x="682" y="3927"/>
              <a:ext cx="3994" cy="85"/>
            </a:xfrm>
            <a:prstGeom prst="rect">
              <a:avLst/>
            </a:prstGeom>
            <a:gradFill flip="none" rotWithShape="1">
              <a:gsLst>
                <a:gs pos="0">
                  <a:srgbClr val="95D3F6"/>
                </a:gs>
                <a:gs pos="100000">
                  <a:srgbClr val="1B9AE4"/>
                </a:gs>
              </a:gsLst>
              <a:lin ang="2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grpSp>
          <p:nvGrpSpPr>
            <p:cNvPr id="52" name="组合 51"/>
            <p:cNvGrpSpPr/>
            <p:nvPr>
              <p:custDataLst>
                <p:tags r:id="rId6"/>
              </p:custDataLst>
            </p:nvPr>
          </p:nvGrpSpPr>
          <p:grpSpPr>
            <a:xfrm>
              <a:off x="1552" y="4309"/>
              <a:ext cx="2253" cy="2253"/>
              <a:chOff x="1767864" y="2617880"/>
              <a:chExt cx="1430512" cy="1430510"/>
            </a:xfrm>
          </p:grpSpPr>
          <p:sp>
            <p:nvSpPr>
              <p:cNvPr id="20" name="椭圆 19"/>
              <p:cNvSpPr/>
              <p:nvPr>
                <p:custDataLst>
                  <p:tags r:id="rId7"/>
                </p:custDataLst>
              </p:nvPr>
            </p:nvSpPr>
            <p:spPr>
              <a:xfrm>
                <a:off x="1767864" y="2617880"/>
                <a:ext cx="1430512" cy="1430510"/>
              </a:xfrm>
              <a:prstGeom prst="ellipse">
                <a:avLst/>
              </a:prstGeom>
              <a:solidFill>
                <a:srgbClr val="0090D5">
                  <a:alpha val="6000"/>
                </a:srgbClr>
              </a:solidFill>
              <a:ln>
                <a:solidFill>
                  <a:schemeClr val="bg1"/>
                </a:solidFill>
              </a:ln>
              <a:effectLst>
                <a:innerShdw blurRad="50800" dist="12700" dir="135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sym typeface="思源黑体 CN Normal" panose="020B0400000000000000" pitchFamily="34" charset="-122"/>
                </a:endParaRPr>
              </a:p>
            </p:txBody>
          </p:sp>
          <p:sp>
            <p:nvSpPr>
              <p:cNvPr id="21" name="椭圆 20"/>
              <p:cNvSpPr/>
              <p:nvPr>
                <p:custDataLst>
                  <p:tags r:id="rId8"/>
                </p:custDataLst>
              </p:nvPr>
            </p:nvSpPr>
            <p:spPr>
              <a:xfrm>
                <a:off x="1916959" y="2766975"/>
                <a:ext cx="1132322" cy="1132321"/>
              </a:xfrm>
              <a:prstGeom prst="ellipse">
                <a:avLst/>
              </a:prstGeom>
              <a:gradFill flip="none" rotWithShape="1">
                <a:gsLst>
                  <a:gs pos="0">
                    <a:srgbClr val="007BD3"/>
                  </a:gs>
                  <a:gs pos="100000">
                    <a:srgbClr val="1B9AE4"/>
                  </a:gs>
                </a:gsLst>
                <a:lin ang="2700000" scaled="0"/>
                <a:tileRect/>
              </a:gradFill>
              <a:ln>
                <a:noFill/>
              </a:ln>
              <a:effectLst>
                <a:outerShdw blurRad="101600" dist="38100" dir="2700000" algn="tl" rotWithShape="0">
                  <a:srgbClr val="0B54A2">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solidFill>
                    <a:schemeClr val="bg1"/>
                  </a:solidFill>
                  <a:latin typeface="字魂手刻宋" panose="00000500000000000000" charset="-122"/>
                  <a:ea typeface="字魂手刻宋" panose="00000500000000000000" charset="-122"/>
                  <a:cs typeface="Aa楷体" panose="02000500000000000000" pitchFamily="2" charset="-122"/>
                  <a:sym typeface="思源黑体 CN Normal" panose="020B0400000000000000" pitchFamily="34" charset="-122"/>
                </a:endParaRPr>
              </a:p>
            </p:txBody>
          </p:sp>
        </p:grpSp>
        <p:pic>
          <p:nvPicPr>
            <p:cNvPr id="54" name="图形 53"/>
            <p:cNvPicPr>
              <a:picLocks noChangeAspect="1"/>
            </p:cNvPicPr>
            <p:nvPr>
              <p:custDataLst>
                <p:tags r:id="rId9"/>
              </p:custDataLst>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69" y="5025"/>
              <a:ext cx="820" cy="820"/>
            </a:xfrm>
            <a:prstGeom prst="rect">
              <a:avLst/>
            </a:prstGeom>
          </p:spPr>
        </p:pic>
        <p:sp>
          <p:nvSpPr>
            <p:cNvPr id="55" name="矩形 54"/>
            <p:cNvSpPr/>
            <p:nvPr>
              <p:custDataLst>
                <p:tags r:id="rId12"/>
              </p:custDataLst>
            </p:nvPr>
          </p:nvSpPr>
          <p:spPr>
            <a:xfrm>
              <a:off x="5377" y="3927"/>
              <a:ext cx="3994" cy="5500"/>
            </a:xfrm>
            <a:prstGeom prst="rect">
              <a:avLst/>
            </a:prstGeom>
            <a:solidFill>
              <a:schemeClr val="bg1"/>
            </a:solidFill>
            <a:ln>
              <a:no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sp>
          <p:nvSpPr>
            <p:cNvPr id="56" name="文本框 55"/>
            <p:cNvSpPr txBox="1"/>
            <p:nvPr>
              <p:custDataLst>
                <p:tags r:id="rId13"/>
              </p:custDataLst>
            </p:nvPr>
          </p:nvSpPr>
          <p:spPr>
            <a:xfrm>
              <a:off x="5470" y="7404"/>
              <a:ext cx="3809" cy="1743"/>
            </a:xfrm>
            <a:prstGeom prst="rect">
              <a:avLst/>
            </a:prstGeom>
            <a:noFill/>
          </p:spPr>
          <p:txBody>
            <a:bodyPr wrap="square">
              <a:spAutoFit/>
            </a:bodyPr>
            <a:lstStyle/>
            <a:p>
              <a:pPr algn="ctr">
                <a:lnSpc>
                  <a:spcPct val="150000"/>
                </a:lnSpc>
              </a:pP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rPr>
                <a:t>企畅付资金管理服务</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endParaRPr>
            </a:p>
            <a:p>
              <a:pPr algn="ctr">
                <a:lnSpc>
                  <a:spcPct val="150000"/>
                </a:lnSpc>
              </a:pP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rPr>
                <a:t>电子发票基础功能</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endParaRPr>
            </a:p>
            <a:p>
              <a:pPr algn="ctr">
                <a:lnSpc>
                  <a:spcPct val="150000"/>
                </a:lnSpc>
              </a:pP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rPr>
                <a:t>电子化签约平台</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endParaRPr>
            </a:p>
            <a:p>
              <a:pPr algn="ctr">
                <a:lnSpc>
                  <a:spcPct val="150000"/>
                </a:lnSpc>
              </a:pP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rPr>
                <a:t>平台统一规则协议管理</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sym typeface="思源黑体 CN Normal" panose="020B0400000000000000" pitchFamily="34" charset="-122"/>
              </a:endParaRPr>
            </a:p>
          </p:txBody>
        </p:sp>
        <p:sp>
          <p:nvSpPr>
            <p:cNvPr id="57" name="文本框 56"/>
            <p:cNvSpPr txBox="1"/>
            <p:nvPr>
              <p:custDataLst>
                <p:tags r:id="rId14"/>
              </p:custDataLst>
            </p:nvPr>
          </p:nvSpPr>
          <p:spPr>
            <a:xfrm>
              <a:off x="5628" y="6786"/>
              <a:ext cx="3493" cy="652"/>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rPr>
                <a:t>交易赋能</a:t>
              </a:r>
              <a:endPar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58" name="矩形 57"/>
            <p:cNvSpPr/>
            <p:nvPr>
              <p:custDataLst>
                <p:tags r:id="rId15"/>
              </p:custDataLst>
            </p:nvPr>
          </p:nvSpPr>
          <p:spPr>
            <a:xfrm>
              <a:off x="5377" y="3927"/>
              <a:ext cx="3994" cy="85"/>
            </a:xfrm>
            <a:prstGeom prst="rect">
              <a:avLst/>
            </a:prstGeom>
            <a:gradFill flip="none" rotWithShape="1">
              <a:gsLst>
                <a:gs pos="0">
                  <a:srgbClr val="95D3F6"/>
                </a:gs>
                <a:gs pos="100000">
                  <a:srgbClr val="1B9AE4"/>
                </a:gs>
              </a:gsLst>
              <a:lin ang="2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grpSp>
          <p:nvGrpSpPr>
            <p:cNvPr id="59" name="组合 58"/>
            <p:cNvGrpSpPr/>
            <p:nvPr>
              <p:custDataLst>
                <p:tags r:id="rId16"/>
              </p:custDataLst>
            </p:nvPr>
          </p:nvGrpSpPr>
          <p:grpSpPr>
            <a:xfrm>
              <a:off x="6248" y="4309"/>
              <a:ext cx="2253" cy="2253"/>
              <a:chOff x="1767864" y="2617880"/>
              <a:chExt cx="1430512" cy="1430510"/>
            </a:xfrm>
          </p:grpSpPr>
          <p:sp>
            <p:nvSpPr>
              <p:cNvPr id="60" name="椭圆 59"/>
              <p:cNvSpPr/>
              <p:nvPr>
                <p:custDataLst>
                  <p:tags r:id="rId17"/>
                </p:custDataLst>
              </p:nvPr>
            </p:nvSpPr>
            <p:spPr>
              <a:xfrm>
                <a:off x="1767864" y="2617880"/>
                <a:ext cx="1430512" cy="1430510"/>
              </a:xfrm>
              <a:prstGeom prst="ellipse">
                <a:avLst/>
              </a:prstGeom>
              <a:solidFill>
                <a:srgbClr val="0090D5">
                  <a:alpha val="6000"/>
                </a:srgbClr>
              </a:solidFill>
              <a:ln>
                <a:solidFill>
                  <a:schemeClr val="bg1"/>
                </a:solidFill>
              </a:ln>
              <a:effectLst>
                <a:innerShdw blurRad="50800" dist="12700" dir="135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sym typeface="思源黑体 CN Normal" panose="020B0400000000000000" pitchFamily="34" charset="-122"/>
                </a:endParaRPr>
              </a:p>
            </p:txBody>
          </p:sp>
          <p:sp>
            <p:nvSpPr>
              <p:cNvPr id="61" name="椭圆 60"/>
              <p:cNvSpPr/>
              <p:nvPr>
                <p:custDataLst>
                  <p:tags r:id="rId18"/>
                </p:custDataLst>
              </p:nvPr>
            </p:nvSpPr>
            <p:spPr>
              <a:xfrm>
                <a:off x="1916959" y="2766975"/>
                <a:ext cx="1132322" cy="1132321"/>
              </a:xfrm>
              <a:prstGeom prst="ellipse">
                <a:avLst/>
              </a:prstGeom>
              <a:gradFill flip="none" rotWithShape="1">
                <a:gsLst>
                  <a:gs pos="0">
                    <a:srgbClr val="007BD3"/>
                  </a:gs>
                  <a:gs pos="100000">
                    <a:srgbClr val="1B9AE4"/>
                  </a:gs>
                </a:gsLst>
                <a:lin ang="2700000" scaled="0"/>
                <a:tileRect/>
              </a:gradFill>
              <a:ln>
                <a:noFill/>
              </a:ln>
              <a:effectLst>
                <a:outerShdw blurRad="101600" dist="38100" dir="2700000" algn="tl" rotWithShape="0">
                  <a:srgbClr val="0B54A2">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solidFill>
                    <a:schemeClr val="bg1"/>
                  </a:solidFill>
                  <a:latin typeface="字魂手刻宋" panose="00000500000000000000" charset="-122"/>
                  <a:ea typeface="字魂手刻宋" panose="00000500000000000000" charset="-122"/>
                  <a:cs typeface="Aa楷体" panose="02000500000000000000" pitchFamily="2" charset="-122"/>
                  <a:sym typeface="思源黑体 CN Normal" panose="020B0400000000000000" pitchFamily="34" charset="-122"/>
                </a:endParaRPr>
              </a:p>
            </p:txBody>
          </p:sp>
        </p:grpSp>
        <p:sp>
          <p:nvSpPr>
            <p:cNvPr id="63" name="矩形 62"/>
            <p:cNvSpPr/>
            <p:nvPr>
              <p:custDataLst>
                <p:tags r:id="rId19"/>
              </p:custDataLst>
            </p:nvPr>
          </p:nvSpPr>
          <p:spPr>
            <a:xfrm>
              <a:off x="10005" y="3927"/>
              <a:ext cx="3994" cy="5500"/>
            </a:xfrm>
            <a:prstGeom prst="rect">
              <a:avLst/>
            </a:prstGeom>
            <a:solidFill>
              <a:schemeClr val="bg1"/>
            </a:solidFill>
            <a:ln>
              <a:no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sp>
          <p:nvSpPr>
            <p:cNvPr id="64" name="文本框 63"/>
            <p:cNvSpPr txBox="1"/>
            <p:nvPr>
              <p:custDataLst>
                <p:tags r:id="rId20"/>
              </p:custDataLst>
            </p:nvPr>
          </p:nvSpPr>
          <p:spPr>
            <a:xfrm>
              <a:off x="10098" y="7404"/>
              <a:ext cx="3809" cy="1743"/>
            </a:xfrm>
            <a:prstGeom prst="rect">
              <a:avLst/>
            </a:prstGeom>
            <a:noFill/>
          </p:spPr>
          <p:txBody>
            <a:bodyPr wrap="square">
              <a:spAutoFit/>
            </a:bodyPr>
            <a:lstStyle/>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4</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大多重盈利展业工具</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5</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大协同办公能力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9</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大人力</a:t>
              </a: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财务管理能力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1</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整套企微集成能力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p:txBody>
        </p:sp>
        <p:sp>
          <p:nvSpPr>
            <p:cNvPr id="65" name="文本框 64"/>
            <p:cNvSpPr txBox="1"/>
            <p:nvPr>
              <p:custDataLst>
                <p:tags r:id="rId21"/>
              </p:custDataLst>
            </p:nvPr>
          </p:nvSpPr>
          <p:spPr>
            <a:xfrm>
              <a:off x="10256" y="6786"/>
              <a:ext cx="3493" cy="652"/>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rPr>
                <a:t>管理赋能</a:t>
              </a:r>
              <a:endPar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66" name="矩形 65"/>
            <p:cNvSpPr/>
            <p:nvPr>
              <p:custDataLst>
                <p:tags r:id="rId22"/>
              </p:custDataLst>
            </p:nvPr>
          </p:nvSpPr>
          <p:spPr>
            <a:xfrm>
              <a:off x="10005" y="3927"/>
              <a:ext cx="3994" cy="85"/>
            </a:xfrm>
            <a:prstGeom prst="rect">
              <a:avLst/>
            </a:prstGeom>
            <a:gradFill flip="none" rotWithShape="1">
              <a:gsLst>
                <a:gs pos="0">
                  <a:srgbClr val="95D3F6"/>
                </a:gs>
                <a:gs pos="100000">
                  <a:srgbClr val="1B9AE4"/>
                </a:gs>
              </a:gsLst>
              <a:lin ang="2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grpSp>
          <p:nvGrpSpPr>
            <p:cNvPr id="67" name="组合 66"/>
            <p:cNvGrpSpPr/>
            <p:nvPr>
              <p:custDataLst>
                <p:tags r:id="rId23"/>
              </p:custDataLst>
            </p:nvPr>
          </p:nvGrpSpPr>
          <p:grpSpPr>
            <a:xfrm>
              <a:off x="10876" y="4309"/>
              <a:ext cx="2253" cy="2253"/>
              <a:chOff x="1767864" y="2617880"/>
              <a:chExt cx="1430512" cy="1430510"/>
            </a:xfrm>
          </p:grpSpPr>
          <p:sp>
            <p:nvSpPr>
              <p:cNvPr id="68" name="椭圆 67"/>
              <p:cNvSpPr/>
              <p:nvPr>
                <p:custDataLst>
                  <p:tags r:id="rId24"/>
                </p:custDataLst>
              </p:nvPr>
            </p:nvSpPr>
            <p:spPr>
              <a:xfrm>
                <a:off x="1767864" y="2617880"/>
                <a:ext cx="1430512" cy="1430510"/>
              </a:xfrm>
              <a:prstGeom prst="ellipse">
                <a:avLst/>
              </a:prstGeom>
              <a:solidFill>
                <a:srgbClr val="0090D5">
                  <a:alpha val="6000"/>
                </a:srgbClr>
              </a:solidFill>
              <a:ln>
                <a:solidFill>
                  <a:schemeClr val="bg1"/>
                </a:solidFill>
              </a:ln>
              <a:effectLst>
                <a:innerShdw blurRad="50800" dist="12700" dir="135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sym typeface="思源黑体 CN Normal" panose="020B0400000000000000" pitchFamily="34" charset="-122"/>
                </a:endParaRPr>
              </a:p>
            </p:txBody>
          </p:sp>
          <p:sp>
            <p:nvSpPr>
              <p:cNvPr id="69" name="椭圆 68"/>
              <p:cNvSpPr/>
              <p:nvPr>
                <p:custDataLst>
                  <p:tags r:id="rId25"/>
                </p:custDataLst>
              </p:nvPr>
            </p:nvSpPr>
            <p:spPr>
              <a:xfrm>
                <a:off x="1916959" y="2766975"/>
                <a:ext cx="1132322" cy="1132321"/>
              </a:xfrm>
              <a:prstGeom prst="ellipse">
                <a:avLst/>
              </a:prstGeom>
              <a:gradFill flip="none" rotWithShape="1">
                <a:gsLst>
                  <a:gs pos="0">
                    <a:srgbClr val="007BD3"/>
                  </a:gs>
                  <a:gs pos="100000">
                    <a:srgbClr val="1B9AE4"/>
                  </a:gs>
                </a:gsLst>
                <a:lin ang="2700000" scaled="0"/>
                <a:tileRect/>
              </a:gradFill>
              <a:ln>
                <a:noFill/>
              </a:ln>
              <a:effectLst>
                <a:outerShdw blurRad="101600" dist="38100" dir="2700000" algn="tl" rotWithShape="0">
                  <a:srgbClr val="0B54A2">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solidFill>
                    <a:schemeClr val="bg1"/>
                  </a:solidFill>
                  <a:latin typeface="字魂手刻宋" panose="00000500000000000000" charset="-122"/>
                  <a:ea typeface="字魂手刻宋" panose="00000500000000000000" charset="-122"/>
                  <a:cs typeface="Aa楷体" panose="02000500000000000000" pitchFamily="2" charset="-122"/>
                  <a:sym typeface="思源黑体 CN Normal" panose="020B0400000000000000" pitchFamily="34" charset="-122"/>
                </a:endParaRPr>
              </a:p>
            </p:txBody>
          </p:sp>
        </p:grpSp>
        <p:sp>
          <p:nvSpPr>
            <p:cNvPr id="71" name="矩形 70"/>
            <p:cNvSpPr/>
            <p:nvPr>
              <p:custDataLst>
                <p:tags r:id="rId26"/>
              </p:custDataLst>
            </p:nvPr>
          </p:nvSpPr>
          <p:spPr>
            <a:xfrm>
              <a:off x="14701" y="3927"/>
              <a:ext cx="3994" cy="5500"/>
            </a:xfrm>
            <a:prstGeom prst="rect">
              <a:avLst/>
            </a:prstGeom>
            <a:solidFill>
              <a:schemeClr val="bg1"/>
            </a:solidFill>
            <a:ln>
              <a:no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sp>
          <p:nvSpPr>
            <p:cNvPr id="72" name="文本框 71"/>
            <p:cNvSpPr txBox="1"/>
            <p:nvPr>
              <p:custDataLst>
                <p:tags r:id="rId27"/>
              </p:custDataLst>
            </p:nvPr>
          </p:nvSpPr>
          <p:spPr>
            <a:xfrm>
              <a:off x="14793" y="7404"/>
              <a:ext cx="3809" cy="1743"/>
            </a:xfrm>
            <a:prstGeom prst="rect">
              <a:avLst/>
            </a:prstGeom>
            <a:noFill/>
          </p:spPr>
          <p:txBody>
            <a:bodyPr wrap="square">
              <a:spAutoFit/>
            </a:bodyPr>
            <a:lstStyle/>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3</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大项目协同</a:t>
              </a: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数据决策能力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4</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大平台数据模型能力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安全领域商业</a:t>
              </a:r>
              <a:r>
                <a:rPr lang="en-US" altLang="zh-CN"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BI</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a:p>
              <a:pPr algn="ctr">
                <a:lnSpc>
                  <a:spcPct val="150000"/>
                </a:lnSpc>
              </a:pPr>
              <a:r>
                <a:rPr 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5</a:t>
              </a:r>
              <a:r>
                <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rPr>
                <a:t>大数据库及知识库输出能力</a:t>
              </a:r>
              <a:endParaRPr lang="zh-CN" altLang="en-US" sz="1100" kern="1400" spc="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思源黑体 CN Normal" panose="020B0400000000000000" pitchFamily="34" charset="-122"/>
              </a:endParaRPr>
            </a:p>
          </p:txBody>
        </p:sp>
        <p:sp>
          <p:nvSpPr>
            <p:cNvPr id="73" name="文本框 72"/>
            <p:cNvSpPr txBox="1"/>
            <p:nvPr>
              <p:custDataLst>
                <p:tags r:id="rId28"/>
              </p:custDataLst>
            </p:nvPr>
          </p:nvSpPr>
          <p:spPr>
            <a:xfrm>
              <a:off x="14951" y="6786"/>
              <a:ext cx="3493" cy="652"/>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rPr>
                <a:t>数据赋能</a:t>
              </a:r>
              <a:endParaRPr lang="zh-CN" altLang="en-US" b="1" dirty="0">
                <a:solidFill>
                  <a:srgbClr val="0061AE"/>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74" name="矩形 73"/>
            <p:cNvSpPr/>
            <p:nvPr>
              <p:custDataLst>
                <p:tags r:id="rId29"/>
              </p:custDataLst>
            </p:nvPr>
          </p:nvSpPr>
          <p:spPr>
            <a:xfrm>
              <a:off x="14701" y="3927"/>
              <a:ext cx="3994" cy="85"/>
            </a:xfrm>
            <a:prstGeom prst="rect">
              <a:avLst/>
            </a:prstGeom>
            <a:gradFill flip="none" rotWithShape="1">
              <a:gsLst>
                <a:gs pos="0">
                  <a:srgbClr val="95D3F6"/>
                </a:gs>
                <a:gs pos="100000">
                  <a:srgbClr val="1B9AE4"/>
                </a:gs>
              </a:gsLst>
              <a:lin ang="2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字魂手刻宋" panose="00000500000000000000" charset="-122"/>
                <a:ea typeface="字魂手刻宋" panose="00000500000000000000" charset="-122"/>
                <a:sym typeface="思源黑体 CN Normal" panose="020B0400000000000000" pitchFamily="34" charset="-122"/>
              </a:endParaRPr>
            </a:p>
          </p:txBody>
        </p:sp>
        <p:grpSp>
          <p:nvGrpSpPr>
            <p:cNvPr id="75" name="组合 74"/>
            <p:cNvGrpSpPr/>
            <p:nvPr>
              <p:custDataLst>
                <p:tags r:id="rId30"/>
              </p:custDataLst>
            </p:nvPr>
          </p:nvGrpSpPr>
          <p:grpSpPr>
            <a:xfrm>
              <a:off x="15571" y="4309"/>
              <a:ext cx="2253" cy="2253"/>
              <a:chOff x="1767864" y="2617880"/>
              <a:chExt cx="1430512" cy="1430510"/>
            </a:xfrm>
          </p:grpSpPr>
          <p:sp>
            <p:nvSpPr>
              <p:cNvPr id="76" name="椭圆 75"/>
              <p:cNvSpPr/>
              <p:nvPr>
                <p:custDataLst>
                  <p:tags r:id="rId31"/>
                </p:custDataLst>
              </p:nvPr>
            </p:nvSpPr>
            <p:spPr>
              <a:xfrm>
                <a:off x="1767864" y="2617880"/>
                <a:ext cx="1430512" cy="1430510"/>
              </a:xfrm>
              <a:prstGeom prst="ellipse">
                <a:avLst/>
              </a:prstGeom>
              <a:solidFill>
                <a:srgbClr val="0090D5">
                  <a:alpha val="6000"/>
                </a:srgbClr>
              </a:solidFill>
              <a:ln>
                <a:solidFill>
                  <a:schemeClr val="bg1"/>
                </a:solidFill>
              </a:ln>
              <a:effectLst>
                <a:innerShdw blurRad="50800" dist="12700" dir="135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sym typeface="思源黑体 CN Normal" panose="020B0400000000000000" pitchFamily="34" charset="-122"/>
                </a:endParaRPr>
              </a:p>
            </p:txBody>
          </p:sp>
          <p:sp>
            <p:nvSpPr>
              <p:cNvPr id="77" name="椭圆 76"/>
              <p:cNvSpPr/>
              <p:nvPr>
                <p:custDataLst>
                  <p:tags r:id="rId32"/>
                </p:custDataLst>
              </p:nvPr>
            </p:nvSpPr>
            <p:spPr>
              <a:xfrm>
                <a:off x="1916959" y="2766975"/>
                <a:ext cx="1132322" cy="1132321"/>
              </a:xfrm>
              <a:prstGeom prst="ellipse">
                <a:avLst/>
              </a:prstGeom>
              <a:gradFill flip="none" rotWithShape="1">
                <a:gsLst>
                  <a:gs pos="0">
                    <a:srgbClr val="007BD3"/>
                  </a:gs>
                  <a:gs pos="100000">
                    <a:srgbClr val="1B9AE4"/>
                  </a:gs>
                </a:gsLst>
                <a:lin ang="2700000" scaled="0"/>
                <a:tileRect/>
              </a:gradFill>
              <a:ln>
                <a:noFill/>
              </a:ln>
              <a:effectLst>
                <a:outerShdw blurRad="101600" dist="38100" dir="2700000" algn="tl" rotWithShape="0">
                  <a:srgbClr val="0B54A2">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solidFill>
                    <a:schemeClr val="bg1"/>
                  </a:solidFill>
                  <a:latin typeface="字魂手刻宋" panose="00000500000000000000" charset="-122"/>
                  <a:ea typeface="字魂手刻宋" panose="00000500000000000000" charset="-122"/>
                  <a:cs typeface="Aa楷体" panose="02000500000000000000" pitchFamily="2" charset="-122"/>
                  <a:sym typeface="思源黑体 CN Normal" panose="020B0400000000000000" pitchFamily="34" charset="-122"/>
                </a:endParaRPr>
              </a:p>
            </p:txBody>
          </p:sp>
        </p:grpSp>
        <p:pic>
          <p:nvPicPr>
            <p:cNvPr id="80" name="图形 79"/>
            <p:cNvPicPr>
              <a:picLocks noChangeAspect="1"/>
            </p:cNvPicPr>
            <p:nvPr>
              <p:custDataLst>
                <p:tags r:id="rId33"/>
              </p:custDataLst>
            </p:nvPr>
          </p:nvPicPr>
          <p:blipFill>
            <a:blip r:embed="rId34" cstate="print">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906" y="4932"/>
              <a:ext cx="958" cy="958"/>
            </a:xfrm>
            <a:prstGeom prst="rect">
              <a:avLst/>
            </a:prstGeom>
          </p:spPr>
        </p:pic>
        <p:pic>
          <p:nvPicPr>
            <p:cNvPr id="82" name="图形 81"/>
            <p:cNvPicPr>
              <a:picLocks noChangeAspect="1"/>
            </p:cNvPicPr>
            <p:nvPr>
              <p:custDataLst>
                <p:tags r:id="rId36"/>
              </p:custDataLst>
            </p:nvPr>
          </p:nvPicPr>
          <p:blipFill>
            <a:blip r:embed="rId37" cstate="print">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11639" y="5047"/>
              <a:ext cx="727" cy="727"/>
            </a:xfrm>
            <a:prstGeom prst="rect">
              <a:avLst/>
            </a:prstGeom>
          </p:spPr>
        </p:pic>
        <p:pic>
          <p:nvPicPr>
            <p:cNvPr id="84" name="图形 83"/>
            <p:cNvPicPr>
              <a:picLocks noChangeAspect="1"/>
            </p:cNvPicPr>
            <p:nvPr>
              <p:custDataLst>
                <p:tags r:id="rId39"/>
              </p:custDataLst>
            </p:nvPr>
          </p:nvPicPr>
          <p:blipFill>
            <a:blip r:embed="rId40" cstate="print">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16298" y="5000"/>
              <a:ext cx="799" cy="799"/>
            </a:xfrm>
            <a:prstGeom prst="rect">
              <a:avLst/>
            </a:prstGeom>
          </p:spPr>
        </p:pic>
      </p:grpSp>
      <p:sp>
        <p:nvSpPr>
          <p:cNvPr id="2" name="文本框 1"/>
          <p:cNvSpPr txBox="1"/>
          <p:nvPr/>
        </p:nvSpPr>
        <p:spPr>
          <a:xfrm>
            <a:off x="30480" y="69850"/>
            <a:ext cx="872490" cy="883285"/>
          </a:xfrm>
          <a:prstGeom prst="rect">
            <a:avLst/>
          </a:prstGeom>
          <a:noFill/>
        </p:spPr>
        <p:txBody>
          <a:bodyPr wrap="square">
            <a:noAutofit/>
          </a:bodyPr>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2.2</a:t>
            </a:r>
            <a:endParaRPr lang="en-US" altLang="zh-CN" sz="3200" b="1" spc="150">
              <a:solidFill>
                <a:schemeClr val="bg1"/>
              </a:solidFill>
              <a:latin typeface="字魂手刻宋" panose="00000500000000000000" charset="-122"/>
              <a:ea typeface="字魂手刻宋" panose="00000500000000000000" charset="-122"/>
            </a:endParaRPr>
          </a:p>
        </p:txBody>
      </p:sp>
    </p:spTree>
    <p:custDataLst>
      <p:tags r:id="rId42"/>
    </p:custDataLst>
  </p:cSld>
  <p:clrMapOvr>
    <a:masterClrMapping/>
  </p:clrMapOvr>
  <mc:AlternateContent xmlns:mc="http://schemas.openxmlformats.org/markup-compatibility/2006">
    <mc:Choice xmlns:p14="http://schemas.microsoft.com/office/powerpoint/2010/main" Requires="p14">
      <p:transition p14:dur="125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52006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安环家平台整体建设情况</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0" name="文本框 9"/>
          <p:cNvSpPr txBox="1"/>
          <p:nvPr/>
        </p:nvSpPr>
        <p:spPr>
          <a:xfrm>
            <a:off x="550719" y="693738"/>
            <a:ext cx="5067495" cy="2676525"/>
          </a:xfrm>
          <a:prstGeom prst="rect">
            <a:avLst/>
          </a:prstGeom>
          <a:noFill/>
        </p:spPr>
        <p:txBody>
          <a:bodyPr wrap="square" rtlCol="0">
            <a:spAutoFit/>
          </a:bodyPr>
          <a:lstStyle/>
          <a:p>
            <a:pPr>
              <a:lnSpc>
                <a:spcPct val="200000"/>
              </a:lnSpc>
            </a:pP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安环家作为双跨产业互联网平台，也是安全风险管理的产业大脑，致力于构筑安全风险管理行业“数字底座”</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深度服务安全风险管理行业每一个生态角色（政府监管部门、服务机构、保险机构、安全风险管理师、灵活用工平台、安全培训机构、安全防护用品厂商、安全科技用品厂商等），全面助力行业深度链接和高质量跨越式发展。</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51190" y="1004022"/>
            <a:ext cx="5689194" cy="5290081"/>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组合 13"/>
          <p:cNvGrpSpPr/>
          <p:nvPr/>
        </p:nvGrpSpPr>
        <p:grpSpPr>
          <a:xfrm>
            <a:off x="403860" y="3357880"/>
            <a:ext cx="5069840" cy="2897505"/>
            <a:chOff x="636" y="5288"/>
            <a:chExt cx="7984" cy="4563"/>
          </a:xfrm>
        </p:grpSpPr>
        <p:sp>
          <p:nvSpPr>
            <p:cNvPr id="2" name="矩形 1"/>
            <p:cNvSpPr/>
            <p:nvPr>
              <p:custDataLst>
                <p:tags r:id="rId2"/>
              </p:custDataLst>
            </p:nvPr>
          </p:nvSpPr>
          <p:spPr>
            <a:xfrm>
              <a:off x="636" y="6149"/>
              <a:ext cx="2392" cy="3703"/>
            </a:xfrm>
            <a:prstGeom prst="rect">
              <a:avLst/>
            </a:prstGeom>
            <a:solidFill>
              <a:srgbClr val="2169D3">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endParaRPr>
            </a:p>
          </p:txBody>
        </p:sp>
        <p:pic>
          <p:nvPicPr>
            <p:cNvPr id="1028" name="Picture 4"/>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230" y="5288"/>
              <a:ext cx="1298" cy="131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custDataLst>
                <p:tags r:id="rId5"/>
              </p:custDataLst>
            </p:nvPr>
          </p:nvSpPr>
          <p:spPr>
            <a:xfrm>
              <a:off x="763" y="7016"/>
              <a:ext cx="2139" cy="483"/>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rPr>
                <a:t>业务赋能</a:t>
              </a:r>
              <a:endPar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6" name="文本框 5"/>
            <p:cNvSpPr txBox="1"/>
            <p:nvPr>
              <p:custDataLst>
                <p:tags r:id="rId6"/>
              </p:custDataLst>
            </p:nvPr>
          </p:nvSpPr>
          <p:spPr>
            <a:xfrm>
              <a:off x="765" y="7516"/>
              <a:ext cx="2139" cy="1289"/>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rPr>
                <a:t>全程风险管理服务</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rPr>
                <a:t>保险产业推广服务</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rPr>
                <a:t>事故预防服务</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7" name="矩形 6"/>
            <p:cNvSpPr/>
            <p:nvPr>
              <p:custDataLst>
                <p:tags r:id="rId7"/>
              </p:custDataLst>
            </p:nvPr>
          </p:nvSpPr>
          <p:spPr>
            <a:xfrm>
              <a:off x="3448" y="6149"/>
              <a:ext cx="2392" cy="3703"/>
            </a:xfrm>
            <a:prstGeom prst="rect">
              <a:avLst/>
            </a:prstGeom>
            <a:solidFill>
              <a:srgbClr val="2169D3">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endParaRPr>
            </a:p>
          </p:txBody>
        </p:sp>
        <p:sp>
          <p:nvSpPr>
            <p:cNvPr id="9" name="文本框 8"/>
            <p:cNvSpPr txBox="1"/>
            <p:nvPr>
              <p:custDataLst>
                <p:tags r:id="rId8"/>
              </p:custDataLst>
            </p:nvPr>
          </p:nvSpPr>
          <p:spPr>
            <a:xfrm>
              <a:off x="3575" y="7016"/>
              <a:ext cx="2139" cy="483"/>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rPr>
                <a:t>数据要素</a:t>
              </a:r>
              <a:endPar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11" name="文本框 10"/>
            <p:cNvSpPr txBox="1"/>
            <p:nvPr>
              <p:custDataLst>
                <p:tags r:id="rId9"/>
              </p:custDataLst>
            </p:nvPr>
          </p:nvSpPr>
          <p:spPr>
            <a:xfrm>
              <a:off x="3291" y="7516"/>
              <a:ext cx="2679" cy="1670"/>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企业安全风险管理数据</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风险管理服务数据</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保险数据  法律法规数据</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安全风险管理知识库</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p:txBody>
        </p:sp>
        <p:sp>
          <p:nvSpPr>
            <p:cNvPr id="13" name="矩形 12"/>
            <p:cNvSpPr/>
            <p:nvPr>
              <p:custDataLst>
                <p:tags r:id="rId10"/>
              </p:custDataLst>
            </p:nvPr>
          </p:nvSpPr>
          <p:spPr>
            <a:xfrm>
              <a:off x="6228" y="6149"/>
              <a:ext cx="2392" cy="3703"/>
            </a:xfrm>
            <a:prstGeom prst="rect">
              <a:avLst/>
            </a:prstGeom>
            <a:solidFill>
              <a:srgbClr val="2169D3">
                <a:alpha val="1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手刻宋" panose="00000500000000000000" charset="-122"/>
                <a:ea typeface="字魂手刻宋" panose="00000500000000000000" charset="-122"/>
              </a:endParaRPr>
            </a:p>
          </p:txBody>
        </p:sp>
        <p:sp>
          <p:nvSpPr>
            <p:cNvPr id="15" name="文本框 14"/>
            <p:cNvSpPr txBox="1"/>
            <p:nvPr>
              <p:custDataLst>
                <p:tags r:id="rId11"/>
              </p:custDataLst>
            </p:nvPr>
          </p:nvSpPr>
          <p:spPr>
            <a:xfrm>
              <a:off x="6355" y="7016"/>
              <a:ext cx="2139" cy="483"/>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r>
                <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rPr>
                <a:t>数字底座</a:t>
              </a:r>
              <a:endParaRPr lang="zh-CN" altLang="en-US" sz="1400" dirty="0">
                <a:solidFill>
                  <a:schemeClr val="tx1">
                    <a:lumMod val="85000"/>
                    <a:lumOff val="15000"/>
                  </a:schemeClr>
                </a:solidFill>
                <a:effectLst/>
                <a:latin typeface="字魂手刻宋" panose="00000500000000000000" charset="-122"/>
                <a:ea typeface="字魂手刻宋" panose="00000500000000000000" charset="-122"/>
                <a:cs typeface="Aa楷体" panose="02000500000000000000" pitchFamily="2" charset="-122"/>
                <a:sym typeface="+mn-lt"/>
              </a:endParaRPr>
            </a:p>
          </p:txBody>
        </p:sp>
        <p:sp>
          <p:nvSpPr>
            <p:cNvPr id="22" name="文本框 21"/>
            <p:cNvSpPr txBox="1"/>
            <p:nvPr>
              <p:custDataLst>
                <p:tags r:id="rId12"/>
              </p:custDataLst>
            </p:nvPr>
          </p:nvSpPr>
          <p:spPr>
            <a:xfrm>
              <a:off x="6358" y="7516"/>
              <a:ext cx="2139" cy="1289"/>
            </a:xfrm>
            <a:prstGeom prst="rect">
              <a:avLst/>
            </a:prstGeom>
            <a:noFill/>
          </p:spPr>
          <p:txBody>
            <a:bodyPr wrap="square" rtlCol="0">
              <a:spAutoFit/>
            </a:bodyPr>
            <a:lstStyle>
              <a:defPPr>
                <a:defRPr lang="zh-CN"/>
              </a:defPPr>
              <a:lvl1pPr>
                <a:defRPr>
                  <a:gradFill flip="none" rotWithShape="1">
                    <a:gsLst>
                      <a:gs pos="0">
                        <a:srgbClr val="F25400"/>
                      </a:gs>
                      <a:gs pos="100000">
                        <a:srgbClr val="A70E00"/>
                      </a:gs>
                    </a:gsLst>
                    <a:lin ang="5400000" scaled="1"/>
                    <a:tileRect/>
                  </a:gradFill>
                  <a:effectLst>
                    <a:outerShdw blurRad="38100" dist="63500" dir="2700000" algn="tl">
                      <a:srgbClr val="F25400">
                        <a:alpha val="9000"/>
                      </a:srgbClr>
                    </a:outerShdw>
                  </a:effectLst>
                  <a:latin typeface="思源黑体 CN Medium" panose="020B0600000000000000" pitchFamily="34" charset="-122"/>
                  <a:ea typeface="思源黑体 CN Medium" panose="020B0600000000000000" pitchFamily="34" charset="-122"/>
                </a:defRPr>
              </a:lvl1pPr>
            </a:lstStyle>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大数据  云存储</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a:p>
              <a:pPr lvl="0" algn="ctr">
                <a:lnSpc>
                  <a:spcPct val="150000"/>
                </a:lnSpc>
              </a:pP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分析模型  预警机制</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a:p>
              <a:pPr lvl="0" algn="ctr">
                <a:lnSpc>
                  <a:spcPct val="150000"/>
                </a:lnSpc>
              </a:pPr>
              <a:r>
                <a:rPr lang="en-US" altLang="zh-CN"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AI  </a:t>
              </a:r>
              <a:r>
                <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rPr>
                <a:t>自动化</a:t>
              </a:r>
              <a:endParaRPr lang="zh-CN" altLang="en-US" sz="1050" dirty="0">
                <a:solidFill>
                  <a:schemeClr val="tx1">
                    <a:lumMod val="65000"/>
                    <a:lumOff val="35000"/>
                  </a:schemeClr>
                </a:solidFill>
                <a:effectLst/>
                <a:latin typeface="字魂手刻宋" panose="00000500000000000000" charset="-122"/>
                <a:ea typeface="字魂手刻宋" panose="00000500000000000000" charset="-122"/>
                <a:cs typeface="字魂手刻宋" panose="00000500000000000000" charset="-122"/>
                <a:sym typeface="+mn-lt"/>
              </a:endParaRPr>
            </a:p>
          </p:txBody>
        </p:sp>
        <p:pic>
          <p:nvPicPr>
            <p:cNvPr id="1030" name="Picture 6"/>
            <p:cNvPicPr>
              <a:picLocks noChangeAspect="1" noChangeArrowheads="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bwMode="auto">
            <a:xfrm>
              <a:off x="4097" y="5290"/>
              <a:ext cx="1109" cy="13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p:cNvPicPr>
              <a:picLocks noChangeAspect="1" noChangeArrowheads="1"/>
            </p:cNvPicPr>
            <p:nvPr>
              <p:custDataLst>
                <p:tags r:id="rId15"/>
              </p:custDataLst>
            </p:nvPr>
          </p:nvPicPr>
          <p:blipFill>
            <a:blip r:embed="rId16">
              <a:extLst>
                <a:ext uri="{28A0092B-C50C-407E-A947-70E740481C1C}">
                  <a14:useLocalDpi xmlns:a14="http://schemas.microsoft.com/office/drawing/2010/main" val="0"/>
                </a:ext>
              </a:extLst>
            </a:blip>
            <a:srcRect/>
            <a:stretch>
              <a:fillRect/>
            </a:stretch>
          </p:blipFill>
          <p:spPr bwMode="auto">
            <a:xfrm>
              <a:off x="6776" y="5402"/>
              <a:ext cx="1297" cy="108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p:cNvSpPr txBox="1"/>
          <p:nvPr/>
        </p:nvSpPr>
        <p:spPr>
          <a:xfrm>
            <a:off x="29845" y="69850"/>
            <a:ext cx="873125" cy="883285"/>
          </a:xfrm>
          <a:prstGeom prst="rect">
            <a:avLst/>
          </a:prstGeom>
          <a:noFill/>
        </p:spPr>
        <p:txBody>
          <a:bodyPr wrap="square">
            <a:noAutofit/>
          </a:bodyPr>
          <a:lstStyle/>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2.3</a:t>
            </a:r>
            <a:endParaRPr lang="en-US" altLang="zh-CN" sz="3200" b="1" spc="150">
              <a:solidFill>
                <a:schemeClr val="bg1"/>
              </a:solidFill>
              <a:latin typeface="字魂手刻宋" panose="00000500000000000000" charset="-122"/>
              <a:ea typeface="字魂手刻宋" panose="00000500000000000000" charset="-122"/>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125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nodeType="with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wipe(right)">
                                      <p:cBhvr>
                                        <p:cTn id="14"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52006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安环家平台技术建设情况</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0" name="文本框 9"/>
          <p:cNvSpPr txBox="1"/>
          <p:nvPr/>
        </p:nvSpPr>
        <p:spPr>
          <a:xfrm>
            <a:off x="962660" y="621735"/>
            <a:ext cx="10656971" cy="1383665"/>
          </a:xfrm>
          <a:prstGeom prst="rect">
            <a:avLst/>
          </a:prstGeom>
          <a:noFill/>
        </p:spPr>
        <p:txBody>
          <a:bodyPr wrap="square" rtlCol="0">
            <a:spAutoFit/>
          </a:bodyPr>
          <a:lstStyle/>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安环家平台与阿里云展开了深入的战略合作，搭建了致力于解决安责险事故预防服务市场化机制落地难题的业务产品 </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SaaS </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层。平台对</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系统架构、系统性能、系统安全、系统可扩展性等进行了持续优化，达到平均 </a:t>
            </a:r>
            <a:r>
              <a:rPr lang="en-US" altLang="zh-CN" sz="1400" b="1" dirty="0">
                <a:solidFill>
                  <a:srgbClr val="054487"/>
                </a:solidFill>
                <a:latin typeface="字魂手刻宋" panose="00000500000000000000" charset="-122"/>
                <a:ea typeface="字魂手刻宋" panose="00000500000000000000" charset="-122"/>
                <a:cs typeface="字魂手刻宋" panose="00000500000000000000" charset="-122"/>
              </a:rPr>
              <a:t>TPS</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处理时间 </a:t>
            </a:r>
            <a:r>
              <a:rPr lang="en-US" altLang="zh-CN" sz="1400" b="1" dirty="0">
                <a:solidFill>
                  <a:srgbClr val="054487"/>
                </a:solidFill>
                <a:latin typeface="字魂手刻宋" panose="00000500000000000000" charset="-122"/>
                <a:ea typeface="字魂手刻宋" panose="00000500000000000000" charset="-122"/>
                <a:cs typeface="字魂手刻宋" panose="00000500000000000000" charset="-122"/>
              </a:rPr>
              <a:t>300ms</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a:t>
            </a:r>
            <a:r>
              <a:rPr lang="en-US" altLang="zh-CN" sz="1400" b="1" dirty="0">
                <a:solidFill>
                  <a:srgbClr val="054487"/>
                </a:solidFill>
                <a:latin typeface="字魂手刻宋" panose="00000500000000000000" charset="-122"/>
                <a:ea typeface="字魂手刻宋" panose="00000500000000000000" charset="-122"/>
                <a:cs typeface="字魂手刻宋" panose="00000500000000000000" charset="-122"/>
              </a:rPr>
              <a:t>SLA </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在 </a:t>
            </a:r>
            <a:r>
              <a:rPr lang="en-US" altLang="zh-CN" sz="1400" b="1" dirty="0">
                <a:solidFill>
                  <a:srgbClr val="054487"/>
                </a:solidFill>
                <a:latin typeface="字魂手刻宋" panose="00000500000000000000" charset="-122"/>
                <a:ea typeface="字魂手刻宋" panose="00000500000000000000" charset="-122"/>
                <a:cs typeface="字魂手刻宋" panose="00000500000000000000" charset="-122"/>
              </a:rPr>
              <a:t>99.9% </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rPr>
              <a:t>的行业主流水平。</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在网络层面，通过搭建 </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DMZ </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区、协议转换等保证了网络请求的安全性，并通过一系列监控体系，实现提前预警，有效防范潜在风险，实时报警以及智能的故障恢复。进一步保障平台服务的稳定性和高效性。</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pic>
        <p:nvPicPr>
          <p:cNvPr id="5" name="图片 4"/>
          <p:cNvPicPr>
            <a:picLocks noChangeAspect="1"/>
          </p:cNvPicPr>
          <p:nvPr/>
        </p:nvPicPr>
        <p:blipFill>
          <a:blip r:embed="rId1"/>
          <a:stretch>
            <a:fillRect/>
          </a:stretch>
        </p:blipFill>
        <p:spPr>
          <a:xfrm>
            <a:off x="1787463" y="2096625"/>
            <a:ext cx="8615486" cy="4474035"/>
          </a:xfrm>
          <a:prstGeom prst="rect">
            <a:avLst/>
          </a:prstGeom>
        </p:spPr>
      </p:pic>
      <p:sp>
        <p:nvSpPr>
          <p:cNvPr id="2" name="文本框 1"/>
          <p:cNvSpPr txBox="1"/>
          <p:nvPr/>
        </p:nvSpPr>
        <p:spPr>
          <a:xfrm>
            <a:off x="52705" y="69850"/>
            <a:ext cx="850265" cy="883285"/>
          </a:xfrm>
          <a:prstGeom prst="rect">
            <a:avLst/>
          </a:prstGeom>
          <a:noFill/>
        </p:spPr>
        <p:txBody>
          <a:bodyPr wrap="square">
            <a:noAutofit/>
          </a:bodyPr>
          <a:lstStyle/>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2.4</a:t>
            </a:r>
            <a:endParaRPr lang="en-US" altLang="zh-CN" sz="3200" b="1" spc="150">
              <a:solidFill>
                <a:schemeClr val="bg1"/>
              </a:solidFill>
              <a:latin typeface="字魂手刻宋" panose="00000500000000000000" charset="-122"/>
              <a:ea typeface="字魂手刻宋" panose="00000500000000000000"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25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62535" y="69812"/>
            <a:ext cx="97218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数据资产化运营平台</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2"/>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cxnSp>
        <p:nvCxnSpPr>
          <p:cNvPr id="38" name="直接连接符 37"/>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pic>
        <p:nvPicPr>
          <p:cNvPr id="7" name="图片 6" descr="电脑屏幕的截图&#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5153" y="621482"/>
            <a:ext cx="8848725" cy="6038850"/>
          </a:xfrm>
          <a:prstGeom prst="rect">
            <a:avLst/>
          </a:prstGeom>
        </p:spPr>
      </p:pic>
      <p:grpSp>
        <p:nvGrpSpPr>
          <p:cNvPr id="4" name="组合 3"/>
          <p:cNvGrpSpPr/>
          <p:nvPr/>
        </p:nvGrpSpPr>
        <p:grpSpPr>
          <a:xfrm>
            <a:off x="751205" y="894080"/>
            <a:ext cx="2473960" cy="5487670"/>
            <a:chOff x="1183" y="1408"/>
            <a:chExt cx="3896" cy="8642"/>
          </a:xfrm>
        </p:grpSpPr>
        <p:sp>
          <p:nvSpPr>
            <p:cNvPr id="8" name="矩形 7"/>
            <p:cNvSpPr/>
            <p:nvPr/>
          </p:nvSpPr>
          <p:spPr>
            <a:xfrm>
              <a:off x="1194" y="2226"/>
              <a:ext cx="3755" cy="7824"/>
            </a:xfrm>
            <a:prstGeom prst="rect">
              <a:avLst/>
            </a:prstGeom>
            <a:solidFill>
              <a:srgbClr val="7985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300" b="0" i="0" dirty="0">
                  <a:solidFill>
                    <a:schemeClr val="bg1"/>
                  </a:solidFill>
                  <a:effectLst/>
                  <a:latin typeface="字魂手刻宋" panose="00000500000000000000" charset="-122"/>
                  <a:ea typeface="字魂手刻宋" panose="00000500000000000000" charset="-122"/>
                </a:rPr>
                <a:t>安环家</a:t>
              </a:r>
              <a:r>
                <a:rPr lang="zh-CN" altLang="en-US" sz="1300" dirty="0">
                  <a:solidFill>
                    <a:schemeClr val="bg1"/>
                  </a:solidFill>
                  <a:latin typeface="字魂手刻宋" panose="00000500000000000000" charset="-122"/>
                  <a:ea typeface="字魂手刻宋" panose="00000500000000000000" charset="-122"/>
                </a:rPr>
                <a:t>数据资产化运营平台</a:t>
              </a:r>
              <a:r>
                <a:rPr lang="zh-CN" altLang="en-US" sz="1300" b="0" i="0" dirty="0">
                  <a:solidFill>
                    <a:schemeClr val="bg1"/>
                  </a:solidFill>
                  <a:effectLst/>
                  <a:latin typeface="字魂手刻宋" panose="00000500000000000000" charset="-122"/>
                  <a:ea typeface="字魂手刻宋" panose="00000500000000000000" charset="-122"/>
                </a:rPr>
                <a:t>，作为行业领先的数据要素市场基础设施，覆盖了数据资产从确权、登记、核验，到质量评价、价值评估、定价、增值，直至入表等全流程业务，确保数据资产的合规性、可靠性及高效流通。</a:t>
              </a:r>
              <a:endParaRPr lang="en-US" altLang="zh-CN" sz="1300" b="0" i="0" dirty="0">
                <a:solidFill>
                  <a:schemeClr val="bg1"/>
                </a:solidFill>
                <a:effectLst/>
                <a:latin typeface="字魂手刻宋" panose="00000500000000000000" charset="-122"/>
                <a:ea typeface="字魂手刻宋" panose="00000500000000000000" charset="-122"/>
              </a:endParaRPr>
            </a:p>
            <a:p>
              <a:pPr>
                <a:lnSpc>
                  <a:spcPct val="150000"/>
                </a:lnSpc>
              </a:pPr>
              <a:r>
                <a:rPr lang="zh-CN" altLang="en-US" sz="1300" dirty="0">
                  <a:solidFill>
                    <a:schemeClr val="bg1"/>
                  </a:solidFill>
                  <a:latin typeface="字魂手刻宋" panose="00000500000000000000" charset="-122"/>
                  <a:ea typeface="字魂手刻宋" panose="00000500000000000000" charset="-122"/>
                </a:rPr>
                <a:t>安环家数据资产化运营平台还通过数据资产的全面管理和价值挖掘，我们为政府监管部门、生产机构、服务机构、保险机构等行业客户提供了一站式的数据资产化解决方案，助力行业实现数字化转型和升级。</a:t>
              </a:r>
              <a:endParaRPr lang="zh-CN" altLang="en-US" sz="1300" dirty="0">
                <a:solidFill>
                  <a:schemeClr val="bg1"/>
                </a:solidFill>
                <a:latin typeface="字魂手刻宋" panose="00000500000000000000" charset="-122"/>
                <a:ea typeface="字魂手刻宋" panose="00000500000000000000" charset="-122"/>
              </a:endParaRPr>
            </a:p>
          </p:txBody>
        </p:sp>
        <p:sp>
          <p:nvSpPr>
            <p:cNvPr id="9" name="文本框 8"/>
            <p:cNvSpPr txBox="1"/>
            <p:nvPr/>
          </p:nvSpPr>
          <p:spPr>
            <a:xfrm>
              <a:off x="1183" y="1408"/>
              <a:ext cx="3897" cy="628"/>
            </a:xfrm>
            <a:prstGeom prst="rect">
              <a:avLst/>
            </a:prstGeom>
            <a:noFill/>
          </p:spPr>
          <p:txBody>
            <a:bodyPr wrap="none" rtlCol="0">
              <a:spAutoFit/>
            </a:bodyPr>
            <a:lstStyle/>
            <a:p>
              <a:r>
                <a:rPr lang="zh-CN" altLang="en-US" sz="2000" b="1" dirty="0">
                  <a:solidFill>
                    <a:srgbClr val="7985EC"/>
                  </a:solidFill>
                  <a:latin typeface="字魂手刻宋" panose="00000500000000000000" charset="-122"/>
                  <a:ea typeface="字魂手刻宋" panose="00000500000000000000" charset="-122"/>
                </a:rPr>
                <a:t>数据资产化运营平台</a:t>
              </a:r>
              <a:endParaRPr lang="zh-CN" altLang="en-US" sz="2000" b="1" dirty="0">
                <a:solidFill>
                  <a:srgbClr val="7985EC"/>
                </a:solidFill>
                <a:latin typeface="字魂手刻宋" panose="00000500000000000000" charset="-122"/>
                <a:ea typeface="字魂手刻宋" panose="00000500000000000000" charset="-122"/>
              </a:endParaRPr>
            </a:p>
          </p:txBody>
        </p:sp>
      </p:grpSp>
      <p:sp>
        <p:nvSpPr>
          <p:cNvPr id="2" name="文本框 1"/>
          <p:cNvSpPr txBox="1"/>
          <p:nvPr/>
        </p:nvSpPr>
        <p:spPr>
          <a:xfrm>
            <a:off x="10795" y="69850"/>
            <a:ext cx="892175" cy="883285"/>
          </a:xfrm>
          <a:prstGeom prst="rect">
            <a:avLst/>
          </a:prstGeom>
          <a:noFill/>
        </p:spPr>
        <p:txBody>
          <a:bodyPr wrap="square">
            <a:noAutofit/>
          </a:bodyPr>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2.5</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custDataLst>
              <p:tags r:id="rId1"/>
            </p:custDataLst>
          </p:nvPr>
        </p:nvSpPr>
        <p:spPr>
          <a:xfrm>
            <a:off x="145396" y="69812"/>
            <a:ext cx="757456" cy="737235"/>
          </a:xfrm>
          <a:prstGeom prst="rect">
            <a:avLst/>
          </a:prstGeom>
          <a:noFill/>
        </p:spPr>
        <p:txBody>
          <a:bodyPr wrap="square">
            <a:spAutoFit/>
          </a:bodyPr>
          <a:lst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a:lstStyle>
          <a:p>
            <a:pPr algn="ctr">
              <a:lnSpc>
                <a:spcPct val="150000"/>
              </a:lnSpc>
              <a:spcBef>
                <a:spcPts val="1200"/>
              </a:spcBef>
            </a:pPr>
            <a:r>
              <a:rPr lang="en-US" altLang="zh-CN" sz="2800" b="1" dirty="0">
                <a:solidFill>
                  <a:schemeClr val="bg1"/>
                </a:solidFill>
                <a:latin typeface="微软雅黑" panose="020B0503020204020204" charset="-122"/>
                <a:ea typeface="微软雅黑" panose="020B0503020204020204" charset="-122"/>
              </a:rPr>
              <a:t>1</a:t>
            </a:r>
            <a:endParaRPr lang="en-US" altLang="zh-CN" sz="2800" b="1" dirty="0">
              <a:solidFill>
                <a:schemeClr val="bg1"/>
              </a:solidFill>
              <a:latin typeface="微软雅黑" panose="020B0503020204020204" charset="-122"/>
              <a:ea typeface="微软雅黑" panose="020B0503020204020204" charset="-122"/>
            </a:endParaRPr>
          </a:p>
        </p:txBody>
      </p:sp>
      <p:sp>
        <p:nvSpPr>
          <p:cNvPr id="14" name="文本框 13"/>
          <p:cNvSpPr txBox="1"/>
          <p:nvPr>
            <p:custDataLst>
              <p:tags r:id="rId2"/>
            </p:custDataLst>
          </p:nvPr>
        </p:nvSpPr>
        <p:spPr>
          <a:xfrm>
            <a:off x="962660" y="69850"/>
            <a:ext cx="978789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搭建数据中台能力体系</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8" name="直接连接符 17"/>
          <p:cNvCxnSpPr/>
          <p:nvPr>
            <p:custDataLst>
              <p:tags r:id="rId3"/>
            </p:custDataLst>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88" name="矩形 87"/>
          <p:cNvSpPr/>
          <p:nvPr>
            <p:custDataLst>
              <p:tags r:id="rId4"/>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微软雅黑" panose="020B0503020204020204" charset="-122"/>
              <a:ea typeface="微软雅黑" panose="020B0503020204020204" charset="-122"/>
              <a:sym typeface="+mn-ea"/>
            </a:endParaRPr>
          </a:p>
        </p:txBody>
      </p:sp>
      <p:pic>
        <p:nvPicPr>
          <p:cNvPr id="2" name="图片 1"/>
          <p:cNvPicPr>
            <a:picLocks noChangeAspect="1"/>
          </p:cNvPicPr>
          <p:nvPr>
            <p:custDataLst>
              <p:tags r:id="rId5"/>
            </p:custDataLst>
          </p:nvPr>
        </p:nvPicPr>
        <p:blipFill>
          <a:blip r:embed="rId6"/>
          <a:stretch>
            <a:fillRect/>
          </a:stretch>
        </p:blipFill>
        <p:spPr>
          <a:xfrm>
            <a:off x="577285" y="3472246"/>
            <a:ext cx="11134545" cy="3015222"/>
          </a:xfrm>
          <a:prstGeom prst="rect">
            <a:avLst/>
          </a:prstGeom>
        </p:spPr>
      </p:pic>
      <p:sp>
        <p:nvSpPr>
          <p:cNvPr id="3" name="矩形 2"/>
          <p:cNvSpPr/>
          <p:nvPr>
            <p:custDataLst>
              <p:tags r:id="rId7"/>
            </p:custDataLst>
          </p:nvPr>
        </p:nvSpPr>
        <p:spPr>
          <a:xfrm rot="5400000">
            <a:off x="2135862" y="-300363"/>
            <a:ext cx="1905387" cy="4799340"/>
          </a:xfrm>
          <a:prstGeom prst="rect">
            <a:avLst/>
          </a:prstGeom>
          <a:solidFill>
            <a:srgbClr val="FFFFFF"/>
          </a:solidFill>
          <a:ln>
            <a:noFill/>
          </a:ln>
          <a:effectLst>
            <a:outerShdw blurRad="63500" sx="102000" sy="102000" algn="ctr" rotWithShape="0">
              <a:srgbClr val="FFFFFF">
                <a:lumMod val="65000"/>
                <a:alpha val="40000"/>
              </a:srgbClr>
            </a:outerShdw>
          </a:effectLst>
        </p:spPr>
        <p:style>
          <a:lnRef idx="2">
            <a:srgbClr val="6096E6">
              <a:shade val="50000"/>
            </a:srgbClr>
          </a:lnRef>
          <a:fillRef idx="1">
            <a:srgbClr val="6096E6"/>
          </a:fillRef>
          <a:effectRef idx="0">
            <a:srgbClr val="6096E6"/>
          </a:effectRef>
          <a:fontRef idx="minor">
            <a:srgbClr val="FFFFFF"/>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4" name="平行四边形 3"/>
          <p:cNvSpPr/>
          <p:nvPr>
            <p:custDataLst>
              <p:tags r:id="rId8"/>
            </p:custDataLst>
          </p:nvPr>
        </p:nvSpPr>
        <p:spPr>
          <a:xfrm>
            <a:off x="5283357" y="2811143"/>
            <a:ext cx="625662" cy="239629"/>
          </a:xfrm>
          <a:prstGeom prst="parallelogram">
            <a:avLst>
              <a:gd name="adj" fmla="val 91691"/>
            </a:avLst>
          </a:prstGeom>
          <a:solidFill>
            <a:srgbClr val="0061AE"/>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5" name="平行四边形 4"/>
          <p:cNvSpPr/>
          <p:nvPr>
            <p:custDataLst>
              <p:tags r:id="rId9"/>
            </p:custDataLst>
          </p:nvPr>
        </p:nvSpPr>
        <p:spPr>
          <a:xfrm rot="10800000" flipV="1">
            <a:off x="5137751" y="1146613"/>
            <a:ext cx="747298" cy="1623484"/>
          </a:xfrm>
          <a:prstGeom prst="parallelogram">
            <a:avLst>
              <a:gd name="adj" fmla="val 40228"/>
            </a:avLst>
          </a:prstGeom>
          <a:solidFill>
            <a:srgbClr val="0061AE"/>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algn="ctr"/>
            <a:r>
              <a:rPr lang="en-US" altLang="zh-CN" sz="1200" dirty="0">
                <a:latin typeface="字魂手刻宋" panose="00000500000000000000" charset="-122"/>
                <a:ea typeface="字魂手刻宋" panose="00000500000000000000" charset="-122"/>
              </a:rPr>
              <a:t>01</a:t>
            </a:r>
            <a:endParaRPr lang="en-US" altLang="zh-CN" sz="1200" dirty="0">
              <a:latin typeface="字魂手刻宋" panose="00000500000000000000" charset="-122"/>
              <a:ea typeface="字魂手刻宋" panose="00000500000000000000" charset="-122"/>
            </a:endParaRPr>
          </a:p>
        </p:txBody>
      </p:sp>
      <p:sp>
        <p:nvSpPr>
          <p:cNvPr id="6" name="文本框 5"/>
          <p:cNvSpPr txBox="1"/>
          <p:nvPr>
            <p:custDataLst>
              <p:tags r:id="rId10"/>
            </p:custDataLst>
          </p:nvPr>
        </p:nvSpPr>
        <p:spPr>
          <a:xfrm>
            <a:off x="886460" y="1146810"/>
            <a:ext cx="4288155" cy="1906270"/>
          </a:xfrm>
          <a:prstGeom prst="rect">
            <a:avLst/>
          </a:prstGeom>
          <a:noFill/>
        </p:spPr>
        <p:txBody>
          <a:bodyPr wrap="square" bIns="0" rtlCol="0">
            <a:noAutofit/>
          </a:bodyPr>
          <a:lstStyle/>
          <a:p>
            <a:pPr algn="r">
              <a:lnSpc>
                <a:spcPct val="170000"/>
              </a:lnSpc>
            </a:pPr>
            <a:r>
              <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解决高危险行业当前安全生产风险管理中各类信息系统独立采购与建设，出现 </a:t>
            </a:r>
            <a:r>
              <a:rPr lang="zh-CN" altLang="en-US" sz="1400"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b="1"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数据孤岛”、“数据壁垒</a:t>
            </a:r>
            <a:r>
              <a:rPr lang="zh-CN" altLang="en-US" sz="1400"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现象，帮助工业企业落实安全生产主体责任，打造自身安全生产风险管理的</a:t>
            </a:r>
            <a:r>
              <a:rPr lang="zh-CN" altLang="en-US" sz="1400" b="1"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快速感知、实时监测、超前预警、联动处置、系统评估等新型能力体系。</a:t>
            </a:r>
            <a:endParaRPr lang="zh-CN" altLang="en-US" sz="1400" b="1" kern="100" spc="300"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pic>
        <p:nvPicPr>
          <p:cNvPr id="8" name="图片 29" descr="343435383038363b343532323338353bc8abc7f2bbaf"/>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rot="5400000">
            <a:off x="766713" y="1832733"/>
            <a:ext cx="222970" cy="222970"/>
          </a:xfrm>
          <a:prstGeom prst="rect">
            <a:avLst/>
          </a:prstGeom>
        </p:spPr>
      </p:pic>
      <p:sp>
        <p:nvSpPr>
          <p:cNvPr id="9" name="矩形 8"/>
          <p:cNvSpPr/>
          <p:nvPr>
            <p:custDataLst>
              <p:tags r:id="rId14"/>
            </p:custDataLst>
          </p:nvPr>
        </p:nvSpPr>
        <p:spPr>
          <a:xfrm rot="5400000">
            <a:off x="8041228" y="-479411"/>
            <a:ext cx="1939037" cy="5067910"/>
          </a:xfrm>
          <a:prstGeom prst="rect">
            <a:avLst/>
          </a:prstGeom>
          <a:solidFill>
            <a:srgbClr val="FFFFFF"/>
          </a:solidFill>
          <a:ln>
            <a:noFill/>
          </a:ln>
          <a:effectLst>
            <a:outerShdw blurRad="63500" sx="102000" sy="102000" algn="ctr" rotWithShape="0">
              <a:srgbClr val="FFFFFF">
                <a:lumMod val="65000"/>
                <a:alpha val="40000"/>
              </a:srgbClr>
            </a:outerShdw>
          </a:effectLst>
        </p:spPr>
        <p:style>
          <a:lnRef idx="2">
            <a:srgbClr val="6096E6">
              <a:shade val="50000"/>
            </a:srgbClr>
          </a:lnRef>
          <a:fillRef idx="1">
            <a:srgbClr val="6096E6"/>
          </a:fillRef>
          <a:effectRef idx="0">
            <a:srgbClr val="6096E6"/>
          </a:effectRef>
          <a:fontRef idx="minor">
            <a:srgbClr val="FFFFFF"/>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10" name="平行四边形 9"/>
          <p:cNvSpPr/>
          <p:nvPr>
            <p:custDataLst>
              <p:tags r:id="rId15"/>
            </p:custDataLst>
          </p:nvPr>
        </p:nvSpPr>
        <p:spPr>
          <a:xfrm flipH="1">
            <a:off x="6200278" y="2810914"/>
            <a:ext cx="609965" cy="239629"/>
          </a:xfrm>
          <a:prstGeom prst="parallelogram">
            <a:avLst>
              <a:gd name="adj" fmla="val 91691"/>
            </a:avLst>
          </a:prstGeom>
          <a:solidFill>
            <a:srgbClr val="0061AE"/>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11" name="平行四边形 10"/>
          <p:cNvSpPr/>
          <p:nvPr>
            <p:custDataLst>
              <p:tags r:id="rId16"/>
            </p:custDataLst>
          </p:nvPr>
        </p:nvSpPr>
        <p:spPr>
          <a:xfrm rot="10800000" flipH="1" flipV="1">
            <a:off x="6078063" y="1074232"/>
            <a:ext cx="728885" cy="1696499"/>
          </a:xfrm>
          <a:prstGeom prst="parallelogram">
            <a:avLst>
              <a:gd name="adj" fmla="val 40228"/>
            </a:avLst>
          </a:prstGeom>
          <a:solidFill>
            <a:srgbClr val="0061AE"/>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algn="ctr"/>
            <a:r>
              <a:rPr lang="en-US" altLang="zh-CN" sz="1200" dirty="0">
                <a:latin typeface="字魂手刻宋" panose="00000500000000000000" charset="-122"/>
                <a:ea typeface="字魂手刻宋" panose="00000500000000000000" charset="-122"/>
              </a:rPr>
              <a:t>02</a:t>
            </a:r>
            <a:endParaRPr lang="en-US" altLang="zh-CN" sz="1200" dirty="0">
              <a:latin typeface="字魂手刻宋" panose="00000500000000000000" charset="-122"/>
              <a:ea typeface="字魂手刻宋" panose="00000500000000000000" charset="-122"/>
            </a:endParaRPr>
          </a:p>
        </p:txBody>
      </p:sp>
      <p:sp>
        <p:nvSpPr>
          <p:cNvPr id="12" name="文本框 11"/>
          <p:cNvSpPr txBox="1"/>
          <p:nvPr>
            <p:custDataLst>
              <p:tags r:id="rId17"/>
            </p:custDataLst>
          </p:nvPr>
        </p:nvSpPr>
        <p:spPr>
          <a:xfrm>
            <a:off x="6818630" y="1084580"/>
            <a:ext cx="4588510" cy="1678940"/>
          </a:xfrm>
          <a:prstGeom prst="rect">
            <a:avLst/>
          </a:prstGeom>
          <a:noFill/>
        </p:spPr>
        <p:txBody>
          <a:bodyPr wrap="square" bIns="0" rtlCol="0">
            <a:noAutofit/>
          </a:bodyPr>
          <a:lstStyle/>
          <a:p>
            <a:pPr lvl="0" algn="l">
              <a:lnSpc>
                <a:spcPct val="170000"/>
              </a:lnSpc>
              <a:buClrTx/>
              <a:buSzTx/>
              <a:buFontTx/>
            </a:pPr>
            <a:r>
              <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从技术底层视角搭建数据中台，解决企业安全责任落实不力、本质安全水平不高、</a:t>
            </a:r>
            <a:r>
              <a:rPr lang="zh-CN" altLang="en-US" sz="1400" b="1"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安全预防控制体系不完善等瓶颈性、根源性、本质性问题</a:t>
            </a:r>
            <a:r>
              <a:rPr lang="zh-CN" altLang="en-US" sz="1400" kern="100" dirty="0">
                <a:solidFill>
                  <a:srgbClr val="0061AE"/>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有效避免企业85%以上生产安全事故的发生，将填补国内安全生产风险管理底层数据的空白。</a:t>
            </a:r>
            <a:endPar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Calibri" panose="020F0502020204030204" charset="0"/>
            </a:endParaRPr>
          </a:p>
          <a:p>
            <a:pPr lvl="0" algn="l">
              <a:lnSpc>
                <a:spcPct val="170000"/>
              </a:lnSpc>
              <a:buClrTx/>
              <a:buSzTx/>
              <a:buFontTx/>
            </a:pPr>
            <a:endParaRPr lang="zh-CN" altLang="en-US" sz="1400" kern="1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Calibri" panose="020F0502020204030204" charset="0"/>
            </a:endParaRPr>
          </a:p>
        </p:txBody>
      </p:sp>
      <p:pic>
        <p:nvPicPr>
          <p:cNvPr id="15" name="图片 34" descr="343435383038363b343532323430313bd6b4d0d0bcc6bbae"/>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rot="5400000">
            <a:off x="11278202" y="1832662"/>
            <a:ext cx="222970" cy="222970"/>
          </a:xfrm>
          <a:prstGeom prst="rect">
            <a:avLst/>
          </a:prstGeom>
        </p:spPr>
      </p:pic>
      <p:cxnSp>
        <p:nvCxnSpPr>
          <p:cNvPr id="16" name="直接箭头连接符 15"/>
          <p:cNvCxnSpPr/>
          <p:nvPr>
            <p:custDataLst>
              <p:tags r:id="rId21"/>
            </p:custDataLst>
          </p:nvPr>
        </p:nvCxnSpPr>
        <p:spPr>
          <a:xfrm flipH="1">
            <a:off x="5992044" y="961960"/>
            <a:ext cx="1922" cy="2608046"/>
          </a:xfrm>
          <a:prstGeom prst="straightConnector1">
            <a:avLst/>
          </a:prstGeom>
          <a:ln w="101600">
            <a:solidFill>
              <a:srgbClr val="0061AE"/>
            </a:solidFill>
            <a:headEnd type="oval"/>
            <a:tailEnd type="triangle"/>
          </a:ln>
        </p:spPr>
        <p:style>
          <a:lnRef idx="1">
            <a:srgbClr val="6096E6"/>
          </a:lnRef>
          <a:fillRef idx="0">
            <a:srgbClr val="6096E6"/>
          </a:fillRef>
          <a:effectRef idx="0">
            <a:srgbClr val="6096E6"/>
          </a:effectRef>
          <a:fontRef idx="minor">
            <a:srgbClr val="000000"/>
          </a:fontRef>
        </p:style>
      </p:cxnSp>
      <p:sp>
        <p:nvSpPr>
          <p:cNvPr id="7" name="文本框 6"/>
          <p:cNvSpPr txBox="1"/>
          <p:nvPr/>
        </p:nvSpPr>
        <p:spPr>
          <a:xfrm>
            <a:off x="54610" y="69850"/>
            <a:ext cx="848360" cy="883285"/>
          </a:xfrm>
          <a:prstGeom prst="rect">
            <a:avLst/>
          </a:prstGeom>
          <a:noFill/>
        </p:spPr>
        <p:txBody>
          <a:bodyPr wrap="square">
            <a:noAutofit/>
          </a:bodyPr>
          <a:lstStyle/>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2.6</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0-#ppt_h/2"/>
                                          </p:val>
                                        </p:tav>
                                        <p:tav tm="100000">
                                          <p:val>
                                            <p:strVal val="#ppt_y"/>
                                          </p:val>
                                        </p:tav>
                                      </p:tavLst>
                                    </p:anim>
                                  </p:child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additive="base">
                                        <p:cTn id="52" dur="500" fill="hold"/>
                                        <p:tgtEl>
                                          <p:spTgt spid="2"/>
                                        </p:tgtEl>
                                        <p:attrNameLst>
                                          <p:attrName>ppt_x</p:attrName>
                                        </p:attrNameLst>
                                      </p:cBhvr>
                                      <p:tavLst>
                                        <p:tav tm="0">
                                          <p:val>
                                            <p:strVal val="#ppt_x"/>
                                          </p:val>
                                        </p:tav>
                                        <p:tav tm="100000">
                                          <p:val>
                                            <p:strVal val="#ppt_x"/>
                                          </p:val>
                                        </p:tav>
                                      </p:tavLst>
                                    </p:anim>
                                    <p:anim calcmode="lin" valueType="num">
                                      <p:cBhvr additive="base">
                                        <p:cTn id="5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p:bldP spid="9" grpId="0" bldLvl="0" animBg="1"/>
      <p:bldP spid="10" grpId="0" bldLvl="0" animBg="1"/>
      <p:bldP spid="11" grpId="0" bldLvl="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62535" y="69812"/>
            <a:ext cx="97218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建设精细化运营技术平台</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2" name="Freeform 217"/>
          <p:cNvSpPr/>
          <p:nvPr>
            <p:custDataLst>
              <p:tags r:id="rId1"/>
            </p:custDataLst>
          </p:nvPr>
        </p:nvSpPr>
        <p:spPr bwMode="auto">
          <a:xfrm rot="17583416">
            <a:off x="6713163" y="2860096"/>
            <a:ext cx="344091" cy="282039"/>
          </a:xfrm>
          <a:custGeom>
            <a:avLst/>
            <a:gdLst>
              <a:gd name="T0" fmla="*/ 34 w 57"/>
              <a:gd name="T1" fmla="*/ 8 h 47"/>
              <a:gd name="T2" fmla="*/ 0 w 57"/>
              <a:gd name="T3" fmla="*/ 9 h 47"/>
              <a:gd name="T4" fmla="*/ 23 w 57"/>
              <a:gd name="T5" fmla="*/ 39 h 47"/>
              <a:gd name="T6" fmla="*/ 57 w 57"/>
              <a:gd name="T7" fmla="*/ 38 h 47"/>
              <a:gd name="T8" fmla="*/ 34 w 57"/>
              <a:gd name="T9" fmla="*/ 8 h 47"/>
            </a:gdLst>
            <a:ahLst/>
            <a:cxnLst>
              <a:cxn ang="0">
                <a:pos x="T0" y="T1"/>
              </a:cxn>
              <a:cxn ang="0">
                <a:pos x="T2" y="T3"/>
              </a:cxn>
              <a:cxn ang="0">
                <a:pos x="T4" y="T5"/>
              </a:cxn>
              <a:cxn ang="0">
                <a:pos x="T6" y="T7"/>
              </a:cxn>
              <a:cxn ang="0">
                <a:pos x="T8" y="T9"/>
              </a:cxn>
            </a:cxnLst>
            <a:rect l="0" t="0" r="r" b="b"/>
            <a:pathLst>
              <a:path w="57" h="47">
                <a:moveTo>
                  <a:pt x="34" y="8"/>
                </a:moveTo>
                <a:cubicBezTo>
                  <a:pt x="18" y="0"/>
                  <a:pt x="0" y="9"/>
                  <a:pt x="0" y="9"/>
                </a:cubicBezTo>
                <a:cubicBezTo>
                  <a:pt x="0" y="9"/>
                  <a:pt x="8" y="31"/>
                  <a:pt x="23" y="39"/>
                </a:cubicBezTo>
                <a:cubicBezTo>
                  <a:pt x="39" y="47"/>
                  <a:pt x="57" y="38"/>
                  <a:pt x="57" y="38"/>
                </a:cubicBezTo>
                <a:cubicBezTo>
                  <a:pt x="57" y="38"/>
                  <a:pt x="50" y="16"/>
                  <a:pt x="34" y="8"/>
                </a:cubicBezTo>
                <a:close/>
              </a:path>
            </a:pathLst>
          </a:custGeom>
          <a:solidFill>
            <a:srgbClr val="1AAEA0"/>
          </a:solidFill>
          <a:ln>
            <a:noFill/>
          </a:ln>
        </p:spPr>
        <p:txBody>
          <a:bodyPr vert="horz" wrap="square" lIns="67491" tIns="35095" rIns="67491" bIns="35095" numCol="1" anchor="t" anchorCtr="0" compatLnSpc="1">
            <a:normAutofit/>
          </a:bodyPr>
          <a:lstStyle/>
          <a:p>
            <a:endParaRPr lang="zh-CN" altLang="en-US" sz="1350">
              <a:solidFill>
                <a:srgbClr val="333333"/>
              </a:solidFill>
              <a:latin typeface="字魂手刻宋" panose="00000500000000000000" charset="-122"/>
              <a:ea typeface="字魂手刻宋" panose="00000500000000000000" charset="-122"/>
            </a:endParaRPr>
          </a:p>
        </p:txBody>
      </p:sp>
      <p:sp>
        <p:nvSpPr>
          <p:cNvPr id="8" name="Freeform 217"/>
          <p:cNvSpPr/>
          <p:nvPr>
            <p:custDataLst>
              <p:tags r:id="rId2"/>
            </p:custDataLst>
          </p:nvPr>
        </p:nvSpPr>
        <p:spPr bwMode="auto">
          <a:xfrm rot="20981493">
            <a:off x="4810098" y="3074893"/>
            <a:ext cx="310222" cy="254279"/>
          </a:xfrm>
          <a:custGeom>
            <a:avLst/>
            <a:gdLst>
              <a:gd name="T0" fmla="*/ 34 w 57"/>
              <a:gd name="T1" fmla="*/ 8 h 47"/>
              <a:gd name="T2" fmla="*/ 0 w 57"/>
              <a:gd name="T3" fmla="*/ 9 h 47"/>
              <a:gd name="T4" fmla="*/ 23 w 57"/>
              <a:gd name="T5" fmla="*/ 39 h 47"/>
              <a:gd name="T6" fmla="*/ 57 w 57"/>
              <a:gd name="T7" fmla="*/ 38 h 47"/>
              <a:gd name="T8" fmla="*/ 34 w 57"/>
              <a:gd name="T9" fmla="*/ 8 h 47"/>
            </a:gdLst>
            <a:ahLst/>
            <a:cxnLst>
              <a:cxn ang="0">
                <a:pos x="T0" y="T1"/>
              </a:cxn>
              <a:cxn ang="0">
                <a:pos x="T2" y="T3"/>
              </a:cxn>
              <a:cxn ang="0">
                <a:pos x="T4" y="T5"/>
              </a:cxn>
              <a:cxn ang="0">
                <a:pos x="T6" y="T7"/>
              </a:cxn>
              <a:cxn ang="0">
                <a:pos x="T8" y="T9"/>
              </a:cxn>
            </a:cxnLst>
            <a:rect l="0" t="0" r="r" b="b"/>
            <a:pathLst>
              <a:path w="57" h="47">
                <a:moveTo>
                  <a:pt x="34" y="8"/>
                </a:moveTo>
                <a:cubicBezTo>
                  <a:pt x="18" y="0"/>
                  <a:pt x="0" y="9"/>
                  <a:pt x="0" y="9"/>
                </a:cubicBezTo>
                <a:cubicBezTo>
                  <a:pt x="0" y="9"/>
                  <a:pt x="8" y="31"/>
                  <a:pt x="23" y="39"/>
                </a:cubicBezTo>
                <a:cubicBezTo>
                  <a:pt x="39" y="47"/>
                  <a:pt x="57" y="38"/>
                  <a:pt x="57" y="38"/>
                </a:cubicBezTo>
                <a:cubicBezTo>
                  <a:pt x="57" y="38"/>
                  <a:pt x="50" y="16"/>
                  <a:pt x="34" y="8"/>
                </a:cubicBezTo>
                <a:close/>
              </a:path>
            </a:pathLst>
          </a:custGeom>
          <a:solidFill>
            <a:srgbClr val="1AAEA0"/>
          </a:solidFill>
          <a:ln>
            <a:noFill/>
          </a:ln>
        </p:spPr>
        <p:txBody>
          <a:bodyPr vert="horz" wrap="square" lIns="67491" tIns="35095" rIns="67491" bIns="35095" numCol="1" anchor="t" anchorCtr="0" compatLnSpc="1">
            <a:normAutofit fontScale="77500"/>
          </a:bodyPr>
          <a:lstStyle/>
          <a:p>
            <a:endParaRPr lang="zh-CN" altLang="en-US" sz="1350">
              <a:solidFill>
                <a:srgbClr val="333333"/>
              </a:solidFill>
              <a:latin typeface="字魂手刻宋" panose="00000500000000000000" charset="-122"/>
              <a:ea typeface="字魂手刻宋" panose="00000500000000000000" charset="-122"/>
            </a:endParaRPr>
          </a:p>
        </p:txBody>
      </p:sp>
      <p:pic>
        <p:nvPicPr>
          <p:cNvPr id="9" name="图片 8"/>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4779140" y="2549534"/>
            <a:ext cx="2633357" cy="3063107"/>
          </a:xfrm>
          <a:prstGeom prst="rect">
            <a:avLst/>
          </a:prstGeom>
        </p:spPr>
      </p:pic>
      <p:grpSp>
        <p:nvGrpSpPr>
          <p:cNvPr id="10" name="组合 9"/>
          <p:cNvGrpSpPr/>
          <p:nvPr>
            <p:custDataLst>
              <p:tags r:id="rId5"/>
            </p:custDataLst>
          </p:nvPr>
        </p:nvGrpSpPr>
        <p:grpSpPr>
          <a:xfrm>
            <a:off x="2007634" y="2507645"/>
            <a:ext cx="2633041" cy="1953641"/>
            <a:chOff x="507664" y="2051153"/>
            <a:chExt cx="2633384" cy="1953895"/>
          </a:xfrm>
        </p:grpSpPr>
        <p:sp>
          <p:nvSpPr>
            <p:cNvPr id="11" name="文本框 10"/>
            <p:cNvSpPr txBox="1"/>
            <p:nvPr>
              <p:custDataLst>
                <p:tags r:id="rId6"/>
              </p:custDataLst>
            </p:nvPr>
          </p:nvSpPr>
          <p:spPr>
            <a:xfrm>
              <a:off x="826433" y="2051153"/>
              <a:ext cx="2314615" cy="343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7491" tIns="35095" rIns="67491" bIns="35095" anchor="b" anchorCtr="0">
              <a:noAutofit/>
            </a:bodyPr>
            <a:lstStyle>
              <a:defPPr>
                <a:defRPr lang="zh-CN"/>
              </a:defPPr>
              <a:lvl1pPr algn="r" fontAlgn="base">
                <a:spcBef>
                  <a:spcPct val="0"/>
                </a:spcBef>
                <a:spcAft>
                  <a:spcPct val="0"/>
                </a:spcAft>
                <a:defRPr>
                  <a:solidFill>
                    <a:srgbClr val="333333"/>
                  </a:solidFill>
                  <a:ea typeface="微软雅黑" panose="020B0503020204020204" charset="-122"/>
                </a:defRPr>
              </a:lvl1pPr>
              <a:lvl2pPr marL="742950" indent="-285750">
                <a:defRPr>
                  <a:latin typeface="Calibri" panose="020F0502020204030204" charset="0"/>
                  <a:ea typeface="微软雅黑" panose="020B0503020204020204" charset="-122"/>
                </a:defRPr>
              </a:lvl2pPr>
              <a:lvl3pPr marL="1143000" indent="-228600">
                <a:defRPr>
                  <a:latin typeface="Calibri" panose="020F0502020204030204" charset="0"/>
                  <a:ea typeface="微软雅黑" panose="020B0503020204020204" charset="-122"/>
                </a:defRPr>
              </a:lvl3pPr>
              <a:lvl4pPr marL="1600200" indent="-228600">
                <a:defRPr>
                  <a:latin typeface="Calibri" panose="020F0502020204030204" charset="0"/>
                  <a:ea typeface="微软雅黑" panose="020B0503020204020204" charset="-122"/>
                </a:defRPr>
              </a:lvl4pPr>
              <a:lvl5pPr marL="2057400" indent="-228600">
                <a:defRPr>
                  <a:latin typeface="Calibri" panose="020F0502020204030204" charset="0"/>
                  <a:ea typeface="微软雅黑" panose="020B0503020204020204" charset="-122"/>
                </a:defRPr>
              </a:lvl5pPr>
              <a:lvl6pPr marL="2514600" indent="-228600" fontAlgn="base">
                <a:spcBef>
                  <a:spcPct val="0"/>
                </a:spcBef>
                <a:spcAft>
                  <a:spcPct val="0"/>
                </a:spcAft>
                <a:defRPr>
                  <a:latin typeface="Calibri" panose="020F0502020204030204" charset="0"/>
                  <a:ea typeface="微软雅黑" panose="020B0503020204020204" charset="-122"/>
                </a:defRPr>
              </a:lvl6pPr>
              <a:lvl7pPr marL="2971800" indent="-228600" fontAlgn="base">
                <a:spcBef>
                  <a:spcPct val="0"/>
                </a:spcBef>
                <a:spcAft>
                  <a:spcPct val="0"/>
                </a:spcAft>
                <a:defRPr>
                  <a:latin typeface="Calibri" panose="020F0502020204030204" charset="0"/>
                  <a:ea typeface="微软雅黑" panose="020B0503020204020204" charset="-122"/>
                </a:defRPr>
              </a:lvl7pPr>
              <a:lvl8pPr marL="3429000" indent="-228600" fontAlgn="base">
                <a:spcBef>
                  <a:spcPct val="0"/>
                </a:spcBef>
                <a:spcAft>
                  <a:spcPct val="0"/>
                </a:spcAft>
                <a:defRPr>
                  <a:latin typeface="Calibri" panose="020F0502020204030204" charset="0"/>
                  <a:ea typeface="微软雅黑" panose="020B0503020204020204" charset="-122"/>
                </a:defRPr>
              </a:lvl8pPr>
              <a:lvl9pPr marL="3886200" indent="-228600" fontAlgn="base">
                <a:spcBef>
                  <a:spcPct val="0"/>
                </a:spcBef>
                <a:spcAft>
                  <a:spcPct val="0"/>
                </a:spcAft>
                <a:defRPr>
                  <a:latin typeface="Calibri" panose="020F0502020204030204" charset="0"/>
                  <a:ea typeface="微软雅黑" panose="020B0503020204020204" charset="-122"/>
                </a:defRPr>
              </a:lvl9pPr>
            </a:lstStyle>
            <a:p>
              <a:r>
                <a:rPr lang="zh-CN" altLang="en-US" b="1" dirty="0">
                  <a:solidFill>
                    <a:srgbClr val="0070C0"/>
                  </a:solidFill>
                  <a:latin typeface="字魂手刻宋" panose="00000500000000000000" charset="-122"/>
                  <a:ea typeface="字魂手刻宋" panose="00000500000000000000" charset="-122"/>
                  <a:cs typeface="+mn-ea"/>
                </a:rPr>
                <a:t>精细化运营</a:t>
              </a:r>
              <a:endParaRPr lang="zh-CN" altLang="en-US" b="1" dirty="0">
                <a:solidFill>
                  <a:srgbClr val="0070C0"/>
                </a:solidFill>
                <a:latin typeface="字魂手刻宋" panose="00000500000000000000" charset="-122"/>
                <a:ea typeface="字魂手刻宋" panose="00000500000000000000" charset="-122"/>
                <a:cs typeface="+mn-ea"/>
              </a:endParaRPr>
            </a:p>
          </p:txBody>
        </p:sp>
        <p:sp>
          <p:nvSpPr>
            <p:cNvPr id="13" name="文本框 12"/>
            <p:cNvSpPr txBox="1"/>
            <p:nvPr>
              <p:custDataLst>
                <p:tags r:id="rId7"/>
              </p:custDataLst>
            </p:nvPr>
          </p:nvSpPr>
          <p:spPr>
            <a:xfrm>
              <a:off x="507664" y="2401673"/>
              <a:ext cx="2633345" cy="1603375"/>
            </a:xfrm>
            <a:prstGeom prst="rect">
              <a:avLst/>
            </a:prstGeom>
          </p:spPr>
          <p:txBody>
            <a:bodyPr vert="horz" wrap="square" lIns="67491" tIns="35095" rIns="67491" bIns="35095">
              <a:noAutofit/>
            </a:bodyPr>
            <a:lstStyle>
              <a:defPPr>
                <a:defRPr lang="zh-CN"/>
              </a:defPPr>
              <a:lvl1pPr algn="r">
                <a:defRPr>
                  <a:solidFill>
                    <a:srgbClr val="333333"/>
                  </a:solidFill>
                </a:defRPr>
              </a:lvl1pPr>
            </a:lstStyle>
            <a:p>
              <a:pPr>
                <a:lnSpc>
                  <a:spcPct val="150000"/>
                </a:lnSpc>
              </a:pPr>
              <a:r>
                <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全域用户标签体系</a:t>
              </a:r>
              <a:endPar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企业、行业区域风险画像</a:t>
              </a:r>
              <a:endPar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客户分层管理</a:t>
              </a:r>
              <a:endPar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业务全周期质量评估</a:t>
              </a:r>
              <a:endPar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en-US" altLang="zh-CN"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a:t>
              </a:r>
              <a:endParaRPr lang="zh-CN" altLang="en-US" sz="14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endParaRPr lang="zh-CN" altLang="en-US" sz="12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endParaRPr lang="zh-CN" altLang="en-US" sz="1200" dirty="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p:txBody>
        </p:sp>
      </p:grpSp>
      <p:grpSp>
        <p:nvGrpSpPr>
          <p:cNvPr id="14" name="组合 13"/>
          <p:cNvGrpSpPr/>
          <p:nvPr>
            <p:custDataLst>
              <p:tags r:id="rId8"/>
            </p:custDataLst>
          </p:nvPr>
        </p:nvGrpSpPr>
        <p:grpSpPr>
          <a:xfrm>
            <a:off x="7391802" y="2507645"/>
            <a:ext cx="3010778" cy="1963164"/>
            <a:chOff x="5868765" y="2051153"/>
            <a:chExt cx="3011170" cy="1963420"/>
          </a:xfrm>
        </p:grpSpPr>
        <p:sp>
          <p:nvSpPr>
            <p:cNvPr id="15" name="文本框 14"/>
            <p:cNvSpPr txBox="1"/>
            <p:nvPr>
              <p:custDataLst>
                <p:tags r:id="rId9"/>
              </p:custDataLst>
            </p:nvPr>
          </p:nvSpPr>
          <p:spPr>
            <a:xfrm>
              <a:off x="5868765" y="2051153"/>
              <a:ext cx="2313622" cy="343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7491" tIns="35095" rIns="67491" bIns="35095" anchor="b" anchorCtr="0">
              <a:noAutofit/>
            </a:bodyPr>
            <a:lstStyle>
              <a:defPPr>
                <a:defRPr lang="zh-CN"/>
              </a:defPPr>
              <a:lvl1pPr fontAlgn="base">
                <a:spcBef>
                  <a:spcPct val="0"/>
                </a:spcBef>
                <a:spcAft>
                  <a:spcPct val="0"/>
                </a:spcAft>
                <a:defRPr>
                  <a:solidFill>
                    <a:srgbClr val="333333"/>
                  </a:solidFill>
                  <a:ea typeface="微软雅黑" panose="020B0503020204020204" charset="-122"/>
                </a:defRPr>
              </a:lvl1pPr>
              <a:lvl2pPr marL="742950" indent="-285750">
                <a:defRPr>
                  <a:latin typeface="Calibri" panose="020F0502020204030204" charset="0"/>
                  <a:ea typeface="微软雅黑" panose="020B0503020204020204" charset="-122"/>
                </a:defRPr>
              </a:lvl2pPr>
              <a:lvl3pPr marL="1143000" indent="-228600">
                <a:defRPr>
                  <a:latin typeface="Calibri" panose="020F0502020204030204" charset="0"/>
                  <a:ea typeface="微软雅黑" panose="020B0503020204020204" charset="-122"/>
                </a:defRPr>
              </a:lvl3pPr>
              <a:lvl4pPr marL="1600200" indent="-228600">
                <a:defRPr>
                  <a:latin typeface="Calibri" panose="020F0502020204030204" charset="0"/>
                  <a:ea typeface="微软雅黑" panose="020B0503020204020204" charset="-122"/>
                </a:defRPr>
              </a:lvl4pPr>
              <a:lvl5pPr marL="2057400" indent="-228600">
                <a:defRPr>
                  <a:latin typeface="Calibri" panose="020F0502020204030204" charset="0"/>
                  <a:ea typeface="微软雅黑" panose="020B0503020204020204" charset="-122"/>
                </a:defRPr>
              </a:lvl5pPr>
              <a:lvl6pPr marL="2514600" indent="-228600" fontAlgn="base">
                <a:spcBef>
                  <a:spcPct val="0"/>
                </a:spcBef>
                <a:spcAft>
                  <a:spcPct val="0"/>
                </a:spcAft>
                <a:defRPr>
                  <a:latin typeface="Calibri" panose="020F0502020204030204" charset="0"/>
                  <a:ea typeface="微软雅黑" panose="020B0503020204020204" charset="-122"/>
                </a:defRPr>
              </a:lvl6pPr>
              <a:lvl7pPr marL="2971800" indent="-228600" fontAlgn="base">
                <a:spcBef>
                  <a:spcPct val="0"/>
                </a:spcBef>
                <a:spcAft>
                  <a:spcPct val="0"/>
                </a:spcAft>
                <a:defRPr>
                  <a:latin typeface="Calibri" panose="020F0502020204030204" charset="0"/>
                  <a:ea typeface="微软雅黑" panose="020B0503020204020204" charset="-122"/>
                </a:defRPr>
              </a:lvl7pPr>
              <a:lvl8pPr marL="3429000" indent="-228600" fontAlgn="base">
                <a:spcBef>
                  <a:spcPct val="0"/>
                </a:spcBef>
                <a:spcAft>
                  <a:spcPct val="0"/>
                </a:spcAft>
                <a:defRPr>
                  <a:latin typeface="Calibri" panose="020F0502020204030204" charset="0"/>
                  <a:ea typeface="微软雅黑" panose="020B0503020204020204" charset="-122"/>
                </a:defRPr>
              </a:lvl8pPr>
              <a:lvl9pPr marL="3886200" indent="-228600" fontAlgn="base">
                <a:spcBef>
                  <a:spcPct val="0"/>
                </a:spcBef>
                <a:spcAft>
                  <a:spcPct val="0"/>
                </a:spcAft>
                <a:defRPr>
                  <a:latin typeface="Calibri" panose="020F0502020204030204" charset="0"/>
                  <a:ea typeface="微软雅黑" panose="020B0503020204020204" charset="-122"/>
                </a:defRPr>
              </a:lvl9pPr>
            </a:lstStyle>
            <a:p>
              <a:r>
                <a:rPr lang="zh-CN" altLang="en-US" b="1">
                  <a:solidFill>
                    <a:srgbClr val="0070C0"/>
                  </a:solidFill>
                  <a:latin typeface="字魂手刻宋" panose="00000500000000000000" charset="-122"/>
                  <a:ea typeface="字魂手刻宋" panose="00000500000000000000" charset="-122"/>
                  <a:cs typeface="+mn-ea"/>
                </a:rPr>
                <a:t>智能化升级</a:t>
              </a:r>
              <a:endParaRPr lang="zh-CN" altLang="en-US" b="1">
                <a:solidFill>
                  <a:srgbClr val="0070C0"/>
                </a:solidFill>
                <a:latin typeface="字魂手刻宋" panose="00000500000000000000" charset="-122"/>
                <a:ea typeface="字魂手刻宋" panose="00000500000000000000" charset="-122"/>
                <a:cs typeface="+mn-ea"/>
              </a:endParaRPr>
            </a:p>
          </p:txBody>
        </p:sp>
        <p:sp>
          <p:nvSpPr>
            <p:cNvPr id="16" name="文本框 15"/>
            <p:cNvSpPr txBox="1"/>
            <p:nvPr>
              <p:custDataLst>
                <p:tags r:id="rId10"/>
              </p:custDataLst>
            </p:nvPr>
          </p:nvSpPr>
          <p:spPr>
            <a:xfrm>
              <a:off x="5868765" y="2401673"/>
              <a:ext cx="3011170" cy="1612900"/>
            </a:xfrm>
            <a:prstGeom prst="rect">
              <a:avLst/>
            </a:prstGeom>
          </p:spPr>
          <p:txBody>
            <a:bodyPr vert="horz" wrap="square" lIns="67491" tIns="35095" rIns="67491" bIns="35095">
              <a:noAutofit/>
            </a:bodyPr>
            <a:lstStyle>
              <a:defPPr>
                <a:defRPr lang="zh-CN"/>
              </a:defPPr>
              <a:lvl1pPr>
                <a:defRPr>
                  <a:solidFill>
                    <a:srgbClr val="333333"/>
                  </a:solidFill>
                </a:defRPr>
              </a:lvl1pPr>
            </a:lstStyle>
            <a:p>
              <a:pPr>
                <a:lnSpc>
                  <a:spcPct val="150000"/>
                </a:lnSpc>
              </a:pPr>
              <a:r>
                <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综合运营管理平台</a:t>
              </a:r>
              <a:endPar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数据管理平台</a:t>
              </a:r>
              <a:endPar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算法模型</a:t>
              </a:r>
              <a:endPar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智能分析引擎</a:t>
              </a:r>
              <a:endParaRPr lang="zh-CN" altLang="en-US"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en-US" altLang="zh-CN"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rPr>
                <a:t>……</a:t>
              </a:r>
              <a:endParaRPr lang="en-US" altLang="zh-CN" sz="1400">
                <a:solidFill>
                  <a:srgbClr val="000000">
                    <a:lumMod val="75000"/>
                    <a:lumOff val="25000"/>
                  </a:srgbClr>
                </a:solidFill>
                <a:latin typeface="字魂手刻宋" panose="00000500000000000000" charset="-122"/>
                <a:ea typeface="字魂手刻宋" panose="00000500000000000000" charset="-122"/>
                <a:cs typeface="字魂手刻宋" panose="00000500000000000000" charset="-122"/>
              </a:endParaRPr>
            </a:p>
          </p:txBody>
        </p:sp>
      </p:grpSp>
      <p:sp>
        <p:nvSpPr>
          <p:cNvPr id="17" name="矩形 16"/>
          <p:cNvSpPr/>
          <p:nvPr>
            <p:custDataLst>
              <p:tags r:id="rId11"/>
            </p:custDataLst>
          </p:nvPr>
        </p:nvSpPr>
        <p:spPr>
          <a:xfrm>
            <a:off x="1523802" y="4636661"/>
            <a:ext cx="9142809" cy="1386090"/>
          </a:xfrm>
          <a:prstGeom prst="rect">
            <a:avLst/>
          </a:prstGeom>
          <a:solidFill>
            <a:srgbClr val="0061AE"/>
          </a:solidFill>
          <a:ln>
            <a:noFill/>
          </a:ln>
        </p:spPr>
        <p:style>
          <a:lnRef idx="2">
            <a:srgbClr val="1AAEA0">
              <a:shade val="50000"/>
            </a:srgbClr>
          </a:lnRef>
          <a:fillRef idx="1">
            <a:srgbClr val="1AAEA0"/>
          </a:fillRef>
          <a:effectRef idx="0">
            <a:srgbClr val="1AAEA0"/>
          </a:effectRef>
          <a:fontRef idx="minor">
            <a:srgbClr val="FFFFFF"/>
          </a:fontRef>
        </p:style>
        <p:txBody>
          <a:bodyPr rtlCol="0" anchor="ctr"/>
          <a:lstStyle/>
          <a:p>
            <a:pPr algn="ctr"/>
            <a:endParaRPr lang="zh-CN" altLang="en-US">
              <a:latin typeface="字魂手刻宋" panose="00000500000000000000" charset="-122"/>
              <a:ea typeface="字魂手刻宋" panose="00000500000000000000" charset="-122"/>
            </a:endParaRPr>
          </a:p>
        </p:txBody>
      </p:sp>
      <p:sp>
        <p:nvSpPr>
          <p:cNvPr id="18" name="文本框 17"/>
          <p:cNvSpPr txBox="1"/>
          <p:nvPr>
            <p:custDataLst>
              <p:tags r:id="rId12"/>
            </p:custDataLst>
          </p:nvPr>
        </p:nvSpPr>
        <p:spPr>
          <a:xfrm>
            <a:off x="3430905" y="5160010"/>
            <a:ext cx="585089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7491" tIns="35095" rIns="67491" bIns="35095" anchor="ctr" anchorCtr="0"/>
          <a:lstStyle>
            <a:defPPr>
              <a:defRPr lang="zh-CN"/>
            </a:defPPr>
            <a:lvl1pPr algn="r" fontAlgn="base">
              <a:spcBef>
                <a:spcPct val="0"/>
              </a:spcBef>
              <a:spcAft>
                <a:spcPct val="0"/>
              </a:spcAft>
              <a:defRPr>
                <a:solidFill>
                  <a:srgbClr val="333333"/>
                </a:solidFill>
                <a:ea typeface="微软雅黑" panose="020B0503020204020204" charset="-122"/>
              </a:defRPr>
            </a:lvl1pPr>
            <a:lvl2pPr marL="742950" indent="-285750">
              <a:defRPr>
                <a:latin typeface="Calibri" panose="020F0502020204030204" charset="0"/>
                <a:ea typeface="微软雅黑" panose="020B0503020204020204" charset="-122"/>
              </a:defRPr>
            </a:lvl2pPr>
            <a:lvl3pPr marL="1143000" indent="-228600">
              <a:defRPr>
                <a:latin typeface="Calibri" panose="020F0502020204030204" charset="0"/>
                <a:ea typeface="微软雅黑" panose="020B0503020204020204" charset="-122"/>
              </a:defRPr>
            </a:lvl3pPr>
            <a:lvl4pPr marL="1600200" indent="-228600">
              <a:defRPr>
                <a:latin typeface="Calibri" panose="020F0502020204030204" charset="0"/>
                <a:ea typeface="微软雅黑" panose="020B0503020204020204" charset="-122"/>
              </a:defRPr>
            </a:lvl4pPr>
            <a:lvl5pPr marL="2057400" indent="-228600">
              <a:defRPr>
                <a:latin typeface="Calibri" panose="020F0502020204030204" charset="0"/>
                <a:ea typeface="微软雅黑" panose="020B0503020204020204" charset="-122"/>
              </a:defRPr>
            </a:lvl5pPr>
            <a:lvl6pPr marL="2514600" indent="-228600" fontAlgn="base">
              <a:spcBef>
                <a:spcPct val="0"/>
              </a:spcBef>
              <a:spcAft>
                <a:spcPct val="0"/>
              </a:spcAft>
              <a:defRPr>
                <a:latin typeface="Calibri" panose="020F0502020204030204" charset="0"/>
                <a:ea typeface="微软雅黑" panose="020B0503020204020204" charset="-122"/>
              </a:defRPr>
            </a:lvl6pPr>
            <a:lvl7pPr marL="2971800" indent="-228600" fontAlgn="base">
              <a:spcBef>
                <a:spcPct val="0"/>
              </a:spcBef>
              <a:spcAft>
                <a:spcPct val="0"/>
              </a:spcAft>
              <a:defRPr>
                <a:latin typeface="Calibri" panose="020F0502020204030204" charset="0"/>
                <a:ea typeface="微软雅黑" panose="020B0503020204020204" charset="-122"/>
              </a:defRPr>
            </a:lvl7pPr>
            <a:lvl8pPr marL="3429000" indent="-228600" fontAlgn="base">
              <a:spcBef>
                <a:spcPct val="0"/>
              </a:spcBef>
              <a:spcAft>
                <a:spcPct val="0"/>
              </a:spcAft>
              <a:defRPr>
                <a:latin typeface="Calibri" panose="020F0502020204030204" charset="0"/>
                <a:ea typeface="微软雅黑" panose="020B0503020204020204" charset="-122"/>
              </a:defRPr>
            </a:lvl8pPr>
            <a:lvl9pPr marL="3886200" indent="-228600" fontAlgn="base">
              <a:spcBef>
                <a:spcPct val="0"/>
              </a:spcBef>
              <a:spcAft>
                <a:spcPct val="0"/>
              </a:spcAft>
              <a:defRPr>
                <a:latin typeface="Calibri" panose="020F0502020204030204" charset="0"/>
                <a:ea typeface="微软雅黑" panose="020B0503020204020204" charset="-122"/>
              </a:defRPr>
            </a:lvl9pPr>
          </a:lstStyle>
          <a:p>
            <a:pPr algn="ctr"/>
            <a:r>
              <a:rPr lang="en-US" altLang="zh-CN" sz="2000" b="1">
                <a:solidFill>
                  <a:schemeClr val="bg1"/>
                </a:solidFill>
                <a:latin typeface="字魂手刻宋" panose="00000500000000000000" charset="-122"/>
                <a:ea typeface="字魂手刻宋" panose="00000500000000000000" charset="-122"/>
                <a:cs typeface="字魂手刻宋" panose="00000500000000000000" charset="-122"/>
                <a:sym typeface="+mn-ea"/>
              </a:rPr>
              <a:t>CDP(</a:t>
            </a:r>
            <a:r>
              <a:rPr lang="zh-CN" altLang="en-US" sz="2000" b="1">
                <a:solidFill>
                  <a:schemeClr val="bg1"/>
                </a:solidFill>
                <a:latin typeface="字魂手刻宋" panose="00000500000000000000" charset="-122"/>
                <a:ea typeface="字魂手刻宋" panose="00000500000000000000" charset="-122"/>
                <a:cs typeface="字魂手刻宋" panose="00000500000000000000" charset="-122"/>
                <a:sym typeface="+mn-ea"/>
              </a:rPr>
              <a:t>客户数据平台</a:t>
            </a:r>
            <a:r>
              <a:rPr lang="en-US" altLang="zh-CN" sz="2000" b="1">
                <a:solidFill>
                  <a:schemeClr val="bg1"/>
                </a:solidFill>
                <a:latin typeface="字魂手刻宋" panose="00000500000000000000" charset="-122"/>
                <a:ea typeface="字魂手刻宋" panose="00000500000000000000" charset="-122"/>
                <a:cs typeface="字魂手刻宋" panose="00000500000000000000" charset="-122"/>
                <a:sym typeface="+mn-ea"/>
              </a:rPr>
              <a:t>) </a:t>
            </a:r>
            <a:r>
              <a:rPr lang="zh-CN" altLang="en-US" sz="2000" b="1">
                <a:solidFill>
                  <a:schemeClr val="bg1"/>
                </a:solidFill>
                <a:latin typeface="字魂手刻宋" panose="00000500000000000000" charset="-122"/>
                <a:ea typeface="字魂手刻宋" panose="00000500000000000000" charset="-122"/>
                <a:cs typeface="字魂手刻宋" panose="00000500000000000000" charset="-122"/>
                <a:sym typeface="+mn-ea"/>
              </a:rPr>
              <a:t>＋</a:t>
            </a:r>
            <a:r>
              <a:rPr lang="en-US" altLang="zh-CN" sz="2000">
                <a:solidFill>
                  <a:schemeClr val="bg1"/>
                </a:solidFill>
                <a:latin typeface="字魂手刻宋" panose="00000500000000000000" charset="-122"/>
                <a:ea typeface="字魂手刻宋" panose="00000500000000000000" charset="-122"/>
                <a:cs typeface="字魂手刻宋" panose="00000500000000000000" charset="-122"/>
                <a:sym typeface="+mn-ea"/>
              </a:rPr>
              <a:t> </a:t>
            </a:r>
            <a:r>
              <a:rPr lang="zh-CN" altLang="en-US" sz="2000" b="1">
                <a:solidFill>
                  <a:schemeClr val="bg1"/>
                </a:solidFill>
                <a:latin typeface="字魂手刻宋" panose="00000500000000000000" charset="-122"/>
                <a:ea typeface="字魂手刻宋" panose="00000500000000000000" charset="-122"/>
                <a:cs typeface="字魂手刻宋" panose="00000500000000000000" charset="-122"/>
                <a:sym typeface="+mn-ea"/>
              </a:rPr>
              <a:t>DMP（数据管理平台）</a:t>
            </a:r>
            <a:endParaRPr lang="zh-CN" altLang="en-US" sz="2000" b="1">
              <a:solidFill>
                <a:schemeClr val="bg1"/>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9" name="文本框 18"/>
          <p:cNvSpPr txBox="1"/>
          <p:nvPr/>
        </p:nvSpPr>
        <p:spPr>
          <a:xfrm>
            <a:off x="962534" y="625364"/>
            <a:ext cx="10938356" cy="1568450"/>
          </a:xfrm>
          <a:prstGeom prst="rect">
            <a:avLst/>
          </a:prstGeom>
          <a:noFill/>
        </p:spPr>
        <p:txBody>
          <a:bodyPr wrap="square" rtlCol="0">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搭建以“</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CDP(</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客户数据平台</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DMP</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（数据管理平台）</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”为基础的精细化运营技术平台，对现有业务数据进行科学、精确、动态分析，</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搭建全域用户标签体系、建立企业、行业、区域风险画像，升级运营管理中心平台、完善</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BI</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数据中心，实现客户分层管理和业务智能推荐，以算法模型和智能分析引擎，可对业务全周期进行高效质量评估</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，显著提升精细运营和智能化管理水平。</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3" name="文本框 2"/>
          <p:cNvSpPr txBox="1"/>
          <p:nvPr/>
        </p:nvSpPr>
        <p:spPr>
          <a:xfrm>
            <a:off x="31750" y="69850"/>
            <a:ext cx="871220" cy="883285"/>
          </a:xfrm>
          <a:prstGeom prst="rect">
            <a:avLst/>
          </a:prstGeom>
          <a:noFill/>
        </p:spPr>
        <p:txBody>
          <a:bodyPr wrap="square">
            <a:noAutofit/>
          </a:bodyPr>
          <a:lstStyle/>
          <a:p>
            <a:pPr indent="0" algn="ctr" fontAlgn="auto">
              <a:lnSpc>
                <a:spcPct val="100000"/>
              </a:lnSpc>
              <a:spcBef>
                <a:spcPts val="0"/>
              </a:spcBef>
            </a:pPr>
            <a:r>
              <a:rPr lang="en-US" altLang="zh-CN" sz="3200" b="1" spc="150">
                <a:solidFill>
                  <a:schemeClr val="bg1"/>
                </a:solidFill>
                <a:latin typeface="字魂手刻宋" panose="00000500000000000000" charset="-122"/>
                <a:ea typeface="字魂手刻宋" panose="00000500000000000000" charset="-122"/>
              </a:rPr>
              <a:t>2.7</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8" grpId="0" bldLvl="0" animBg="1"/>
      <p:bldP spid="17" grpId="0" bldLvl="0" animBg="1"/>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lstStyle/>
          <a:p>
            <a:pPr algn="ctr"/>
            <a:endParaRPr lang="zh-CN" altLang="en-US">
              <a:solidFill>
                <a:schemeClr val="lt1"/>
              </a:solidFill>
              <a:latin typeface="字魂95号-手刻宋"/>
              <a:ea typeface="字魂95号-手刻宋"/>
            </a:endParaRPr>
          </a:p>
        </p:txBody>
      </p:sp>
      <p:sp>
        <p:nvSpPr>
          <p:cNvPr id="5" name="文本框 4"/>
          <p:cNvSpPr txBox="1"/>
          <p:nvPr/>
        </p:nvSpPr>
        <p:spPr>
          <a:xfrm>
            <a:off x="1584075" y="3227070"/>
            <a:ext cx="9116695" cy="769620"/>
          </a:xfrm>
          <a:prstGeom prst="rect">
            <a:avLst/>
          </a:prstGeom>
          <a:noFill/>
        </p:spPr>
        <p:txBody>
          <a:bodyPr wrap="square" lIns="90158" tIns="46984" rIns="90158" bIns="46984" anchor="ctr" anchorCtr="0">
            <a:spAutoFit/>
          </a:bodyPr>
          <a:lstStyle/>
          <a:p>
            <a:pPr lvl="0" algn="ctr"/>
            <a:r>
              <a:rPr lang="zh-CN" altLang="en-US"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rPr>
              <a:t>安环家平台价值实现路径</a:t>
            </a:r>
            <a:endParaRPr lang="zh-CN" alt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6" name="文本框 5"/>
          <p:cNvSpPr txBox="1"/>
          <p:nvPr/>
        </p:nvSpPr>
        <p:spPr>
          <a:xfrm>
            <a:off x="5338512" y="2057869"/>
            <a:ext cx="1607820" cy="521970"/>
          </a:xfrm>
          <a:prstGeom prst="rect">
            <a:avLst/>
          </a:prstGeom>
          <a:noFill/>
        </p:spPr>
        <p:txBody>
          <a:bodyPr wrap="none">
            <a:spAutoFit/>
          </a:bodyPr>
          <a:lstStyle/>
          <a:p>
            <a:r>
              <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rPr>
              <a:t>第三部分</a:t>
            </a:r>
            <a:endPar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4" name="矩形 3"/>
          <p:cNvSpPr/>
          <p:nvPr>
            <p:custDataLst>
              <p:tags r:id="rId1"/>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
        <p:nvSpPr>
          <p:cNvPr id="7" name="矩形 6"/>
          <p:cNvSpPr/>
          <p:nvPr>
            <p:custDataLst>
              <p:tags r:id="rId2"/>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官网视频">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622300" y="837565"/>
            <a:ext cx="11362055" cy="5441950"/>
          </a:xfrm>
          <a:prstGeom prst="rect">
            <a:avLst/>
          </a:prstGeom>
        </p:spPr>
      </p:pic>
      <p:sp>
        <p:nvSpPr>
          <p:cNvPr id="6" name="文本框 5"/>
          <p:cNvSpPr txBox="1"/>
          <p:nvPr>
            <p:custDataLst>
              <p:tags r:id="rId5"/>
            </p:custDataLst>
          </p:nvPr>
        </p:nvSpPr>
        <p:spPr>
          <a:xfrm>
            <a:off x="962535" y="69812"/>
            <a:ext cx="9721850" cy="460375"/>
          </a:xfrm>
          <a:prstGeom prst="rect">
            <a:avLst/>
          </a:prstGeom>
          <a:noFill/>
        </p:spPr>
        <p:txBody>
          <a:bodyPr wrap="square">
            <a:spAutoFit/>
          </a:bodyPr>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a:t>
            </a:r>
            <a:r>
              <a:rPr lang="zh-CN" altLang="en-US" sz="2400" b="1" spc="150" dirty="0">
                <a:solidFill>
                  <a:srgbClr val="0061AE"/>
                </a:solidFill>
                <a:latin typeface="字魂手刻宋" panose="00000500000000000000" charset="-122"/>
                <a:ea typeface="字魂手刻宋" panose="00000500000000000000" charset="-122"/>
                <a:sym typeface="+mn-ea"/>
              </a:rPr>
              <a:t>整体概述</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6"/>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8" name="文本框 7"/>
          <p:cNvSpPr txBox="1"/>
          <p:nvPr/>
        </p:nvSpPr>
        <p:spPr>
          <a:xfrm>
            <a:off x="145415" y="69850"/>
            <a:ext cx="75755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3.1</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777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remove" display="1">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62535" y="69812"/>
            <a:ext cx="97218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a:t>
            </a:r>
            <a:r>
              <a:rPr lang="zh-CN" altLang="en-US" sz="2400" b="1" spc="150" dirty="0">
                <a:solidFill>
                  <a:srgbClr val="0061AE"/>
                </a:solidFill>
                <a:latin typeface="字魂手刻宋" panose="00000500000000000000" charset="-122"/>
                <a:ea typeface="字魂手刻宋" panose="00000500000000000000" charset="-122"/>
                <a:sym typeface="+mn-ea"/>
              </a:rPr>
              <a:t>整体概述</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2"/>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pic>
        <p:nvPicPr>
          <p:cNvPr id="2" name="图片 1"/>
          <p:cNvPicPr>
            <a:picLocks noChangeAspect="1"/>
          </p:cNvPicPr>
          <p:nvPr/>
        </p:nvPicPr>
        <p:blipFill>
          <a:blip r:embed="rId3"/>
          <a:stretch>
            <a:fillRect/>
          </a:stretch>
        </p:blipFill>
        <p:spPr>
          <a:xfrm>
            <a:off x="1342390" y="1491615"/>
            <a:ext cx="9525635" cy="5355590"/>
          </a:xfrm>
          <a:prstGeom prst="rect">
            <a:avLst/>
          </a:prstGeom>
        </p:spPr>
      </p:pic>
      <p:sp>
        <p:nvSpPr>
          <p:cNvPr id="3" name="文本框 2"/>
          <p:cNvSpPr txBox="1"/>
          <p:nvPr/>
        </p:nvSpPr>
        <p:spPr>
          <a:xfrm>
            <a:off x="910590" y="462915"/>
            <a:ext cx="11094085" cy="1060450"/>
          </a:xfrm>
          <a:prstGeom prst="rect">
            <a:avLst/>
          </a:prstGeom>
          <a:noFill/>
        </p:spPr>
        <p:txBody>
          <a:bodyPr wrap="square" rtlCol="0" anchor="t">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安环家平台凭借丰富的行业经验和先进的技术能力，有效支撑安全风险管理交易市场的落地实施，</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sym typeface="+mn-ea"/>
              </a:rPr>
              <a:t>并专注于安责险事故预防服务、全程安全风险管理服务及保险产品推广等核心业务</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，平台提供统一、标准的交易市场及全面的信息技术服务，</a:t>
            </a:r>
            <a:r>
              <a:rPr lang="zh-CN" altLang="en-US" sz="1400" b="1" dirty="0">
                <a:solidFill>
                  <a:srgbClr val="054487"/>
                </a:solidFill>
                <a:latin typeface="字魂手刻宋" panose="00000500000000000000" charset="-122"/>
                <a:ea typeface="字魂手刻宋" panose="00000500000000000000" charset="-122"/>
                <a:cs typeface="字魂手刻宋" panose="00000500000000000000" charset="-122"/>
                <a:sym typeface="+mn-ea"/>
              </a:rPr>
              <a:t>通过安责险区域化运营中心的模式</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，高效推动安全生产管理的持续改进和提升。</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8" name="文本框 7"/>
          <p:cNvSpPr txBox="1"/>
          <p:nvPr/>
        </p:nvSpPr>
        <p:spPr>
          <a:xfrm>
            <a:off x="145415" y="69850"/>
            <a:ext cx="75755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3.1</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62535" y="69812"/>
            <a:ext cx="97218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政府监管</a:t>
            </a:r>
            <a:r>
              <a:rPr lang="zh-CN" altLang="en-US"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2"/>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100" name="文本框 99"/>
          <p:cNvSpPr txBox="1"/>
          <p:nvPr/>
        </p:nvSpPr>
        <p:spPr>
          <a:xfrm>
            <a:off x="910590" y="598170"/>
            <a:ext cx="10317480" cy="922020"/>
          </a:xfrm>
          <a:prstGeom prst="rect">
            <a:avLst/>
          </a:prstGeom>
          <a:noFill/>
        </p:spPr>
        <p:txBody>
          <a:bodyPr wrap="square" rtlCol="0">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目前，政府职能部门在安全监管当中普遍面临动态监管缺失、信息流动受限、信息孤岛难题以及安全技术服务、安责险事故预防服务过程管控、形式主义、弄虚作假、报告失实等难题，过往政府采取的措施都是通过行政手段加大处罚力度或追责力度，</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但是行业问题并未得到根本性的改观。</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grpSp>
        <p:nvGrpSpPr>
          <p:cNvPr id="15" name="组合 14"/>
          <p:cNvGrpSpPr/>
          <p:nvPr/>
        </p:nvGrpSpPr>
        <p:grpSpPr>
          <a:xfrm>
            <a:off x="632460" y="1965325"/>
            <a:ext cx="5126990" cy="4194810"/>
            <a:chOff x="996" y="3095"/>
            <a:chExt cx="8074" cy="6606"/>
          </a:xfrm>
        </p:grpSpPr>
        <p:sp>
          <p:nvSpPr>
            <p:cNvPr id="25" name="单圆角矩形 5"/>
            <p:cNvSpPr/>
            <p:nvPr>
              <p:custDataLst>
                <p:tags r:id="rId3"/>
              </p:custDataLst>
            </p:nvPr>
          </p:nvSpPr>
          <p:spPr>
            <a:xfrm>
              <a:off x="996" y="3095"/>
              <a:ext cx="8074" cy="3101"/>
            </a:xfrm>
            <a:prstGeom prst="round1Rect">
              <a:avLst>
                <a:gd name="adj" fmla="val 0"/>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sym typeface="+mn-ea"/>
              </a:endParaRPr>
            </a:p>
          </p:txBody>
        </p:sp>
        <p:sp>
          <p:nvSpPr>
            <p:cNvPr id="3" name="矩形 2"/>
            <p:cNvSpPr/>
            <p:nvPr>
              <p:custDataLst>
                <p:tags r:id="rId4"/>
              </p:custDataLst>
            </p:nvPr>
          </p:nvSpPr>
          <p:spPr>
            <a:xfrm>
              <a:off x="1887" y="3444"/>
              <a:ext cx="6978" cy="686"/>
            </a:xfrm>
            <a:prstGeom prst="rect">
              <a:avLst/>
            </a:prstGeom>
            <a:noFill/>
          </p:spPr>
          <p:txBody>
            <a:bodyPr wrap="square" lIns="0" tIns="0" rIns="0" bIns="0" rtlCol="0" anchor="b">
              <a:noAutofit/>
            </a:bodyPr>
            <a:p>
              <a:pPr>
                <a:spcBef>
                  <a:spcPct val="0"/>
                </a:spcBef>
                <a:spcAft>
                  <a:spcPct val="0"/>
                </a:spcAft>
              </a:pPr>
              <a:r>
                <a:rPr lang="zh-CN" altLang="en-US" sz="2000" b="1">
                  <a:solidFill>
                    <a:srgbClr val="0061AE"/>
                  </a:solidFill>
                  <a:latin typeface="字魂手刻宋" panose="00000500000000000000" charset="-122"/>
                  <a:ea typeface="字魂手刻宋" panose="00000500000000000000" charset="-122"/>
                  <a:cs typeface="+mn-ea"/>
                </a:rPr>
                <a:t>信息不畅通</a:t>
              </a:r>
              <a:endParaRPr lang="zh-CN" altLang="en-US" sz="2000" b="1">
                <a:solidFill>
                  <a:srgbClr val="0061AE"/>
                </a:solidFill>
                <a:latin typeface="字魂手刻宋" panose="00000500000000000000" charset="-122"/>
                <a:ea typeface="字魂手刻宋" panose="00000500000000000000" charset="-122"/>
                <a:cs typeface="+mn-ea"/>
              </a:endParaRPr>
            </a:p>
          </p:txBody>
        </p:sp>
        <p:sp>
          <p:nvSpPr>
            <p:cNvPr id="4" name="矩形 3"/>
            <p:cNvSpPr/>
            <p:nvPr>
              <p:custDataLst>
                <p:tags r:id="rId5"/>
              </p:custDataLst>
            </p:nvPr>
          </p:nvSpPr>
          <p:spPr>
            <a:xfrm>
              <a:off x="1931" y="4232"/>
              <a:ext cx="6978" cy="1553"/>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75000"/>
                      <a:lumOff val="25000"/>
                    </a:schemeClr>
                  </a:solidFill>
                  <a:latin typeface="字魂手刻宋" panose="00000500000000000000" charset="-122"/>
                  <a:ea typeface="字魂手刻宋" panose="00000500000000000000" charset="-122"/>
                  <a:cs typeface="+mn-ea"/>
                </a:rPr>
                <a:t>监管部门缺乏统一的信息平台和沟通渠道，使得监管信息无法及时、准确地传递，严重影响了监管决策的制定和执行。</a:t>
              </a:r>
              <a:endParaRPr lang="zh-CN" altLang="en-US" sz="1400">
                <a:solidFill>
                  <a:schemeClr val="tx1">
                    <a:lumMod val="75000"/>
                    <a:lumOff val="25000"/>
                  </a:schemeClr>
                </a:solidFill>
                <a:latin typeface="字魂手刻宋" panose="00000500000000000000" charset="-122"/>
                <a:ea typeface="字魂手刻宋" panose="00000500000000000000" charset="-122"/>
                <a:cs typeface="+mn-ea"/>
              </a:endParaRPr>
            </a:p>
          </p:txBody>
        </p:sp>
        <p:sp>
          <p:nvSpPr>
            <p:cNvPr id="26" name="圆角矩形 19"/>
            <p:cNvSpPr/>
            <p:nvPr>
              <p:custDataLst>
                <p:tags r:id="rId6"/>
              </p:custDataLst>
            </p:nvPr>
          </p:nvSpPr>
          <p:spPr>
            <a:xfrm rot="5400000">
              <a:off x="1000" y="3569"/>
              <a:ext cx="684" cy="691"/>
            </a:xfrm>
            <a:prstGeom prst="roundRect">
              <a:avLst>
                <a:gd name="adj" fmla="val 0"/>
              </a:avLst>
            </a:prstGeom>
            <a:gradFill flip="none" rotWithShape="1">
              <a:gsLst>
                <a:gs pos="100000">
                  <a:srgbClr val="0061AE"/>
                </a:gs>
                <a:gs pos="0">
                  <a:srgbClr val="0061AE"/>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endParaRPr>
            </a:p>
          </p:txBody>
        </p:sp>
        <p:sp>
          <p:nvSpPr>
            <p:cNvPr id="27" name="燕尾形 20"/>
            <p:cNvSpPr/>
            <p:nvPr>
              <p:custDataLst>
                <p:tags r:id="rId7"/>
              </p:custDataLst>
            </p:nvPr>
          </p:nvSpPr>
          <p:spPr>
            <a:xfrm>
              <a:off x="1252" y="3782"/>
              <a:ext cx="179" cy="266"/>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p>
              <a:pPr algn="ctr"/>
              <a:endParaRPr lang="zh-CN" altLang="en-US">
                <a:latin typeface="字魂手刻宋" panose="00000500000000000000" charset="-122"/>
                <a:ea typeface="字魂手刻宋" panose="00000500000000000000" charset="-122"/>
              </a:endParaRPr>
            </a:p>
          </p:txBody>
        </p:sp>
        <p:sp>
          <p:nvSpPr>
            <p:cNvPr id="85" name="单圆角矩形 5"/>
            <p:cNvSpPr/>
            <p:nvPr>
              <p:custDataLst>
                <p:tags r:id="rId8"/>
              </p:custDataLst>
            </p:nvPr>
          </p:nvSpPr>
          <p:spPr>
            <a:xfrm>
              <a:off x="996" y="6601"/>
              <a:ext cx="8074" cy="3101"/>
            </a:xfrm>
            <a:prstGeom prst="round1Rect">
              <a:avLst>
                <a:gd name="adj" fmla="val 0"/>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sym typeface="+mn-ea"/>
              </a:endParaRPr>
            </a:p>
          </p:txBody>
        </p:sp>
        <p:sp>
          <p:nvSpPr>
            <p:cNvPr id="11" name="矩形 10"/>
            <p:cNvSpPr/>
            <p:nvPr>
              <p:custDataLst>
                <p:tags r:id="rId9"/>
              </p:custDataLst>
            </p:nvPr>
          </p:nvSpPr>
          <p:spPr>
            <a:xfrm>
              <a:off x="1887" y="7102"/>
              <a:ext cx="6978" cy="686"/>
            </a:xfrm>
            <a:prstGeom prst="rect">
              <a:avLst/>
            </a:prstGeom>
            <a:noFill/>
          </p:spPr>
          <p:txBody>
            <a:bodyPr wrap="square" lIns="0" tIns="0" rIns="0" bIns="0" rtlCol="0" anchor="b">
              <a:noAutofit/>
            </a:bodyPr>
            <a:p>
              <a:pPr>
                <a:spcBef>
                  <a:spcPct val="0"/>
                </a:spcBef>
                <a:spcAft>
                  <a:spcPct val="0"/>
                </a:spcAft>
              </a:pPr>
              <a:r>
                <a:rPr lang="zh-CN" altLang="en-US" sz="2000" b="1">
                  <a:solidFill>
                    <a:srgbClr val="0061AE"/>
                  </a:solidFill>
                  <a:latin typeface="字魂手刻宋" panose="00000500000000000000" charset="-122"/>
                  <a:ea typeface="字魂手刻宋" panose="00000500000000000000" charset="-122"/>
                  <a:cs typeface="+mn-ea"/>
                </a:rPr>
                <a:t>反馈不及时</a:t>
              </a:r>
              <a:endParaRPr lang="zh-CN" altLang="en-US" sz="2000" b="1">
                <a:solidFill>
                  <a:srgbClr val="0061AE"/>
                </a:solidFill>
                <a:latin typeface="字魂手刻宋" panose="00000500000000000000" charset="-122"/>
                <a:ea typeface="字魂手刻宋" panose="00000500000000000000" charset="-122"/>
                <a:cs typeface="+mn-ea"/>
              </a:endParaRPr>
            </a:p>
          </p:txBody>
        </p:sp>
        <p:sp>
          <p:nvSpPr>
            <p:cNvPr id="12" name="矩形 11"/>
            <p:cNvSpPr/>
            <p:nvPr>
              <p:custDataLst>
                <p:tags r:id="rId10"/>
              </p:custDataLst>
            </p:nvPr>
          </p:nvSpPr>
          <p:spPr>
            <a:xfrm>
              <a:off x="1931" y="7890"/>
              <a:ext cx="6978" cy="1553"/>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75000"/>
                      <a:lumOff val="25000"/>
                    </a:schemeClr>
                  </a:solidFill>
                  <a:latin typeface="字魂手刻宋" panose="00000500000000000000" charset="-122"/>
                  <a:ea typeface="字魂手刻宋" panose="00000500000000000000" charset="-122"/>
                  <a:cs typeface="+mn-ea"/>
                </a:rPr>
                <a:t>由于监管部门与被监管对象之间的信息不对称和沟通不畅，使得问题难以得到及时有效的解决。</a:t>
              </a:r>
              <a:endParaRPr lang="zh-CN" altLang="en-US" sz="1400">
                <a:solidFill>
                  <a:schemeClr val="tx1">
                    <a:lumMod val="75000"/>
                    <a:lumOff val="25000"/>
                  </a:schemeClr>
                </a:solidFill>
                <a:latin typeface="字魂手刻宋" panose="00000500000000000000" charset="-122"/>
                <a:ea typeface="字魂手刻宋" panose="00000500000000000000" charset="-122"/>
                <a:cs typeface="+mn-ea"/>
              </a:endParaRPr>
            </a:p>
          </p:txBody>
        </p:sp>
        <p:sp>
          <p:nvSpPr>
            <p:cNvPr id="88" name="圆角矩形 19"/>
            <p:cNvSpPr/>
            <p:nvPr>
              <p:custDataLst>
                <p:tags r:id="rId11"/>
              </p:custDataLst>
            </p:nvPr>
          </p:nvSpPr>
          <p:spPr>
            <a:xfrm rot="5400000">
              <a:off x="1000" y="7227"/>
              <a:ext cx="684" cy="691"/>
            </a:xfrm>
            <a:prstGeom prst="roundRect">
              <a:avLst>
                <a:gd name="adj" fmla="val 0"/>
              </a:avLst>
            </a:prstGeom>
            <a:gradFill flip="none" rotWithShape="1">
              <a:gsLst>
                <a:gs pos="100000">
                  <a:srgbClr val="0061AE"/>
                </a:gs>
                <a:gs pos="0">
                  <a:srgbClr val="0061AE"/>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endParaRPr>
            </a:p>
          </p:txBody>
        </p:sp>
        <p:sp>
          <p:nvSpPr>
            <p:cNvPr id="89" name="燕尾形 20"/>
            <p:cNvSpPr/>
            <p:nvPr>
              <p:custDataLst>
                <p:tags r:id="rId12"/>
              </p:custDataLst>
            </p:nvPr>
          </p:nvSpPr>
          <p:spPr>
            <a:xfrm>
              <a:off x="1252" y="7440"/>
              <a:ext cx="179" cy="266"/>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p>
              <a:pPr algn="ctr"/>
              <a:endParaRPr lang="zh-CN" altLang="en-US">
                <a:latin typeface="字魂手刻宋" panose="00000500000000000000" charset="-122"/>
                <a:ea typeface="字魂手刻宋" panose="00000500000000000000" charset="-122"/>
              </a:endParaRPr>
            </a:p>
          </p:txBody>
        </p:sp>
      </p:grpSp>
      <p:grpSp>
        <p:nvGrpSpPr>
          <p:cNvPr id="16" name="组合 15"/>
          <p:cNvGrpSpPr/>
          <p:nvPr/>
        </p:nvGrpSpPr>
        <p:grpSpPr>
          <a:xfrm>
            <a:off x="6315075" y="1965325"/>
            <a:ext cx="5126990" cy="4194810"/>
            <a:chOff x="9945" y="3095"/>
            <a:chExt cx="8074" cy="6606"/>
          </a:xfrm>
        </p:grpSpPr>
        <p:sp>
          <p:nvSpPr>
            <p:cNvPr id="71" name="单圆角矩形 5"/>
            <p:cNvSpPr/>
            <p:nvPr>
              <p:custDataLst>
                <p:tags r:id="rId13"/>
              </p:custDataLst>
            </p:nvPr>
          </p:nvSpPr>
          <p:spPr>
            <a:xfrm>
              <a:off x="9945" y="3095"/>
              <a:ext cx="8074" cy="3101"/>
            </a:xfrm>
            <a:prstGeom prst="round1Rect">
              <a:avLst>
                <a:gd name="adj" fmla="val 0"/>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sym typeface="+mn-ea"/>
              </a:endParaRPr>
            </a:p>
          </p:txBody>
        </p:sp>
        <p:sp>
          <p:nvSpPr>
            <p:cNvPr id="9" name="矩形 8"/>
            <p:cNvSpPr/>
            <p:nvPr>
              <p:custDataLst>
                <p:tags r:id="rId14"/>
              </p:custDataLst>
            </p:nvPr>
          </p:nvSpPr>
          <p:spPr>
            <a:xfrm>
              <a:off x="10879" y="3459"/>
              <a:ext cx="6978" cy="686"/>
            </a:xfrm>
            <a:prstGeom prst="rect">
              <a:avLst/>
            </a:prstGeom>
            <a:noFill/>
          </p:spPr>
          <p:txBody>
            <a:bodyPr wrap="square" lIns="0" tIns="0" rIns="0" bIns="0" rtlCol="0" anchor="b">
              <a:noAutofit/>
            </a:bodyPr>
            <a:p>
              <a:pPr>
                <a:spcBef>
                  <a:spcPct val="0"/>
                </a:spcBef>
                <a:spcAft>
                  <a:spcPct val="0"/>
                </a:spcAft>
              </a:pPr>
              <a:r>
                <a:rPr lang="zh-CN" altLang="en-US" sz="2000" b="1">
                  <a:solidFill>
                    <a:srgbClr val="0061AE"/>
                  </a:solidFill>
                  <a:latin typeface="字魂手刻宋" panose="00000500000000000000" charset="-122"/>
                  <a:ea typeface="字魂手刻宋" panose="00000500000000000000" charset="-122"/>
                  <a:cs typeface="+mn-ea"/>
                </a:rPr>
                <a:t>数据不精准</a:t>
              </a:r>
              <a:endParaRPr lang="zh-CN" altLang="en-US" sz="2000" b="1">
                <a:solidFill>
                  <a:srgbClr val="0061AE"/>
                </a:solidFill>
                <a:latin typeface="字魂手刻宋" panose="00000500000000000000" charset="-122"/>
                <a:ea typeface="字魂手刻宋" panose="00000500000000000000" charset="-122"/>
                <a:cs typeface="+mn-ea"/>
              </a:endParaRPr>
            </a:p>
          </p:txBody>
        </p:sp>
        <p:sp>
          <p:nvSpPr>
            <p:cNvPr id="10" name="矩形 9"/>
            <p:cNvSpPr/>
            <p:nvPr>
              <p:custDataLst>
                <p:tags r:id="rId15"/>
              </p:custDataLst>
            </p:nvPr>
          </p:nvSpPr>
          <p:spPr>
            <a:xfrm>
              <a:off x="10880" y="4232"/>
              <a:ext cx="6978" cy="1553"/>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75000"/>
                      <a:lumOff val="25000"/>
                    </a:schemeClr>
                  </a:solidFill>
                  <a:latin typeface="字魂手刻宋" panose="00000500000000000000" charset="-122"/>
                  <a:ea typeface="字魂手刻宋" panose="00000500000000000000" charset="-122"/>
                  <a:cs typeface="+mn-ea"/>
                </a:rPr>
                <a:t>政府监管工作依赖于大量的数据支持，但现实中往往存在数据质量不高、准确度不够的问题。</a:t>
              </a:r>
              <a:endParaRPr lang="zh-CN" altLang="en-US" sz="1400">
                <a:solidFill>
                  <a:schemeClr val="tx1">
                    <a:lumMod val="75000"/>
                    <a:lumOff val="25000"/>
                  </a:schemeClr>
                </a:solidFill>
                <a:latin typeface="字魂手刻宋" panose="00000500000000000000" charset="-122"/>
                <a:ea typeface="字魂手刻宋" panose="00000500000000000000" charset="-122"/>
                <a:cs typeface="+mn-ea"/>
              </a:endParaRPr>
            </a:p>
          </p:txBody>
        </p:sp>
        <p:sp>
          <p:nvSpPr>
            <p:cNvPr id="74" name="圆角矩形 19"/>
            <p:cNvSpPr/>
            <p:nvPr>
              <p:custDataLst>
                <p:tags r:id="rId16"/>
              </p:custDataLst>
            </p:nvPr>
          </p:nvSpPr>
          <p:spPr>
            <a:xfrm rot="5400000">
              <a:off x="9948" y="3569"/>
              <a:ext cx="684" cy="691"/>
            </a:xfrm>
            <a:prstGeom prst="roundRect">
              <a:avLst>
                <a:gd name="adj" fmla="val 0"/>
              </a:avLst>
            </a:prstGeom>
            <a:gradFill flip="none" rotWithShape="1">
              <a:gsLst>
                <a:gs pos="100000">
                  <a:srgbClr val="0061AE"/>
                </a:gs>
                <a:gs pos="0">
                  <a:srgbClr val="0061AE"/>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endParaRPr>
            </a:p>
          </p:txBody>
        </p:sp>
        <p:sp>
          <p:nvSpPr>
            <p:cNvPr id="75" name="燕尾形 20"/>
            <p:cNvSpPr/>
            <p:nvPr>
              <p:custDataLst>
                <p:tags r:id="rId17"/>
              </p:custDataLst>
            </p:nvPr>
          </p:nvSpPr>
          <p:spPr>
            <a:xfrm>
              <a:off x="10201" y="3782"/>
              <a:ext cx="179" cy="266"/>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p>
              <a:pPr algn="ctr"/>
              <a:endParaRPr lang="zh-CN" altLang="en-US">
                <a:latin typeface="字魂手刻宋" panose="00000500000000000000" charset="-122"/>
                <a:ea typeface="字魂手刻宋" panose="00000500000000000000" charset="-122"/>
              </a:endParaRPr>
            </a:p>
          </p:txBody>
        </p:sp>
        <p:sp>
          <p:nvSpPr>
            <p:cNvPr id="5" name="单圆角矩形 5"/>
            <p:cNvSpPr/>
            <p:nvPr>
              <p:custDataLst>
                <p:tags r:id="rId18"/>
              </p:custDataLst>
            </p:nvPr>
          </p:nvSpPr>
          <p:spPr>
            <a:xfrm>
              <a:off x="9945" y="6601"/>
              <a:ext cx="8074" cy="3101"/>
            </a:xfrm>
            <a:prstGeom prst="round1Rect">
              <a:avLst>
                <a:gd name="adj" fmla="val 0"/>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sym typeface="+mn-ea"/>
              </a:endParaRPr>
            </a:p>
          </p:txBody>
        </p:sp>
        <p:sp>
          <p:nvSpPr>
            <p:cNvPr id="13" name="矩形 12"/>
            <p:cNvSpPr/>
            <p:nvPr>
              <p:custDataLst>
                <p:tags r:id="rId19"/>
              </p:custDataLst>
            </p:nvPr>
          </p:nvSpPr>
          <p:spPr>
            <a:xfrm>
              <a:off x="10879" y="6965"/>
              <a:ext cx="6978" cy="686"/>
            </a:xfrm>
            <a:prstGeom prst="rect">
              <a:avLst/>
            </a:prstGeom>
            <a:noFill/>
          </p:spPr>
          <p:txBody>
            <a:bodyPr wrap="square" lIns="0" tIns="0" rIns="0" bIns="0" rtlCol="0" anchor="b">
              <a:noAutofit/>
            </a:bodyPr>
            <a:p>
              <a:pPr>
                <a:spcBef>
                  <a:spcPct val="0"/>
                </a:spcBef>
                <a:spcAft>
                  <a:spcPct val="0"/>
                </a:spcAft>
              </a:pPr>
              <a:r>
                <a:rPr lang="zh-CN" altLang="en-US" sz="2000" b="1">
                  <a:solidFill>
                    <a:srgbClr val="0061AE"/>
                  </a:solidFill>
                  <a:latin typeface="字魂手刻宋" panose="00000500000000000000" charset="-122"/>
                  <a:ea typeface="字魂手刻宋" panose="00000500000000000000" charset="-122"/>
                  <a:cs typeface="+mn-ea"/>
                </a:rPr>
                <a:t>监管效率不高</a:t>
              </a:r>
              <a:endParaRPr lang="zh-CN" altLang="en-US" sz="2000" b="1">
                <a:solidFill>
                  <a:srgbClr val="0061AE"/>
                </a:solidFill>
                <a:latin typeface="字魂手刻宋" panose="00000500000000000000" charset="-122"/>
                <a:ea typeface="字魂手刻宋" panose="00000500000000000000" charset="-122"/>
                <a:cs typeface="+mn-ea"/>
              </a:endParaRPr>
            </a:p>
          </p:txBody>
        </p:sp>
        <p:sp>
          <p:nvSpPr>
            <p:cNvPr id="14" name="矩形 13"/>
            <p:cNvSpPr/>
            <p:nvPr>
              <p:custDataLst>
                <p:tags r:id="rId20"/>
              </p:custDataLst>
            </p:nvPr>
          </p:nvSpPr>
          <p:spPr>
            <a:xfrm>
              <a:off x="10880" y="7738"/>
              <a:ext cx="6978" cy="1553"/>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75000"/>
                      <a:lumOff val="25000"/>
                    </a:schemeClr>
                  </a:solidFill>
                  <a:latin typeface="字魂手刻宋" panose="00000500000000000000" charset="-122"/>
                  <a:ea typeface="字魂手刻宋" panose="00000500000000000000" charset="-122"/>
                  <a:cs typeface="+mn-ea"/>
                </a:rPr>
                <a:t>由于监管资源有限、人员不足，使得监管部门难以对大量企业和市场进行全面有效的监管。</a:t>
              </a:r>
              <a:endParaRPr lang="zh-CN" altLang="en-US" sz="1400">
                <a:solidFill>
                  <a:schemeClr val="tx1">
                    <a:lumMod val="75000"/>
                    <a:lumOff val="25000"/>
                  </a:schemeClr>
                </a:solidFill>
                <a:latin typeface="字魂手刻宋" panose="00000500000000000000" charset="-122"/>
                <a:ea typeface="字魂手刻宋" panose="00000500000000000000" charset="-122"/>
                <a:cs typeface="+mn-ea"/>
              </a:endParaRPr>
            </a:p>
          </p:txBody>
        </p:sp>
        <p:sp>
          <p:nvSpPr>
            <p:cNvPr id="7" name="圆角矩形 19"/>
            <p:cNvSpPr/>
            <p:nvPr>
              <p:custDataLst>
                <p:tags r:id="rId21"/>
              </p:custDataLst>
            </p:nvPr>
          </p:nvSpPr>
          <p:spPr>
            <a:xfrm rot="5400000">
              <a:off x="9949" y="7075"/>
              <a:ext cx="684" cy="691"/>
            </a:xfrm>
            <a:prstGeom prst="roundRect">
              <a:avLst>
                <a:gd name="adj" fmla="val 0"/>
              </a:avLst>
            </a:prstGeom>
            <a:gradFill flip="none" rotWithShape="1">
              <a:gsLst>
                <a:gs pos="100000">
                  <a:srgbClr val="0061AE"/>
                </a:gs>
                <a:gs pos="0">
                  <a:srgbClr val="0061AE"/>
                </a:gs>
              </a:gsLst>
              <a:lin ang="13200000" scaled="0"/>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chemeClr val="lt1">
                    <a:lumMod val="100000"/>
                  </a:schemeClr>
                </a:solidFill>
                <a:latin typeface="字魂手刻宋" panose="00000500000000000000" charset="-122"/>
                <a:ea typeface="字魂手刻宋" panose="00000500000000000000" charset="-122"/>
              </a:endParaRPr>
            </a:p>
          </p:txBody>
        </p:sp>
        <p:sp>
          <p:nvSpPr>
            <p:cNvPr id="8" name="燕尾形 20"/>
            <p:cNvSpPr/>
            <p:nvPr>
              <p:custDataLst>
                <p:tags r:id="rId22"/>
              </p:custDataLst>
            </p:nvPr>
          </p:nvSpPr>
          <p:spPr>
            <a:xfrm>
              <a:off x="10201" y="7288"/>
              <a:ext cx="179" cy="266"/>
            </a:xfrm>
            <a:prstGeom prst="chevron">
              <a:avLst>
                <a:gd name="adj" fmla="val 64013"/>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p>
              <a:pPr algn="ctr"/>
              <a:endParaRPr lang="zh-CN" altLang="en-US">
                <a:latin typeface="字魂手刻宋" panose="00000500000000000000" charset="-122"/>
                <a:ea typeface="字魂手刻宋" panose="00000500000000000000" charset="-122"/>
              </a:endParaRPr>
            </a:p>
          </p:txBody>
        </p:sp>
      </p:grpSp>
      <p:sp>
        <p:nvSpPr>
          <p:cNvPr id="2" name="文本框 1"/>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3.2</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500"/>
                                        <p:tgtEl>
                                          <p:spTgt spid="10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62535" y="69812"/>
            <a:ext cx="97218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政府监管-解决方案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2"/>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pic>
        <p:nvPicPr>
          <p:cNvPr id="3" name="图片 6" descr="aca52b7e4c86d45ca4a1b8b1d420ba6"/>
          <p:cNvPicPr>
            <a:picLocks noChangeAspect="1"/>
          </p:cNvPicPr>
          <p:nvPr/>
        </p:nvPicPr>
        <p:blipFill>
          <a:blip r:embed="rId3"/>
          <a:stretch>
            <a:fillRect/>
          </a:stretch>
        </p:blipFill>
        <p:spPr>
          <a:xfrm>
            <a:off x="1486535" y="1413510"/>
            <a:ext cx="9415145" cy="5297170"/>
          </a:xfrm>
          <a:prstGeom prst="rect">
            <a:avLst/>
          </a:prstGeom>
        </p:spPr>
      </p:pic>
      <p:sp>
        <p:nvSpPr>
          <p:cNvPr id="4" name="文本框 3"/>
          <p:cNvSpPr txBox="1"/>
          <p:nvPr/>
        </p:nvSpPr>
        <p:spPr>
          <a:xfrm>
            <a:off x="944245" y="621665"/>
            <a:ext cx="10771505" cy="922020"/>
          </a:xfrm>
          <a:prstGeom prst="rect">
            <a:avLst/>
          </a:prstGeom>
          <a:noFill/>
        </p:spPr>
        <p:txBody>
          <a:bodyPr wrap="square" rtlCol="0">
            <a:spAutoFit/>
          </a:bodyPr>
          <a:lstStyle/>
          <a:p>
            <a:pPr lvl="0" algn="l">
              <a:lnSpc>
                <a:spcPct val="150000"/>
              </a:lnSpc>
              <a:buClrTx/>
              <a:buSzTx/>
              <a:buFontTx/>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环家平台打通了保险机构端，服务机构端，工矿商贸企业端、风险管理师端、政府监管端等多端系统数据，通过工具、数据、算力、算法全面提升行业整体运行效率，实现了风险管理的精准智能监管，灵活满足多种应用需求。</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2" name="文本框 1"/>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3.2</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13" name="文本框 12"/>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服务机构</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4" name="文本框 13" descr="7b0a202020202262756c6c6574223a20227b5c2263617465676f727949645c223a31303030352c5c2274656d706c61746549645c223a32303233313538357d220a7d0a"/>
          <p:cNvSpPr txBox="1"/>
          <p:nvPr/>
        </p:nvSpPr>
        <p:spPr>
          <a:xfrm>
            <a:off x="909955" y="596900"/>
            <a:ext cx="11132820" cy="87185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a:lnSpc>
                <a:spcPct val="150000"/>
              </a:lnSpc>
              <a:spcBef>
                <a:spcPts val="1200"/>
              </a:spcBef>
              <a:buFont typeface="Arial" panose="020B0604020202020204" pitchFamily="34" charset="0"/>
              <a:buNone/>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经济逆周期下，服务机构以往的业务发展模式已经无法适应全新的市场形势，</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存在思维模式</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传统、同质化竞争、科技支撑不足、服务模式单一等问题，</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超70%的服务机构面临出局风险。目前，第三方安全技术咨询服务机构主要</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造成了行业整体呈现“小散弱”格局。</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nvGrpSpPr>
          <p:cNvPr id="26" name="组合 25"/>
          <p:cNvGrpSpPr/>
          <p:nvPr>
            <p:custDataLst>
              <p:tags r:id="rId2"/>
            </p:custDataLst>
          </p:nvPr>
        </p:nvGrpSpPr>
        <p:grpSpPr>
          <a:xfrm>
            <a:off x="622300" y="1815465"/>
            <a:ext cx="10878185" cy="3613785"/>
            <a:chOff x="454" y="2044"/>
            <a:chExt cx="12230" cy="5801"/>
          </a:xfrm>
        </p:grpSpPr>
        <p:grpSp>
          <p:nvGrpSpPr>
            <p:cNvPr id="27" name="组合 26"/>
            <p:cNvGrpSpPr/>
            <p:nvPr/>
          </p:nvGrpSpPr>
          <p:grpSpPr>
            <a:xfrm>
              <a:off x="3534" y="2044"/>
              <a:ext cx="2949" cy="5801"/>
              <a:chOff x="412" y="2795"/>
              <a:chExt cx="2949" cy="5801"/>
            </a:xfrm>
          </p:grpSpPr>
          <p:sp>
            <p:nvSpPr>
              <p:cNvPr id="32" name="矩形 31"/>
              <p:cNvSpPr/>
              <p:nvPr>
                <p:custDataLst>
                  <p:tags r:id="rId3"/>
                </p:custDataLst>
              </p:nvPr>
            </p:nvSpPr>
            <p:spPr>
              <a:xfrm>
                <a:off x="412" y="3562"/>
                <a:ext cx="2949" cy="5034"/>
              </a:xfrm>
              <a:prstGeom prst="rect">
                <a:avLst/>
              </a:prstGeom>
              <a:solidFill>
                <a:srgbClr val="DBE4F3"/>
              </a:solidFill>
              <a:ln>
                <a:noFill/>
              </a:ln>
            </p:spPr>
            <p:txBody>
              <a:bodyPr anchor="ctr"/>
              <a:p>
                <a:pPr algn="ctr">
                  <a:lnSpc>
                    <a:spcPct val="130000"/>
                  </a:lnSpc>
                </a:pPr>
                <a:endParaRPr lang="zh-CN" altLang="zh-CN">
                  <a:solidFill>
                    <a:schemeClr val="lt1"/>
                  </a:solidFill>
                  <a:latin typeface="字魂手刻宋" panose="00000500000000000000" charset="-122"/>
                  <a:ea typeface="字魂手刻宋" panose="00000500000000000000" charset="-122"/>
                </a:endParaRPr>
              </a:p>
            </p:txBody>
          </p:sp>
          <p:sp>
            <p:nvSpPr>
              <p:cNvPr id="48" name="矩形 47"/>
              <p:cNvSpPr/>
              <p:nvPr>
                <p:custDataLst>
                  <p:tags r:id="rId4"/>
                </p:custDataLst>
              </p:nvPr>
            </p:nvSpPr>
            <p:spPr>
              <a:xfrm>
                <a:off x="412" y="2795"/>
                <a:ext cx="2949" cy="674"/>
              </a:xfrm>
              <a:prstGeom prst="rect">
                <a:avLst/>
              </a:prstGeom>
              <a:solidFill>
                <a:srgbClr val="003E9A"/>
              </a:solidFill>
              <a:ln>
                <a:noFill/>
              </a:ln>
            </p:spPr>
            <p:txBody>
              <a:bodyPr anchor="ctr"/>
              <a:p>
                <a:pPr lvl="0" algn="ctr" defTabSz="901700">
                  <a:lnSpc>
                    <a:spcPct val="130000"/>
                  </a:lnSpc>
                </a:pPr>
                <a:r>
                  <a:rPr lang="zh-CN" altLang="zh-CN" sz="1800" b="1" spc="300">
                    <a:solidFill>
                      <a:srgbClr val="FFFFFF"/>
                    </a:solidFill>
                    <a:latin typeface="字魂手刻宋" panose="00000500000000000000" charset="-122"/>
                    <a:ea typeface="字魂手刻宋" panose="00000500000000000000" charset="-122"/>
                    <a:sym typeface="+mn-ea"/>
                  </a:rPr>
                  <a:t>同质化竞争激烈</a:t>
                </a:r>
                <a:endParaRPr lang="zh-CN" altLang="zh-CN" sz="1800" b="1" spc="300">
                  <a:solidFill>
                    <a:srgbClr val="FFFFFF"/>
                  </a:solidFill>
                  <a:latin typeface="字魂手刻宋" panose="00000500000000000000" charset="-122"/>
                  <a:ea typeface="字魂手刻宋" panose="00000500000000000000" charset="-122"/>
                </a:endParaRPr>
              </a:p>
            </p:txBody>
          </p:sp>
          <p:sp>
            <p:nvSpPr>
              <p:cNvPr id="49" name="文本框 11"/>
              <p:cNvSpPr txBox="1"/>
              <p:nvPr>
                <p:custDataLst>
                  <p:tags r:id="rId5"/>
                </p:custDataLst>
              </p:nvPr>
            </p:nvSpPr>
            <p:spPr>
              <a:xfrm>
                <a:off x="591" y="3927"/>
                <a:ext cx="2591" cy="4296"/>
              </a:xfrm>
              <a:prstGeom prst="rect">
                <a:avLst/>
              </a:prstGeom>
              <a:noFill/>
            </p:spPr>
            <p:txBody>
              <a:bodyPr wrap="square">
                <a:spAutoFit/>
              </a:bodyPr>
              <a:p>
                <a:pPr lvl="0" algn="l">
                  <a:lnSpc>
                    <a:spcPct val="150000"/>
                  </a:lnSpc>
                  <a:buClrTx/>
                  <a:buSzTx/>
                  <a:buFontTx/>
                </a:pPr>
                <a:r>
                  <a:rPr lang="zh-CN" altLang="zh-CN" sz="1400">
                    <a:solidFill>
                      <a:schemeClr val="tx1">
                        <a:lumMod val="75000"/>
                        <a:lumOff val="25000"/>
                      </a:schemeClr>
                    </a:solidFill>
                    <a:latin typeface="字魂手刻宋" panose="00000500000000000000" charset="-122"/>
                    <a:ea typeface="字魂手刻宋" panose="00000500000000000000" charset="-122"/>
                  </a:rPr>
                  <a:t>众多服务机构提供的服务内容和服务模式缺乏差异化，导致同质化竞争，使得服务机构难以通过服务内容本身获得竞争优势，同时价格争行为进一步压缩服务机构的利润空间，降低服务质量</a:t>
                </a:r>
                <a:endParaRPr lang="zh-CN" altLang="zh-CN" sz="1400">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63" name="组合 62"/>
            <p:cNvGrpSpPr/>
            <p:nvPr/>
          </p:nvGrpSpPr>
          <p:grpSpPr>
            <a:xfrm>
              <a:off x="6614" y="2044"/>
              <a:ext cx="2949" cy="5801"/>
              <a:chOff x="4113" y="2795"/>
              <a:chExt cx="2949" cy="5801"/>
            </a:xfrm>
          </p:grpSpPr>
          <p:sp>
            <p:nvSpPr>
              <p:cNvPr id="64" name="矩形 63"/>
              <p:cNvSpPr/>
              <p:nvPr>
                <p:custDataLst>
                  <p:tags r:id="rId6"/>
                </p:custDataLst>
              </p:nvPr>
            </p:nvSpPr>
            <p:spPr>
              <a:xfrm>
                <a:off x="4113" y="3562"/>
                <a:ext cx="2949" cy="5034"/>
              </a:xfrm>
              <a:prstGeom prst="rect">
                <a:avLst/>
              </a:prstGeom>
              <a:solidFill>
                <a:srgbClr val="DBE4F3"/>
              </a:solidFill>
              <a:ln>
                <a:noFill/>
              </a:ln>
            </p:spPr>
            <p:txBody>
              <a:bodyPr anchor="ctr"/>
              <a:p>
                <a:pPr algn="ctr">
                  <a:lnSpc>
                    <a:spcPct val="130000"/>
                  </a:lnSpc>
                </a:pPr>
                <a:endParaRPr lang="zh-CN" altLang="zh-CN">
                  <a:solidFill>
                    <a:schemeClr val="lt1"/>
                  </a:solidFill>
                  <a:latin typeface="字魂手刻宋" panose="00000500000000000000" charset="-122"/>
                  <a:ea typeface="字魂手刻宋" panose="00000500000000000000" charset="-122"/>
                </a:endParaRPr>
              </a:p>
            </p:txBody>
          </p:sp>
          <p:sp>
            <p:nvSpPr>
              <p:cNvPr id="65" name="矩形 64"/>
              <p:cNvSpPr/>
              <p:nvPr>
                <p:custDataLst>
                  <p:tags r:id="rId7"/>
                </p:custDataLst>
              </p:nvPr>
            </p:nvSpPr>
            <p:spPr>
              <a:xfrm>
                <a:off x="4113" y="2795"/>
                <a:ext cx="2949" cy="674"/>
              </a:xfrm>
              <a:prstGeom prst="rect">
                <a:avLst/>
              </a:prstGeom>
              <a:solidFill>
                <a:srgbClr val="003E9A"/>
              </a:solidFill>
              <a:ln>
                <a:noFill/>
              </a:ln>
            </p:spPr>
            <p:txBody>
              <a:bodyPr anchor="ctr"/>
              <a:p>
                <a:pPr lvl="0" algn="ctr" defTabSz="901700">
                  <a:lnSpc>
                    <a:spcPct val="130000"/>
                  </a:lnSpc>
                </a:pPr>
                <a:r>
                  <a:rPr lang="zh-CN" altLang="zh-CN" sz="1800" b="1" spc="300">
                    <a:solidFill>
                      <a:srgbClr val="FFFFFF"/>
                    </a:solidFill>
                    <a:latin typeface="字魂手刻宋" panose="00000500000000000000" charset="-122"/>
                    <a:ea typeface="字魂手刻宋" panose="00000500000000000000" charset="-122"/>
                  </a:rPr>
                  <a:t>科技支撑不足</a:t>
                </a:r>
                <a:endParaRPr lang="zh-CN" altLang="zh-CN" sz="1800" b="1" spc="300">
                  <a:solidFill>
                    <a:srgbClr val="FFFFFF"/>
                  </a:solidFill>
                  <a:latin typeface="字魂手刻宋" panose="00000500000000000000" charset="-122"/>
                  <a:ea typeface="字魂手刻宋" panose="00000500000000000000" charset="-122"/>
                </a:endParaRPr>
              </a:p>
            </p:txBody>
          </p:sp>
          <p:sp>
            <p:nvSpPr>
              <p:cNvPr id="69" name="文本框 11"/>
              <p:cNvSpPr txBox="1"/>
              <p:nvPr>
                <p:custDataLst>
                  <p:tags r:id="rId8"/>
                </p:custDataLst>
              </p:nvPr>
            </p:nvSpPr>
            <p:spPr>
              <a:xfrm>
                <a:off x="4266" y="3918"/>
                <a:ext cx="2643" cy="2740"/>
              </a:xfrm>
              <a:prstGeom prst="rect">
                <a:avLst/>
              </a:prstGeom>
              <a:noFill/>
            </p:spPr>
            <p:txBody>
              <a:bodyPr wrap="square">
                <a:spAutoFit/>
              </a:bodyPr>
              <a:p>
                <a:pPr lvl="0" indent="0" fontAlgn="auto">
                  <a:lnSpc>
                    <a:spcPct val="150000"/>
                  </a:lnSpc>
                </a:pPr>
                <a:r>
                  <a:rPr lang="zh-CN" altLang="zh-CN" sz="1400">
                    <a:solidFill>
                      <a:schemeClr val="tx1">
                        <a:lumMod val="75000"/>
                        <a:lumOff val="25000"/>
                      </a:schemeClr>
                    </a:solidFill>
                    <a:latin typeface="字魂手刻宋" panose="00000500000000000000" charset="-122"/>
                    <a:ea typeface="字魂手刻宋" panose="00000500000000000000" charset="-122"/>
                  </a:rPr>
                  <a:t>大部分服务机构在科技投入方面不足，缺乏先进的科技支撑，导致服务机构难以利用新技术、新模式提高服务效率和质量，满足客户需求</a:t>
                </a:r>
                <a:endParaRPr lang="zh-CN" altLang="zh-CN" sz="1400">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76" name="组合 75"/>
            <p:cNvGrpSpPr/>
            <p:nvPr/>
          </p:nvGrpSpPr>
          <p:grpSpPr>
            <a:xfrm>
              <a:off x="9694" y="2044"/>
              <a:ext cx="2990" cy="5801"/>
              <a:chOff x="7751" y="2795"/>
              <a:chExt cx="2990" cy="5801"/>
            </a:xfrm>
          </p:grpSpPr>
          <p:sp>
            <p:nvSpPr>
              <p:cNvPr id="77" name="矩形 76"/>
              <p:cNvSpPr/>
              <p:nvPr>
                <p:custDataLst>
                  <p:tags r:id="rId9"/>
                </p:custDataLst>
              </p:nvPr>
            </p:nvSpPr>
            <p:spPr>
              <a:xfrm>
                <a:off x="7751" y="3562"/>
                <a:ext cx="2949" cy="5034"/>
              </a:xfrm>
              <a:prstGeom prst="rect">
                <a:avLst/>
              </a:prstGeom>
              <a:solidFill>
                <a:srgbClr val="DBE4F3"/>
              </a:solidFill>
              <a:ln>
                <a:noFill/>
              </a:ln>
            </p:spPr>
            <p:txBody>
              <a:bodyPr anchor="ctr"/>
              <a:p>
                <a:pPr algn="ctr">
                  <a:lnSpc>
                    <a:spcPct val="130000"/>
                  </a:lnSpc>
                </a:pPr>
                <a:endParaRPr lang="zh-CN" altLang="zh-CN">
                  <a:solidFill>
                    <a:schemeClr val="lt1"/>
                  </a:solidFill>
                  <a:latin typeface="字魂手刻宋" panose="00000500000000000000" charset="-122"/>
                  <a:ea typeface="字魂手刻宋" panose="00000500000000000000" charset="-122"/>
                </a:endParaRPr>
              </a:p>
            </p:txBody>
          </p:sp>
          <p:sp>
            <p:nvSpPr>
              <p:cNvPr id="78" name="矩形 77"/>
              <p:cNvSpPr/>
              <p:nvPr>
                <p:custDataLst>
                  <p:tags r:id="rId10"/>
                </p:custDataLst>
              </p:nvPr>
            </p:nvSpPr>
            <p:spPr>
              <a:xfrm>
                <a:off x="7751" y="2795"/>
                <a:ext cx="2990" cy="674"/>
              </a:xfrm>
              <a:prstGeom prst="rect">
                <a:avLst/>
              </a:prstGeom>
              <a:solidFill>
                <a:srgbClr val="003E9A"/>
              </a:solidFill>
              <a:ln>
                <a:noFill/>
              </a:ln>
            </p:spPr>
            <p:txBody>
              <a:bodyPr anchor="ctr"/>
              <a:p>
                <a:pPr lvl="0" algn="ctr" defTabSz="901700">
                  <a:lnSpc>
                    <a:spcPct val="130000"/>
                  </a:lnSpc>
                </a:pPr>
                <a:r>
                  <a:rPr lang="zh-CN" altLang="zh-CN" sz="1800" b="1" spc="300">
                    <a:solidFill>
                      <a:srgbClr val="FFFFFF"/>
                    </a:solidFill>
                    <a:latin typeface="字魂手刻宋" panose="00000500000000000000" charset="-122"/>
                    <a:ea typeface="字魂手刻宋" panose="00000500000000000000" charset="-122"/>
                  </a:rPr>
                  <a:t>缺乏行业标准</a:t>
                </a:r>
                <a:endParaRPr lang="zh-CN" altLang="zh-CN" sz="1800" b="1" spc="300">
                  <a:solidFill>
                    <a:srgbClr val="FFFFFF"/>
                  </a:solidFill>
                  <a:latin typeface="字魂手刻宋" panose="00000500000000000000" charset="-122"/>
                  <a:ea typeface="字魂手刻宋" panose="00000500000000000000" charset="-122"/>
                </a:endParaRPr>
              </a:p>
            </p:txBody>
          </p:sp>
          <p:sp>
            <p:nvSpPr>
              <p:cNvPr id="79" name="文本框 11"/>
              <p:cNvSpPr txBox="1"/>
              <p:nvPr>
                <p:custDataLst>
                  <p:tags r:id="rId11"/>
                </p:custDataLst>
              </p:nvPr>
            </p:nvSpPr>
            <p:spPr>
              <a:xfrm>
                <a:off x="7962" y="3919"/>
                <a:ext cx="2528" cy="3259"/>
              </a:xfrm>
              <a:prstGeom prst="rect">
                <a:avLst/>
              </a:prstGeom>
              <a:noFill/>
            </p:spPr>
            <p:txBody>
              <a:bodyPr wrap="square">
                <a:spAutoFit/>
              </a:bodyPr>
              <a:p>
                <a:pPr lvl="0" indent="0" fontAlgn="auto">
                  <a:lnSpc>
                    <a:spcPct val="150000"/>
                  </a:lnSpc>
                </a:pPr>
                <a:r>
                  <a:rPr lang="zh-CN" altLang="zh-CN" sz="1400">
                    <a:solidFill>
                      <a:schemeClr val="tx1">
                        <a:lumMod val="75000"/>
                        <a:lumOff val="25000"/>
                      </a:schemeClr>
                    </a:solidFill>
                    <a:latin typeface="字魂手刻宋" panose="00000500000000000000" charset="-122"/>
                    <a:ea typeface="字魂手刻宋" panose="00000500000000000000" charset="-122"/>
                  </a:rPr>
                  <a:t>目前，关于安全生产技术服务的行业标准和规范相对较少，导致机构在提供服务时难以达到统一的标准，客户也难以评估服务的质量和价值。</a:t>
                </a:r>
                <a:endParaRPr lang="zh-CN" altLang="zh-CN" sz="1400">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88" name="组合 87"/>
            <p:cNvGrpSpPr/>
            <p:nvPr/>
          </p:nvGrpSpPr>
          <p:grpSpPr>
            <a:xfrm>
              <a:off x="454" y="2044"/>
              <a:ext cx="2949" cy="5801"/>
              <a:chOff x="15121" y="2795"/>
              <a:chExt cx="2949" cy="5801"/>
            </a:xfrm>
          </p:grpSpPr>
          <p:sp>
            <p:nvSpPr>
              <p:cNvPr id="89" name="矩形 88"/>
              <p:cNvSpPr/>
              <p:nvPr>
                <p:custDataLst>
                  <p:tags r:id="rId12"/>
                </p:custDataLst>
              </p:nvPr>
            </p:nvSpPr>
            <p:spPr>
              <a:xfrm>
                <a:off x="15121" y="3562"/>
                <a:ext cx="2949" cy="5034"/>
              </a:xfrm>
              <a:prstGeom prst="rect">
                <a:avLst/>
              </a:prstGeom>
              <a:solidFill>
                <a:srgbClr val="DBE4F3"/>
              </a:solidFill>
              <a:ln>
                <a:noFill/>
              </a:ln>
            </p:spPr>
            <p:txBody>
              <a:bodyPr anchor="ctr"/>
              <a:p>
                <a:pPr algn="ctr">
                  <a:lnSpc>
                    <a:spcPct val="130000"/>
                  </a:lnSpc>
                </a:pPr>
                <a:endParaRPr lang="zh-CN" altLang="zh-CN">
                  <a:solidFill>
                    <a:schemeClr val="lt1"/>
                  </a:solidFill>
                  <a:latin typeface="字魂手刻宋" panose="00000500000000000000" charset="-122"/>
                  <a:ea typeface="字魂手刻宋" panose="00000500000000000000" charset="-122"/>
                </a:endParaRPr>
              </a:p>
            </p:txBody>
          </p:sp>
          <p:sp>
            <p:nvSpPr>
              <p:cNvPr id="90" name="矩形 89"/>
              <p:cNvSpPr/>
              <p:nvPr>
                <p:custDataLst>
                  <p:tags r:id="rId13"/>
                </p:custDataLst>
              </p:nvPr>
            </p:nvSpPr>
            <p:spPr>
              <a:xfrm>
                <a:off x="15121" y="2795"/>
                <a:ext cx="2949" cy="674"/>
              </a:xfrm>
              <a:prstGeom prst="rect">
                <a:avLst/>
              </a:prstGeom>
              <a:solidFill>
                <a:srgbClr val="003E9A"/>
              </a:solidFill>
              <a:ln>
                <a:noFill/>
              </a:ln>
            </p:spPr>
            <p:txBody>
              <a:bodyPr anchor="ctr"/>
              <a:p>
                <a:pPr lvl="0" algn="ctr" defTabSz="901700">
                  <a:lnSpc>
                    <a:spcPct val="120000"/>
                  </a:lnSpc>
                </a:pPr>
                <a:r>
                  <a:rPr lang="zh-CN" altLang="zh-CN" sz="1800" b="1" spc="300">
                    <a:solidFill>
                      <a:srgbClr val="FFFFFF"/>
                    </a:solidFill>
                    <a:latin typeface="字魂手刻宋" panose="00000500000000000000" charset="-122"/>
                    <a:ea typeface="字魂手刻宋" panose="00000500000000000000" charset="-122"/>
                    <a:sym typeface="+mn-ea"/>
                  </a:rPr>
                  <a:t>思维模式传统</a:t>
                </a:r>
                <a:endParaRPr lang="zh-CN" altLang="zh-CN" sz="1800" b="1" spc="300">
                  <a:solidFill>
                    <a:srgbClr val="FFFFFF"/>
                  </a:solidFill>
                  <a:latin typeface="字魂手刻宋" panose="00000500000000000000" charset="-122"/>
                  <a:ea typeface="字魂手刻宋" panose="00000500000000000000" charset="-122"/>
                </a:endParaRPr>
              </a:p>
            </p:txBody>
          </p:sp>
          <p:sp>
            <p:nvSpPr>
              <p:cNvPr id="91" name="文本框 11"/>
              <p:cNvSpPr txBox="1"/>
              <p:nvPr>
                <p:custDataLst>
                  <p:tags r:id="rId14"/>
                </p:custDataLst>
              </p:nvPr>
            </p:nvSpPr>
            <p:spPr>
              <a:xfrm>
                <a:off x="15297" y="3919"/>
                <a:ext cx="2598" cy="3778"/>
              </a:xfrm>
              <a:prstGeom prst="rect">
                <a:avLst/>
              </a:prstGeom>
              <a:noFill/>
            </p:spPr>
            <p:txBody>
              <a:bodyPr wrap="square">
                <a:spAutoFit/>
              </a:bodyPr>
              <a:p>
                <a:pPr lvl="0" indent="0" fontAlgn="auto">
                  <a:lnSpc>
                    <a:spcPct val="150000"/>
                  </a:lnSpc>
                </a:pPr>
                <a:r>
                  <a:rPr lang="zh-CN" altLang="zh-CN" sz="1400">
                    <a:solidFill>
                      <a:schemeClr val="tx1">
                        <a:lumMod val="75000"/>
                        <a:lumOff val="25000"/>
                      </a:schemeClr>
                    </a:solidFill>
                    <a:latin typeface="字魂手刻宋" panose="00000500000000000000" charset="-122"/>
                    <a:ea typeface="字魂手刻宋" panose="00000500000000000000" charset="-122"/>
                  </a:rPr>
                  <a:t>在经济逆周期下，市场环境发生了显著变化，客户需求也变得更加复杂和多样化。传统的思维模式导致服务机构难以快速响应市场变化，缺乏灵活性和创新性</a:t>
                </a:r>
                <a:endParaRPr lang="zh-CN" altLang="zh-CN" sz="1400">
                  <a:solidFill>
                    <a:schemeClr val="tx1">
                      <a:lumMod val="75000"/>
                      <a:lumOff val="25000"/>
                    </a:schemeClr>
                  </a:solidFill>
                  <a:latin typeface="字魂手刻宋" panose="00000500000000000000" charset="-122"/>
                  <a:ea typeface="字魂手刻宋" panose="00000500000000000000" charset="-122"/>
                </a:endParaRPr>
              </a:p>
            </p:txBody>
          </p:sp>
        </p:grpSp>
      </p:grpSp>
      <p:sp>
        <p:nvSpPr>
          <p:cNvPr id="92" name="文本框 91"/>
          <p:cNvSpPr txBox="1"/>
          <p:nvPr/>
        </p:nvSpPr>
        <p:spPr>
          <a:xfrm>
            <a:off x="335915" y="5878830"/>
            <a:ext cx="11706225" cy="414020"/>
          </a:xfrm>
          <a:prstGeom prst="rect">
            <a:avLst/>
          </a:prstGeom>
          <a:noFill/>
        </p:spPr>
        <p:txBody>
          <a:bodyPr wrap="square" rtlCol="0" anchor="t">
            <a:spAutoFit/>
          </a:bodyPr>
          <a:p>
            <a:r>
              <a:rPr lang="zh-CN" altLang="en-US" b="1">
                <a:solidFill>
                  <a:srgbClr val="0061AE"/>
                </a:solidFill>
                <a:latin typeface="字魂手刻宋" panose="00000500000000000000" charset="-122"/>
                <a:ea typeface="字魂手刻宋" panose="00000500000000000000" charset="-122"/>
              </a:rPr>
              <a:t>究其原因，我国的服务机构大多为了帮助企业迎检和评审而生，而不是帮助企业提升安全管理水平</a:t>
            </a:r>
            <a:endParaRPr lang="zh-CN" altLang="en-US" b="1">
              <a:solidFill>
                <a:srgbClr val="0061AE"/>
              </a:solidFill>
              <a:latin typeface="字魂手刻宋" panose="00000500000000000000" charset="-122"/>
              <a:ea typeface="字魂手刻宋" panose="00000500000000000000" charset="-122"/>
            </a:endParaRPr>
          </a:p>
        </p:txBody>
      </p:sp>
      <p:sp>
        <p:nvSpPr>
          <p:cNvPr id="3" name="文本框 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3.3</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500"/>
                                        <p:tgtEl>
                                          <p:spTgt spid="26"/>
                                        </p:tgtEl>
                                      </p:cBhvr>
                                    </p:animEffect>
                                  </p:childTnLst>
                                </p:cTn>
                              </p:par>
                            </p:childTnLst>
                          </p:cTn>
                        </p:par>
                        <p:par>
                          <p:cTn id="12" fill="hold">
                            <p:stCondLst>
                              <p:cond delay="1500"/>
                            </p:stCondLst>
                            <p:childTnLst>
                              <p:par>
                                <p:cTn id="13" presetID="2" presetClass="entr" presetSubtype="4" fill="hold" grpId="0" nodeType="afterEffect">
                                  <p:stCondLst>
                                    <p:cond delay="0"/>
                                  </p:stCondLst>
                                  <p:childTnLst>
                                    <p:set>
                                      <p:cBhvr>
                                        <p:cTn id="14" dur="1" fill="hold">
                                          <p:stCondLst>
                                            <p:cond delay="0"/>
                                          </p:stCondLst>
                                        </p:cTn>
                                        <p:tgtEl>
                                          <p:spTgt spid="92"/>
                                        </p:tgtEl>
                                        <p:attrNameLst>
                                          <p:attrName>style.visibility</p:attrName>
                                        </p:attrNameLst>
                                      </p:cBhvr>
                                      <p:to>
                                        <p:strVal val="visible"/>
                                      </p:to>
                                    </p:set>
                                    <p:anim calcmode="lin" valueType="num">
                                      <p:cBhvr additive="base">
                                        <p:cTn id="15" dur="500" fill="hold"/>
                                        <p:tgtEl>
                                          <p:spTgt spid="92"/>
                                        </p:tgtEl>
                                        <p:attrNameLst>
                                          <p:attrName>ppt_x</p:attrName>
                                        </p:attrNameLst>
                                      </p:cBhvr>
                                      <p:tavLst>
                                        <p:tav tm="0">
                                          <p:val>
                                            <p:strVal val="#ppt_x"/>
                                          </p:val>
                                        </p:tav>
                                        <p:tav tm="100000">
                                          <p:val>
                                            <p:strVal val="#ppt_x"/>
                                          </p:val>
                                        </p:tav>
                                      </p:tavLst>
                                    </p:anim>
                                    <p:anim calcmode="lin" valueType="num">
                                      <p:cBhvr additive="base">
                                        <p:cTn id="16"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9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13" name="文本框 12"/>
          <p:cNvSpPr txBox="1"/>
          <p:nvPr/>
        </p:nvSpPr>
        <p:spPr>
          <a:xfrm>
            <a:off x="962660" y="69850"/>
            <a:ext cx="984250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服务机构</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4" name="文本框 13" descr="7b0a202020202262756c6c6574223a20227b5c2263617465676f727949645c223a31303030352c5c2274656d706c61746549645c223a32303233313538357d220a7d0a"/>
          <p:cNvSpPr txBox="1"/>
          <p:nvPr/>
        </p:nvSpPr>
        <p:spPr>
          <a:xfrm>
            <a:off x="909955" y="559435"/>
            <a:ext cx="11132820" cy="87185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a:lnSpc>
                <a:spcPct val="150000"/>
              </a:lnSpc>
              <a:spcBef>
                <a:spcPts val="1200"/>
              </a:spcBef>
              <a:buFont typeface="Arial" panose="020B0604020202020204" pitchFamily="34" charset="0"/>
              <a:buNone/>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为深度改变行业现状，安环家致力构建安全风险管理行业数字底座，依托 32 款智慧安全 SaaS 产品，深度创新全生命周期安全风险管理服务模式，重塑行业的服务模式和商业形态，提升行业整体运转效率。</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nvGrpSpPr>
          <p:cNvPr id="15" name="组合 14"/>
          <p:cNvGrpSpPr/>
          <p:nvPr>
            <p:custDataLst>
              <p:tags r:id="rId2"/>
            </p:custDataLst>
          </p:nvPr>
        </p:nvGrpSpPr>
        <p:grpSpPr>
          <a:xfrm>
            <a:off x="194310" y="1571625"/>
            <a:ext cx="11678920" cy="5380355"/>
            <a:chOff x="306" y="2475"/>
            <a:chExt cx="18392" cy="8473"/>
          </a:xfrm>
        </p:grpSpPr>
        <p:sp>
          <p:nvSpPr>
            <p:cNvPr id="39" name="任意多边形 38"/>
            <p:cNvSpPr/>
            <p:nvPr>
              <p:custDataLst>
                <p:tags r:id="rId3"/>
              </p:custDataLst>
            </p:nvPr>
          </p:nvSpPr>
          <p:spPr>
            <a:xfrm rot="10800000">
              <a:off x="9219" y="5781"/>
              <a:ext cx="608" cy="1216"/>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lumMod val="91000"/>
                    <a:lumOff val="9000"/>
                  </a:schemeClr>
                </a:gs>
                <a:gs pos="100000">
                  <a:schemeClr val="accent1">
                    <a:lumMod val="40000"/>
                    <a:lumOff val="60000"/>
                    <a:alpha val="0"/>
                  </a:schemeClr>
                </a:gs>
              </a:gsLst>
              <a:lin ang="17700000"/>
            </a:gradFill>
            <a:ln w="6350">
              <a:gradFill>
                <a:gsLst>
                  <a:gs pos="0">
                    <a:schemeClr val="bg1"/>
                  </a:gs>
                  <a:gs pos="43000">
                    <a:schemeClr val="bg1">
                      <a:alpha val="0"/>
                    </a:schemeClr>
                  </a:gs>
                </a:gsLst>
                <a:lin ang="1968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40" name="任意多边形 39"/>
            <p:cNvSpPr/>
            <p:nvPr>
              <p:custDataLst>
                <p:tags r:id="rId4"/>
              </p:custDataLst>
            </p:nvPr>
          </p:nvSpPr>
          <p:spPr>
            <a:xfrm rot="10800000" flipH="1">
              <a:off x="9824" y="5781"/>
              <a:ext cx="608" cy="1216"/>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gs>
                <a:gs pos="100000">
                  <a:schemeClr val="accent1">
                    <a:lumMod val="40000"/>
                    <a:lumOff val="60000"/>
                    <a:alpha val="0"/>
                  </a:schemeClr>
                </a:gs>
              </a:gsLst>
              <a:lin ang="19200000"/>
            </a:gradFill>
            <a:ln w="6350">
              <a:gradFill>
                <a:gsLst>
                  <a:gs pos="0">
                    <a:schemeClr val="bg1"/>
                  </a:gs>
                  <a:gs pos="54000">
                    <a:schemeClr val="bg1">
                      <a:alpha val="0"/>
                    </a:schemeClr>
                  </a:gs>
                </a:gsLst>
                <a:lin ang="1812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41" name="流程图: 决策 40"/>
            <p:cNvSpPr/>
            <p:nvPr>
              <p:custDataLst>
                <p:tags r:id="rId5"/>
              </p:custDataLst>
            </p:nvPr>
          </p:nvSpPr>
          <p:spPr>
            <a:xfrm>
              <a:off x="9219" y="5623"/>
              <a:ext cx="1213" cy="317"/>
            </a:xfrm>
            <a:prstGeom prst="flowChartDecision">
              <a:avLst/>
            </a:prstGeom>
            <a:gradFill>
              <a:gsLst>
                <a:gs pos="9000">
                  <a:schemeClr val="accent1">
                    <a:lumMod val="95000"/>
                  </a:schemeClr>
                </a:gs>
                <a:gs pos="100000">
                  <a:schemeClr val="accent1">
                    <a:lumMod val="60000"/>
                    <a:lumOff val="40000"/>
                    <a:alpha val="10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任意多边形 2"/>
            <p:cNvSpPr/>
            <p:nvPr>
              <p:custDataLst>
                <p:tags r:id="rId6"/>
              </p:custDataLst>
            </p:nvPr>
          </p:nvSpPr>
          <p:spPr>
            <a:xfrm rot="10800000">
              <a:off x="7678" y="3829"/>
              <a:ext cx="2154" cy="4315"/>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lumMod val="91000"/>
                    <a:lumOff val="9000"/>
                  </a:schemeClr>
                </a:gs>
                <a:gs pos="100000">
                  <a:schemeClr val="accent1">
                    <a:lumMod val="40000"/>
                    <a:lumOff val="60000"/>
                    <a:alpha val="0"/>
                  </a:schemeClr>
                </a:gs>
              </a:gsLst>
              <a:lin ang="17700000"/>
            </a:gradFill>
            <a:ln w="15875">
              <a:gradFill>
                <a:gsLst>
                  <a:gs pos="0">
                    <a:schemeClr val="bg1"/>
                  </a:gs>
                  <a:gs pos="43000">
                    <a:schemeClr val="bg1">
                      <a:alpha val="0"/>
                    </a:schemeClr>
                  </a:gs>
                </a:gsLst>
                <a:lin ang="1968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4" name="任意多边形 3"/>
            <p:cNvSpPr/>
            <p:nvPr>
              <p:custDataLst>
                <p:tags r:id="rId7"/>
              </p:custDataLst>
            </p:nvPr>
          </p:nvSpPr>
          <p:spPr>
            <a:xfrm rot="10800000" flipH="1">
              <a:off x="9824" y="3829"/>
              <a:ext cx="2154" cy="4315"/>
            </a:xfrm>
            <a:custGeom>
              <a:avLst/>
              <a:gdLst>
                <a:gd name="connsiteX0" fmla="*/ 0 w 2239"/>
                <a:gd name="connsiteY0" fmla="*/ 3898 h 4483"/>
                <a:gd name="connsiteX1" fmla="*/ 0 w 2239"/>
                <a:gd name="connsiteY1" fmla="*/ 0 h 4483"/>
                <a:gd name="connsiteX2" fmla="*/ 2239 w 2239"/>
                <a:gd name="connsiteY2" fmla="*/ 4483 h 4483"/>
                <a:gd name="connsiteX3" fmla="*/ 0 w 2239"/>
                <a:gd name="connsiteY3" fmla="*/ 3898 h 4483"/>
              </a:gdLst>
              <a:ahLst/>
              <a:cxnLst>
                <a:cxn ang="0">
                  <a:pos x="connsiteX0" y="connsiteY0"/>
                </a:cxn>
                <a:cxn ang="0">
                  <a:pos x="connsiteX1" y="connsiteY1"/>
                </a:cxn>
                <a:cxn ang="0">
                  <a:pos x="connsiteX2" y="connsiteY2"/>
                </a:cxn>
                <a:cxn ang="0">
                  <a:pos x="connsiteX3" y="connsiteY3"/>
                </a:cxn>
              </a:cxnLst>
              <a:rect l="l" t="t" r="r" b="b"/>
              <a:pathLst>
                <a:path w="2239" h="4483">
                  <a:moveTo>
                    <a:pt x="0" y="3898"/>
                  </a:moveTo>
                  <a:lnTo>
                    <a:pt x="0" y="0"/>
                  </a:lnTo>
                  <a:lnTo>
                    <a:pt x="2239" y="4483"/>
                  </a:lnTo>
                  <a:lnTo>
                    <a:pt x="0" y="3898"/>
                  </a:lnTo>
                  <a:close/>
                </a:path>
              </a:pathLst>
            </a:custGeom>
            <a:gradFill>
              <a:gsLst>
                <a:gs pos="7000">
                  <a:schemeClr val="accent1"/>
                </a:gs>
                <a:gs pos="100000">
                  <a:schemeClr val="accent1">
                    <a:lumMod val="40000"/>
                    <a:lumOff val="60000"/>
                    <a:alpha val="0"/>
                  </a:schemeClr>
                </a:gs>
              </a:gsLst>
              <a:lin ang="19200000"/>
            </a:gradFill>
            <a:ln w="15875">
              <a:gradFill>
                <a:gsLst>
                  <a:gs pos="0">
                    <a:schemeClr val="bg1"/>
                  </a:gs>
                  <a:gs pos="54000">
                    <a:schemeClr val="bg1">
                      <a:alpha val="0"/>
                    </a:schemeClr>
                  </a:gs>
                </a:gsLst>
                <a:lin ang="1812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5" name="平行四边形 4"/>
            <p:cNvSpPr/>
            <p:nvPr>
              <p:custDataLst>
                <p:tags r:id="rId8"/>
              </p:custDataLst>
            </p:nvPr>
          </p:nvSpPr>
          <p:spPr>
            <a:xfrm>
              <a:off x="10520" y="6336"/>
              <a:ext cx="7551" cy="836"/>
            </a:xfrm>
            <a:prstGeom prst="parallelogram">
              <a:avLst>
                <a:gd name="adj" fmla="val 49621"/>
              </a:avLst>
            </a:prstGeom>
            <a:gradFill>
              <a:gsLst>
                <a:gs pos="100000">
                  <a:schemeClr val="accent1">
                    <a:alpha val="20000"/>
                  </a:schemeClr>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71755" numCol="1" spcCol="0" rtlCol="0" fromWordArt="0" anchor="ctr" anchorCtr="0" forceAA="0" compatLnSpc="1">
              <a:noAutofit/>
            </a:bodyPr>
            <a:p>
              <a:pPr algn="r">
                <a:lnSpc>
                  <a:spcPct val="130000"/>
                </a:lnSpc>
                <a:spcBef>
                  <a:spcPct val="0"/>
                </a:spcBef>
                <a:spcAft>
                  <a:spcPct val="0"/>
                </a:spcAft>
              </a:pP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资源赋能，开启全生命周期安全管理服务模式</a:t>
              </a:r>
              <a:endPar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sp>
          <p:nvSpPr>
            <p:cNvPr id="33" name="平行四边形 32"/>
            <p:cNvSpPr/>
            <p:nvPr>
              <p:custDataLst>
                <p:tags r:id="rId9"/>
              </p:custDataLst>
            </p:nvPr>
          </p:nvSpPr>
          <p:spPr>
            <a:xfrm>
              <a:off x="17587" y="6335"/>
              <a:ext cx="695" cy="836"/>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平行四边形 34"/>
            <p:cNvSpPr/>
            <p:nvPr>
              <p:custDataLst>
                <p:tags r:id="rId10"/>
              </p:custDataLst>
            </p:nvPr>
          </p:nvSpPr>
          <p:spPr>
            <a:xfrm>
              <a:off x="11654" y="2475"/>
              <a:ext cx="6268" cy="836"/>
            </a:xfrm>
            <a:prstGeom prst="parallelogram">
              <a:avLst>
                <a:gd name="adj" fmla="val 49621"/>
              </a:avLst>
            </a:prstGeom>
            <a:gradFill>
              <a:gsLst>
                <a:gs pos="100000">
                  <a:schemeClr val="accent1">
                    <a:alpha val="20000"/>
                  </a:schemeClr>
                </a:gs>
                <a:gs pos="0">
                  <a:schemeClr val="accent1">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71755" numCol="1" spcCol="0" rtlCol="0" fromWordArt="0" anchor="ctr" anchorCtr="0" forceAA="0" compatLnSpc="1">
              <a:noAutofit/>
            </a:bodyPr>
            <a:p>
              <a:pPr algn="r">
                <a:lnSpc>
                  <a:spcPct val="130000"/>
                </a:lnSpc>
                <a:spcBef>
                  <a:spcPct val="0"/>
                </a:spcBef>
                <a:spcAft>
                  <a:spcPct val="0"/>
                </a:spcAft>
              </a:pP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交易赋能，提升服务机构交易效率</a:t>
              </a:r>
              <a:endPar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sp>
          <p:nvSpPr>
            <p:cNvPr id="36" name="平行四边形 35"/>
            <p:cNvSpPr/>
            <p:nvPr>
              <p:custDataLst>
                <p:tags r:id="rId11"/>
              </p:custDataLst>
            </p:nvPr>
          </p:nvSpPr>
          <p:spPr>
            <a:xfrm>
              <a:off x="17437" y="2475"/>
              <a:ext cx="695" cy="836"/>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椭圆 5"/>
            <p:cNvSpPr/>
            <p:nvPr>
              <p:custDataLst>
                <p:tags r:id="rId12"/>
              </p:custDataLst>
            </p:nvPr>
          </p:nvSpPr>
          <p:spPr>
            <a:xfrm>
              <a:off x="8864" y="8177"/>
              <a:ext cx="1932" cy="346"/>
            </a:xfrm>
            <a:prstGeom prst="ellipse">
              <a:avLst/>
            </a:prstGeom>
            <a:solidFill>
              <a:schemeClr val="accent1">
                <a:lumMod val="60000"/>
                <a:lumOff val="40000"/>
                <a:alpha val="20000"/>
              </a:schemeClr>
            </a:solidFill>
            <a:ln>
              <a:noFill/>
            </a:ln>
            <a:effectLst>
              <a:softEdge rad="571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流程图: 决策 6"/>
            <p:cNvSpPr/>
            <p:nvPr>
              <p:custDataLst>
                <p:tags r:id="rId13"/>
              </p:custDataLst>
            </p:nvPr>
          </p:nvSpPr>
          <p:spPr>
            <a:xfrm>
              <a:off x="7678" y="3268"/>
              <a:ext cx="4300" cy="1124"/>
            </a:xfrm>
            <a:prstGeom prst="flowChartDecision">
              <a:avLst/>
            </a:prstGeom>
            <a:gradFill>
              <a:gsLst>
                <a:gs pos="9000">
                  <a:schemeClr val="accent1">
                    <a:lumMod val="95000"/>
                  </a:schemeClr>
                </a:gs>
                <a:gs pos="100000">
                  <a:schemeClr val="accent1">
                    <a:lumMod val="60000"/>
                    <a:lumOff val="40000"/>
                    <a:alpha val="10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custDataLst>
                <p:tags r:id="rId14"/>
              </p:custDataLst>
            </p:nvPr>
          </p:nvSpPr>
          <p:spPr>
            <a:xfrm rot="720000">
              <a:off x="7094" y="4850"/>
              <a:ext cx="5415" cy="1590"/>
            </a:xfrm>
            <a:prstGeom prst="ellipse">
              <a:avLst/>
            </a:prstGeom>
            <a:noFill/>
            <a:ln w="9525">
              <a:gradFill>
                <a:gsLst>
                  <a:gs pos="81000">
                    <a:schemeClr val="accent1">
                      <a:alpha val="0"/>
                    </a:schemeClr>
                  </a:gs>
                  <a:gs pos="0">
                    <a:schemeClr val="accent1">
                      <a:lumMod val="60000"/>
                      <a:lumOff val="40000"/>
                    </a:schemeClr>
                  </a:gs>
                </a:gsLst>
                <a:lin ang="16140000" scaled="0"/>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椭圆 20"/>
            <p:cNvSpPr/>
            <p:nvPr>
              <p:custDataLst>
                <p:tags r:id="rId15"/>
              </p:custDataLst>
            </p:nvPr>
          </p:nvSpPr>
          <p:spPr>
            <a:xfrm rot="20640000" flipV="1">
              <a:off x="7158" y="4848"/>
              <a:ext cx="5415" cy="1590"/>
            </a:xfrm>
            <a:prstGeom prst="ellipse">
              <a:avLst/>
            </a:prstGeom>
            <a:noFill/>
            <a:ln w="9525">
              <a:gradFill>
                <a:gsLst>
                  <a:gs pos="19000">
                    <a:schemeClr val="accent1">
                      <a:alpha val="0"/>
                    </a:schemeClr>
                  </a:gs>
                  <a:gs pos="100000">
                    <a:schemeClr val="accent1">
                      <a:lumMod val="60000"/>
                      <a:lumOff val="40000"/>
                    </a:schemeClr>
                  </a:gs>
                </a:gsLst>
                <a:lin ang="16200000" scaled="0"/>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 name="椭圆 7"/>
            <p:cNvSpPr/>
            <p:nvPr>
              <p:custDataLst>
                <p:tags r:id="rId16"/>
              </p:custDataLst>
            </p:nvPr>
          </p:nvSpPr>
          <p:spPr>
            <a:xfrm>
              <a:off x="9447" y="8247"/>
              <a:ext cx="766" cy="204"/>
            </a:xfrm>
            <a:prstGeom prst="ellipse">
              <a:avLst/>
            </a:prstGeom>
            <a:solidFill>
              <a:schemeClr val="accent1">
                <a:lumMod val="50000"/>
                <a:lumOff val="50000"/>
                <a:alpha val="50000"/>
              </a:schemeClr>
            </a:solidFill>
            <a:ln>
              <a:noFill/>
            </a:ln>
            <a:effectLst>
              <a:softEdge rad="444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平行四边形 21"/>
            <p:cNvSpPr/>
            <p:nvPr>
              <p:custDataLst>
                <p:tags r:id="rId17"/>
              </p:custDataLst>
            </p:nvPr>
          </p:nvSpPr>
          <p:spPr>
            <a:xfrm flipH="1">
              <a:off x="3135" y="8011"/>
              <a:ext cx="6268" cy="836"/>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71755" numCol="1" spcCol="0" rtlCol="0" fromWordArt="0" anchor="ctr" anchorCtr="0" forceAA="0" compatLnSpc="1">
              <a:noAutofit/>
            </a:bodyPr>
            <a:p>
              <a:pPr>
                <a:lnSpc>
                  <a:spcPct val="130000"/>
                </a:lnSpc>
                <a:spcBef>
                  <a:spcPct val="0"/>
                </a:spcBef>
                <a:spcAft>
                  <a:spcPct val="0"/>
                </a:spcAft>
              </a:pPr>
              <a:r>
                <a:rPr lang="zh-CN" altLang="en-US" sz="1400" dirty="0">
                  <a:solidFill>
                    <a:srgbClr val="0061AE"/>
                  </a:solidFill>
                  <a:latin typeface="字魂手刻宋" panose="00000500000000000000" charset="-122"/>
                  <a:ea typeface="字魂手刻宋" panose="00000500000000000000" charset="-122"/>
                  <a:cs typeface="字魂手刻宋" panose="00000500000000000000" charset="-122"/>
                  <a:sym typeface="+mn-ea"/>
                </a:rPr>
                <a:t>展业赋能，大幅提高行业展业效率</a:t>
              </a:r>
              <a:endParaRPr lang="zh-CN" altLang="en-US" sz="1400"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sp>
          <p:nvSpPr>
            <p:cNvPr id="23" name="平行四边形 22"/>
            <p:cNvSpPr/>
            <p:nvPr>
              <p:custDataLst>
                <p:tags r:id="rId18"/>
              </p:custDataLst>
            </p:nvPr>
          </p:nvSpPr>
          <p:spPr>
            <a:xfrm flipH="1">
              <a:off x="2922" y="8011"/>
              <a:ext cx="695" cy="836"/>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平行四边形 17"/>
            <p:cNvSpPr/>
            <p:nvPr>
              <p:custDataLst>
                <p:tags r:id="rId19"/>
              </p:custDataLst>
            </p:nvPr>
          </p:nvSpPr>
          <p:spPr>
            <a:xfrm flipH="1">
              <a:off x="1559" y="5289"/>
              <a:ext cx="7400" cy="836"/>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71755" numCol="1" spcCol="0" rtlCol="0" fromWordArt="0" anchor="ctr" anchorCtr="0" forceAA="0" compatLnSpc="1">
              <a:noAutofit/>
            </a:bodyPr>
            <a:p>
              <a:pPr>
                <a:lnSpc>
                  <a:spcPct val="130000"/>
                </a:lnSpc>
                <a:spcBef>
                  <a:spcPct val="0"/>
                </a:spcBef>
                <a:spcAft>
                  <a:spcPct val="0"/>
                </a:spcAft>
              </a:pP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业务赋能，增强服务能力和服务质量</a:t>
              </a:r>
              <a:endPar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9" name="平行四边形 18"/>
            <p:cNvSpPr/>
            <p:nvPr>
              <p:custDataLst>
                <p:tags r:id="rId20"/>
              </p:custDataLst>
            </p:nvPr>
          </p:nvSpPr>
          <p:spPr>
            <a:xfrm flipH="1">
              <a:off x="1320" y="5289"/>
              <a:ext cx="695" cy="836"/>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平行四边形 57"/>
            <p:cNvSpPr/>
            <p:nvPr>
              <p:custDataLst>
                <p:tags r:id="rId21"/>
              </p:custDataLst>
            </p:nvPr>
          </p:nvSpPr>
          <p:spPr>
            <a:xfrm flipH="1">
              <a:off x="2015" y="2475"/>
              <a:ext cx="6268" cy="836"/>
            </a:xfrm>
            <a:prstGeom prst="parallelogram">
              <a:avLst>
                <a:gd name="adj" fmla="val 49621"/>
              </a:avLst>
            </a:prstGeom>
            <a:gradFill>
              <a:gsLst>
                <a:gs pos="100000">
                  <a:schemeClr val="accent1">
                    <a:alpha val="0"/>
                  </a:schemeClr>
                </a:gs>
                <a:gs pos="0">
                  <a:schemeClr val="accent1">
                    <a:alpha val="2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71755" numCol="1" spcCol="0" rtlCol="0" fromWordArt="0" anchor="ctr" anchorCtr="0" forceAA="0" compatLnSpc="1">
              <a:noAutofit/>
            </a:bodyPr>
            <a:p>
              <a:pPr>
                <a:lnSpc>
                  <a:spcPct val="130000"/>
                </a:lnSpc>
                <a:spcBef>
                  <a:spcPct val="0"/>
                </a:spcBef>
                <a:spcAft>
                  <a:spcPct val="0"/>
                </a:spcAft>
              </a:pPr>
              <a:r>
                <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管理赋能，全面提升服务机构管理水平</a:t>
              </a:r>
              <a:endParaRPr lang="zh-CN" altLang="en-US" sz="1400" b="1"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sp>
          <p:nvSpPr>
            <p:cNvPr id="59" name="平行四边形 58"/>
            <p:cNvSpPr/>
            <p:nvPr>
              <p:custDataLst>
                <p:tags r:id="rId22"/>
              </p:custDataLst>
            </p:nvPr>
          </p:nvSpPr>
          <p:spPr>
            <a:xfrm flipH="1">
              <a:off x="1788" y="2478"/>
              <a:ext cx="695" cy="836"/>
            </a:xfrm>
            <a:prstGeom prst="parallelogram">
              <a:avLst>
                <a:gd name="adj" fmla="val 66328"/>
              </a:avLst>
            </a:pr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custDataLst>
                <p:tags r:id="rId23"/>
              </p:custDataLst>
            </p:nvPr>
          </p:nvSpPr>
          <p:spPr>
            <a:xfrm>
              <a:off x="5332" y="3536"/>
              <a:ext cx="8996" cy="1447"/>
            </a:xfrm>
            <a:prstGeom prst="rect">
              <a:avLst/>
            </a:prstGeom>
            <a:noFill/>
            <a:effectLst/>
          </p:spPr>
          <p:txBody>
            <a:bodyPr wrap="square" lIns="575945" tIns="45720" rIns="575945" bIns="45720" rtlCol="0" anchor="b" anchorCtr="0">
              <a:noAutofit/>
            </a:bodyPr>
            <a:p>
              <a:pPr indent="0" algn="ctr" fontAlgn="auto">
                <a:lnSpc>
                  <a:spcPct val="150000"/>
                </a:lnSpc>
                <a:spcBef>
                  <a:spcPct val="0"/>
                </a:spcBef>
                <a:spcAft>
                  <a:spcPct val="0"/>
                </a:spcAft>
              </a:pPr>
              <a:r>
                <a:rPr lang="zh-CN" altLang="en-US" sz="1600" b="1">
                  <a:solidFill>
                    <a:schemeClr val="bg1"/>
                  </a:solidFill>
                  <a:latin typeface="字魂手刻宋" panose="00000500000000000000" charset="-122"/>
                  <a:ea typeface="字魂手刻宋" panose="00000500000000000000" charset="-122"/>
                  <a:cs typeface="+mn-ea"/>
                </a:rPr>
                <a:t>全生命周期</a:t>
              </a:r>
              <a:endParaRPr lang="zh-CN" altLang="en-US" sz="1600" b="1">
                <a:solidFill>
                  <a:schemeClr val="bg1"/>
                </a:solidFill>
                <a:latin typeface="字魂手刻宋" panose="00000500000000000000" charset="-122"/>
                <a:ea typeface="字魂手刻宋" panose="00000500000000000000" charset="-122"/>
                <a:cs typeface="+mn-ea"/>
              </a:endParaRPr>
            </a:p>
            <a:p>
              <a:pPr indent="0" algn="ctr" fontAlgn="auto">
                <a:lnSpc>
                  <a:spcPct val="150000"/>
                </a:lnSpc>
                <a:spcBef>
                  <a:spcPct val="0"/>
                </a:spcBef>
                <a:spcAft>
                  <a:spcPct val="0"/>
                </a:spcAft>
              </a:pPr>
              <a:r>
                <a:rPr lang="zh-CN" altLang="en-US" sz="1600" b="1">
                  <a:solidFill>
                    <a:schemeClr val="bg1"/>
                  </a:solidFill>
                  <a:latin typeface="字魂手刻宋" panose="00000500000000000000" charset="-122"/>
                  <a:ea typeface="字魂手刻宋" panose="00000500000000000000" charset="-122"/>
                  <a:cs typeface="+mn-ea"/>
                </a:rPr>
                <a:t>安全风险管理智慧化服务</a:t>
              </a:r>
              <a:endParaRPr lang="zh-CN" altLang="en-US" sz="1600" b="1">
                <a:solidFill>
                  <a:schemeClr val="bg1"/>
                </a:solidFill>
                <a:latin typeface="字魂手刻宋" panose="00000500000000000000" charset="-122"/>
                <a:ea typeface="字魂手刻宋" panose="00000500000000000000" charset="-122"/>
                <a:cs typeface="+mn-ea"/>
              </a:endParaRPr>
            </a:p>
          </p:txBody>
        </p:sp>
        <p:sp>
          <p:nvSpPr>
            <p:cNvPr id="52" name="文本框 51" descr="7b0a202020202262756c6c6574223a20227b5c2263617465676f727949645c223a31303030352c5c2274656d706c61746549645c223a32303233313538357d220a7d0a"/>
            <p:cNvSpPr txBox="1"/>
            <p:nvPr/>
          </p:nvSpPr>
          <p:spPr>
            <a:xfrm>
              <a:off x="577" y="3174"/>
              <a:ext cx="7059" cy="201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fontAlgn="auto">
                <a:lnSpc>
                  <a:spcPct val="20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安环家研发了一整套服务机构专属组织管理系统，智慧财务管理数字化系统、OA 协同办公等帮助服务机构快速构建规范化、标准化、可视化、图形化管理架构，提升服务机构的管理水平。</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53" name="文本框 52" descr="7b0a202020202262756c6c6574223a20227b5c2263617465676f727949645c223a31303030352c5c2274656d706c61746549645c223a32303233313538357d220a7d0a"/>
            <p:cNvSpPr txBox="1"/>
            <p:nvPr/>
          </p:nvSpPr>
          <p:spPr>
            <a:xfrm>
              <a:off x="306" y="6159"/>
              <a:ext cx="7539" cy="201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fontAlgn="auto">
                <a:lnSpc>
                  <a:spcPct val="20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安环家自主研发鑫安云、安全网格化托管系统、区域化深度服务支持系统、安全专家在线 APP 等智慧工具。通过信息化工具支撑，帮助服务机构快速将双重预防机制、安全托管、事故预防等业务落地生根。</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54" name="文本框 53" descr="7b0a202020202262756c6c6574223a20227b5c2263617465676f727949645c223a31303030352c5c2274656d706c61746549645c223a32303233313538357d220a7d0a"/>
            <p:cNvSpPr txBox="1"/>
            <p:nvPr/>
          </p:nvSpPr>
          <p:spPr>
            <a:xfrm>
              <a:off x="389" y="8934"/>
              <a:ext cx="8570" cy="201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fontAlgn="auto">
                <a:lnSpc>
                  <a:spcPct val="20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通过安环家自主研发客户经营管理系统、CRM 客户关系管理系统等一整套高效的数字化展业工具，全面提升安全技术服务行业服务质量和展业效率。</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55" name="文本框 54" descr="7b0a202020202262756c6c6574223a20227b5c2263617465676f727949645c223a31303030352c5c2274656d706c61746549645c223a32303233313538357d220a7d0a"/>
            <p:cNvSpPr txBox="1"/>
            <p:nvPr/>
          </p:nvSpPr>
          <p:spPr>
            <a:xfrm>
              <a:off x="11992" y="3233"/>
              <a:ext cx="6706" cy="201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fontAlgn="auto">
                <a:lnSpc>
                  <a:spcPct val="20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为用户提供安全、便捷、权威、可靠的在线支付服务，可满足服务机构多业务场景的支付需求，解决交易不公平、交易不对等、交易综合成本高、账期长、要账难等问题，保证资金安全高效合规，营造公平公正、规范有序的第三方安全服务环境。</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56" name="文本框 55" descr="7b0a202020202262756c6c6574223a20227b5c2263617465676f727949645c223a31303030352c5c2274656d706c61746549645c223a32303233313538357d220a7d0a"/>
            <p:cNvSpPr txBox="1"/>
            <p:nvPr/>
          </p:nvSpPr>
          <p:spPr>
            <a:xfrm>
              <a:off x="11300" y="7400"/>
              <a:ext cx="7288" cy="201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indent="0" algn="just" fontAlgn="auto">
                <a:lnSpc>
                  <a:spcPct val="15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安环家产业大脑整合了安全风险管理行业各类上游供应链</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indent="0" algn="just" fontAlgn="auto">
                <a:lnSpc>
                  <a:spcPct val="15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资源，有效拓展传统第三方机构服务链条，实现服务机构的多元</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indent="0" algn="just" fontAlgn="auto">
                <a:lnSpc>
                  <a:spcPct val="150000"/>
                </a:lnSpc>
                <a:spcBef>
                  <a:spcPts val="1200"/>
                </a:spcBef>
                <a:buFont typeface="Arial" panose="020B0604020202020204" pitchFamily="34" charset="0"/>
                <a:buNone/>
              </a:pPr>
              <a:r>
                <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化盈利、组合性盈利、可持续盈利模型。</a:t>
              </a:r>
              <a:endParaRPr lang="zh-CN" altLang="en-US" sz="12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sp>
        <p:nvSpPr>
          <p:cNvPr id="11" name="文本框 10"/>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3.3</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4" presetClass="entr" presetSubtype="32" fill="hold" nodeType="afterEffect">
                                  <p:stCondLst>
                                    <p:cond delay="0"/>
                                  </p:stCondLst>
                                  <p:childTnLst>
                                    <p:set>
                                      <p:cBhvr>
                                        <p:cTn id="10" dur="1000" fill="hold">
                                          <p:stCondLst>
                                            <p:cond delay="0"/>
                                          </p:stCondLst>
                                        </p:cTn>
                                        <p:tgtEl>
                                          <p:spTgt spid="15"/>
                                        </p:tgtEl>
                                        <p:attrNameLst>
                                          <p:attrName>style.visibility</p:attrName>
                                        </p:attrNameLst>
                                      </p:cBhvr>
                                      <p:to>
                                        <p:strVal val="visible"/>
                                      </p:to>
                                    </p:set>
                                    <p:animEffect transition="in" filter="box(ou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保险机构</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35" name="文本框 34" descr="7b0a202020202262756c6c6574223a20227b5c2263617465676f727949645c223a31303030352c5c2274656d706c61746549645c223a32303233313538357d220a7d0a"/>
          <p:cNvSpPr txBox="1"/>
          <p:nvPr/>
        </p:nvSpPr>
        <p:spPr>
          <a:xfrm>
            <a:off x="874783" y="622455"/>
            <a:ext cx="10996295" cy="1050290"/>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just">
              <a:lnSpc>
                <a:spcPct val="150000"/>
              </a:lnSpc>
              <a:spcBef>
                <a:spcPts val="1200"/>
              </a:spcBef>
            </a:pPr>
            <a:r>
              <a:rPr lang="zh-CN" altLang="en-US" sz="1400" dirty="0">
                <a:solidFill>
                  <a:schemeClr val="tx1">
                    <a:lumMod val="75000"/>
                    <a:lumOff val="25000"/>
                  </a:schemeClr>
                </a:solidFill>
                <a:latin typeface="字魂手刻宋" panose="00000500000000000000" charset="-122"/>
                <a:ea typeface="字魂手刻宋" panose="00000500000000000000" charset="-122"/>
              </a:rPr>
              <a:t>保险机构因专业能力不足难以单独为企业提供事故预防服务，而选择服务机构委托服务时，不清楚服务机构的实际情况，难以选择，服务机构的专家实际的服务过程无法监控，服务缺少标准，服务质量没有保障，通过服务能否真正降低企业风险没有保证，对保险机构来讲，这可能会提升赔付几率。</a:t>
            </a:r>
            <a:endParaRPr lang="zh-CN" altLang="en-US" sz="1400" dirty="0">
              <a:solidFill>
                <a:schemeClr val="tx1">
                  <a:lumMod val="75000"/>
                  <a:lumOff val="25000"/>
                </a:schemeClr>
              </a:solidFill>
              <a:latin typeface="字魂手刻宋" panose="00000500000000000000" charset="-122"/>
              <a:ea typeface="字魂手刻宋" panose="00000500000000000000" charset="-122"/>
            </a:endParaRPr>
          </a:p>
        </p:txBody>
      </p:sp>
      <p:grpSp>
        <p:nvGrpSpPr>
          <p:cNvPr id="6" name="组合 5"/>
          <p:cNvGrpSpPr/>
          <p:nvPr>
            <p:custDataLst>
              <p:tags r:id="rId2"/>
            </p:custDataLst>
          </p:nvPr>
        </p:nvGrpSpPr>
        <p:grpSpPr>
          <a:xfrm>
            <a:off x="232410" y="2009775"/>
            <a:ext cx="11778615" cy="4679315"/>
            <a:chOff x="-22966" y="3004537"/>
            <a:chExt cx="10649341" cy="4328453"/>
          </a:xfrm>
        </p:grpSpPr>
        <p:sp>
          <p:nvSpPr>
            <p:cNvPr id="7" name="矩形 6"/>
            <p:cNvSpPr/>
            <p:nvPr/>
          </p:nvSpPr>
          <p:spPr>
            <a:xfrm rot="10800000">
              <a:off x="-22966" y="4480640"/>
              <a:ext cx="10649341" cy="2852350"/>
            </a:xfrm>
            <a:prstGeom prst="rect">
              <a:avLst/>
            </a:prstGeom>
            <a:solidFill>
              <a:schemeClr val="tx1">
                <a:lumMod val="95000"/>
                <a:lumOff val="5000"/>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8" tIns="45714" rIns="91428" bIns="45714" numCol="1" spcCol="0" rtlCol="0" fromWordArt="0" anchor="ctr" anchorCtr="0" forceAA="0" compatLnSpc="1">
              <a:noAutofit/>
            </a:bodyPr>
            <a:lstStyle/>
            <a:p>
              <a:pPr algn="ctr"/>
              <a:endParaRPr lang="zh-CN" altLang="en-US" dirty="0">
                <a:solidFill>
                  <a:schemeClr val="tx1">
                    <a:lumMod val="95000"/>
                    <a:lumOff val="5000"/>
                  </a:schemeClr>
                </a:solidFill>
                <a:latin typeface="字魂手刻宋" panose="00000500000000000000" charset="-122"/>
                <a:ea typeface="字魂手刻宋" panose="00000500000000000000" charset="-122"/>
              </a:endParaRPr>
            </a:p>
          </p:txBody>
        </p:sp>
        <p:grpSp>
          <p:nvGrpSpPr>
            <p:cNvPr id="8" name="组合 7"/>
            <p:cNvGrpSpPr/>
            <p:nvPr/>
          </p:nvGrpSpPr>
          <p:grpSpPr>
            <a:xfrm>
              <a:off x="660400" y="3004537"/>
              <a:ext cx="2143493" cy="1266318"/>
              <a:chOff x="8639217" y="1104027"/>
              <a:chExt cx="2143493" cy="1266318"/>
            </a:xfrm>
          </p:grpSpPr>
          <p:sp>
            <p:nvSpPr>
              <p:cNvPr id="33" name="文本框 32"/>
              <p:cNvSpPr txBox="1"/>
              <p:nvPr>
                <p:custDataLst>
                  <p:tags r:id="rId3"/>
                </p:custDataLst>
              </p:nvPr>
            </p:nvSpPr>
            <p:spPr>
              <a:xfrm>
                <a:off x="8715000" y="1517459"/>
                <a:ext cx="1937653" cy="852886"/>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保险机构内部作业人员缺乏足够的专业知识和技能，影响业务处理效率和质量。</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34" name="文本框 33"/>
              <p:cNvSpPr txBox="1"/>
              <p:nvPr>
                <p:custDataLst>
                  <p:tags r:id="rId4"/>
                </p:custDataLst>
              </p:nvPr>
            </p:nvSpPr>
            <p:spPr>
              <a:xfrm>
                <a:off x="8639217" y="1104027"/>
                <a:ext cx="2143493" cy="462569"/>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内部作业难实现</a:t>
                </a:r>
                <a:endParaRPr lang="zh-CN" altLang="en-US" sz="1800" dirty="0">
                  <a:solidFill>
                    <a:srgbClr val="0061AE"/>
                  </a:solidFill>
                  <a:latin typeface="字魂手刻宋" panose="00000500000000000000" charset="-122"/>
                  <a:ea typeface="字魂手刻宋" panose="00000500000000000000" charset="-122"/>
                </a:endParaRPr>
              </a:p>
            </p:txBody>
          </p:sp>
        </p:grpSp>
        <p:sp>
          <p:nvSpPr>
            <p:cNvPr id="10" name="矩形 9"/>
            <p:cNvSpPr/>
            <p:nvPr>
              <p:custDataLst>
                <p:tags r:id="rId5"/>
              </p:custDataLst>
            </p:nvPr>
          </p:nvSpPr>
          <p:spPr>
            <a:xfrm>
              <a:off x="739140" y="4507229"/>
              <a:ext cx="1203960" cy="129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a:latin typeface="字魂手刻宋" panose="00000500000000000000" charset="-122"/>
                <a:ea typeface="字魂手刻宋" panose="00000500000000000000" charset="-122"/>
              </a:endParaRPr>
            </a:p>
          </p:txBody>
        </p:sp>
        <p:sp>
          <p:nvSpPr>
            <p:cNvPr id="11" name="矩形 10"/>
            <p:cNvSpPr/>
            <p:nvPr>
              <p:custDataLst>
                <p:tags r:id="rId6"/>
              </p:custDataLst>
            </p:nvPr>
          </p:nvSpPr>
          <p:spPr>
            <a:xfrm>
              <a:off x="3152842" y="4507229"/>
              <a:ext cx="1203960" cy="129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a:latin typeface="字魂手刻宋" panose="00000500000000000000" charset="-122"/>
                <a:ea typeface="字魂手刻宋" panose="00000500000000000000" charset="-122"/>
              </a:endParaRPr>
            </a:p>
          </p:txBody>
        </p:sp>
        <p:sp>
          <p:nvSpPr>
            <p:cNvPr id="13" name="矩形 12"/>
            <p:cNvSpPr/>
            <p:nvPr>
              <p:custDataLst>
                <p:tags r:id="rId7"/>
              </p:custDataLst>
            </p:nvPr>
          </p:nvSpPr>
          <p:spPr>
            <a:xfrm>
              <a:off x="5566544" y="4507229"/>
              <a:ext cx="1203960" cy="129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a:latin typeface="字魂手刻宋" panose="00000500000000000000" charset="-122"/>
                <a:ea typeface="字魂手刻宋" panose="00000500000000000000" charset="-122"/>
              </a:endParaRPr>
            </a:p>
          </p:txBody>
        </p:sp>
        <p:sp>
          <p:nvSpPr>
            <p:cNvPr id="14" name="矩形 13"/>
            <p:cNvSpPr/>
            <p:nvPr>
              <p:custDataLst>
                <p:tags r:id="rId8"/>
              </p:custDataLst>
            </p:nvPr>
          </p:nvSpPr>
          <p:spPr>
            <a:xfrm>
              <a:off x="7980246" y="4504053"/>
              <a:ext cx="1203960" cy="129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600">
                <a:latin typeface="字魂手刻宋" panose="00000500000000000000" charset="-122"/>
                <a:ea typeface="字魂手刻宋" panose="00000500000000000000" charset="-122"/>
              </a:endParaRPr>
            </a:p>
          </p:txBody>
        </p:sp>
        <p:grpSp>
          <p:nvGrpSpPr>
            <p:cNvPr id="15" name="组合 14"/>
            <p:cNvGrpSpPr/>
            <p:nvPr/>
          </p:nvGrpSpPr>
          <p:grpSpPr>
            <a:xfrm>
              <a:off x="3152842" y="3004537"/>
              <a:ext cx="2143493" cy="1260602"/>
              <a:chOff x="8639217" y="1104027"/>
              <a:chExt cx="2143493" cy="1260602"/>
            </a:xfrm>
          </p:grpSpPr>
          <p:sp>
            <p:nvSpPr>
              <p:cNvPr id="31" name="文本框 30"/>
              <p:cNvSpPr txBox="1"/>
              <p:nvPr>
                <p:custDataLst>
                  <p:tags r:id="rId9"/>
                </p:custDataLst>
              </p:nvPr>
            </p:nvSpPr>
            <p:spPr>
              <a:xfrm>
                <a:off x="8640939" y="1511743"/>
                <a:ext cx="1831441" cy="852886"/>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保险机构缺乏对服务机构的详细信息，难以做出明智的决策。</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32" name="文本框 31"/>
              <p:cNvSpPr txBox="1"/>
              <p:nvPr>
                <p:custDataLst>
                  <p:tags r:id="rId10"/>
                </p:custDataLst>
              </p:nvPr>
            </p:nvSpPr>
            <p:spPr>
              <a:xfrm>
                <a:off x="8639217" y="1104027"/>
                <a:ext cx="2143493" cy="462542"/>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信息不足、决策难</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16" name="组合 15"/>
            <p:cNvGrpSpPr/>
            <p:nvPr/>
          </p:nvGrpSpPr>
          <p:grpSpPr>
            <a:xfrm>
              <a:off x="5566544" y="3004537"/>
              <a:ext cx="2143493" cy="1004501"/>
              <a:chOff x="8639217" y="1104027"/>
              <a:chExt cx="2143493" cy="1004501"/>
            </a:xfrm>
          </p:grpSpPr>
          <p:sp>
            <p:nvSpPr>
              <p:cNvPr id="28" name="文本框 27"/>
              <p:cNvSpPr txBox="1"/>
              <p:nvPr>
                <p:custDataLst>
                  <p:tags r:id="rId11"/>
                </p:custDataLst>
              </p:nvPr>
            </p:nvSpPr>
            <p:spPr>
              <a:xfrm>
                <a:off x="8640939" y="1511743"/>
                <a:ext cx="1993343" cy="596785"/>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服务机构作业成本较高，而收益有限，导致成交难度增加。</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29" name="文本框 28"/>
              <p:cNvSpPr txBox="1"/>
              <p:nvPr>
                <p:custDataLst>
                  <p:tags r:id="rId12"/>
                </p:custDataLst>
              </p:nvPr>
            </p:nvSpPr>
            <p:spPr>
              <a:xfrm>
                <a:off x="8639217" y="1104027"/>
                <a:ext cx="2143493" cy="463288"/>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成本高、成交难</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17" name="组合 16"/>
            <p:cNvGrpSpPr/>
            <p:nvPr/>
          </p:nvGrpSpPr>
          <p:grpSpPr>
            <a:xfrm>
              <a:off x="7980246" y="3004537"/>
              <a:ext cx="2143493" cy="1260602"/>
              <a:chOff x="8639217" y="1104027"/>
              <a:chExt cx="2143493" cy="1260602"/>
            </a:xfrm>
          </p:grpSpPr>
          <p:sp>
            <p:nvSpPr>
              <p:cNvPr id="26" name="文本框 25"/>
              <p:cNvSpPr txBox="1"/>
              <p:nvPr>
                <p:custDataLst>
                  <p:tags r:id="rId13"/>
                </p:custDataLst>
              </p:nvPr>
            </p:nvSpPr>
            <p:spPr>
              <a:xfrm>
                <a:off x="8640939" y="1511743"/>
                <a:ext cx="1883112" cy="852886"/>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缺乏统一的服务标准和流程规范，导致保险机构难以全面把控服务质量。</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27" name="文本框 26"/>
              <p:cNvSpPr txBox="1"/>
              <p:nvPr>
                <p:custDataLst>
                  <p:tags r:id="rId14"/>
                </p:custDataLst>
              </p:nvPr>
            </p:nvSpPr>
            <p:spPr>
              <a:xfrm>
                <a:off x="8639217" y="1104027"/>
                <a:ext cx="2143493" cy="462542"/>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不规范、难把控</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18" name="组合 17"/>
            <p:cNvGrpSpPr/>
            <p:nvPr/>
          </p:nvGrpSpPr>
          <p:grpSpPr>
            <a:xfrm>
              <a:off x="3152841" y="4714040"/>
              <a:ext cx="2176828" cy="1098173"/>
              <a:chOff x="8639216" y="881117"/>
              <a:chExt cx="2176828" cy="1098173"/>
            </a:xfrm>
          </p:grpSpPr>
          <p:sp>
            <p:nvSpPr>
              <p:cNvPr id="24" name="文本框 23"/>
              <p:cNvSpPr txBox="1"/>
              <p:nvPr>
                <p:custDataLst>
                  <p:tags r:id="rId15"/>
                </p:custDataLst>
              </p:nvPr>
            </p:nvSpPr>
            <p:spPr>
              <a:xfrm>
                <a:off x="8640938" y="1382505"/>
                <a:ext cx="1981860" cy="596785"/>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合作机构能力不足，服务质量不稳定，导致结算难度增加。</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25" name="文本框 24"/>
              <p:cNvSpPr txBox="1"/>
              <p:nvPr>
                <p:custDataLst>
                  <p:tags r:id="rId16"/>
                </p:custDataLst>
              </p:nvPr>
            </p:nvSpPr>
            <p:spPr>
              <a:xfrm>
                <a:off x="8639216" y="881117"/>
                <a:ext cx="2176828" cy="464267"/>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交易不通畅、结算难</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19" name="组合 18"/>
            <p:cNvGrpSpPr/>
            <p:nvPr/>
          </p:nvGrpSpPr>
          <p:grpSpPr>
            <a:xfrm>
              <a:off x="5445632" y="4714040"/>
              <a:ext cx="2289223" cy="1353654"/>
              <a:chOff x="8549654" y="881117"/>
              <a:chExt cx="2289223" cy="1353654"/>
            </a:xfrm>
          </p:grpSpPr>
          <p:sp>
            <p:nvSpPr>
              <p:cNvPr id="22" name="文本框 21"/>
              <p:cNvSpPr txBox="1"/>
              <p:nvPr>
                <p:custDataLst>
                  <p:tags r:id="rId17"/>
                </p:custDataLst>
              </p:nvPr>
            </p:nvSpPr>
            <p:spPr>
              <a:xfrm>
                <a:off x="8640939" y="1381885"/>
                <a:ext cx="2057070" cy="852886"/>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独立风险管理师的税率结算问题，给保险机构带来额外的操作困难和风险。</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23" name="文本框 22"/>
              <p:cNvSpPr txBox="1"/>
              <p:nvPr>
                <p:custDataLst>
                  <p:tags r:id="rId18"/>
                </p:custDataLst>
              </p:nvPr>
            </p:nvSpPr>
            <p:spPr>
              <a:xfrm>
                <a:off x="8549654" y="881117"/>
                <a:ext cx="2289223" cy="463462"/>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税率结算问题、难委托</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20" name="组合 19"/>
            <p:cNvGrpSpPr/>
            <p:nvPr/>
          </p:nvGrpSpPr>
          <p:grpSpPr>
            <a:xfrm>
              <a:off x="7980246" y="4714040"/>
              <a:ext cx="2143493" cy="1353654"/>
              <a:chOff x="8639217" y="881117"/>
              <a:chExt cx="2143493" cy="1353654"/>
            </a:xfrm>
          </p:grpSpPr>
          <p:sp>
            <p:nvSpPr>
              <p:cNvPr id="21" name="文本框 20"/>
              <p:cNvSpPr txBox="1"/>
              <p:nvPr>
                <p:custDataLst>
                  <p:tags r:id="rId19"/>
                </p:custDataLst>
              </p:nvPr>
            </p:nvSpPr>
            <p:spPr>
              <a:xfrm>
                <a:off x="8640939" y="1381885"/>
                <a:ext cx="2074868" cy="852886"/>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缺乏完善的反馈机制，导致难以对服务商进行有效的监督和制约，影响服务质量提升。</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30" name="文本框 29"/>
              <p:cNvSpPr txBox="1"/>
              <p:nvPr>
                <p:custDataLst>
                  <p:tags r:id="rId20"/>
                </p:custDataLst>
              </p:nvPr>
            </p:nvSpPr>
            <p:spPr>
              <a:xfrm>
                <a:off x="8639217" y="881117"/>
                <a:ext cx="2143493" cy="463462"/>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反馈机制缺、难制约</a:t>
                </a:r>
                <a:endParaRPr lang="zh-CN" altLang="en-US" sz="1800" dirty="0">
                  <a:solidFill>
                    <a:srgbClr val="0061AE"/>
                  </a:solidFill>
                  <a:latin typeface="字魂手刻宋" panose="00000500000000000000" charset="-122"/>
                  <a:ea typeface="字魂手刻宋" panose="00000500000000000000" charset="-122"/>
                </a:endParaRPr>
              </a:p>
            </p:txBody>
          </p:sp>
        </p:grpSp>
        <p:grpSp>
          <p:nvGrpSpPr>
            <p:cNvPr id="36" name="组合 35"/>
            <p:cNvGrpSpPr/>
            <p:nvPr/>
          </p:nvGrpSpPr>
          <p:grpSpPr>
            <a:xfrm>
              <a:off x="739140" y="4714040"/>
              <a:ext cx="2143493" cy="1325295"/>
              <a:chOff x="8639217" y="881117"/>
              <a:chExt cx="2143493" cy="1325295"/>
            </a:xfrm>
          </p:grpSpPr>
          <p:sp>
            <p:nvSpPr>
              <p:cNvPr id="37" name="文本框 36"/>
              <p:cNvSpPr txBox="1"/>
              <p:nvPr>
                <p:custDataLst>
                  <p:tags r:id="rId21"/>
                </p:custDataLst>
              </p:nvPr>
            </p:nvSpPr>
            <p:spPr>
              <a:xfrm>
                <a:off x="8640939" y="1382505"/>
                <a:ext cx="1973823" cy="823907"/>
              </a:xfrm>
              <a:prstGeom prst="rect">
                <a:avLst/>
              </a:prstGeom>
              <a:noFill/>
            </p:spPr>
            <p:txBody>
              <a:bodyPr wrap="square" rtlCol="0">
                <a:spAutoFit/>
              </a:bodyPr>
              <a:lstStyle>
                <a:defPPr>
                  <a:defRPr lang="zh-CN"/>
                </a:defPPr>
                <a:lvl1pPr>
                  <a:lnSpc>
                    <a:spcPct val="150000"/>
                  </a:lnSpc>
                  <a:defRPr kumimoji="0" sz="1050" i="0" u="none" strike="noStrike" cap="none" spc="0" normalizeH="0" baseline="0">
                    <a:ln>
                      <a:noFill/>
                    </a:ln>
                    <a:effectLst/>
                    <a:uLnTx/>
                    <a:uFillTx/>
                  </a:defRPr>
                </a:lvl1pPr>
              </a:lstStyle>
              <a:p>
                <a:r>
                  <a:rPr lang="zh-CN" altLang="en-US" sz="1200" dirty="0">
                    <a:solidFill>
                      <a:schemeClr val="tx1">
                        <a:lumMod val="75000"/>
                        <a:lumOff val="25000"/>
                      </a:schemeClr>
                    </a:solidFill>
                    <a:latin typeface="字魂手刻宋" panose="00000500000000000000" charset="-122"/>
                    <a:ea typeface="字魂手刻宋" panose="00000500000000000000" charset="-122"/>
                  </a:rPr>
                  <a:t>企业风险场景多，委托独立专家服务时，专业度垂直，无法提供全面有效的服务。</a:t>
                </a:r>
                <a:endParaRPr lang="zh-CN" altLang="en-US" sz="1200" dirty="0">
                  <a:solidFill>
                    <a:schemeClr val="tx1">
                      <a:lumMod val="75000"/>
                      <a:lumOff val="25000"/>
                    </a:schemeClr>
                  </a:solidFill>
                  <a:latin typeface="字魂手刻宋" panose="00000500000000000000" charset="-122"/>
                  <a:ea typeface="字魂手刻宋" panose="00000500000000000000" charset="-122"/>
                </a:endParaRPr>
              </a:p>
            </p:txBody>
          </p:sp>
          <p:sp>
            <p:nvSpPr>
              <p:cNvPr id="38" name="文本框 37"/>
              <p:cNvSpPr txBox="1"/>
              <p:nvPr>
                <p:custDataLst>
                  <p:tags r:id="rId22"/>
                </p:custDataLst>
              </p:nvPr>
            </p:nvSpPr>
            <p:spPr>
              <a:xfrm>
                <a:off x="8639217" y="881117"/>
                <a:ext cx="2143493" cy="424499"/>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1800" dirty="0">
                    <a:solidFill>
                      <a:srgbClr val="0061AE"/>
                    </a:solidFill>
                    <a:latin typeface="字魂手刻宋" panose="00000500000000000000" charset="-122"/>
                    <a:ea typeface="字魂手刻宋" panose="00000500000000000000" charset="-122"/>
                  </a:rPr>
                  <a:t>独立专家服务面过窄</a:t>
                </a:r>
                <a:endParaRPr lang="zh-CN" altLang="en-US" sz="1800" dirty="0">
                  <a:solidFill>
                    <a:srgbClr val="0061AE"/>
                  </a:solidFill>
                  <a:latin typeface="字魂手刻宋" panose="00000500000000000000" charset="-122"/>
                  <a:ea typeface="字魂手刻宋" panose="00000500000000000000" charset="-122"/>
                </a:endParaRPr>
              </a:p>
            </p:txBody>
          </p:sp>
        </p:grpSp>
      </p:grpSp>
      <p:sp>
        <p:nvSpPr>
          <p:cNvPr id="3" name="文本框 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3.4</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保险机构</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grpSp>
        <p:nvGrpSpPr>
          <p:cNvPr id="8" name="组合 7"/>
          <p:cNvGrpSpPr/>
          <p:nvPr>
            <p:custDataLst>
              <p:tags r:id="rId2"/>
            </p:custDataLst>
          </p:nvPr>
        </p:nvGrpSpPr>
        <p:grpSpPr>
          <a:xfrm>
            <a:off x="334637" y="1388215"/>
            <a:ext cx="11959598" cy="5210052"/>
            <a:chOff x="527" y="2186"/>
            <a:chExt cx="18834" cy="8205"/>
          </a:xfrm>
        </p:grpSpPr>
        <p:sp>
          <p:nvSpPr>
            <p:cNvPr id="3" name="椭圆 2"/>
            <p:cNvSpPr>
              <a:spLocks noChangeAspect="1"/>
            </p:cNvSpPr>
            <p:nvPr>
              <p:custDataLst>
                <p:tags r:id="rId3"/>
              </p:custDataLst>
            </p:nvPr>
          </p:nvSpPr>
          <p:spPr>
            <a:xfrm>
              <a:off x="3703" y="4609"/>
              <a:ext cx="11065" cy="3045"/>
            </a:xfrm>
            <a:prstGeom prst="ellipse">
              <a:avLst/>
            </a:prstGeom>
            <a:gradFill>
              <a:gsLst>
                <a:gs pos="9000">
                  <a:schemeClr val="accent1">
                    <a:lumMod val="20000"/>
                    <a:lumOff val="80000"/>
                    <a:alpha val="15000"/>
                  </a:schemeClr>
                </a:gs>
                <a:gs pos="100000">
                  <a:schemeClr val="accent1">
                    <a:lumMod val="20000"/>
                    <a:lumOff val="80000"/>
                    <a:alpha val="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latin typeface="字魂手刻宋" panose="00000500000000000000" charset="-122"/>
                <a:ea typeface="字魂手刻宋" panose="00000500000000000000" charset="-122"/>
              </a:endParaRPr>
            </a:p>
          </p:txBody>
        </p:sp>
        <p:sp>
          <p:nvSpPr>
            <p:cNvPr id="5" name="椭圆 4"/>
            <p:cNvSpPr>
              <a:spLocks noChangeAspect="1"/>
            </p:cNvSpPr>
            <p:nvPr>
              <p:custDataLst>
                <p:tags r:id="rId4"/>
              </p:custDataLst>
            </p:nvPr>
          </p:nvSpPr>
          <p:spPr>
            <a:xfrm>
              <a:off x="5355" y="4970"/>
              <a:ext cx="7846" cy="215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latin typeface="字魂手刻宋" panose="00000500000000000000" charset="-122"/>
                <a:ea typeface="字魂手刻宋" panose="00000500000000000000" charset="-122"/>
              </a:endParaRPr>
            </a:p>
          </p:txBody>
        </p:sp>
        <p:sp>
          <p:nvSpPr>
            <p:cNvPr id="39" name="椭圆 38"/>
            <p:cNvSpPr>
              <a:spLocks noChangeAspect="1"/>
            </p:cNvSpPr>
            <p:nvPr>
              <p:custDataLst>
                <p:tags r:id="rId5"/>
              </p:custDataLst>
            </p:nvPr>
          </p:nvSpPr>
          <p:spPr>
            <a:xfrm>
              <a:off x="6356" y="5246"/>
              <a:ext cx="5841" cy="1608"/>
            </a:xfrm>
            <a:prstGeom prst="ellipse">
              <a:avLst/>
            </a:prstGeom>
            <a:gradFill>
              <a:gsLst>
                <a:gs pos="1000">
                  <a:schemeClr val="accent1">
                    <a:lumMod val="20000"/>
                    <a:lumOff val="80000"/>
                    <a:alpha val="10000"/>
                  </a:schemeClr>
                </a:gs>
                <a:gs pos="48000">
                  <a:schemeClr val="accent1">
                    <a:lumMod val="20000"/>
                    <a:lumOff val="80000"/>
                    <a:alpha val="88000"/>
                  </a:schemeClr>
                </a:gs>
                <a:gs pos="100000">
                  <a:schemeClr val="accent1">
                    <a:alpha val="34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ct val="0"/>
                </a:spcBef>
                <a:spcAft>
                  <a:spcPct val="0"/>
                </a:spcAft>
                <a:buClrTx/>
                <a:buSzTx/>
                <a:buFontTx/>
              </a:pPr>
              <a:r>
                <a:rPr lang="zh-CN" altLang="en-US" sz="1800" b="1" dirty="0">
                  <a:solidFill>
                    <a:schemeClr val="tx1"/>
                  </a:solidFill>
                  <a:latin typeface="字魂手刻宋" panose="00000500000000000000" charset="-122"/>
                  <a:ea typeface="字魂手刻宋" panose="00000500000000000000" charset="-122"/>
                  <a:sym typeface="+mn-ea"/>
                </a:rPr>
                <a:t>一站式安责险事故预防服务支撑（云）平台</a:t>
              </a:r>
              <a:endParaRPr lang="zh-CN" altLang="en-US" sz="1800" b="1" dirty="0">
                <a:solidFill>
                  <a:schemeClr val="tx1"/>
                </a:solidFill>
                <a:latin typeface="字魂手刻宋" panose="00000500000000000000" charset="-122"/>
                <a:ea typeface="字魂手刻宋" panose="00000500000000000000" charset="-122"/>
                <a:cs typeface="+mn-ea"/>
                <a:sym typeface="+mn-ea"/>
              </a:endParaRPr>
            </a:p>
          </p:txBody>
        </p:sp>
        <p:sp>
          <p:nvSpPr>
            <p:cNvPr id="90" name="椭圆 89"/>
            <p:cNvSpPr>
              <a:spLocks noChangeAspect="1"/>
            </p:cNvSpPr>
            <p:nvPr>
              <p:custDataLst>
                <p:tags r:id="rId6"/>
              </p:custDataLst>
            </p:nvPr>
          </p:nvSpPr>
          <p:spPr>
            <a:xfrm>
              <a:off x="3497" y="5546"/>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sp>
          <p:nvSpPr>
            <p:cNvPr id="41" name="椭圆 40"/>
            <p:cNvSpPr>
              <a:spLocks noChangeAspect="1"/>
            </p:cNvSpPr>
            <p:nvPr>
              <p:custDataLst>
                <p:tags r:id="rId7"/>
              </p:custDataLst>
            </p:nvPr>
          </p:nvSpPr>
          <p:spPr>
            <a:xfrm>
              <a:off x="13983" y="5546"/>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sp>
          <p:nvSpPr>
            <p:cNvPr id="43" name="矩形 42"/>
            <p:cNvSpPr>
              <a:spLocks noChangeAspect="1"/>
            </p:cNvSpPr>
            <p:nvPr>
              <p:custDataLst>
                <p:tags r:id="rId8"/>
              </p:custDataLst>
            </p:nvPr>
          </p:nvSpPr>
          <p:spPr>
            <a:xfrm>
              <a:off x="636" y="7334"/>
              <a:ext cx="4925" cy="2058"/>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安环家平台利用数字化手段构筑高标准全流程信息管控体系，实现安责险所有业务流程“线上化、可视化、透明化、清单化、节点化、留痕化”六化合一，顺向可追，逆向可溯。</a:t>
              </a:r>
              <a:endParaRPr lang="en-US" altLang="zh-CN"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44" name="矩形 43"/>
            <p:cNvSpPr>
              <a:spLocks noChangeAspect="1"/>
            </p:cNvSpPr>
            <p:nvPr>
              <p:custDataLst>
                <p:tags r:id="rId9"/>
              </p:custDataLst>
            </p:nvPr>
          </p:nvSpPr>
          <p:spPr>
            <a:xfrm>
              <a:off x="703" y="6615"/>
              <a:ext cx="4571" cy="445"/>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mn-ea"/>
                </a:rPr>
                <a:t>事故预防服务全流程可控</a:t>
              </a:r>
              <a:endParaRPr lang="zh-CN" altLang="en-US" sz="1600" b="1">
                <a:solidFill>
                  <a:srgbClr val="0061AE"/>
                </a:solidFill>
                <a:latin typeface="字魂手刻宋" panose="00000500000000000000" charset="-122"/>
                <a:ea typeface="字魂手刻宋" panose="00000500000000000000" charset="-122"/>
                <a:cs typeface="+mn-ea"/>
              </a:endParaRPr>
            </a:p>
          </p:txBody>
        </p:sp>
        <p:sp>
          <p:nvSpPr>
            <p:cNvPr id="45" name="矩形 44"/>
            <p:cNvSpPr>
              <a:spLocks noChangeAspect="1"/>
            </p:cNvSpPr>
            <p:nvPr>
              <p:custDataLst>
                <p:tags r:id="rId10"/>
              </p:custDataLst>
            </p:nvPr>
          </p:nvSpPr>
          <p:spPr>
            <a:xfrm>
              <a:off x="15023" y="5491"/>
              <a:ext cx="4018" cy="1900"/>
            </a:xfrm>
            <a:prstGeom prst="rect">
              <a:avLst/>
            </a:prstGeom>
            <a:noFill/>
          </p:spPr>
          <p:txBody>
            <a:bodyPr wrap="square" lIns="0" tIns="0" rIns="0" bIns="0" rtlCol="0" anchor="t" anchorCtr="0">
              <a:noAutofit/>
            </a:bodyPr>
            <a:p>
              <a:pPr algn="l">
                <a:lnSpc>
                  <a:spcPct val="120000"/>
                </a:lnSpc>
                <a:buClrTx/>
                <a:buSzTx/>
                <a:buNone/>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安全风险等级评定系统整合人防、物防、技防，设计数据算法，实现风险与措施对比，并利用多线数据收集与平台大数据，精准分级企业客户，降低事故发生率。</a:t>
              </a:r>
              <a:endPar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46" name="矩形 45"/>
            <p:cNvSpPr>
              <a:spLocks noChangeAspect="1"/>
            </p:cNvSpPr>
            <p:nvPr>
              <p:custDataLst>
                <p:tags r:id="rId11"/>
              </p:custDataLst>
            </p:nvPr>
          </p:nvSpPr>
          <p:spPr>
            <a:xfrm>
              <a:off x="14700" y="4885"/>
              <a:ext cx="4661" cy="445"/>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字魂手刻宋" panose="00000500000000000000" charset="-122"/>
                </a:rPr>
                <a:t>开展“人防+物防+技防”</a:t>
              </a:r>
              <a:endParaRPr lang="zh-CN" altLang="en-US" sz="1600" b="1">
                <a:solidFill>
                  <a:srgbClr val="0061AE"/>
                </a:solidFill>
                <a:latin typeface="字魂手刻宋" panose="00000500000000000000" charset="-122"/>
                <a:ea typeface="字魂手刻宋" panose="00000500000000000000" charset="-122"/>
                <a:cs typeface="字魂手刻宋" panose="00000500000000000000" charset="-122"/>
              </a:endParaRPr>
            </a:p>
          </p:txBody>
        </p:sp>
        <p:sp>
          <p:nvSpPr>
            <p:cNvPr id="50" name="椭圆 49"/>
            <p:cNvSpPr>
              <a:spLocks noChangeAspect="1"/>
            </p:cNvSpPr>
            <p:nvPr>
              <p:custDataLst>
                <p:tags r:id="rId12"/>
              </p:custDataLst>
            </p:nvPr>
          </p:nvSpPr>
          <p:spPr>
            <a:xfrm>
              <a:off x="10899" y="4064"/>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sp>
          <p:nvSpPr>
            <p:cNvPr id="51" name="椭圆 50"/>
            <p:cNvSpPr>
              <a:spLocks noChangeAspect="1"/>
            </p:cNvSpPr>
            <p:nvPr>
              <p:custDataLst>
                <p:tags r:id="rId13"/>
              </p:custDataLst>
            </p:nvPr>
          </p:nvSpPr>
          <p:spPr>
            <a:xfrm>
              <a:off x="6616" y="4088"/>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pic>
          <p:nvPicPr>
            <p:cNvPr id="52" name="图片 51" descr="333438303937363b333438313039323bcfeec4bfbcc6bba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11171" y="4337"/>
              <a:ext cx="428" cy="428"/>
            </a:xfrm>
            <a:prstGeom prst="rect">
              <a:avLst/>
            </a:prstGeom>
          </p:spPr>
        </p:pic>
        <p:pic>
          <p:nvPicPr>
            <p:cNvPr id="53" name="图片 52" descr="333438303937363b333438313035353bb2fac6b7c4a3d0c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6888" y="4361"/>
              <a:ext cx="428" cy="428"/>
            </a:xfrm>
            <a:prstGeom prst="rect">
              <a:avLst/>
            </a:prstGeom>
          </p:spPr>
        </p:pic>
        <p:sp>
          <p:nvSpPr>
            <p:cNvPr id="54" name="矩形 53"/>
            <p:cNvSpPr>
              <a:spLocks noChangeAspect="1"/>
            </p:cNvSpPr>
            <p:nvPr>
              <p:custDataLst>
                <p:tags r:id="rId20"/>
              </p:custDataLst>
            </p:nvPr>
          </p:nvSpPr>
          <p:spPr>
            <a:xfrm>
              <a:off x="12100" y="2753"/>
              <a:ext cx="5586" cy="1920"/>
            </a:xfrm>
            <a:prstGeom prst="rect">
              <a:avLst/>
            </a:prstGeom>
            <a:noFill/>
          </p:spPr>
          <p:txBody>
            <a:bodyPr wrap="square" lIns="0" tIns="0" rIns="0" bIns="0" rtlCol="0" anchor="t" anchorCtr="0">
              <a:noAutofit/>
            </a:bodyPr>
            <a:p>
              <a:pPr algn="l">
                <a:lnSpc>
                  <a:spcPct val="120000"/>
                </a:lnSpc>
                <a:spcBef>
                  <a:spcPct val="0"/>
                </a:spcBef>
                <a:spcAft>
                  <a:spcPct val="0"/>
                </a:spcAft>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安环家平台可有效针对保险机构现实需求快速链接优质第三方安全服务商，以标准化引领规范化,以规范化助推规模化。在 AQ9010-2019 行标之上，起草T/HAS108-2021，已高效开展各类事故预防服务 1.68 万例。</a:t>
              </a:r>
              <a:endPar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55" name="矩形 54"/>
            <p:cNvSpPr>
              <a:spLocks noChangeAspect="1"/>
            </p:cNvSpPr>
            <p:nvPr>
              <p:custDataLst>
                <p:tags r:id="rId21"/>
              </p:custDataLst>
            </p:nvPr>
          </p:nvSpPr>
          <p:spPr>
            <a:xfrm>
              <a:off x="11412" y="2186"/>
              <a:ext cx="6613" cy="502"/>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mn-ea"/>
                </a:rPr>
                <a:t>安责险规模化落地支撑和标准依据</a:t>
              </a:r>
              <a:endParaRPr lang="zh-CN" altLang="en-US" sz="1600" b="1">
                <a:solidFill>
                  <a:srgbClr val="0061AE"/>
                </a:solidFill>
                <a:latin typeface="字魂手刻宋" panose="00000500000000000000" charset="-122"/>
                <a:ea typeface="字魂手刻宋" panose="00000500000000000000" charset="-122"/>
                <a:cs typeface="+mn-ea"/>
              </a:endParaRPr>
            </a:p>
          </p:txBody>
        </p:sp>
        <p:sp>
          <p:nvSpPr>
            <p:cNvPr id="56" name="矩形 55"/>
            <p:cNvSpPr>
              <a:spLocks noChangeAspect="1"/>
            </p:cNvSpPr>
            <p:nvPr>
              <p:custDataLst>
                <p:tags r:id="rId22"/>
              </p:custDataLst>
            </p:nvPr>
          </p:nvSpPr>
          <p:spPr>
            <a:xfrm>
              <a:off x="12372" y="8451"/>
              <a:ext cx="4528" cy="1940"/>
            </a:xfrm>
            <a:prstGeom prst="rect">
              <a:avLst/>
            </a:prstGeom>
            <a:noFill/>
          </p:spPr>
          <p:txBody>
            <a:bodyPr wrap="square" lIns="0" tIns="0" rIns="0" bIns="0" rtlCol="0" anchor="t" anchorCtr="0">
              <a:noAutofit/>
            </a:bodyPr>
            <a:p>
              <a:pPr algn="l">
                <a:lnSpc>
                  <a:spcPct val="120000"/>
                </a:lnSpc>
                <a:spcBef>
                  <a:spcPct val="0"/>
                </a:spcBef>
                <a:spcAft>
                  <a:spcPct val="0"/>
                </a:spcAft>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建立多维度数据分析模型、AI 模型等技术支撑，强力助推投保企业开展基于“事故致因”理论全链条风险管理，坚决预防和遏制各类生产安全事故的发生，真正降低保险公司事故赔付率。</a:t>
              </a:r>
              <a:endPar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57" name="矩形 56"/>
            <p:cNvSpPr>
              <a:spLocks noChangeAspect="1"/>
            </p:cNvSpPr>
            <p:nvPr>
              <p:custDataLst>
                <p:tags r:id="rId23"/>
              </p:custDataLst>
            </p:nvPr>
          </p:nvSpPr>
          <p:spPr>
            <a:xfrm>
              <a:off x="11860" y="7934"/>
              <a:ext cx="5455" cy="437"/>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mn-ea"/>
                </a:rPr>
                <a:t>安全风险大数据库提供强力支撑</a:t>
              </a:r>
              <a:endParaRPr lang="zh-CN" altLang="en-US" sz="1600" b="1" dirty="0">
                <a:solidFill>
                  <a:srgbClr val="0061AE"/>
                </a:solidFill>
                <a:latin typeface="字魂手刻宋" panose="00000500000000000000" charset="-122"/>
                <a:ea typeface="字魂手刻宋" panose="00000500000000000000" charset="-122"/>
                <a:cs typeface="+mn-ea"/>
              </a:endParaRPr>
            </a:p>
          </p:txBody>
        </p:sp>
        <p:sp>
          <p:nvSpPr>
            <p:cNvPr id="58" name="矩形 57"/>
            <p:cNvSpPr>
              <a:spLocks noChangeAspect="1"/>
            </p:cNvSpPr>
            <p:nvPr>
              <p:custDataLst>
                <p:tags r:id="rId24"/>
              </p:custDataLst>
            </p:nvPr>
          </p:nvSpPr>
          <p:spPr>
            <a:xfrm>
              <a:off x="1243" y="3104"/>
              <a:ext cx="4917" cy="2381"/>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安环家平台集结300+安全专家和120+互联网工程师，针对84个细分行业的12万家工矿商贸企业、270万类风险数据进行深度分析，研发成熟的人才培养与工具支撑体系，助力高效开展事故预防服务。</a:t>
              </a:r>
              <a:endPar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59" name="矩形 58"/>
            <p:cNvSpPr>
              <a:spLocks noChangeAspect="1"/>
            </p:cNvSpPr>
            <p:nvPr>
              <p:custDataLst>
                <p:tags r:id="rId25"/>
              </p:custDataLst>
            </p:nvPr>
          </p:nvSpPr>
          <p:spPr>
            <a:xfrm>
              <a:off x="527" y="2514"/>
              <a:ext cx="5676" cy="502"/>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mn-ea"/>
                </a:rPr>
                <a:t>人才培养体系和工具支撑</a:t>
              </a:r>
              <a:endParaRPr lang="zh-CN" altLang="en-US" sz="1600" b="1">
                <a:solidFill>
                  <a:srgbClr val="0061AE"/>
                </a:solidFill>
                <a:latin typeface="字魂手刻宋" panose="00000500000000000000" charset="-122"/>
                <a:ea typeface="字魂手刻宋" panose="00000500000000000000" charset="-122"/>
                <a:cs typeface="+mn-ea"/>
              </a:endParaRPr>
            </a:p>
          </p:txBody>
        </p:sp>
        <p:sp>
          <p:nvSpPr>
            <p:cNvPr id="60" name="椭圆 59"/>
            <p:cNvSpPr>
              <a:spLocks noChangeAspect="1"/>
            </p:cNvSpPr>
            <p:nvPr>
              <p:custDataLst>
                <p:tags r:id="rId26"/>
              </p:custDataLst>
            </p:nvPr>
          </p:nvSpPr>
          <p:spPr>
            <a:xfrm>
              <a:off x="6616" y="6991"/>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sp>
          <p:nvSpPr>
            <p:cNvPr id="61" name="矩形 60"/>
            <p:cNvSpPr>
              <a:spLocks noChangeAspect="1"/>
            </p:cNvSpPr>
            <p:nvPr>
              <p:custDataLst>
                <p:tags r:id="rId27"/>
              </p:custDataLst>
            </p:nvPr>
          </p:nvSpPr>
          <p:spPr>
            <a:xfrm>
              <a:off x="6309" y="8604"/>
              <a:ext cx="4587" cy="1636"/>
            </a:xfrm>
            <a:prstGeom prst="rect">
              <a:avLst/>
            </a:prstGeom>
            <a:noFill/>
          </p:spPr>
          <p:txBody>
            <a:bodyPr wrap="square" lIns="0" tIns="0" rIns="0" bIns="0" rtlCol="0" anchor="t" anchorCtr="0">
              <a:noAutofit/>
            </a:bodyPr>
            <a:p>
              <a:pPr algn="l">
                <a:lnSpc>
                  <a:spcPct val="120000"/>
                </a:lnSpc>
                <a:spcBef>
                  <a:spcPct val="0"/>
                </a:spcBef>
                <a:spcAft>
                  <a:spcPct val="0"/>
                </a:spcAft>
              </a:pPr>
              <a:r>
                <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rPr>
                <a:t>安环家自主研发“事故预防全链条管理系统”、“事故预防在线服务系统”等全生命周期智慧风控工具，助力全链条无缝式安全闭环管理,真正筑牢企业安全生产根基。</a:t>
              </a:r>
              <a:endParaRPr lang="zh-CN" altLang="en-US" sz="1200" dirty="0">
                <a:solidFill>
                  <a:schemeClr val="tx1">
                    <a:lumMod val="65000"/>
                    <a:lumOff val="35000"/>
                  </a:schemeClr>
                </a:solidFill>
                <a:latin typeface="字魂手刻宋" panose="00000500000000000000" charset="-122"/>
                <a:ea typeface="字魂手刻宋" panose="00000500000000000000" charset="-122"/>
                <a:cs typeface="字魂手刻宋" panose="00000500000000000000" charset="-122"/>
              </a:endParaRPr>
            </a:p>
          </p:txBody>
        </p:sp>
        <p:sp>
          <p:nvSpPr>
            <p:cNvPr id="62" name="矩形 61"/>
            <p:cNvSpPr>
              <a:spLocks noChangeAspect="1"/>
            </p:cNvSpPr>
            <p:nvPr>
              <p:custDataLst>
                <p:tags r:id="rId28"/>
              </p:custDataLst>
            </p:nvPr>
          </p:nvSpPr>
          <p:spPr>
            <a:xfrm>
              <a:off x="5970" y="7967"/>
              <a:ext cx="4836" cy="437"/>
            </a:xfrm>
            <a:prstGeom prst="rect">
              <a:avLst/>
            </a:prstGeom>
            <a:noFill/>
          </p:spPr>
          <p:txBody>
            <a:bodyPr wrap="square" lIns="0" tIns="0" rIns="0" bIns="0" rtlCol="0" anchor="b" anchorCtr="0">
              <a:noAutofit/>
            </a:bodyPr>
            <a:p>
              <a:pPr algn="ctr">
                <a:spcBef>
                  <a:spcPct val="0"/>
                </a:spcBef>
                <a:spcAft>
                  <a:spcPct val="0"/>
                </a:spcAft>
              </a:pPr>
              <a:r>
                <a:rPr lang="zh-CN" altLang="en-US" sz="1600" b="1">
                  <a:solidFill>
                    <a:srgbClr val="0061AE"/>
                  </a:solidFill>
                  <a:latin typeface="字魂手刻宋" panose="00000500000000000000" charset="-122"/>
                  <a:ea typeface="字魂手刻宋" panose="00000500000000000000" charset="-122"/>
                  <a:cs typeface="+mn-ea"/>
                </a:rPr>
                <a:t>事故预防服务有强力抓手工具</a:t>
              </a:r>
              <a:endParaRPr lang="zh-CN" altLang="en-US" sz="1600" b="1">
                <a:solidFill>
                  <a:srgbClr val="0061AE"/>
                </a:solidFill>
                <a:latin typeface="字魂手刻宋" panose="00000500000000000000" charset="-122"/>
                <a:ea typeface="字魂手刻宋" panose="00000500000000000000" charset="-122"/>
                <a:cs typeface="+mn-ea"/>
              </a:endParaRPr>
            </a:p>
          </p:txBody>
        </p:sp>
        <p:pic>
          <p:nvPicPr>
            <p:cNvPr id="63" name="图片 62" descr="333438303937363b333438313037383bcafdbeddb7d6cef6"/>
            <p:cNvPicPr>
              <a:picLocks noChangeAspect="1"/>
            </p:cNvPicPr>
            <p:nvPr>
              <p:custDataLst>
                <p:tags r:id="rId29"/>
              </p:custDataLst>
            </p:nvPr>
          </p:nvPicPr>
          <p:blipFill>
            <a:blip r:embed="rId30"/>
            <a:stretch>
              <a:fillRect/>
            </a:stretch>
          </p:blipFill>
          <p:spPr>
            <a:xfrm>
              <a:off x="6888" y="7264"/>
              <a:ext cx="428" cy="428"/>
            </a:xfrm>
            <a:prstGeom prst="rect">
              <a:avLst/>
            </a:prstGeom>
          </p:spPr>
        </p:pic>
        <p:pic>
          <p:nvPicPr>
            <p:cNvPr id="64" name="图形 149" descr="333438303937363b333438313038303bd7e9d6afbcdcb9b9"/>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14255" y="5819"/>
              <a:ext cx="428" cy="428"/>
            </a:xfrm>
            <a:prstGeom prst="rect">
              <a:avLst/>
            </a:prstGeom>
          </p:spPr>
        </p:pic>
        <p:pic>
          <p:nvPicPr>
            <p:cNvPr id="65" name="图形 136" descr="32313538333630393b32313538333731313bd0cbc8a4c6abbac3"/>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3768" y="5819"/>
              <a:ext cx="428" cy="428"/>
            </a:xfrm>
            <a:prstGeom prst="rect">
              <a:avLst/>
            </a:prstGeom>
          </p:spPr>
        </p:pic>
        <p:sp>
          <p:nvSpPr>
            <p:cNvPr id="67" name="椭圆 66"/>
            <p:cNvSpPr>
              <a:spLocks noChangeAspect="1"/>
            </p:cNvSpPr>
            <p:nvPr>
              <p:custDataLst>
                <p:tags r:id="rId37"/>
              </p:custDataLst>
            </p:nvPr>
          </p:nvSpPr>
          <p:spPr>
            <a:xfrm>
              <a:off x="10899" y="6991"/>
              <a:ext cx="973" cy="973"/>
            </a:xfrm>
            <a:prstGeom prst="ellipse">
              <a:avLst/>
            </a:prstGeom>
            <a:solidFill>
              <a:srgbClr val="0061AE"/>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578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latin typeface="字魂手刻宋" panose="00000500000000000000" charset="-122"/>
                <a:ea typeface="字魂手刻宋" panose="00000500000000000000" charset="-122"/>
                <a:sym typeface="+mn-ea"/>
              </a:endParaRPr>
            </a:p>
          </p:txBody>
        </p:sp>
        <p:pic>
          <p:nvPicPr>
            <p:cNvPr id="68" name="图片 67" descr="333438303937363b333438313038383bcfeec4bfd0a7c2ca"/>
            <p:cNvPicPr>
              <a:picLocks noChangeAspect="1"/>
            </p:cNvPicPr>
            <p:nvPr>
              <p:custDataLst>
                <p:tags r:id="rId38"/>
              </p:custDataLst>
            </p:nvPr>
          </p:nvPicPr>
          <p:blipFill>
            <a:blip r:embed="rId39">
              <a:extLst>
                <a:ext uri="{96DAC541-7B7A-43D3-8B79-37D633B846F1}">
                  <asvg:svgBlip xmlns:asvg="http://schemas.microsoft.com/office/drawing/2016/SVG/main" r:embed="rId40"/>
                </a:ext>
              </a:extLst>
            </a:blip>
            <a:stretch>
              <a:fillRect/>
            </a:stretch>
          </p:blipFill>
          <p:spPr>
            <a:xfrm>
              <a:off x="11171" y="7264"/>
              <a:ext cx="428" cy="428"/>
            </a:xfrm>
            <a:prstGeom prst="rect">
              <a:avLst/>
            </a:prstGeom>
          </p:spPr>
        </p:pic>
      </p:grpSp>
      <p:sp>
        <p:nvSpPr>
          <p:cNvPr id="69" name="文本框 68" descr="7b0a202020202262756c6c6574223a20227b5c2263617465676f727949645c223a31303030352c5c2274656d706c61746549645c223a32303233313538357d220a7d0a"/>
          <p:cNvSpPr txBox="1"/>
          <p:nvPr/>
        </p:nvSpPr>
        <p:spPr>
          <a:xfrm>
            <a:off x="875030" y="622300"/>
            <a:ext cx="10996295" cy="668655"/>
          </a:xfrm>
          <a:prstGeom prst="rect">
            <a:avLst/>
          </a:prstGeom>
          <a:noFill/>
        </p:spPr>
        <p:txBody>
          <a:bodyPr wrap="square" rtlCol="0">
            <a:noAutofit/>
            <a:scene3d>
              <a:camera prst="orthographicFront"/>
              <a:lightRig rig="threePt" dir="t"/>
            </a:scene3d>
            <a:sp3d contourW="12700"/>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just">
              <a:lnSpc>
                <a:spcPct val="150000"/>
              </a:lnSpc>
              <a:spcBef>
                <a:spcPts val="1200"/>
              </a:spcBef>
            </a:pPr>
            <a:r>
              <a:rPr lang="zh-CN" altLang="en-US" sz="1400" dirty="0">
                <a:solidFill>
                  <a:schemeClr val="tx1">
                    <a:lumMod val="75000"/>
                    <a:lumOff val="25000"/>
                  </a:schemeClr>
                </a:solidFill>
                <a:latin typeface="字魂手刻宋" panose="00000500000000000000" charset="-122"/>
                <a:ea typeface="字魂手刻宋" panose="00000500000000000000" charset="-122"/>
              </a:rPr>
              <a:t>通过一站式安责险事故预防服务支撑（云）平台，解决保险机构普遍面临的安责险事故预防服务“不愿做、不会做、没人做，找谁做，做不好”等落地难题。</a:t>
            </a:r>
            <a:endParaRPr lang="zh-CN" altLang="en-US" sz="1800" b="1">
              <a:solidFill>
                <a:schemeClr val="accent1"/>
              </a:solidFill>
              <a:latin typeface="+mn-ea"/>
              <a:cs typeface="+mn-ea"/>
            </a:endParaRPr>
          </a:p>
        </p:txBody>
      </p:sp>
      <p:sp>
        <p:nvSpPr>
          <p:cNvPr id="6" name="文本框 5"/>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3.4</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000" fill="hold">
                                          <p:stCondLst>
                                            <p:cond delay="0"/>
                                          </p:stCondLst>
                                        </p:cTn>
                                        <p:tgtEl>
                                          <p:spTgt spid="8"/>
                                        </p:tgtEl>
                                        <p:attrNameLst>
                                          <p:attrName>style.visibility</p:attrName>
                                        </p:attrNameLst>
                                      </p:cBhvr>
                                      <p:to>
                                        <p:strVal val="visible"/>
                                      </p:to>
                                    </p:set>
                                    <p:animEffect transition="in" filter="box(out)">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工矿商贸企业</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grpSp>
        <p:nvGrpSpPr>
          <p:cNvPr id="25" name="组合 24"/>
          <p:cNvGrpSpPr/>
          <p:nvPr/>
        </p:nvGrpSpPr>
        <p:grpSpPr>
          <a:xfrm>
            <a:off x="622300" y="1557655"/>
            <a:ext cx="10571480" cy="4381853"/>
            <a:chOff x="1058" y="2016"/>
            <a:chExt cx="12283" cy="3508"/>
          </a:xfrm>
        </p:grpSpPr>
        <p:sp>
          <p:nvSpPr>
            <p:cNvPr id="102" name="Freeform 5"/>
            <p:cNvSpPr/>
            <p:nvPr>
              <p:custDataLst>
                <p:tags r:id="rId2"/>
              </p:custDataLst>
            </p:nvPr>
          </p:nvSpPr>
          <p:spPr bwMode="auto">
            <a:xfrm>
              <a:off x="1072" y="2245"/>
              <a:ext cx="2791" cy="1910"/>
            </a:xfrm>
            <a:custGeom>
              <a:avLst/>
              <a:gdLst>
                <a:gd name="T0" fmla="*/ 282 w 3216"/>
                <a:gd name="T1" fmla="*/ 0 h 2855"/>
                <a:gd name="T2" fmla="*/ 2934 w 3216"/>
                <a:gd name="T3" fmla="*/ 0 h 2855"/>
                <a:gd name="T4" fmla="*/ 3216 w 3216"/>
                <a:gd name="T5" fmla="*/ 282 h 2855"/>
                <a:gd name="T6" fmla="*/ 3216 w 3216"/>
                <a:gd name="T7" fmla="*/ 2006 h 2855"/>
                <a:gd name="T8" fmla="*/ 3043 w 3216"/>
                <a:gd name="T9" fmla="*/ 2266 h 2855"/>
                <a:gd name="T10" fmla="*/ 1717 w 3216"/>
                <a:gd name="T11" fmla="*/ 2825 h 2855"/>
                <a:gd name="T12" fmla="*/ 1498 w 3216"/>
                <a:gd name="T13" fmla="*/ 2825 h 2855"/>
                <a:gd name="T14" fmla="*/ 173 w 3216"/>
                <a:gd name="T15" fmla="*/ 2266 h 2855"/>
                <a:gd name="T16" fmla="*/ 0 w 3216"/>
                <a:gd name="T17" fmla="*/ 2006 h 2855"/>
                <a:gd name="T18" fmla="*/ 0 w 3216"/>
                <a:gd name="T19" fmla="*/ 282 h 2855"/>
                <a:gd name="T20" fmla="*/ 282 w 3216"/>
                <a:gd name="T21" fmla="*/ 0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16" h="2855">
                  <a:moveTo>
                    <a:pt x="282" y="0"/>
                  </a:moveTo>
                  <a:lnTo>
                    <a:pt x="2934" y="0"/>
                  </a:lnTo>
                  <a:cubicBezTo>
                    <a:pt x="3089" y="0"/>
                    <a:pt x="3216" y="127"/>
                    <a:pt x="3216" y="282"/>
                  </a:cubicBezTo>
                  <a:lnTo>
                    <a:pt x="3216" y="2006"/>
                  </a:lnTo>
                  <a:cubicBezTo>
                    <a:pt x="3216" y="2122"/>
                    <a:pt x="3150" y="2221"/>
                    <a:pt x="3043" y="2266"/>
                  </a:cubicBezTo>
                  <a:lnTo>
                    <a:pt x="1717" y="2825"/>
                  </a:lnTo>
                  <a:cubicBezTo>
                    <a:pt x="1645" y="2855"/>
                    <a:pt x="1571" y="2855"/>
                    <a:pt x="1498" y="2825"/>
                  </a:cubicBezTo>
                  <a:lnTo>
                    <a:pt x="173" y="2266"/>
                  </a:lnTo>
                  <a:cubicBezTo>
                    <a:pt x="66" y="2221"/>
                    <a:pt x="0" y="2122"/>
                    <a:pt x="0" y="2006"/>
                  </a:cubicBezTo>
                  <a:lnTo>
                    <a:pt x="0" y="282"/>
                  </a:lnTo>
                  <a:cubicBezTo>
                    <a:pt x="0" y="127"/>
                    <a:pt x="127" y="0"/>
                    <a:pt x="282" y="0"/>
                  </a:cubicBezTo>
                  <a:close/>
                </a:path>
              </a:pathLst>
            </a:custGeom>
            <a:solidFill>
              <a:srgbClr val="003366"/>
            </a:solidFill>
            <a:ln w="19050" cap="flat" cmpd="sng" algn="ctr">
              <a:gradFill flip="none" rotWithShape="1">
                <a:gsLst>
                  <a:gs pos="0">
                    <a:sysClr val="window" lastClr="FFFFFF">
                      <a:lumMod val="75000"/>
                    </a:sysClr>
                  </a:gs>
                  <a:gs pos="100000">
                    <a:sysClr val="window" lastClr="FFFFFF"/>
                  </a:gs>
                </a:gsLst>
                <a:lin ang="2700000" scaled="1"/>
                <a:tileRect/>
              </a:gradFill>
              <a:prstDash val="solid"/>
              <a:miter lim="800000"/>
            </a:ln>
            <a:effectLst>
              <a:innerShdw blurRad="127000" dist="63500" dir="13500000">
                <a:prstClr val="black">
                  <a:alpha val="50000"/>
                </a:prstClr>
              </a:inn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3" name="Freeform 6"/>
            <p:cNvSpPr/>
            <p:nvPr>
              <p:custDataLst>
                <p:tags r:id="rId3"/>
              </p:custDataLst>
            </p:nvPr>
          </p:nvSpPr>
          <p:spPr bwMode="auto">
            <a:xfrm>
              <a:off x="1564" y="2016"/>
              <a:ext cx="1838" cy="616"/>
            </a:xfrm>
            <a:custGeom>
              <a:avLst/>
              <a:gdLst>
                <a:gd name="T0" fmla="*/ 106 w 2118"/>
                <a:gd name="T1" fmla="*/ 0 h 920"/>
                <a:gd name="T2" fmla="*/ 2012 w 2118"/>
                <a:gd name="T3" fmla="*/ 0 h 920"/>
                <a:gd name="T4" fmla="*/ 2118 w 2118"/>
                <a:gd name="T5" fmla="*/ 106 h 920"/>
                <a:gd name="T6" fmla="*/ 2118 w 2118"/>
                <a:gd name="T7" fmla="*/ 410 h 920"/>
                <a:gd name="T8" fmla="*/ 2053 w 2118"/>
                <a:gd name="T9" fmla="*/ 507 h 920"/>
                <a:gd name="T10" fmla="*/ 1100 w 2118"/>
                <a:gd name="T11" fmla="*/ 909 h 920"/>
                <a:gd name="T12" fmla="*/ 1018 w 2118"/>
                <a:gd name="T13" fmla="*/ 909 h 920"/>
                <a:gd name="T14" fmla="*/ 65 w 2118"/>
                <a:gd name="T15" fmla="*/ 507 h 920"/>
                <a:gd name="T16" fmla="*/ 0 w 2118"/>
                <a:gd name="T17" fmla="*/ 410 h 920"/>
                <a:gd name="T18" fmla="*/ 0 w 2118"/>
                <a:gd name="T19" fmla="*/ 106 h 920"/>
                <a:gd name="T20" fmla="*/ 106 w 2118"/>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8" h="920">
                  <a:moveTo>
                    <a:pt x="106" y="0"/>
                  </a:moveTo>
                  <a:lnTo>
                    <a:pt x="2012" y="0"/>
                  </a:lnTo>
                  <a:cubicBezTo>
                    <a:pt x="2070" y="0"/>
                    <a:pt x="2118" y="48"/>
                    <a:pt x="2118" y="106"/>
                  </a:cubicBezTo>
                  <a:lnTo>
                    <a:pt x="2118" y="410"/>
                  </a:lnTo>
                  <a:cubicBezTo>
                    <a:pt x="2118" y="453"/>
                    <a:pt x="2093" y="490"/>
                    <a:pt x="2053" y="507"/>
                  </a:cubicBezTo>
                  <a:lnTo>
                    <a:pt x="1100" y="909"/>
                  </a:lnTo>
                  <a:cubicBezTo>
                    <a:pt x="1073" y="920"/>
                    <a:pt x="1045" y="920"/>
                    <a:pt x="1018" y="909"/>
                  </a:cubicBezTo>
                  <a:lnTo>
                    <a:pt x="65" y="507"/>
                  </a:lnTo>
                  <a:cubicBezTo>
                    <a:pt x="25" y="490"/>
                    <a:pt x="0" y="453"/>
                    <a:pt x="0" y="410"/>
                  </a:cubicBezTo>
                  <a:lnTo>
                    <a:pt x="0" y="106"/>
                  </a:lnTo>
                  <a:cubicBezTo>
                    <a:pt x="0" y="48"/>
                    <a:pt x="48" y="0"/>
                    <a:pt x="106" y="0"/>
                  </a:cubicBezTo>
                  <a:close/>
                </a:path>
              </a:pathLst>
            </a:custGeom>
            <a:solidFill>
              <a:srgbClr val="003366"/>
            </a:solidFill>
            <a:ln w="31750" cap="flat" cmpd="sng" algn="ctr">
              <a:gradFill flip="none" rotWithShape="1">
                <a:gsLst>
                  <a:gs pos="0">
                    <a:sysClr val="window" lastClr="FFFFFF"/>
                  </a:gs>
                  <a:gs pos="100000">
                    <a:sysClr val="window" lastClr="FFFFFF">
                      <a:lumMod val="75000"/>
                    </a:sysClr>
                  </a:gs>
                </a:gsLst>
                <a:lin ang="5400000" scaled="0"/>
                <a:tileRect/>
              </a:gradFill>
              <a:prstDash val="solid"/>
              <a:miter lim="800000"/>
            </a:ln>
            <a:effectLst>
              <a:outerShdw blurRad="228600" dist="76200" dir="2700000" algn="t" rotWithShape="0">
                <a:prstClr val="black">
                  <a:alpha val="40000"/>
                </a:prstClr>
              </a:out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4" name="Freeform 5"/>
            <p:cNvSpPr/>
            <p:nvPr>
              <p:custDataLst>
                <p:tags r:id="rId4"/>
              </p:custDataLst>
            </p:nvPr>
          </p:nvSpPr>
          <p:spPr bwMode="auto">
            <a:xfrm>
              <a:off x="4179" y="2245"/>
              <a:ext cx="2791" cy="1910"/>
            </a:xfrm>
            <a:custGeom>
              <a:avLst/>
              <a:gdLst>
                <a:gd name="T0" fmla="*/ 282 w 3216"/>
                <a:gd name="T1" fmla="*/ 0 h 2855"/>
                <a:gd name="T2" fmla="*/ 2934 w 3216"/>
                <a:gd name="T3" fmla="*/ 0 h 2855"/>
                <a:gd name="T4" fmla="*/ 3216 w 3216"/>
                <a:gd name="T5" fmla="*/ 282 h 2855"/>
                <a:gd name="T6" fmla="*/ 3216 w 3216"/>
                <a:gd name="T7" fmla="*/ 2006 h 2855"/>
                <a:gd name="T8" fmla="*/ 3043 w 3216"/>
                <a:gd name="T9" fmla="*/ 2266 h 2855"/>
                <a:gd name="T10" fmla="*/ 1717 w 3216"/>
                <a:gd name="T11" fmla="*/ 2825 h 2855"/>
                <a:gd name="T12" fmla="*/ 1498 w 3216"/>
                <a:gd name="T13" fmla="*/ 2825 h 2855"/>
                <a:gd name="T14" fmla="*/ 173 w 3216"/>
                <a:gd name="T15" fmla="*/ 2266 h 2855"/>
                <a:gd name="T16" fmla="*/ 0 w 3216"/>
                <a:gd name="T17" fmla="*/ 2006 h 2855"/>
                <a:gd name="T18" fmla="*/ 0 w 3216"/>
                <a:gd name="T19" fmla="*/ 282 h 2855"/>
                <a:gd name="T20" fmla="*/ 282 w 3216"/>
                <a:gd name="T21" fmla="*/ 0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16" h="2855">
                  <a:moveTo>
                    <a:pt x="282" y="0"/>
                  </a:moveTo>
                  <a:lnTo>
                    <a:pt x="2934" y="0"/>
                  </a:lnTo>
                  <a:cubicBezTo>
                    <a:pt x="3089" y="0"/>
                    <a:pt x="3216" y="127"/>
                    <a:pt x="3216" y="282"/>
                  </a:cubicBezTo>
                  <a:lnTo>
                    <a:pt x="3216" y="2006"/>
                  </a:lnTo>
                  <a:cubicBezTo>
                    <a:pt x="3216" y="2122"/>
                    <a:pt x="3150" y="2221"/>
                    <a:pt x="3043" y="2266"/>
                  </a:cubicBezTo>
                  <a:lnTo>
                    <a:pt x="1717" y="2825"/>
                  </a:lnTo>
                  <a:cubicBezTo>
                    <a:pt x="1645" y="2855"/>
                    <a:pt x="1571" y="2855"/>
                    <a:pt x="1498" y="2825"/>
                  </a:cubicBezTo>
                  <a:lnTo>
                    <a:pt x="173" y="2266"/>
                  </a:lnTo>
                  <a:cubicBezTo>
                    <a:pt x="66" y="2221"/>
                    <a:pt x="0" y="2122"/>
                    <a:pt x="0" y="2006"/>
                  </a:cubicBezTo>
                  <a:lnTo>
                    <a:pt x="0" y="282"/>
                  </a:lnTo>
                  <a:cubicBezTo>
                    <a:pt x="0" y="127"/>
                    <a:pt x="127" y="0"/>
                    <a:pt x="282" y="0"/>
                  </a:cubicBezTo>
                  <a:close/>
                </a:path>
              </a:pathLst>
            </a:custGeom>
            <a:solidFill>
              <a:srgbClr val="24699C"/>
            </a:solidFill>
            <a:ln w="19050" cap="flat" cmpd="sng" algn="ctr">
              <a:gradFill flip="none" rotWithShape="1">
                <a:gsLst>
                  <a:gs pos="0">
                    <a:sysClr val="window" lastClr="FFFFFF">
                      <a:lumMod val="75000"/>
                    </a:sysClr>
                  </a:gs>
                  <a:gs pos="100000">
                    <a:sysClr val="window" lastClr="FFFFFF"/>
                  </a:gs>
                </a:gsLst>
                <a:lin ang="2700000" scaled="1"/>
                <a:tileRect/>
              </a:gradFill>
              <a:prstDash val="solid"/>
              <a:miter lim="800000"/>
            </a:ln>
            <a:effectLst>
              <a:innerShdw blurRad="127000" dist="63500" dir="13500000">
                <a:prstClr val="black">
                  <a:alpha val="50000"/>
                </a:prstClr>
              </a:inn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5" name="Freeform 6"/>
            <p:cNvSpPr/>
            <p:nvPr>
              <p:custDataLst>
                <p:tags r:id="rId5"/>
              </p:custDataLst>
            </p:nvPr>
          </p:nvSpPr>
          <p:spPr bwMode="auto">
            <a:xfrm>
              <a:off x="4670" y="2016"/>
              <a:ext cx="1838" cy="616"/>
            </a:xfrm>
            <a:custGeom>
              <a:avLst/>
              <a:gdLst>
                <a:gd name="T0" fmla="*/ 106 w 2118"/>
                <a:gd name="T1" fmla="*/ 0 h 920"/>
                <a:gd name="T2" fmla="*/ 2012 w 2118"/>
                <a:gd name="T3" fmla="*/ 0 h 920"/>
                <a:gd name="T4" fmla="*/ 2118 w 2118"/>
                <a:gd name="T5" fmla="*/ 106 h 920"/>
                <a:gd name="T6" fmla="*/ 2118 w 2118"/>
                <a:gd name="T7" fmla="*/ 410 h 920"/>
                <a:gd name="T8" fmla="*/ 2053 w 2118"/>
                <a:gd name="T9" fmla="*/ 507 h 920"/>
                <a:gd name="T10" fmla="*/ 1100 w 2118"/>
                <a:gd name="T11" fmla="*/ 909 h 920"/>
                <a:gd name="T12" fmla="*/ 1018 w 2118"/>
                <a:gd name="T13" fmla="*/ 909 h 920"/>
                <a:gd name="T14" fmla="*/ 65 w 2118"/>
                <a:gd name="T15" fmla="*/ 507 h 920"/>
                <a:gd name="T16" fmla="*/ 0 w 2118"/>
                <a:gd name="T17" fmla="*/ 410 h 920"/>
                <a:gd name="T18" fmla="*/ 0 w 2118"/>
                <a:gd name="T19" fmla="*/ 106 h 920"/>
                <a:gd name="T20" fmla="*/ 106 w 2118"/>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8" h="920">
                  <a:moveTo>
                    <a:pt x="106" y="0"/>
                  </a:moveTo>
                  <a:lnTo>
                    <a:pt x="2012" y="0"/>
                  </a:lnTo>
                  <a:cubicBezTo>
                    <a:pt x="2070" y="0"/>
                    <a:pt x="2118" y="48"/>
                    <a:pt x="2118" y="106"/>
                  </a:cubicBezTo>
                  <a:lnTo>
                    <a:pt x="2118" y="410"/>
                  </a:lnTo>
                  <a:cubicBezTo>
                    <a:pt x="2118" y="453"/>
                    <a:pt x="2093" y="490"/>
                    <a:pt x="2053" y="507"/>
                  </a:cubicBezTo>
                  <a:lnTo>
                    <a:pt x="1100" y="909"/>
                  </a:lnTo>
                  <a:cubicBezTo>
                    <a:pt x="1073" y="920"/>
                    <a:pt x="1045" y="920"/>
                    <a:pt x="1018" y="909"/>
                  </a:cubicBezTo>
                  <a:lnTo>
                    <a:pt x="65" y="507"/>
                  </a:lnTo>
                  <a:cubicBezTo>
                    <a:pt x="25" y="490"/>
                    <a:pt x="0" y="453"/>
                    <a:pt x="0" y="410"/>
                  </a:cubicBezTo>
                  <a:lnTo>
                    <a:pt x="0" y="106"/>
                  </a:lnTo>
                  <a:cubicBezTo>
                    <a:pt x="0" y="48"/>
                    <a:pt x="48" y="0"/>
                    <a:pt x="106" y="0"/>
                  </a:cubicBezTo>
                  <a:close/>
                </a:path>
              </a:pathLst>
            </a:custGeom>
            <a:solidFill>
              <a:srgbClr val="24699C"/>
            </a:solidFill>
            <a:ln w="31750" cap="flat" cmpd="sng" algn="ctr">
              <a:gradFill flip="none" rotWithShape="1">
                <a:gsLst>
                  <a:gs pos="0">
                    <a:sysClr val="window" lastClr="FFFFFF"/>
                  </a:gs>
                  <a:gs pos="100000">
                    <a:sysClr val="window" lastClr="FFFFFF">
                      <a:lumMod val="75000"/>
                    </a:sysClr>
                  </a:gs>
                </a:gsLst>
                <a:lin ang="5400000" scaled="0"/>
                <a:tileRect/>
              </a:gradFill>
              <a:prstDash val="solid"/>
              <a:miter lim="800000"/>
            </a:ln>
            <a:effectLst>
              <a:outerShdw blurRad="228600" dist="76200" dir="2700000" algn="t" rotWithShape="0">
                <a:prstClr val="black">
                  <a:alpha val="40000"/>
                </a:prstClr>
              </a:out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6" name="Freeform 5"/>
            <p:cNvSpPr/>
            <p:nvPr>
              <p:custDataLst>
                <p:tags r:id="rId6"/>
              </p:custDataLst>
            </p:nvPr>
          </p:nvSpPr>
          <p:spPr bwMode="auto">
            <a:xfrm>
              <a:off x="7306" y="2245"/>
              <a:ext cx="2791" cy="1910"/>
            </a:xfrm>
            <a:custGeom>
              <a:avLst/>
              <a:gdLst>
                <a:gd name="T0" fmla="*/ 282 w 3216"/>
                <a:gd name="T1" fmla="*/ 0 h 2855"/>
                <a:gd name="T2" fmla="*/ 2934 w 3216"/>
                <a:gd name="T3" fmla="*/ 0 h 2855"/>
                <a:gd name="T4" fmla="*/ 3216 w 3216"/>
                <a:gd name="T5" fmla="*/ 282 h 2855"/>
                <a:gd name="T6" fmla="*/ 3216 w 3216"/>
                <a:gd name="T7" fmla="*/ 2006 h 2855"/>
                <a:gd name="T8" fmla="*/ 3043 w 3216"/>
                <a:gd name="T9" fmla="*/ 2266 h 2855"/>
                <a:gd name="T10" fmla="*/ 1717 w 3216"/>
                <a:gd name="T11" fmla="*/ 2825 h 2855"/>
                <a:gd name="T12" fmla="*/ 1498 w 3216"/>
                <a:gd name="T13" fmla="*/ 2825 h 2855"/>
                <a:gd name="T14" fmla="*/ 173 w 3216"/>
                <a:gd name="T15" fmla="*/ 2266 h 2855"/>
                <a:gd name="T16" fmla="*/ 0 w 3216"/>
                <a:gd name="T17" fmla="*/ 2006 h 2855"/>
                <a:gd name="T18" fmla="*/ 0 w 3216"/>
                <a:gd name="T19" fmla="*/ 282 h 2855"/>
                <a:gd name="T20" fmla="*/ 282 w 3216"/>
                <a:gd name="T21" fmla="*/ 0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16" h="2855">
                  <a:moveTo>
                    <a:pt x="282" y="0"/>
                  </a:moveTo>
                  <a:lnTo>
                    <a:pt x="2934" y="0"/>
                  </a:lnTo>
                  <a:cubicBezTo>
                    <a:pt x="3089" y="0"/>
                    <a:pt x="3216" y="127"/>
                    <a:pt x="3216" y="282"/>
                  </a:cubicBezTo>
                  <a:lnTo>
                    <a:pt x="3216" y="2006"/>
                  </a:lnTo>
                  <a:cubicBezTo>
                    <a:pt x="3216" y="2122"/>
                    <a:pt x="3150" y="2221"/>
                    <a:pt x="3043" y="2266"/>
                  </a:cubicBezTo>
                  <a:lnTo>
                    <a:pt x="1717" y="2825"/>
                  </a:lnTo>
                  <a:cubicBezTo>
                    <a:pt x="1645" y="2855"/>
                    <a:pt x="1571" y="2855"/>
                    <a:pt x="1498" y="2825"/>
                  </a:cubicBezTo>
                  <a:lnTo>
                    <a:pt x="173" y="2266"/>
                  </a:lnTo>
                  <a:cubicBezTo>
                    <a:pt x="66" y="2221"/>
                    <a:pt x="0" y="2122"/>
                    <a:pt x="0" y="2006"/>
                  </a:cubicBezTo>
                  <a:lnTo>
                    <a:pt x="0" y="282"/>
                  </a:lnTo>
                  <a:cubicBezTo>
                    <a:pt x="0" y="127"/>
                    <a:pt x="127" y="0"/>
                    <a:pt x="282" y="0"/>
                  </a:cubicBezTo>
                  <a:close/>
                </a:path>
              </a:pathLst>
            </a:custGeom>
            <a:solidFill>
              <a:srgbClr val="003366"/>
            </a:solidFill>
            <a:ln w="19050" cap="flat" cmpd="sng" algn="ctr">
              <a:gradFill flip="none" rotWithShape="1">
                <a:gsLst>
                  <a:gs pos="0">
                    <a:sysClr val="window" lastClr="FFFFFF">
                      <a:lumMod val="75000"/>
                    </a:sysClr>
                  </a:gs>
                  <a:gs pos="100000">
                    <a:sysClr val="window" lastClr="FFFFFF"/>
                  </a:gs>
                </a:gsLst>
                <a:lin ang="2700000" scaled="1"/>
                <a:tileRect/>
              </a:gradFill>
              <a:prstDash val="solid"/>
              <a:miter lim="800000"/>
            </a:ln>
            <a:effectLst>
              <a:innerShdw blurRad="127000" dist="63500" dir="13500000">
                <a:prstClr val="black">
                  <a:alpha val="50000"/>
                </a:prstClr>
              </a:inn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7" name="Freeform 6"/>
            <p:cNvSpPr/>
            <p:nvPr>
              <p:custDataLst>
                <p:tags r:id="rId7"/>
              </p:custDataLst>
            </p:nvPr>
          </p:nvSpPr>
          <p:spPr bwMode="auto">
            <a:xfrm>
              <a:off x="7797" y="2016"/>
              <a:ext cx="1838" cy="616"/>
            </a:xfrm>
            <a:custGeom>
              <a:avLst/>
              <a:gdLst>
                <a:gd name="T0" fmla="*/ 106 w 2118"/>
                <a:gd name="T1" fmla="*/ 0 h 920"/>
                <a:gd name="T2" fmla="*/ 2012 w 2118"/>
                <a:gd name="T3" fmla="*/ 0 h 920"/>
                <a:gd name="T4" fmla="*/ 2118 w 2118"/>
                <a:gd name="T5" fmla="*/ 106 h 920"/>
                <a:gd name="T6" fmla="*/ 2118 w 2118"/>
                <a:gd name="T7" fmla="*/ 410 h 920"/>
                <a:gd name="T8" fmla="*/ 2053 w 2118"/>
                <a:gd name="T9" fmla="*/ 507 h 920"/>
                <a:gd name="T10" fmla="*/ 1100 w 2118"/>
                <a:gd name="T11" fmla="*/ 909 h 920"/>
                <a:gd name="T12" fmla="*/ 1018 w 2118"/>
                <a:gd name="T13" fmla="*/ 909 h 920"/>
                <a:gd name="T14" fmla="*/ 65 w 2118"/>
                <a:gd name="T15" fmla="*/ 507 h 920"/>
                <a:gd name="T16" fmla="*/ 0 w 2118"/>
                <a:gd name="T17" fmla="*/ 410 h 920"/>
                <a:gd name="T18" fmla="*/ 0 w 2118"/>
                <a:gd name="T19" fmla="*/ 106 h 920"/>
                <a:gd name="T20" fmla="*/ 106 w 2118"/>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8" h="920">
                  <a:moveTo>
                    <a:pt x="106" y="0"/>
                  </a:moveTo>
                  <a:lnTo>
                    <a:pt x="2012" y="0"/>
                  </a:lnTo>
                  <a:cubicBezTo>
                    <a:pt x="2070" y="0"/>
                    <a:pt x="2118" y="48"/>
                    <a:pt x="2118" y="106"/>
                  </a:cubicBezTo>
                  <a:lnTo>
                    <a:pt x="2118" y="410"/>
                  </a:lnTo>
                  <a:cubicBezTo>
                    <a:pt x="2118" y="453"/>
                    <a:pt x="2093" y="490"/>
                    <a:pt x="2053" y="507"/>
                  </a:cubicBezTo>
                  <a:lnTo>
                    <a:pt x="1100" y="909"/>
                  </a:lnTo>
                  <a:cubicBezTo>
                    <a:pt x="1073" y="920"/>
                    <a:pt x="1045" y="920"/>
                    <a:pt x="1018" y="909"/>
                  </a:cubicBezTo>
                  <a:lnTo>
                    <a:pt x="65" y="507"/>
                  </a:lnTo>
                  <a:cubicBezTo>
                    <a:pt x="25" y="490"/>
                    <a:pt x="0" y="453"/>
                    <a:pt x="0" y="410"/>
                  </a:cubicBezTo>
                  <a:lnTo>
                    <a:pt x="0" y="106"/>
                  </a:lnTo>
                  <a:cubicBezTo>
                    <a:pt x="0" y="48"/>
                    <a:pt x="48" y="0"/>
                    <a:pt x="106" y="0"/>
                  </a:cubicBezTo>
                  <a:close/>
                </a:path>
              </a:pathLst>
            </a:custGeom>
            <a:solidFill>
              <a:srgbClr val="003366"/>
            </a:solidFill>
            <a:ln w="31750" cap="flat" cmpd="sng" algn="ctr">
              <a:gradFill flip="none" rotWithShape="1">
                <a:gsLst>
                  <a:gs pos="0">
                    <a:sysClr val="window" lastClr="FFFFFF"/>
                  </a:gs>
                  <a:gs pos="100000">
                    <a:sysClr val="window" lastClr="FFFFFF">
                      <a:lumMod val="75000"/>
                    </a:sysClr>
                  </a:gs>
                </a:gsLst>
                <a:lin ang="5400000" scaled="0"/>
                <a:tileRect/>
              </a:gradFill>
              <a:prstDash val="solid"/>
              <a:miter lim="800000"/>
            </a:ln>
            <a:effectLst>
              <a:outerShdw blurRad="228600" dist="76200" dir="2700000" algn="t" rotWithShape="0">
                <a:prstClr val="black">
                  <a:alpha val="40000"/>
                </a:prstClr>
              </a:out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8" name="Freeform 5"/>
            <p:cNvSpPr/>
            <p:nvPr>
              <p:custDataLst>
                <p:tags r:id="rId8"/>
              </p:custDataLst>
            </p:nvPr>
          </p:nvSpPr>
          <p:spPr bwMode="auto">
            <a:xfrm>
              <a:off x="10432" y="2245"/>
              <a:ext cx="2791" cy="1910"/>
            </a:xfrm>
            <a:custGeom>
              <a:avLst/>
              <a:gdLst>
                <a:gd name="T0" fmla="*/ 282 w 3216"/>
                <a:gd name="T1" fmla="*/ 0 h 2855"/>
                <a:gd name="T2" fmla="*/ 2934 w 3216"/>
                <a:gd name="T3" fmla="*/ 0 h 2855"/>
                <a:gd name="T4" fmla="*/ 3216 w 3216"/>
                <a:gd name="T5" fmla="*/ 282 h 2855"/>
                <a:gd name="T6" fmla="*/ 3216 w 3216"/>
                <a:gd name="T7" fmla="*/ 2006 h 2855"/>
                <a:gd name="T8" fmla="*/ 3043 w 3216"/>
                <a:gd name="T9" fmla="*/ 2266 h 2855"/>
                <a:gd name="T10" fmla="*/ 1717 w 3216"/>
                <a:gd name="T11" fmla="*/ 2825 h 2855"/>
                <a:gd name="T12" fmla="*/ 1498 w 3216"/>
                <a:gd name="T13" fmla="*/ 2825 h 2855"/>
                <a:gd name="T14" fmla="*/ 173 w 3216"/>
                <a:gd name="T15" fmla="*/ 2266 h 2855"/>
                <a:gd name="T16" fmla="*/ 0 w 3216"/>
                <a:gd name="T17" fmla="*/ 2006 h 2855"/>
                <a:gd name="T18" fmla="*/ 0 w 3216"/>
                <a:gd name="T19" fmla="*/ 282 h 2855"/>
                <a:gd name="T20" fmla="*/ 282 w 3216"/>
                <a:gd name="T21" fmla="*/ 0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16" h="2855">
                  <a:moveTo>
                    <a:pt x="282" y="0"/>
                  </a:moveTo>
                  <a:lnTo>
                    <a:pt x="2934" y="0"/>
                  </a:lnTo>
                  <a:cubicBezTo>
                    <a:pt x="3089" y="0"/>
                    <a:pt x="3216" y="127"/>
                    <a:pt x="3216" y="282"/>
                  </a:cubicBezTo>
                  <a:lnTo>
                    <a:pt x="3216" y="2006"/>
                  </a:lnTo>
                  <a:cubicBezTo>
                    <a:pt x="3216" y="2122"/>
                    <a:pt x="3150" y="2221"/>
                    <a:pt x="3043" y="2266"/>
                  </a:cubicBezTo>
                  <a:lnTo>
                    <a:pt x="1717" y="2825"/>
                  </a:lnTo>
                  <a:cubicBezTo>
                    <a:pt x="1645" y="2855"/>
                    <a:pt x="1571" y="2855"/>
                    <a:pt x="1498" y="2825"/>
                  </a:cubicBezTo>
                  <a:lnTo>
                    <a:pt x="173" y="2266"/>
                  </a:lnTo>
                  <a:cubicBezTo>
                    <a:pt x="66" y="2221"/>
                    <a:pt x="0" y="2122"/>
                    <a:pt x="0" y="2006"/>
                  </a:cubicBezTo>
                  <a:lnTo>
                    <a:pt x="0" y="282"/>
                  </a:lnTo>
                  <a:cubicBezTo>
                    <a:pt x="0" y="127"/>
                    <a:pt x="127" y="0"/>
                    <a:pt x="282" y="0"/>
                  </a:cubicBezTo>
                  <a:close/>
                </a:path>
              </a:pathLst>
            </a:custGeom>
            <a:solidFill>
              <a:srgbClr val="24699C"/>
            </a:solidFill>
            <a:ln w="19050" cap="flat" cmpd="sng" algn="ctr">
              <a:gradFill flip="none" rotWithShape="1">
                <a:gsLst>
                  <a:gs pos="0">
                    <a:sysClr val="window" lastClr="FFFFFF">
                      <a:lumMod val="75000"/>
                    </a:sysClr>
                  </a:gs>
                  <a:gs pos="100000">
                    <a:sysClr val="window" lastClr="FFFFFF"/>
                  </a:gs>
                </a:gsLst>
                <a:lin ang="2700000" scaled="1"/>
                <a:tileRect/>
              </a:gradFill>
              <a:prstDash val="solid"/>
              <a:miter lim="800000"/>
            </a:ln>
            <a:effectLst>
              <a:innerShdw blurRad="127000" dist="63500" dir="13500000">
                <a:prstClr val="black">
                  <a:alpha val="50000"/>
                </a:prstClr>
              </a:inn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9" name="Freeform 6"/>
            <p:cNvSpPr/>
            <p:nvPr>
              <p:custDataLst>
                <p:tags r:id="rId9"/>
              </p:custDataLst>
            </p:nvPr>
          </p:nvSpPr>
          <p:spPr bwMode="auto">
            <a:xfrm>
              <a:off x="10924" y="2016"/>
              <a:ext cx="1838" cy="616"/>
            </a:xfrm>
            <a:custGeom>
              <a:avLst/>
              <a:gdLst>
                <a:gd name="T0" fmla="*/ 106 w 2118"/>
                <a:gd name="T1" fmla="*/ 0 h 920"/>
                <a:gd name="T2" fmla="*/ 2012 w 2118"/>
                <a:gd name="T3" fmla="*/ 0 h 920"/>
                <a:gd name="T4" fmla="*/ 2118 w 2118"/>
                <a:gd name="T5" fmla="*/ 106 h 920"/>
                <a:gd name="T6" fmla="*/ 2118 w 2118"/>
                <a:gd name="T7" fmla="*/ 410 h 920"/>
                <a:gd name="T8" fmla="*/ 2053 w 2118"/>
                <a:gd name="T9" fmla="*/ 507 h 920"/>
                <a:gd name="T10" fmla="*/ 1100 w 2118"/>
                <a:gd name="T11" fmla="*/ 909 h 920"/>
                <a:gd name="T12" fmla="*/ 1018 w 2118"/>
                <a:gd name="T13" fmla="*/ 909 h 920"/>
                <a:gd name="T14" fmla="*/ 65 w 2118"/>
                <a:gd name="T15" fmla="*/ 507 h 920"/>
                <a:gd name="T16" fmla="*/ 0 w 2118"/>
                <a:gd name="T17" fmla="*/ 410 h 920"/>
                <a:gd name="T18" fmla="*/ 0 w 2118"/>
                <a:gd name="T19" fmla="*/ 106 h 920"/>
                <a:gd name="T20" fmla="*/ 106 w 2118"/>
                <a:gd name="T21" fmla="*/ 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8" h="920">
                  <a:moveTo>
                    <a:pt x="106" y="0"/>
                  </a:moveTo>
                  <a:lnTo>
                    <a:pt x="2012" y="0"/>
                  </a:lnTo>
                  <a:cubicBezTo>
                    <a:pt x="2070" y="0"/>
                    <a:pt x="2118" y="48"/>
                    <a:pt x="2118" y="106"/>
                  </a:cubicBezTo>
                  <a:lnTo>
                    <a:pt x="2118" y="410"/>
                  </a:lnTo>
                  <a:cubicBezTo>
                    <a:pt x="2118" y="453"/>
                    <a:pt x="2093" y="490"/>
                    <a:pt x="2053" y="507"/>
                  </a:cubicBezTo>
                  <a:lnTo>
                    <a:pt x="1100" y="909"/>
                  </a:lnTo>
                  <a:cubicBezTo>
                    <a:pt x="1073" y="920"/>
                    <a:pt x="1045" y="920"/>
                    <a:pt x="1018" y="909"/>
                  </a:cubicBezTo>
                  <a:lnTo>
                    <a:pt x="65" y="507"/>
                  </a:lnTo>
                  <a:cubicBezTo>
                    <a:pt x="25" y="490"/>
                    <a:pt x="0" y="453"/>
                    <a:pt x="0" y="410"/>
                  </a:cubicBezTo>
                  <a:lnTo>
                    <a:pt x="0" y="106"/>
                  </a:lnTo>
                  <a:cubicBezTo>
                    <a:pt x="0" y="48"/>
                    <a:pt x="48" y="0"/>
                    <a:pt x="106" y="0"/>
                  </a:cubicBezTo>
                  <a:close/>
                </a:path>
              </a:pathLst>
            </a:custGeom>
            <a:solidFill>
              <a:srgbClr val="24699C"/>
            </a:solidFill>
            <a:ln w="31750" cap="flat" cmpd="sng" algn="ctr">
              <a:gradFill flip="none" rotWithShape="1">
                <a:gsLst>
                  <a:gs pos="0">
                    <a:sysClr val="window" lastClr="FFFFFF"/>
                  </a:gs>
                  <a:gs pos="100000">
                    <a:sysClr val="window" lastClr="FFFFFF">
                      <a:lumMod val="75000"/>
                    </a:sysClr>
                  </a:gs>
                </a:gsLst>
                <a:lin ang="5400000" scaled="0"/>
                <a:tileRect/>
              </a:gradFill>
              <a:prstDash val="solid"/>
              <a:miter lim="800000"/>
            </a:ln>
            <a:effectLst>
              <a:outerShdw blurRad="228600" dist="76200" dir="2700000" algn="t" rotWithShape="0">
                <a:prstClr val="black">
                  <a:alpha val="40000"/>
                </a:prstClr>
              </a:outerShdw>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10" name="矩形 109"/>
            <p:cNvSpPr/>
            <p:nvPr>
              <p:custDataLst>
                <p:tags r:id="rId10"/>
              </p:custDataLst>
            </p:nvPr>
          </p:nvSpPr>
          <p:spPr>
            <a:xfrm>
              <a:off x="1058" y="2831"/>
              <a:ext cx="2832" cy="295"/>
            </a:xfrm>
            <a:prstGeom prst="rect">
              <a:avLst/>
            </a:prstGeom>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ctr"/>
              <a:r>
                <a:rPr lang="zh-CN" altLang="en-US" sz="1800" b="1" dirty="0">
                  <a:solidFill>
                    <a:schemeClr val="bg1"/>
                  </a:solidFill>
                  <a:latin typeface="字魂手刻宋" panose="00000500000000000000" charset="-122"/>
                  <a:ea typeface="字魂手刻宋" panose="00000500000000000000" charset="-122"/>
                </a:rPr>
                <a:t>安全管理碎片化</a:t>
              </a:r>
              <a:endParaRPr lang="zh-CN" altLang="en-US" sz="1800" b="1" dirty="0">
                <a:solidFill>
                  <a:schemeClr val="bg1"/>
                </a:solidFill>
                <a:latin typeface="字魂手刻宋" panose="00000500000000000000" charset="-122"/>
                <a:ea typeface="字魂手刻宋" panose="00000500000000000000" charset="-122"/>
              </a:endParaRPr>
            </a:p>
          </p:txBody>
        </p:sp>
        <p:sp>
          <p:nvSpPr>
            <p:cNvPr id="111" name="矩形 110"/>
            <p:cNvSpPr/>
            <p:nvPr>
              <p:custDataLst>
                <p:tags r:id="rId11"/>
              </p:custDataLst>
            </p:nvPr>
          </p:nvSpPr>
          <p:spPr>
            <a:xfrm>
              <a:off x="4172" y="2831"/>
              <a:ext cx="2832" cy="516"/>
            </a:xfrm>
            <a:prstGeom prst="rect">
              <a:avLst/>
            </a:prstGeom>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ctr"/>
              <a:r>
                <a:rPr lang="zh-CN" altLang="zh-CN" sz="1800" b="1" dirty="0">
                  <a:solidFill>
                    <a:schemeClr val="bg1"/>
                  </a:solidFill>
                  <a:latin typeface="字魂手刻宋" panose="00000500000000000000" charset="-122"/>
                  <a:ea typeface="字魂手刻宋" panose="00000500000000000000" charset="-122"/>
                  <a:sym typeface="+mn-lt"/>
                </a:rPr>
                <a:t>安全生产责任制</a:t>
              </a:r>
              <a:endParaRPr lang="en-US" altLang="zh-CN" sz="1800" b="1" dirty="0">
                <a:solidFill>
                  <a:schemeClr val="bg1"/>
                </a:solidFill>
                <a:latin typeface="字魂手刻宋" panose="00000500000000000000" charset="-122"/>
                <a:ea typeface="字魂手刻宋" panose="00000500000000000000" charset="-122"/>
                <a:sym typeface="+mn-lt"/>
              </a:endParaRPr>
            </a:p>
            <a:p>
              <a:pPr algn="ctr"/>
              <a:r>
                <a:rPr lang="zh-CN" altLang="zh-CN" sz="1800" b="1" dirty="0">
                  <a:solidFill>
                    <a:schemeClr val="bg1"/>
                  </a:solidFill>
                  <a:latin typeface="字魂手刻宋" panose="00000500000000000000" charset="-122"/>
                  <a:ea typeface="字魂手刻宋" panose="00000500000000000000" charset="-122"/>
                  <a:sym typeface="+mn-lt"/>
                </a:rPr>
                <a:t>悬空</a:t>
              </a:r>
              <a:endParaRPr lang="zh-CN" altLang="zh-CN" sz="1800" b="1" dirty="0">
                <a:solidFill>
                  <a:schemeClr val="bg1"/>
                </a:solidFill>
                <a:latin typeface="字魂手刻宋" panose="00000500000000000000" charset="-122"/>
                <a:ea typeface="字魂手刻宋" panose="00000500000000000000" charset="-122"/>
                <a:sym typeface="+mn-lt"/>
              </a:endParaRPr>
            </a:p>
          </p:txBody>
        </p:sp>
        <p:sp>
          <p:nvSpPr>
            <p:cNvPr id="112" name="矩形 111"/>
            <p:cNvSpPr/>
            <p:nvPr>
              <p:custDataLst>
                <p:tags r:id="rId12"/>
              </p:custDataLst>
            </p:nvPr>
          </p:nvSpPr>
          <p:spPr>
            <a:xfrm>
              <a:off x="7292" y="2831"/>
              <a:ext cx="2832" cy="516"/>
            </a:xfrm>
            <a:prstGeom prst="rect">
              <a:avLst/>
            </a:prstGeom>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ctr"/>
              <a:r>
                <a:rPr lang="zh-CN" altLang="en-US" sz="1800" b="1" dirty="0">
                  <a:solidFill>
                    <a:schemeClr val="bg1"/>
                  </a:solidFill>
                  <a:latin typeface="字魂手刻宋" panose="00000500000000000000" charset="-122"/>
                  <a:ea typeface="字魂手刻宋" panose="00000500000000000000" charset="-122"/>
                  <a:sym typeface="+mn-lt"/>
                </a:rPr>
                <a:t>安全决策</a:t>
              </a:r>
              <a:endParaRPr lang="en-US" altLang="zh-CN" sz="1800" b="1" dirty="0">
                <a:solidFill>
                  <a:schemeClr val="bg1"/>
                </a:solidFill>
                <a:latin typeface="字魂手刻宋" panose="00000500000000000000" charset="-122"/>
                <a:ea typeface="字魂手刻宋" panose="00000500000000000000" charset="-122"/>
                <a:sym typeface="+mn-lt"/>
              </a:endParaRPr>
            </a:p>
            <a:p>
              <a:pPr algn="ctr"/>
              <a:r>
                <a:rPr lang="zh-CN" altLang="en-US" sz="1800" b="1" dirty="0">
                  <a:solidFill>
                    <a:schemeClr val="bg1"/>
                  </a:solidFill>
                  <a:latin typeface="字魂手刻宋" panose="00000500000000000000" charset="-122"/>
                  <a:ea typeface="字魂手刻宋" panose="00000500000000000000" charset="-122"/>
                  <a:sym typeface="+mn-lt"/>
                </a:rPr>
                <a:t>缺乏数据支撑</a:t>
              </a:r>
              <a:endParaRPr lang="zh-CN" altLang="en-US" sz="1800" b="1" dirty="0">
                <a:solidFill>
                  <a:schemeClr val="bg1"/>
                </a:solidFill>
                <a:latin typeface="字魂手刻宋" panose="00000500000000000000" charset="-122"/>
                <a:ea typeface="字魂手刻宋" panose="00000500000000000000" charset="-122"/>
                <a:sym typeface="+mn-lt"/>
              </a:endParaRPr>
            </a:p>
          </p:txBody>
        </p:sp>
        <p:sp>
          <p:nvSpPr>
            <p:cNvPr id="113" name="矩形 112"/>
            <p:cNvSpPr/>
            <p:nvPr>
              <p:custDataLst>
                <p:tags r:id="rId13"/>
              </p:custDataLst>
            </p:nvPr>
          </p:nvSpPr>
          <p:spPr>
            <a:xfrm>
              <a:off x="10411" y="2831"/>
              <a:ext cx="2832" cy="516"/>
            </a:xfrm>
            <a:prstGeom prst="rect">
              <a:avLst/>
            </a:prstGeom>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gn="ctr"/>
              <a:r>
                <a:rPr lang="zh-CN" altLang="en-US" sz="1800" b="1" dirty="0">
                  <a:solidFill>
                    <a:schemeClr val="bg1"/>
                  </a:solidFill>
                  <a:latin typeface="字魂手刻宋" panose="00000500000000000000" charset="-122"/>
                  <a:ea typeface="字魂手刻宋" panose="00000500000000000000" charset="-122"/>
                  <a:sym typeface="+mn-lt"/>
                </a:rPr>
                <a:t>双重预防机制</a:t>
              </a:r>
              <a:endParaRPr lang="en-US" altLang="zh-CN" sz="1800" b="1" dirty="0">
                <a:solidFill>
                  <a:schemeClr val="bg1"/>
                </a:solidFill>
                <a:latin typeface="字魂手刻宋" panose="00000500000000000000" charset="-122"/>
                <a:ea typeface="字魂手刻宋" panose="00000500000000000000" charset="-122"/>
                <a:sym typeface="+mn-lt"/>
              </a:endParaRPr>
            </a:p>
            <a:p>
              <a:pPr algn="ctr"/>
              <a:r>
                <a:rPr lang="zh-CN" altLang="en-US" sz="1800" b="1" dirty="0">
                  <a:solidFill>
                    <a:schemeClr val="bg1"/>
                  </a:solidFill>
                  <a:latin typeface="字魂手刻宋" panose="00000500000000000000" charset="-122"/>
                  <a:ea typeface="字魂手刻宋" panose="00000500000000000000" charset="-122"/>
                  <a:sym typeface="+mn-lt"/>
                </a:rPr>
                <a:t>难落实</a:t>
              </a:r>
              <a:endParaRPr lang="zh-CN" altLang="en-US" sz="1800" b="1" dirty="0">
                <a:solidFill>
                  <a:schemeClr val="bg1"/>
                </a:solidFill>
                <a:latin typeface="字魂手刻宋" panose="00000500000000000000" charset="-122"/>
                <a:ea typeface="字魂手刻宋" panose="00000500000000000000" charset="-122"/>
                <a:sym typeface="+mn-lt"/>
              </a:endParaRPr>
            </a:p>
          </p:txBody>
        </p:sp>
        <p:grpSp>
          <p:nvGrpSpPr>
            <p:cNvPr id="6" name="组合 5"/>
            <p:cNvGrpSpPr/>
            <p:nvPr/>
          </p:nvGrpSpPr>
          <p:grpSpPr>
            <a:xfrm>
              <a:off x="2248" y="2105"/>
              <a:ext cx="563" cy="408"/>
              <a:chOff x="2209761" y="2404368"/>
              <a:chExt cx="439531" cy="414712"/>
            </a:xfrm>
          </p:grpSpPr>
          <p:sp>
            <p:nvSpPr>
              <p:cNvPr id="7" name="Freeform 349"/>
              <p:cNvSpPr/>
              <p:nvPr>
                <p:custDataLst>
                  <p:tags r:id="rId14"/>
                </p:custDataLst>
              </p:nvPr>
            </p:nvSpPr>
            <p:spPr bwMode="auto">
              <a:xfrm>
                <a:off x="2224027" y="2404368"/>
                <a:ext cx="425265" cy="268332"/>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8" name="Freeform 350"/>
              <p:cNvSpPr/>
              <p:nvPr>
                <p:custDataLst>
                  <p:tags r:id="rId15"/>
                </p:custDataLst>
              </p:nvPr>
            </p:nvSpPr>
            <p:spPr bwMode="auto">
              <a:xfrm>
                <a:off x="2209761" y="2617782"/>
                <a:ext cx="386960" cy="201298"/>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17" name="Freeform 351"/>
              <p:cNvSpPr>
                <a:spLocks noEditPoints="1"/>
              </p:cNvSpPr>
              <p:nvPr>
                <p:custDataLst>
                  <p:tags r:id="rId16"/>
                </p:custDataLst>
              </p:nvPr>
            </p:nvSpPr>
            <p:spPr bwMode="auto">
              <a:xfrm>
                <a:off x="2290866" y="2486646"/>
                <a:ext cx="260514" cy="254065"/>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0" name="Freeform 352"/>
              <p:cNvSpPr>
                <a:spLocks noEditPoints="1"/>
              </p:cNvSpPr>
              <p:nvPr>
                <p:custDataLst>
                  <p:tags r:id="rId17"/>
                </p:custDataLst>
              </p:nvPr>
            </p:nvSpPr>
            <p:spPr bwMode="auto">
              <a:xfrm>
                <a:off x="2360636" y="2554071"/>
                <a:ext cx="120583" cy="119606"/>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1" name="Oval 353"/>
              <p:cNvSpPr>
                <a:spLocks noChangeArrowheads="1"/>
              </p:cNvSpPr>
              <p:nvPr>
                <p:custDataLst>
                  <p:tags r:id="rId18"/>
                </p:custDataLst>
              </p:nvPr>
            </p:nvSpPr>
            <p:spPr bwMode="auto">
              <a:xfrm>
                <a:off x="2399527" y="2592767"/>
                <a:ext cx="42800" cy="41628"/>
              </a:xfrm>
              <a:prstGeom prst="ellipse">
                <a:avLst/>
              </a:pr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grpSp>
        <p:sp>
          <p:nvSpPr>
            <p:cNvPr id="13" name="Freeform 35"/>
            <p:cNvSpPr>
              <a:spLocks noEditPoints="1"/>
            </p:cNvSpPr>
            <p:nvPr>
              <p:custDataLst>
                <p:tags r:id="rId19"/>
              </p:custDataLst>
            </p:nvPr>
          </p:nvSpPr>
          <p:spPr bwMode="auto">
            <a:xfrm>
              <a:off x="5419" y="2083"/>
              <a:ext cx="408" cy="416"/>
            </a:xfrm>
            <a:custGeom>
              <a:avLst/>
              <a:gdLst>
                <a:gd name="T0" fmla="*/ 73939 w 625"/>
                <a:gd name="T1" fmla="*/ 124194 h 852"/>
                <a:gd name="T2" fmla="*/ 62217 w 625"/>
                <a:gd name="T3" fmla="*/ 766762 h 852"/>
                <a:gd name="T4" fmla="*/ 563563 w 625"/>
                <a:gd name="T5" fmla="*/ 188091 h 852"/>
                <a:gd name="T6" fmla="*/ 520281 w 625"/>
                <a:gd name="T7" fmla="*/ 201590 h 852"/>
                <a:gd name="T8" fmla="*/ 64021 w 625"/>
                <a:gd name="T9" fmla="*/ 722664 h 852"/>
                <a:gd name="T10" fmla="*/ 243459 w 625"/>
                <a:gd name="T11" fmla="*/ 81896 h 852"/>
                <a:gd name="T12" fmla="*/ 320104 w 625"/>
                <a:gd name="T13" fmla="*/ 81896 h 852"/>
                <a:gd name="T14" fmla="*/ 280429 w 625"/>
                <a:gd name="T15" fmla="*/ 122394 h 852"/>
                <a:gd name="T16" fmla="*/ 196571 w 625"/>
                <a:gd name="T17" fmla="*/ 83696 h 852"/>
                <a:gd name="T18" fmla="*/ 103696 w 625"/>
                <a:gd name="T19" fmla="*/ 194390 h 852"/>
                <a:gd name="T20" fmla="*/ 459867 w 625"/>
                <a:gd name="T21" fmla="*/ 194390 h 852"/>
                <a:gd name="T22" fmla="*/ 366992 w 625"/>
                <a:gd name="T23" fmla="*/ 83696 h 852"/>
                <a:gd name="T24" fmla="*/ 196571 w 625"/>
                <a:gd name="T25" fmla="*/ 83696 h 852"/>
                <a:gd name="T26" fmla="*/ 199276 w 625"/>
                <a:gd name="T27" fmla="*/ 582271 h 852"/>
                <a:gd name="T28" fmla="*/ 136157 w 625"/>
                <a:gd name="T29" fmla="*/ 600270 h 852"/>
                <a:gd name="T30" fmla="*/ 122631 w 625"/>
                <a:gd name="T31" fmla="*/ 613770 h 852"/>
                <a:gd name="T32" fmla="*/ 199276 w 625"/>
                <a:gd name="T33" fmla="*/ 619169 h 852"/>
                <a:gd name="T34" fmla="*/ 119025 w 625"/>
                <a:gd name="T35" fmla="*/ 658767 h 852"/>
                <a:gd name="T36" fmla="*/ 218212 w 625"/>
                <a:gd name="T37" fmla="*/ 610170 h 852"/>
                <a:gd name="T38" fmla="*/ 218212 w 625"/>
                <a:gd name="T39" fmla="*/ 578671 h 852"/>
                <a:gd name="T40" fmla="*/ 99187 w 625"/>
                <a:gd name="T41" fmla="*/ 584971 h 852"/>
                <a:gd name="T42" fmla="*/ 192964 w 625"/>
                <a:gd name="T43" fmla="*/ 683966 h 852"/>
                <a:gd name="T44" fmla="*/ 192964 w 625"/>
                <a:gd name="T45" fmla="*/ 301485 h 852"/>
                <a:gd name="T46" fmla="*/ 136157 w 625"/>
                <a:gd name="T47" fmla="*/ 318584 h 852"/>
                <a:gd name="T48" fmla="*/ 155994 w 625"/>
                <a:gd name="T49" fmla="*/ 368982 h 852"/>
                <a:gd name="T50" fmla="*/ 119025 w 625"/>
                <a:gd name="T51" fmla="*/ 382481 h 852"/>
                <a:gd name="T52" fmla="*/ 192964 w 625"/>
                <a:gd name="T53" fmla="*/ 281686 h 852"/>
                <a:gd name="T54" fmla="*/ 99187 w 625"/>
                <a:gd name="T55" fmla="*/ 380681 h 852"/>
                <a:gd name="T56" fmla="*/ 217310 w 625"/>
                <a:gd name="T57" fmla="*/ 323084 h 852"/>
                <a:gd name="T58" fmla="*/ 216408 w 625"/>
                <a:gd name="T59" fmla="*/ 296985 h 852"/>
                <a:gd name="T60" fmla="*/ 199276 w 625"/>
                <a:gd name="T61" fmla="*/ 452678 h 852"/>
                <a:gd name="T62" fmla="*/ 122631 w 625"/>
                <a:gd name="T63" fmla="*/ 471577 h 852"/>
                <a:gd name="T64" fmla="*/ 199276 w 625"/>
                <a:gd name="T65" fmla="*/ 522874 h 852"/>
                <a:gd name="T66" fmla="*/ 218212 w 625"/>
                <a:gd name="T67" fmla="*/ 438278 h 852"/>
                <a:gd name="T68" fmla="*/ 99187 w 625"/>
                <a:gd name="T69" fmla="*/ 442778 h 852"/>
                <a:gd name="T70" fmla="*/ 199276 w 625"/>
                <a:gd name="T71" fmla="*/ 541773 h 852"/>
                <a:gd name="T72" fmla="*/ 260592 w 625"/>
                <a:gd name="T73" fmla="*/ 418479 h 852"/>
                <a:gd name="T74" fmla="*/ 294856 w 625"/>
                <a:gd name="T75" fmla="*/ 650668 h 852"/>
                <a:gd name="T76" fmla="*/ 452654 w 625"/>
                <a:gd name="T77" fmla="*/ 602070 h 852"/>
                <a:gd name="T78" fmla="*/ 288544 w 625"/>
                <a:gd name="T79" fmla="*/ 644368 h 852"/>
                <a:gd name="T80" fmla="*/ 452654 w 625"/>
                <a:gd name="T81" fmla="*/ 456277 h 852"/>
                <a:gd name="T82" fmla="*/ 288544 w 625"/>
                <a:gd name="T83" fmla="*/ 368982 h 852"/>
                <a:gd name="T84" fmla="*/ 288544 w 625"/>
                <a:gd name="T85" fmla="*/ 316784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25" h="852">
                  <a:moveTo>
                    <a:pt x="48" y="224"/>
                  </a:moveTo>
                  <a:cubicBezTo>
                    <a:pt x="48" y="200"/>
                    <a:pt x="59" y="188"/>
                    <a:pt x="82" y="188"/>
                  </a:cubicBezTo>
                  <a:lnTo>
                    <a:pt x="82" y="138"/>
                  </a:lnTo>
                  <a:cubicBezTo>
                    <a:pt x="39" y="139"/>
                    <a:pt x="0" y="167"/>
                    <a:pt x="0" y="209"/>
                  </a:cubicBezTo>
                  <a:lnTo>
                    <a:pt x="0" y="783"/>
                  </a:lnTo>
                  <a:cubicBezTo>
                    <a:pt x="0" y="818"/>
                    <a:pt x="34" y="852"/>
                    <a:pt x="69" y="852"/>
                  </a:cubicBezTo>
                  <a:lnTo>
                    <a:pt x="556" y="852"/>
                  </a:lnTo>
                  <a:cubicBezTo>
                    <a:pt x="591" y="852"/>
                    <a:pt x="625" y="818"/>
                    <a:pt x="625" y="783"/>
                  </a:cubicBezTo>
                  <a:lnTo>
                    <a:pt x="625" y="209"/>
                  </a:lnTo>
                  <a:cubicBezTo>
                    <a:pt x="625" y="167"/>
                    <a:pt x="586" y="139"/>
                    <a:pt x="543" y="138"/>
                  </a:cubicBezTo>
                  <a:lnTo>
                    <a:pt x="543" y="188"/>
                  </a:lnTo>
                  <a:cubicBezTo>
                    <a:pt x="566" y="188"/>
                    <a:pt x="577" y="200"/>
                    <a:pt x="577" y="224"/>
                  </a:cubicBezTo>
                  <a:lnTo>
                    <a:pt x="577" y="768"/>
                  </a:lnTo>
                  <a:cubicBezTo>
                    <a:pt x="577" y="785"/>
                    <a:pt x="570" y="803"/>
                    <a:pt x="554" y="803"/>
                  </a:cubicBezTo>
                  <a:lnTo>
                    <a:pt x="71" y="803"/>
                  </a:lnTo>
                  <a:cubicBezTo>
                    <a:pt x="53" y="803"/>
                    <a:pt x="48" y="783"/>
                    <a:pt x="48" y="764"/>
                  </a:cubicBezTo>
                  <a:lnTo>
                    <a:pt x="48" y="224"/>
                  </a:lnTo>
                  <a:close/>
                  <a:moveTo>
                    <a:pt x="270" y="91"/>
                  </a:moveTo>
                  <a:cubicBezTo>
                    <a:pt x="270" y="71"/>
                    <a:pt x="289" y="52"/>
                    <a:pt x="309" y="52"/>
                  </a:cubicBezTo>
                  <a:lnTo>
                    <a:pt x="316" y="52"/>
                  </a:lnTo>
                  <a:cubicBezTo>
                    <a:pt x="336" y="52"/>
                    <a:pt x="355" y="71"/>
                    <a:pt x="355" y="91"/>
                  </a:cubicBezTo>
                  <a:lnTo>
                    <a:pt x="355" y="95"/>
                  </a:lnTo>
                  <a:cubicBezTo>
                    <a:pt x="355" y="117"/>
                    <a:pt x="336" y="136"/>
                    <a:pt x="314" y="136"/>
                  </a:cubicBezTo>
                  <a:lnTo>
                    <a:pt x="311" y="136"/>
                  </a:lnTo>
                  <a:cubicBezTo>
                    <a:pt x="289" y="136"/>
                    <a:pt x="270" y="117"/>
                    <a:pt x="270" y="95"/>
                  </a:cubicBezTo>
                  <a:lnTo>
                    <a:pt x="270" y="91"/>
                  </a:lnTo>
                  <a:close/>
                  <a:moveTo>
                    <a:pt x="218" y="93"/>
                  </a:moveTo>
                  <a:lnTo>
                    <a:pt x="149" y="93"/>
                  </a:lnTo>
                  <a:cubicBezTo>
                    <a:pt x="126" y="93"/>
                    <a:pt x="115" y="104"/>
                    <a:pt x="115" y="127"/>
                  </a:cubicBezTo>
                  <a:lnTo>
                    <a:pt x="115" y="216"/>
                  </a:lnTo>
                  <a:cubicBezTo>
                    <a:pt x="115" y="231"/>
                    <a:pt x="124" y="246"/>
                    <a:pt x="138" y="246"/>
                  </a:cubicBezTo>
                  <a:lnTo>
                    <a:pt x="487" y="246"/>
                  </a:lnTo>
                  <a:cubicBezTo>
                    <a:pt x="501" y="246"/>
                    <a:pt x="510" y="231"/>
                    <a:pt x="510" y="216"/>
                  </a:cubicBezTo>
                  <a:lnTo>
                    <a:pt x="510" y="127"/>
                  </a:lnTo>
                  <a:cubicBezTo>
                    <a:pt x="510" y="104"/>
                    <a:pt x="499" y="93"/>
                    <a:pt x="476" y="93"/>
                  </a:cubicBezTo>
                  <a:lnTo>
                    <a:pt x="407" y="93"/>
                  </a:lnTo>
                  <a:cubicBezTo>
                    <a:pt x="407" y="45"/>
                    <a:pt x="366" y="0"/>
                    <a:pt x="320" y="0"/>
                  </a:cubicBezTo>
                  <a:lnTo>
                    <a:pt x="305" y="0"/>
                  </a:lnTo>
                  <a:cubicBezTo>
                    <a:pt x="259" y="0"/>
                    <a:pt x="218" y="45"/>
                    <a:pt x="218" y="93"/>
                  </a:cubicBezTo>
                  <a:close/>
                  <a:moveTo>
                    <a:pt x="132" y="654"/>
                  </a:moveTo>
                  <a:cubicBezTo>
                    <a:pt x="132" y="649"/>
                    <a:pt x="133" y="647"/>
                    <a:pt x="138" y="647"/>
                  </a:cubicBezTo>
                  <a:lnTo>
                    <a:pt x="221" y="647"/>
                  </a:lnTo>
                  <a:lnTo>
                    <a:pt x="221" y="654"/>
                  </a:lnTo>
                  <a:cubicBezTo>
                    <a:pt x="221" y="661"/>
                    <a:pt x="186" y="680"/>
                    <a:pt x="180" y="684"/>
                  </a:cubicBezTo>
                  <a:cubicBezTo>
                    <a:pt x="174" y="679"/>
                    <a:pt x="161" y="667"/>
                    <a:pt x="151" y="667"/>
                  </a:cubicBezTo>
                  <a:lnTo>
                    <a:pt x="149" y="667"/>
                  </a:lnTo>
                  <a:cubicBezTo>
                    <a:pt x="144" y="667"/>
                    <a:pt x="136" y="675"/>
                    <a:pt x="136" y="680"/>
                  </a:cubicBezTo>
                  <a:lnTo>
                    <a:pt x="136" y="682"/>
                  </a:lnTo>
                  <a:cubicBezTo>
                    <a:pt x="136" y="688"/>
                    <a:pt x="167" y="721"/>
                    <a:pt x="173" y="721"/>
                  </a:cubicBezTo>
                  <a:lnTo>
                    <a:pt x="175" y="721"/>
                  </a:lnTo>
                  <a:cubicBezTo>
                    <a:pt x="180" y="721"/>
                    <a:pt x="214" y="693"/>
                    <a:pt x="221" y="688"/>
                  </a:cubicBezTo>
                  <a:cubicBezTo>
                    <a:pt x="221" y="700"/>
                    <a:pt x="225" y="738"/>
                    <a:pt x="214" y="738"/>
                  </a:cubicBezTo>
                  <a:lnTo>
                    <a:pt x="138" y="738"/>
                  </a:lnTo>
                  <a:cubicBezTo>
                    <a:pt x="133" y="738"/>
                    <a:pt x="132" y="737"/>
                    <a:pt x="132" y="732"/>
                  </a:cubicBezTo>
                  <a:lnTo>
                    <a:pt x="132" y="654"/>
                  </a:lnTo>
                  <a:close/>
                  <a:moveTo>
                    <a:pt x="214" y="760"/>
                  </a:moveTo>
                  <a:cubicBezTo>
                    <a:pt x="255" y="760"/>
                    <a:pt x="240" y="715"/>
                    <a:pt x="242" y="678"/>
                  </a:cubicBezTo>
                  <a:cubicBezTo>
                    <a:pt x="243" y="658"/>
                    <a:pt x="292" y="642"/>
                    <a:pt x="296" y="624"/>
                  </a:cubicBezTo>
                  <a:lnTo>
                    <a:pt x="290" y="624"/>
                  </a:lnTo>
                  <a:cubicBezTo>
                    <a:pt x="275" y="624"/>
                    <a:pt x="253" y="637"/>
                    <a:pt x="242" y="643"/>
                  </a:cubicBezTo>
                  <a:cubicBezTo>
                    <a:pt x="237" y="635"/>
                    <a:pt x="232" y="626"/>
                    <a:pt x="218" y="626"/>
                  </a:cubicBezTo>
                  <a:lnTo>
                    <a:pt x="134" y="626"/>
                  </a:lnTo>
                  <a:cubicBezTo>
                    <a:pt x="122" y="626"/>
                    <a:pt x="110" y="637"/>
                    <a:pt x="110" y="650"/>
                  </a:cubicBezTo>
                  <a:lnTo>
                    <a:pt x="110" y="736"/>
                  </a:lnTo>
                  <a:cubicBezTo>
                    <a:pt x="110" y="750"/>
                    <a:pt x="123" y="760"/>
                    <a:pt x="138" y="760"/>
                  </a:cubicBezTo>
                  <a:lnTo>
                    <a:pt x="214" y="760"/>
                  </a:lnTo>
                  <a:close/>
                  <a:moveTo>
                    <a:pt x="132" y="341"/>
                  </a:moveTo>
                  <a:cubicBezTo>
                    <a:pt x="132" y="336"/>
                    <a:pt x="133" y="335"/>
                    <a:pt x="138" y="335"/>
                  </a:cubicBezTo>
                  <a:lnTo>
                    <a:pt x="214" y="335"/>
                  </a:lnTo>
                  <a:cubicBezTo>
                    <a:pt x="219" y="335"/>
                    <a:pt x="221" y="336"/>
                    <a:pt x="221" y="341"/>
                  </a:cubicBezTo>
                  <a:cubicBezTo>
                    <a:pt x="221" y="346"/>
                    <a:pt x="184" y="371"/>
                    <a:pt x="180" y="371"/>
                  </a:cubicBezTo>
                  <a:cubicBezTo>
                    <a:pt x="175" y="371"/>
                    <a:pt x="164" y="354"/>
                    <a:pt x="151" y="354"/>
                  </a:cubicBezTo>
                  <a:cubicBezTo>
                    <a:pt x="145" y="354"/>
                    <a:pt x="136" y="361"/>
                    <a:pt x="136" y="367"/>
                  </a:cubicBezTo>
                  <a:lnTo>
                    <a:pt x="136" y="369"/>
                  </a:lnTo>
                  <a:cubicBezTo>
                    <a:pt x="136" y="378"/>
                    <a:pt x="166" y="406"/>
                    <a:pt x="173" y="410"/>
                  </a:cubicBezTo>
                  <a:lnTo>
                    <a:pt x="221" y="376"/>
                  </a:lnTo>
                  <a:lnTo>
                    <a:pt x="221" y="425"/>
                  </a:lnTo>
                  <a:lnTo>
                    <a:pt x="132" y="425"/>
                  </a:lnTo>
                  <a:lnTo>
                    <a:pt x="132" y="341"/>
                  </a:lnTo>
                  <a:close/>
                  <a:moveTo>
                    <a:pt x="240" y="330"/>
                  </a:moveTo>
                  <a:cubicBezTo>
                    <a:pt x="237" y="319"/>
                    <a:pt x="228" y="313"/>
                    <a:pt x="214" y="313"/>
                  </a:cubicBezTo>
                  <a:lnTo>
                    <a:pt x="138" y="313"/>
                  </a:lnTo>
                  <a:cubicBezTo>
                    <a:pt x="123" y="313"/>
                    <a:pt x="110" y="322"/>
                    <a:pt x="110" y="337"/>
                  </a:cubicBezTo>
                  <a:lnTo>
                    <a:pt x="110" y="423"/>
                  </a:lnTo>
                  <a:cubicBezTo>
                    <a:pt x="110" y="436"/>
                    <a:pt x="122" y="447"/>
                    <a:pt x="134" y="447"/>
                  </a:cubicBezTo>
                  <a:lnTo>
                    <a:pt x="218" y="447"/>
                  </a:lnTo>
                  <a:cubicBezTo>
                    <a:pt x="252" y="447"/>
                    <a:pt x="242" y="393"/>
                    <a:pt x="241" y="359"/>
                  </a:cubicBezTo>
                  <a:lnTo>
                    <a:pt x="296" y="313"/>
                  </a:lnTo>
                  <a:cubicBezTo>
                    <a:pt x="296" y="313"/>
                    <a:pt x="292" y="311"/>
                    <a:pt x="292" y="311"/>
                  </a:cubicBezTo>
                  <a:cubicBezTo>
                    <a:pt x="271" y="311"/>
                    <a:pt x="253" y="329"/>
                    <a:pt x="240" y="330"/>
                  </a:cubicBezTo>
                  <a:close/>
                  <a:moveTo>
                    <a:pt x="132" y="492"/>
                  </a:moveTo>
                  <a:lnTo>
                    <a:pt x="221" y="492"/>
                  </a:lnTo>
                  <a:lnTo>
                    <a:pt x="221" y="503"/>
                  </a:lnTo>
                  <a:lnTo>
                    <a:pt x="180" y="529"/>
                  </a:lnTo>
                  <a:lnTo>
                    <a:pt x="152" y="508"/>
                  </a:lnTo>
                  <a:cubicBezTo>
                    <a:pt x="145" y="513"/>
                    <a:pt x="136" y="515"/>
                    <a:pt x="136" y="524"/>
                  </a:cubicBezTo>
                  <a:cubicBezTo>
                    <a:pt x="136" y="531"/>
                    <a:pt x="167" y="565"/>
                    <a:pt x="173" y="565"/>
                  </a:cubicBezTo>
                  <a:cubicBezTo>
                    <a:pt x="183" y="565"/>
                    <a:pt x="209" y="536"/>
                    <a:pt x="221" y="533"/>
                  </a:cubicBezTo>
                  <a:lnTo>
                    <a:pt x="221" y="581"/>
                  </a:lnTo>
                  <a:lnTo>
                    <a:pt x="132" y="581"/>
                  </a:lnTo>
                  <a:lnTo>
                    <a:pt x="132" y="492"/>
                  </a:lnTo>
                  <a:close/>
                  <a:moveTo>
                    <a:pt x="242" y="487"/>
                  </a:moveTo>
                  <a:cubicBezTo>
                    <a:pt x="238" y="480"/>
                    <a:pt x="233" y="470"/>
                    <a:pt x="221" y="470"/>
                  </a:cubicBezTo>
                  <a:lnTo>
                    <a:pt x="132" y="470"/>
                  </a:lnTo>
                  <a:cubicBezTo>
                    <a:pt x="121" y="470"/>
                    <a:pt x="110" y="481"/>
                    <a:pt x="110" y="492"/>
                  </a:cubicBezTo>
                  <a:lnTo>
                    <a:pt x="110" y="581"/>
                  </a:lnTo>
                  <a:cubicBezTo>
                    <a:pt x="110" y="591"/>
                    <a:pt x="121" y="602"/>
                    <a:pt x="132" y="602"/>
                  </a:cubicBezTo>
                  <a:lnTo>
                    <a:pt x="221" y="602"/>
                  </a:lnTo>
                  <a:cubicBezTo>
                    <a:pt x="252" y="602"/>
                    <a:pt x="242" y="547"/>
                    <a:pt x="242" y="515"/>
                  </a:cubicBezTo>
                  <a:lnTo>
                    <a:pt x="296" y="469"/>
                  </a:lnTo>
                  <a:lnTo>
                    <a:pt x="289" y="465"/>
                  </a:lnTo>
                  <a:lnTo>
                    <a:pt x="242" y="487"/>
                  </a:lnTo>
                  <a:close/>
                  <a:moveTo>
                    <a:pt x="320" y="716"/>
                  </a:moveTo>
                  <a:cubicBezTo>
                    <a:pt x="320" y="721"/>
                    <a:pt x="322" y="723"/>
                    <a:pt x="327" y="723"/>
                  </a:cubicBezTo>
                  <a:lnTo>
                    <a:pt x="495" y="723"/>
                  </a:lnTo>
                  <a:cubicBezTo>
                    <a:pt x="500" y="723"/>
                    <a:pt x="502" y="721"/>
                    <a:pt x="502" y="716"/>
                  </a:cubicBezTo>
                  <a:lnTo>
                    <a:pt x="502" y="669"/>
                  </a:lnTo>
                  <a:cubicBezTo>
                    <a:pt x="502" y="664"/>
                    <a:pt x="500" y="663"/>
                    <a:pt x="495" y="663"/>
                  </a:cubicBezTo>
                  <a:lnTo>
                    <a:pt x="320" y="663"/>
                  </a:lnTo>
                  <a:lnTo>
                    <a:pt x="320" y="716"/>
                  </a:lnTo>
                  <a:close/>
                  <a:moveTo>
                    <a:pt x="320" y="565"/>
                  </a:moveTo>
                  <a:lnTo>
                    <a:pt x="502" y="565"/>
                  </a:lnTo>
                  <a:lnTo>
                    <a:pt x="502" y="507"/>
                  </a:lnTo>
                  <a:lnTo>
                    <a:pt x="320" y="507"/>
                  </a:lnTo>
                  <a:lnTo>
                    <a:pt x="320" y="565"/>
                  </a:lnTo>
                  <a:close/>
                  <a:moveTo>
                    <a:pt x="320" y="410"/>
                  </a:moveTo>
                  <a:lnTo>
                    <a:pt x="452" y="410"/>
                  </a:lnTo>
                  <a:lnTo>
                    <a:pt x="452" y="352"/>
                  </a:lnTo>
                  <a:lnTo>
                    <a:pt x="320" y="352"/>
                  </a:lnTo>
                  <a:lnTo>
                    <a:pt x="320" y="410"/>
                  </a:lnTo>
                  <a:close/>
                </a:path>
              </a:pathLst>
            </a:custGeom>
            <a:solidFill>
              <a:sysClr val="window" lastClr="FFFFFF"/>
            </a:solid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grpSp>
          <p:nvGrpSpPr>
            <p:cNvPr id="14" name="组合 13"/>
            <p:cNvGrpSpPr/>
            <p:nvPr/>
          </p:nvGrpSpPr>
          <p:grpSpPr>
            <a:xfrm>
              <a:off x="8459" y="2126"/>
              <a:ext cx="476" cy="325"/>
              <a:chOff x="6007636" y="4287159"/>
              <a:chExt cx="438051" cy="389258"/>
            </a:xfrm>
            <a:solidFill>
              <a:sysClr val="window" lastClr="FFFFFF"/>
            </a:solidFill>
          </p:grpSpPr>
          <p:sp>
            <p:nvSpPr>
              <p:cNvPr id="15" name="Freeform 824"/>
              <p:cNvSpPr>
                <a:spLocks noEditPoints="1"/>
              </p:cNvSpPr>
              <p:nvPr>
                <p:custDataLst>
                  <p:tags r:id="rId20"/>
                </p:custDataLst>
              </p:nvPr>
            </p:nvSpPr>
            <p:spPr bwMode="auto">
              <a:xfrm>
                <a:off x="6007636" y="4287159"/>
                <a:ext cx="438051" cy="389258"/>
              </a:xfrm>
              <a:custGeom>
                <a:avLst/>
                <a:gdLst>
                  <a:gd name="T0" fmla="*/ 166 w 171"/>
                  <a:gd name="T1" fmla="*/ 0 h 152"/>
                  <a:gd name="T2" fmla="*/ 6 w 171"/>
                  <a:gd name="T3" fmla="*/ 0 h 152"/>
                  <a:gd name="T4" fmla="*/ 0 w 171"/>
                  <a:gd name="T5" fmla="*/ 5 h 152"/>
                  <a:gd name="T6" fmla="*/ 0 w 171"/>
                  <a:gd name="T7" fmla="*/ 146 h 152"/>
                  <a:gd name="T8" fmla="*/ 6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5 w 171"/>
                  <a:gd name="T25" fmla="*/ 19 h 152"/>
                  <a:gd name="T26" fmla="*/ 132 w 171"/>
                  <a:gd name="T27" fmla="*/ 12 h 152"/>
                  <a:gd name="T28" fmla="*/ 111 w 171"/>
                  <a:gd name="T29" fmla="*/ 12 h 152"/>
                  <a:gd name="T30" fmla="*/ 118 w 171"/>
                  <a:gd name="T31" fmla="*/ 19 h 152"/>
                  <a:gd name="T32" fmla="*/ 111 w 171"/>
                  <a:gd name="T33" fmla="*/ 26 h 152"/>
                  <a:gd name="T34" fmla="*/ 103 w 171"/>
                  <a:gd name="T35" fmla="*/ 19 h 152"/>
                  <a:gd name="T36" fmla="*/ 111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6" y="0"/>
                      <a:pt x="6" y="0"/>
                      <a:pt x="6" y="0"/>
                    </a:cubicBezTo>
                    <a:cubicBezTo>
                      <a:pt x="3" y="0"/>
                      <a:pt x="0" y="2"/>
                      <a:pt x="0" y="5"/>
                    </a:cubicBezTo>
                    <a:cubicBezTo>
                      <a:pt x="0" y="146"/>
                      <a:pt x="0" y="146"/>
                      <a:pt x="0" y="146"/>
                    </a:cubicBezTo>
                    <a:cubicBezTo>
                      <a:pt x="0" y="149"/>
                      <a:pt x="3" y="152"/>
                      <a:pt x="6"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5" y="23"/>
                      <a:pt x="125" y="19"/>
                    </a:cubicBezTo>
                    <a:cubicBezTo>
                      <a:pt x="125" y="15"/>
                      <a:pt x="128" y="12"/>
                      <a:pt x="132" y="12"/>
                    </a:cubicBezTo>
                    <a:close/>
                    <a:moveTo>
                      <a:pt x="111" y="12"/>
                    </a:moveTo>
                    <a:cubicBezTo>
                      <a:pt x="115" y="12"/>
                      <a:pt x="118" y="15"/>
                      <a:pt x="118" y="19"/>
                    </a:cubicBezTo>
                    <a:cubicBezTo>
                      <a:pt x="118" y="23"/>
                      <a:pt x="115" y="26"/>
                      <a:pt x="111" y="26"/>
                    </a:cubicBezTo>
                    <a:cubicBezTo>
                      <a:pt x="107" y="26"/>
                      <a:pt x="103" y="23"/>
                      <a:pt x="103" y="19"/>
                    </a:cubicBezTo>
                    <a:cubicBezTo>
                      <a:pt x="103" y="15"/>
                      <a:pt x="107" y="12"/>
                      <a:pt x="111"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6" name="Freeform 825"/>
              <p:cNvSpPr/>
              <p:nvPr>
                <p:custDataLst>
                  <p:tags r:id="rId21"/>
                </p:custDataLst>
              </p:nvPr>
            </p:nvSpPr>
            <p:spPr bwMode="auto">
              <a:xfrm>
                <a:off x="6287381" y="4404262"/>
                <a:ext cx="40119" cy="33613"/>
              </a:xfrm>
              <a:custGeom>
                <a:avLst/>
                <a:gdLst>
                  <a:gd name="T0" fmla="*/ 16 w 16"/>
                  <a:gd name="T1" fmla="*/ 11 h 13"/>
                  <a:gd name="T2" fmla="*/ 13 w 16"/>
                  <a:gd name="T3" fmla="*/ 13 h 13"/>
                  <a:gd name="T4" fmla="*/ 2 w 16"/>
                  <a:gd name="T5" fmla="*/ 13 h 13"/>
                  <a:gd name="T6" fmla="*/ 0 w 16"/>
                  <a:gd name="T7" fmla="*/ 11 h 13"/>
                  <a:gd name="T8" fmla="*/ 0 w 16"/>
                  <a:gd name="T9" fmla="*/ 2 h 13"/>
                  <a:gd name="T10" fmla="*/ 2 w 16"/>
                  <a:gd name="T11" fmla="*/ 0 h 13"/>
                  <a:gd name="T12" fmla="*/ 13 w 16"/>
                  <a:gd name="T13" fmla="*/ 0 h 13"/>
                  <a:gd name="T14" fmla="*/ 16 w 16"/>
                  <a:gd name="T15" fmla="*/ 2 h 13"/>
                  <a:gd name="T16" fmla="*/ 16 w 16"/>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3">
                    <a:moveTo>
                      <a:pt x="16" y="11"/>
                    </a:moveTo>
                    <a:cubicBezTo>
                      <a:pt x="16" y="12"/>
                      <a:pt x="15" y="13"/>
                      <a:pt x="13" y="13"/>
                    </a:cubicBezTo>
                    <a:cubicBezTo>
                      <a:pt x="2" y="13"/>
                      <a:pt x="2" y="13"/>
                      <a:pt x="2" y="13"/>
                    </a:cubicBezTo>
                    <a:cubicBezTo>
                      <a:pt x="1" y="13"/>
                      <a:pt x="0" y="12"/>
                      <a:pt x="0" y="11"/>
                    </a:cubicBezTo>
                    <a:cubicBezTo>
                      <a:pt x="0" y="2"/>
                      <a:pt x="0" y="2"/>
                      <a:pt x="0" y="2"/>
                    </a:cubicBezTo>
                    <a:cubicBezTo>
                      <a:pt x="0" y="1"/>
                      <a:pt x="1" y="0"/>
                      <a:pt x="2" y="0"/>
                    </a:cubicBezTo>
                    <a:cubicBezTo>
                      <a:pt x="13" y="0"/>
                      <a:pt x="13" y="0"/>
                      <a:pt x="13" y="0"/>
                    </a:cubicBezTo>
                    <a:cubicBezTo>
                      <a:pt x="15" y="0"/>
                      <a:pt x="16" y="1"/>
                      <a:pt x="16" y="2"/>
                    </a:cubicBezTo>
                    <a:lnTo>
                      <a:pt x="16" y="11"/>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7" name="Freeform 826"/>
              <p:cNvSpPr/>
              <p:nvPr>
                <p:custDataLst>
                  <p:tags r:id="rId22"/>
                </p:custDataLst>
              </p:nvPr>
            </p:nvSpPr>
            <p:spPr bwMode="auto">
              <a:xfrm>
                <a:off x="6222324" y="4435706"/>
                <a:ext cx="46625" cy="48793"/>
              </a:xfrm>
              <a:custGeom>
                <a:avLst/>
                <a:gdLst>
                  <a:gd name="T0" fmla="*/ 17 w 18"/>
                  <a:gd name="T1" fmla="*/ 4 h 19"/>
                  <a:gd name="T2" fmla="*/ 18 w 18"/>
                  <a:gd name="T3" fmla="*/ 8 h 19"/>
                  <a:gd name="T4" fmla="*/ 12 w 18"/>
                  <a:gd name="T5" fmla="*/ 17 h 19"/>
                  <a:gd name="T6" fmla="*/ 9 w 18"/>
                  <a:gd name="T7" fmla="*/ 18 h 19"/>
                  <a:gd name="T8" fmla="*/ 1 w 18"/>
                  <a:gd name="T9" fmla="*/ 14 h 19"/>
                  <a:gd name="T10" fmla="*/ 0 w 18"/>
                  <a:gd name="T11" fmla="*/ 11 h 19"/>
                  <a:gd name="T12" fmla="*/ 6 w 18"/>
                  <a:gd name="T13" fmla="*/ 1 h 19"/>
                  <a:gd name="T14" fmla="*/ 9 w 18"/>
                  <a:gd name="T15" fmla="*/ 0 h 19"/>
                  <a:gd name="T16" fmla="*/ 17 w 18"/>
                  <a:gd name="T17"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7" y="4"/>
                    </a:moveTo>
                    <a:cubicBezTo>
                      <a:pt x="18" y="5"/>
                      <a:pt x="18" y="7"/>
                      <a:pt x="18" y="8"/>
                    </a:cubicBezTo>
                    <a:cubicBezTo>
                      <a:pt x="12" y="17"/>
                      <a:pt x="12" y="17"/>
                      <a:pt x="12" y="17"/>
                    </a:cubicBezTo>
                    <a:cubicBezTo>
                      <a:pt x="11" y="19"/>
                      <a:pt x="10" y="19"/>
                      <a:pt x="9" y="18"/>
                    </a:cubicBezTo>
                    <a:cubicBezTo>
                      <a:pt x="1" y="14"/>
                      <a:pt x="1" y="14"/>
                      <a:pt x="1" y="14"/>
                    </a:cubicBezTo>
                    <a:cubicBezTo>
                      <a:pt x="0" y="14"/>
                      <a:pt x="0" y="12"/>
                      <a:pt x="0" y="11"/>
                    </a:cubicBezTo>
                    <a:cubicBezTo>
                      <a:pt x="6" y="1"/>
                      <a:pt x="6" y="1"/>
                      <a:pt x="6" y="1"/>
                    </a:cubicBezTo>
                    <a:cubicBezTo>
                      <a:pt x="7" y="0"/>
                      <a:pt x="8" y="0"/>
                      <a:pt x="9" y="0"/>
                    </a:cubicBezTo>
                    <a:lnTo>
                      <a:pt x="17" y="4"/>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8" name="Freeform 827"/>
              <p:cNvSpPr/>
              <p:nvPr>
                <p:custDataLst>
                  <p:tags r:id="rId23"/>
                </p:custDataLst>
              </p:nvPr>
            </p:nvSpPr>
            <p:spPr bwMode="auto">
              <a:xfrm>
                <a:off x="6225577" y="4505100"/>
                <a:ext cx="45540" cy="50962"/>
              </a:xfrm>
              <a:custGeom>
                <a:avLst/>
                <a:gdLst>
                  <a:gd name="T0" fmla="*/ 9 w 18"/>
                  <a:gd name="T1" fmla="*/ 1 h 20"/>
                  <a:gd name="T2" fmla="*/ 12 w 18"/>
                  <a:gd name="T3" fmla="*/ 2 h 20"/>
                  <a:gd name="T4" fmla="*/ 18 w 18"/>
                  <a:gd name="T5" fmla="*/ 12 h 20"/>
                  <a:gd name="T6" fmla="*/ 17 w 18"/>
                  <a:gd name="T7" fmla="*/ 15 h 20"/>
                  <a:gd name="T8" fmla="*/ 9 w 18"/>
                  <a:gd name="T9" fmla="*/ 19 h 20"/>
                  <a:gd name="T10" fmla="*/ 6 w 18"/>
                  <a:gd name="T11" fmla="*/ 18 h 20"/>
                  <a:gd name="T12" fmla="*/ 0 w 18"/>
                  <a:gd name="T13" fmla="*/ 9 h 20"/>
                  <a:gd name="T14" fmla="*/ 1 w 18"/>
                  <a:gd name="T15" fmla="*/ 5 h 20"/>
                  <a:gd name="T16" fmla="*/ 9 w 18"/>
                  <a:gd name="T17"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0">
                    <a:moveTo>
                      <a:pt x="9" y="1"/>
                    </a:moveTo>
                    <a:cubicBezTo>
                      <a:pt x="10" y="0"/>
                      <a:pt x="11" y="1"/>
                      <a:pt x="12" y="2"/>
                    </a:cubicBezTo>
                    <a:cubicBezTo>
                      <a:pt x="18" y="12"/>
                      <a:pt x="18" y="12"/>
                      <a:pt x="18" y="12"/>
                    </a:cubicBezTo>
                    <a:cubicBezTo>
                      <a:pt x="18" y="13"/>
                      <a:pt x="18" y="14"/>
                      <a:pt x="17" y="15"/>
                    </a:cubicBezTo>
                    <a:cubicBezTo>
                      <a:pt x="9" y="19"/>
                      <a:pt x="9" y="19"/>
                      <a:pt x="9" y="19"/>
                    </a:cubicBezTo>
                    <a:cubicBezTo>
                      <a:pt x="8" y="20"/>
                      <a:pt x="7" y="20"/>
                      <a:pt x="6" y="18"/>
                    </a:cubicBezTo>
                    <a:cubicBezTo>
                      <a:pt x="0" y="9"/>
                      <a:pt x="0" y="9"/>
                      <a:pt x="0" y="9"/>
                    </a:cubicBezTo>
                    <a:cubicBezTo>
                      <a:pt x="0" y="8"/>
                      <a:pt x="0" y="6"/>
                      <a:pt x="1" y="5"/>
                    </a:cubicBezTo>
                    <a:lnTo>
                      <a:pt x="9" y="1"/>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9" name="Freeform 828"/>
              <p:cNvSpPr/>
              <p:nvPr>
                <p:custDataLst>
                  <p:tags r:id="rId24"/>
                </p:custDataLst>
              </p:nvPr>
            </p:nvSpPr>
            <p:spPr bwMode="auto">
              <a:xfrm>
                <a:off x="6291718" y="4548471"/>
                <a:ext cx="41203" cy="33613"/>
              </a:xfrm>
              <a:custGeom>
                <a:avLst/>
                <a:gdLst>
                  <a:gd name="T0" fmla="*/ 0 w 16"/>
                  <a:gd name="T1" fmla="*/ 2 h 13"/>
                  <a:gd name="T2" fmla="*/ 2 w 16"/>
                  <a:gd name="T3" fmla="*/ 0 h 13"/>
                  <a:gd name="T4" fmla="*/ 13 w 16"/>
                  <a:gd name="T5" fmla="*/ 0 h 13"/>
                  <a:gd name="T6" fmla="*/ 16 w 16"/>
                  <a:gd name="T7" fmla="*/ 2 h 13"/>
                  <a:gd name="T8" fmla="*/ 16 w 16"/>
                  <a:gd name="T9" fmla="*/ 10 h 13"/>
                  <a:gd name="T10" fmla="*/ 13 w 16"/>
                  <a:gd name="T11" fmla="*/ 13 h 13"/>
                  <a:gd name="T12" fmla="*/ 2 w 16"/>
                  <a:gd name="T13" fmla="*/ 13 h 13"/>
                  <a:gd name="T14" fmla="*/ 0 w 16"/>
                  <a:gd name="T15" fmla="*/ 10 h 13"/>
                  <a:gd name="T16" fmla="*/ 0 w 16"/>
                  <a:gd name="T1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3">
                    <a:moveTo>
                      <a:pt x="0" y="2"/>
                    </a:moveTo>
                    <a:cubicBezTo>
                      <a:pt x="0" y="1"/>
                      <a:pt x="1" y="0"/>
                      <a:pt x="2" y="0"/>
                    </a:cubicBezTo>
                    <a:cubicBezTo>
                      <a:pt x="13" y="0"/>
                      <a:pt x="13" y="0"/>
                      <a:pt x="13" y="0"/>
                    </a:cubicBezTo>
                    <a:cubicBezTo>
                      <a:pt x="15" y="0"/>
                      <a:pt x="16" y="1"/>
                      <a:pt x="16" y="2"/>
                    </a:cubicBezTo>
                    <a:cubicBezTo>
                      <a:pt x="16" y="10"/>
                      <a:pt x="16" y="10"/>
                      <a:pt x="16" y="10"/>
                    </a:cubicBezTo>
                    <a:cubicBezTo>
                      <a:pt x="16" y="12"/>
                      <a:pt x="15" y="13"/>
                      <a:pt x="13" y="13"/>
                    </a:cubicBezTo>
                    <a:cubicBezTo>
                      <a:pt x="2" y="13"/>
                      <a:pt x="2" y="13"/>
                      <a:pt x="2" y="13"/>
                    </a:cubicBezTo>
                    <a:cubicBezTo>
                      <a:pt x="1" y="13"/>
                      <a:pt x="0" y="12"/>
                      <a:pt x="0" y="10"/>
                    </a:cubicBezTo>
                    <a:lnTo>
                      <a:pt x="0" y="2"/>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20" name="Freeform 829"/>
              <p:cNvSpPr/>
              <p:nvPr>
                <p:custDataLst>
                  <p:tags r:id="rId25"/>
                </p:custDataLst>
              </p:nvPr>
            </p:nvSpPr>
            <p:spPr bwMode="auto">
              <a:xfrm>
                <a:off x="6348101" y="4501847"/>
                <a:ext cx="48793" cy="48793"/>
              </a:xfrm>
              <a:custGeom>
                <a:avLst/>
                <a:gdLst>
                  <a:gd name="T0" fmla="*/ 2 w 19"/>
                  <a:gd name="T1" fmla="*/ 14 h 19"/>
                  <a:gd name="T2" fmla="*/ 1 w 19"/>
                  <a:gd name="T3" fmla="*/ 11 h 19"/>
                  <a:gd name="T4" fmla="*/ 6 w 19"/>
                  <a:gd name="T5" fmla="*/ 1 h 19"/>
                  <a:gd name="T6" fmla="*/ 10 w 19"/>
                  <a:gd name="T7" fmla="*/ 0 h 19"/>
                  <a:gd name="T8" fmla="*/ 17 w 19"/>
                  <a:gd name="T9" fmla="*/ 5 h 19"/>
                  <a:gd name="T10" fmla="*/ 18 w 19"/>
                  <a:gd name="T11" fmla="*/ 8 h 19"/>
                  <a:gd name="T12" fmla="*/ 12 w 19"/>
                  <a:gd name="T13" fmla="*/ 18 h 19"/>
                  <a:gd name="T14" fmla="*/ 9 w 19"/>
                  <a:gd name="T15" fmla="*/ 19 h 19"/>
                  <a:gd name="T16" fmla="*/ 2 w 19"/>
                  <a:gd name="T17"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2" y="14"/>
                    </a:moveTo>
                    <a:cubicBezTo>
                      <a:pt x="1" y="14"/>
                      <a:pt x="0" y="12"/>
                      <a:pt x="1" y="11"/>
                    </a:cubicBezTo>
                    <a:cubicBezTo>
                      <a:pt x="6" y="1"/>
                      <a:pt x="6" y="1"/>
                      <a:pt x="6" y="1"/>
                    </a:cubicBezTo>
                    <a:cubicBezTo>
                      <a:pt x="7" y="0"/>
                      <a:pt x="9" y="0"/>
                      <a:pt x="10" y="0"/>
                    </a:cubicBezTo>
                    <a:cubicBezTo>
                      <a:pt x="17" y="5"/>
                      <a:pt x="17" y="5"/>
                      <a:pt x="17" y="5"/>
                    </a:cubicBezTo>
                    <a:cubicBezTo>
                      <a:pt x="18" y="5"/>
                      <a:pt x="19" y="7"/>
                      <a:pt x="18" y="8"/>
                    </a:cubicBezTo>
                    <a:cubicBezTo>
                      <a:pt x="12" y="18"/>
                      <a:pt x="12" y="18"/>
                      <a:pt x="12" y="18"/>
                    </a:cubicBezTo>
                    <a:cubicBezTo>
                      <a:pt x="12" y="19"/>
                      <a:pt x="10" y="19"/>
                      <a:pt x="9" y="19"/>
                    </a:cubicBezTo>
                    <a:lnTo>
                      <a:pt x="2" y="14"/>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21" name="Freeform 830"/>
              <p:cNvSpPr/>
              <p:nvPr>
                <p:custDataLst>
                  <p:tags r:id="rId26"/>
                </p:custDataLst>
              </p:nvPr>
            </p:nvSpPr>
            <p:spPr bwMode="auto">
              <a:xfrm>
                <a:off x="6345932" y="4430285"/>
                <a:ext cx="48793" cy="48793"/>
              </a:xfrm>
              <a:custGeom>
                <a:avLst/>
                <a:gdLst>
                  <a:gd name="T0" fmla="*/ 10 w 19"/>
                  <a:gd name="T1" fmla="*/ 19 h 19"/>
                  <a:gd name="T2" fmla="*/ 6 w 19"/>
                  <a:gd name="T3" fmla="*/ 18 h 19"/>
                  <a:gd name="T4" fmla="*/ 1 w 19"/>
                  <a:gd name="T5" fmla="*/ 8 h 19"/>
                  <a:gd name="T6" fmla="*/ 2 w 19"/>
                  <a:gd name="T7" fmla="*/ 5 h 19"/>
                  <a:gd name="T8" fmla="*/ 9 w 19"/>
                  <a:gd name="T9" fmla="*/ 1 h 19"/>
                  <a:gd name="T10" fmla="*/ 12 w 19"/>
                  <a:gd name="T11" fmla="*/ 2 h 19"/>
                  <a:gd name="T12" fmla="*/ 18 w 19"/>
                  <a:gd name="T13" fmla="*/ 11 h 19"/>
                  <a:gd name="T14" fmla="*/ 17 w 19"/>
                  <a:gd name="T15" fmla="*/ 14 h 19"/>
                  <a:gd name="T16" fmla="*/ 10 w 19"/>
                  <a:gd name="T17"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19"/>
                    </a:moveTo>
                    <a:cubicBezTo>
                      <a:pt x="9" y="19"/>
                      <a:pt x="7" y="19"/>
                      <a:pt x="6" y="18"/>
                    </a:cubicBezTo>
                    <a:cubicBezTo>
                      <a:pt x="1" y="8"/>
                      <a:pt x="1" y="8"/>
                      <a:pt x="1" y="8"/>
                    </a:cubicBezTo>
                    <a:cubicBezTo>
                      <a:pt x="0" y="7"/>
                      <a:pt x="0" y="5"/>
                      <a:pt x="2" y="5"/>
                    </a:cubicBezTo>
                    <a:cubicBezTo>
                      <a:pt x="9" y="1"/>
                      <a:pt x="9" y="1"/>
                      <a:pt x="9" y="1"/>
                    </a:cubicBezTo>
                    <a:cubicBezTo>
                      <a:pt x="10" y="0"/>
                      <a:pt x="12" y="0"/>
                      <a:pt x="12" y="2"/>
                    </a:cubicBezTo>
                    <a:cubicBezTo>
                      <a:pt x="18" y="11"/>
                      <a:pt x="18" y="11"/>
                      <a:pt x="18" y="11"/>
                    </a:cubicBezTo>
                    <a:cubicBezTo>
                      <a:pt x="19" y="12"/>
                      <a:pt x="18" y="14"/>
                      <a:pt x="17" y="14"/>
                    </a:cubicBezTo>
                    <a:lnTo>
                      <a:pt x="10" y="19"/>
                    </a:ln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22" name="Freeform 831"/>
              <p:cNvSpPr>
                <a:spLocks noEditPoints="1"/>
              </p:cNvSpPr>
              <p:nvPr>
                <p:custDataLst>
                  <p:tags r:id="rId27"/>
                </p:custDataLst>
              </p:nvPr>
            </p:nvSpPr>
            <p:spPr bwMode="auto">
              <a:xfrm>
                <a:off x="6246178" y="4428116"/>
                <a:ext cx="127945" cy="127945"/>
              </a:xfrm>
              <a:custGeom>
                <a:avLst/>
                <a:gdLst>
                  <a:gd name="T0" fmla="*/ 25 w 50"/>
                  <a:gd name="T1" fmla="*/ 0 h 50"/>
                  <a:gd name="T2" fmla="*/ 0 w 50"/>
                  <a:gd name="T3" fmla="*/ 25 h 50"/>
                  <a:gd name="T4" fmla="*/ 25 w 50"/>
                  <a:gd name="T5" fmla="*/ 50 h 50"/>
                  <a:gd name="T6" fmla="*/ 50 w 50"/>
                  <a:gd name="T7" fmla="*/ 25 h 50"/>
                  <a:gd name="T8" fmla="*/ 25 w 50"/>
                  <a:gd name="T9" fmla="*/ 0 h 50"/>
                  <a:gd name="T10" fmla="*/ 25 w 50"/>
                  <a:gd name="T11" fmla="*/ 37 h 50"/>
                  <a:gd name="T12" fmla="*/ 13 w 50"/>
                  <a:gd name="T13" fmla="*/ 25 h 50"/>
                  <a:gd name="T14" fmla="*/ 25 w 50"/>
                  <a:gd name="T15" fmla="*/ 13 h 50"/>
                  <a:gd name="T16" fmla="*/ 37 w 50"/>
                  <a:gd name="T17" fmla="*/ 25 h 50"/>
                  <a:gd name="T18" fmla="*/ 25 w 50"/>
                  <a:gd name="T19" fmla="*/ 3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0">
                    <a:moveTo>
                      <a:pt x="25" y="0"/>
                    </a:moveTo>
                    <a:cubicBezTo>
                      <a:pt x="11" y="0"/>
                      <a:pt x="0" y="12"/>
                      <a:pt x="0" y="25"/>
                    </a:cubicBezTo>
                    <a:cubicBezTo>
                      <a:pt x="0" y="39"/>
                      <a:pt x="11" y="50"/>
                      <a:pt x="25" y="50"/>
                    </a:cubicBezTo>
                    <a:cubicBezTo>
                      <a:pt x="39" y="50"/>
                      <a:pt x="50" y="39"/>
                      <a:pt x="50" y="25"/>
                    </a:cubicBezTo>
                    <a:cubicBezTo>
                      <a:pt x="50" y="12"/>
                      <a:pt x="39" y="0"/>
                      <a:pt x="25" y="0"/>
                    </a:cubicBezTo>
                    <a:close/>
                    <a:moveTo>
                      <a:pt x="25" y="37"/>
                    </a:moveTo>
                    <a:cubicBezTo>
                      <a:pt x="18" y="37"/>
                      <a:pt x="13" y="32"/>
                      <a:pt x="13" y="25"/>
                    </a:cubicBezTo>
                    <a:cubicBezTo>
                      <a:pt x="13" y="19"/>
                      <a:pt x="18" y="13"/>
                      <a:pt x="25" y="13"/>
                    </a:cubicBezTo>
                    <a:cubicBezTo>
                      <a:pt x="31" y="13"/>
                      <a:pt x="37" y="19"/>
                      <a:pt x="37" y="25"/>
                    </a:cubicBezTo>
                    <a:cubicBezTo>
                      <a:pt x="37" y="32"/>
                      <a:pt x="31" y="37"/>
                      <a:pt x="25" y="37"/>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30" name="Freeform 832"/>
              <p:cNvSpPr/>
              <p:nvPr>
                <p:custDataLst>
                  <p:tags r:id="rId28"/>
                </p:custDataLst>
              </p:nvPr>
            </p:nvSpPr>
            <p:spPr bwMode="auto">
              <a:xfrm>
                <a:off x="6058597" y="4412936"/>
                <a:ext cx="161559" cy="201677"/>
              </a:xfrm>
              <a:custGeom>
                <a:avLst/>
                <a:gdLst>
                  <a:gd name="T0" fmla="*/ 27 w 63"/>
                  <a:gd name="T1" fmla="*/ 78 h 79"/>
                  <a:gd name="T2" fmla="*/ 28 w 63"/>
                  <a:gd name="T3" fmla="*/ 78 h 79"/>
                  <a:gd name="T4" fmla="*/ 29 w 63"/>
                  <a:gd name="T5" fmla="*/ 78 h 79"/>
                  <a:gd name="T6" fmla="*/ 30 w 63"/>
                  <a:gd name="T7" fmla="*/ 78 h 79"/>
                  <a:gd name="T8" fmla="*/ 30 w 63"/>
                  <a:gd name="T9" fmla="*/ 79 h 79"/>
                  <a:gd name="T10" fmla="*/ 31 w 63"/>
                  <a:gd name="T11" fmla="*/ 79 h 79"/>
                  <a:gd name="T12" fmla="*/ 31 w 63"/>
                  <a:gd name="T13" fmla="*/ 79 h 79"/>
                  <a:gd name="T14" fmla="*/ 31 w 63"/>
                  <a:gd name="T15" fmla="*/ 79 h 79"/>
                  <a:gd name="T16" fmla="*/ 33 w 63"/>
                  <a:gd name="T17" fmla="*/ 79 h 79"/>
                  <a:gd name="T18" fmla="*/ 33 w 63"/>
                  <a:gd name="T19" fmla="*/ 78 h 79"/>
                  <a:gd name="T20" fmla="*/ 34 w 63"/>
                  <a:gd name="T21" fmla="*/ 78 h 79"/>
                  <a:gd name="T22" fmla="*/ 35 w 63"/>
                  <a:gd name="T23" fmla="*/ 78 h 79"/>
                  <a:gd name="T24" fmla="*/ 35 w 63"/>
                  <a:gd name="T25" fmla="*/ 78 h 79"/>
                  <a:gd name="T26" fmla="*/ 36 w 63"/>
                  <a:gd name="T27" fmla="*/ 77 h 79"/>
                  <a:gd name="T28" fmla="*/ 36 w 63"/>
                  <a:gd name="T29" fmla="*/ 77 h 79"/>
                  <a:gd name="T30" fmla="*/ 59 w 63"/>
                  <a:gd name="T31" fmla="*/ 60 h 79"/>
                  <a:gd name="T32" fmla="*/ 61 w 63"/>
                  <a:gd name="T33" fmla="*/ 50 h 79"/>
                  <a:gd name="T34" fmla="*/ 50 w 63"/>
                  <a:gd name="T35" fmla="*/ 48 h 79"/>
                  <a:gd name="T36" fmla="*/ 39 w 63"/>
                  <a:gd name="T37" fmla="*/ 56 h 79"/>
                  <a:gd name="T38" fmla="*/ 39 w 63"/>
                  <a:gd name="T39" fmla="*/ 7 h 79"/>
                  <a:gd name="T40" fmla="*/ 31 w 63"/>
                  <a:gd name="T41" fmla="*/ 0 h 79"/>
                  <a:gd name="T42" fmla="*/ 24 w 63"/>
                  <a:gd name="T43" fmla="*/ 7 h 79"/>
                  <a:gd name="T44" fmla="*/ 24 w 63"/>
                  <a:gd name="T45" fmla="*/ 56 h 79"/>
                  <a:gd name="T46" fmla="*/ 13 w 63"/>
                  <a:gd name="T47" fmla="*/ 48 h 79"/>
                  <a:gd name="T48" fmla="*/ 2 w 63"/>
                  <a:gd name="T49" fmla="*/ 50 h 79"/>
                  <a:gd name="T50" fmla="*/ 0 w 63"/>
                  <a:gd name="T51" fmla="*/ 54 h 79"/>
                  <a:gd name="T52" fmla="*/ 4 w 63"/>
                  <a:gd name="T53" fmla="*/ 60 h 79"/>
                  <a:gd name="T54" fmla="*/ 27 w 63"/>
                  <a:gd name="T55" fmla="*/ 77 h 79"/>
                  <a:gd name="T56" fmla="*/ 27 w 63"/>
                  <a:gd name="T57" fmla="*/ 77 h 79"/>
                  <a:gd name="T58" fmla="*/ 27 w 63"/>
                  <a:gd name="T59" fmla="*/ 7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3" h="79">
                    <a:moveTo>
                      <a:pt x="27" y="78"/>
                    </a:moveTo>
                    <a:cubicBezTo>
                      <a:pt x="28" y="78"/>
                      <a:pt x="28" y="78"/>
                      <a:pt x="28" y="78"/>
                    </a:cubicBezTo>
                    <a:cubicBezTo>
                      <a:pt x="28" y="78"/>
                      <a:pt x="29" y="78"/>
                      <a:pt x="29" y="78"/>
                    </a:cubicBezTo>
                    <a:cubicBezTo>
                      <a:pt x="29" y="78"/>
                      <a:pt x="29" y="78"/>
                      <a:pt x="30" y="78"/>
                    </a:cubicBezTo>
                    <a:cubicBezTo>
                      <a:pt x="30" y="79"/>
                      <a:pt x="30" y="79"/>
                      <a:pt x="30" y="79"/>
                    </a:cubicBezTo>
                    <a:cubicBezTo>
                      <a:pt x="30" y="79"/>
                      <a:pt x="31" y="79"/>
                      <a:pt x="31" y="79"/>
                    </a:cubicBezTo>
                    <a:cubicBezTo>
                      <a:pt x="31" y="79"/>
                      <a:pt x="31" y="79"/>
                      <a:pt x="31" y="79"/>
                    </a:cubicBezTo>
                    <a:cubicBezTo>
                      <a:pt x="31" y="79"/>
                      <a:pt x="31" y="79"/>
                      <a:pt x="31" y="79"/>
                    </a:cubicBezTo>
                    <a:cubicBezTo>
                      <a:pt x="32" y="79"/>
                      <a:pt x="32" y="79"/>
                      <a:pt x="33" y="79"/>
                    </a:cubicBezTo>
                    <a:cubicBezTo>
                      <a:pt x="33" y="79"/>
                      <a:pt x="33" y="79"/>
                      <a:pt x="33" y="78"/>
                    </a:cubicBezTo>
                    <a:cubicBezTo>
                      <a:pt x="34" y="78"/>
                      <a:pt x="34" y="78"/>
                      <a:pt x="34" y="78"/>
                    </a:cubicBezTo>
                    <a:cubicBezTo>
                      <a:pt x="34" y="78"/>
                      <a:pt x="34" y="78"/>
                      <a:pt x="35" y="78"/>
                    </a:cubicBezTo>
                    <a:cubicBezTo>
                      <a:pt x="35" y="78"/>
                      <a:pt x="35" y="78"/>
                      <a:pt x="35" y="78"/>
                    </a:cubicBezTo>
                    <a:cubicBezTo>
                      <a:pt x="36" y="78"/>
                      <a:pt x="36" y="77"/>
                      <a:pt x="36" y="77"/>
                    </a:cubicBezTo>
                    <a:cubicBezTo>
                      <a:pt x="36" y="77"/>
                      <a:pt x="36" y="77"/>
                      <a:pt x="36" y="77"/>
                    </a:cubicBezTo>
                    <a:cubicBezTo>
                      <a:pt x="59" y="60"/>
                      <a:pt x="59" y="60"/>
                      <a:pt x="59" y="60"/>
                    </a:cubicBezTo>
                    <a:cubicBezTo>
                      <a:pt x="63" y="58"/>
                      <a:pt x="63" y="53"/>
                      <a:pt x="61" y="50"/>
                    </a:cubicBezTo>
                    <a:cubicBezTo>
                      <a:pt x="59" y="46"/>
                      <a:pt x="54" y="45"/>
                      <a:pt x="50" y="48"/>
                    </a:cubicBezTo>
                    <a:cubicBezTo>
                      <a:pt x="39" y="56"/>
                      <a:pt x="39" y="56"/>
                      <a:pt x="39" y="56"/>
                    </a:cubicBezTo>
                    <a:cubicBezTo>
                      <a:pt x="39" y="7"/>
                      <a:pt x="39" y="7"/>
                      <a:pt x="39" y="7"/>
                    </a:cubicBezTo>
                    <a:cubicBezTo>
                      <a:pt x="39" y="3"/>
                      <a:pt x="36" y="0"/>
                      <a:pt x="31" y="0"/>
                    </a:cubicBezTo>
                    <a:cubicBezTo>
                      <a:pt x="27" y="0"/>
                      <a:pt x="24" y="3"/>
                      <a:pt x="24" y="7"/>
                    </a:cubicBezTo>
                    <a:cubicBezTo>
                      <a:pt x="24" y="56"/>
                      <a:pt x="24" y="56"/>
                      <a:pt x="24" y="56"/>
                    </a:cubicBezTo>
                    <a:cubicBezTo>
                      <a:pt x="13" y="48"/>
                      <a:pt x="13" y="48"/>
                      <a:pt x="13" y="48"/>
                    </a:cubicBezTo>
                    <a:cubicBezTo>
                      <a:pt x="9" y="45"/>
                      <a:pt x="4" y="46"/>
                      <a:pt x="2" y="50"/>
                    </a:cubicBezTo>
                    <a:cubicBezTo>
                      <a:pt x="1" y="51"/>
                      <a:pt x="0" y="53"/>
                      <a:pt x="0" y="54"/>
                    </a:cubicBezTo>
                    <a:cubicBezTo>
                      <a:pt x="0" y="56"/>
                      <a:pt x="1" y="59"/>
                      <a:pt x="4" y="60"/>
                    </a:cubicBezTo>
                    <a:cubicBezTo>
                      <a:pt x="27" y="77"/>
                      <a:pt x="27" y="77"/>
                      <a:pt x="27" y="77"/>
                    </a:cubicBezTo>
                    <a:cubicBezTo>
                      <a:pt x="27" y="77"/>
                      <a:pt x="27" y="77"/>
                      <a:pt x="27" y="77"/>
                    </a:cubicBezTo>
                    <a:cubicBezTo>
                      <a:pt x="27" y="77"/>
                      <a:pt x="27" y="78"/>
                      <a:pt x="27" y="78"/>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grpSp>
        <p:grpSp>
          <p:nvGrpSpPr>
            <p:cNvPr id="131" name="组合 130"/>
            <p:cNvGrpSpPr/>
            <p:nvPr/>
          </p:nvGrpSpPr>
          <p:grpSpPr>
            <a:xfrm>
              <a:off x="11658" y="2073"/>
              <a:ext cx="452" cy="468"/>
              <a:chOff x="3722033" y="3714538"/>
              <a:chExt cx="500321" cy="674410"/>
            </a:xfrm>
            <a:solidFill>
              <a:sysClr val="window" lastClr="FFFFFF"/>
            </a:solidFill>
          </p:grpSpPr>
          <p:sp>
            <p:nvSpPr>
              <p:cNvPr id="132" name="Freeform 27"/>
              <p:cNvSpPr>
                <a:spLocks noEditPoints="1"/>
              </p:cNvSpPr>
              <p:nvPr>
                <p:custDataLst>
                  <p:tags r:id="rId29"/>
                </p:custDataLst>
              </p:nvPr>
            </p:nvSpPr>
            <p:spPr bwMode="auto">
              <a:xfrm>
                <a:off x="3818586" y="4203888"/>
                <a:ext cx="306118" cy="185060"/>
              </a:xfrm>
              <a:custGeom>
                <a:avLst/>
                <a:gdLst>
                  <a:gd name="T0" fmla="*/ 317 w 354"/>
                  <a:gd name="T1" fmla="*/ 5 h 214"/>
                  <a:gd name="T2" fmla="*/ 354 w 354"/>
                  <a:gd name="T3" fmla="*/ 186 h 214"/>
                  <a:gd name="T4" fmla="*/ 294 w 354"/>
                  <a:gd name="T5" fmla="*/ 171 h 214"/>
                  <a:gd name="T6" fmla="*/ 250 w 354"/>
                  <a:gd name="T7" fmla="*/ 214 h 214"/>
                  <a:gd name="T8" fmla="*/ 215 w 354"/>
                  <a:gd name="T9" fmla="*/ 44 h 214"/>
                  <a:gd name="T10" fmla="*/ 230 w 354"/>
                  <a:gd name="T11" fmla="*/ 46 h 214"/>
                  <a:gd name="T12" fmla="*/ 241 w 354"/>
                  <a:gd name="T13" fmla="*/ 45 h 214"/>
                  <a:gd name="T14" fmla="*/ 287 w 354"/>
                  <a:gd name="T15" fmla="*/ 7 h 214"/>
                  <a:gd name="T16" fmla="*/ 292 w 354"/>
                  <a:gd name="T17" fmla="*/ 0 h 214"/>
                  <a:gd name="T18" fmla="*/ 300 w 354"/>
                  <a:gd name="T19" fmla="*/ 2 h 214"/>
                  <a:gd name="T20" fmla="*/ 317 w 354"/>
                  <a:gd name="T21" fmla="*/ 5 h 214"/>
                  <a:gd name="T22" fmla="*/ 140 w 354"/>
                  <a:gd name="T23" fmla="*/ 44 h 214"/>
                  <a:gd name="T24" fmla="*/ 105 w 354"/>
                  <a:gd name="T25" fmla="*/ 214 h 214"/>
                  <a:gd name="T26" fmla="*/ 60 w 354"/>
                  <a:gd name="T27" fmla="*/ 171 h 214"/>
                  <a:gd name="T28" fmla="*/ 0 w 354"/>
                  <a:gd name="T29" fmla="*/ 186 h 214"/>
                  <a:gd name="T30" fmla="*/ 38 w 354"/>
                  <a:gd name="T31" fmla="*/ 5 h 214"/>
                  <a:gd name="T32" fmla="*/ 55 w 354"/>
                  <a:gd name="T33" fmla="*/ 2 h 214"/>
                  <a:gd name="T34" fmla="*/ 63 w 354"/>
                  <a:gd name="T35" fmla="*/ 0 h 214"/>
                  <a:gd name="T36" fmla="*/ 67 w 354"/>
                  <a:gd name="T37" fmla="*/ 7 h 214"/>
                  <a:gd name="T38" fmla="*/ 103 w 354"/>
                  <a:gd name="T39" fmla="*/ 42 h 214"/>
                  <a:gd name="T40" fmla="*/ 114 w 354"/>
                  <a:gd name="T41" fmla="*/ 45 h 214"/>
                  <a:gd name="T42" fmla="*/ 140 w 354"/>
                  <a:gd name="T43" fmla="*/ 4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4" h="214">
                    <a:moveTo>
                      <a:pt x="317" y="5"/>
                    </a:moveTo>
                    <a:cubicBezTo>
                      <a:pt x="354" y="186"/>
                      <a:pt x="354" y="186"/>
                      <a:pt x="354" y="186"/>
                    </a:cubicBezTo>
                    <a:cubicBezTo>
                      <a:pt x="294" y="171"/>
                      <a:pt x="294" y="171"/>
                      <a:pt x="294" y="171"/>
                    </a:cubicBezTo>
                    <a:cubicBezTo>
                      <a:pt x="250" y="214"/>
                      <a:pt x="250" y="214"/>
                      <a:pt x="250" y="214"/>
                    </a:cubicBezTo>
                    <a:cubicBezTo>
                      <a:pt x="215" y="44"/>
                      <a:pt x="215" y="44"/>
                      <a:pt x="215" y="44"/>
                    </a:cubicBezTo>
                    <a:cubicBezTo>
                      <a:pt x="220" y="45"/>
                      <a:pt x="225" y="46"/>
                      <a:pt x="230" y="46"/>
                    </a:cubicBezTo>
                    <a:cubicBezTo>
                      <a:pt x="234" y="46"/>
                      <a:pt x="238" y="46"/>
                      <a:pt x="241" y="45"/>
                    </a:cubicBezTo>
                    <a:cubicBezTo>
                      <a:pt x="264" y="40"/>
                      <a:pt x="276" y="25"/>
                      <a:pt x="287" y="7"/>
                    </a:cubicBezTo>
                    <a:cubicBezTo>
                      <a:pt x="289" y="5"/>
                      <a:pt x="290" y="2"/>
                      <a:pt x="292" y="0"/>
                    </a:cubicBezTo>
                    <a:cubicBezTo>
                      <a:pt x="295" y="0"/>
                      <a:pt x="298" y="1"/>
                      <a:pt x="300" y="2"/>
                    </a:cubicBezTo>
                    <a:cubicBezTo>
                      <a:pt x="306" y="3"/>
                      <a:pt x="311" y="4"/>
                      <a:pt x="317" y="5"/>
                    </a:cubicBezTo>
                    <a:close/>
                    <a:moveTo>
                      <a:pt x="140" y="44"/>
                    </a:moveTo>
                    <a:cubicBezTo>
                      <a:pt x="105" y="214"/>
                      <a:pt x="105" y="214"/>
                      <a:pt x="105" y="214"/>
                    </a:cubicBezTo>
                    <a:cubicBezTo>
                      <a:pt x="60" y="171"/>
                      <a:pt x="60" y="171"/>
                      <a:pt x="60" y="171"/>
                    </a:cubicBezTo>
                    <a:cubicBezTo>
                      <a:pt x="0" y="186"/>
                      <a:pt x="0" y="186"/>
                      <a:pt x="0" y="186"/>
                    </a:cubicBezTo>
                    <a:cubicBezTo>
                      <a:pt x="38" y="5"/>
                      <a:pt x="38" y="5"/>
                      <a:pt x="38" y="5"/>
                    </a:cubicBezTo>
                    <a:cubicBezTo>
                      <a:pt x="43" y="4"/>
                      <a:pt x="49" y="3"/>
                      <a:pt x="55" y="2"/>
                    </a:cubicBezTo>
                    <a:cubicBezTo>
                      <a:pt x="57" y="1"/>
                      <a:pt x="60" y="1"/>
                      <a:pt x="63" y="0"/>
                    </a:cubicBezTo>
                    <a:cubicBezTo>
                      <a:pt x="65" y="2"/>
                      <a:pt x="66" y="5"/>
                      <a:pt x="67" y="7"/>
                    </a:cubicBezTo>
                    <a:cubicBezTo>
                      <a:pt x="77" y="21"/>
                      <a:pt x="86" y="35"/>
                      <a:pt x="103" y="42"/>
                    </a:cubicBezTo>
                    <a:cubicBezTo>
                      <a:pt x="106" y="43"/>
                      <a:pt x="110" y="44"/>
                      <a:pt x="114" y="45"/>
                    </a:cubicBezTo>
                    <a:cubicBezTo>
                      <a:pt x="123" y="47"/>
                      <a:pt x="131" y="46"/>
                      <a:pt x="140" y="44"/>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33" name="Freeform 28"/>
              <p:cNvSpPr>
                <a:spLocks noEditPoints="1"/>
              </p:cNvSpPr>
              <p:nvPr>
                <p:custDataLst>
                  <p:tags r:id="rId30"/>
                </p:custDataLst>
              </p:nvPr>
            </p:nvSpPr>
            <p:spPr bwMode="auto">
              <a:xfrm>
                <a:off x="3722033" y="3714538"/>
                <a:ext cx="500321" cy="500687"/>
              </a:xfrm>
              <a:custGeom>
                <a:avLst/>
                <a:gdLst>
                  <a:gd name="T0" fmla="*/ 289 w 579"/>
                  <a:gd name="T1" fmla="*/ 28 h 579"/>
                  <a:gd name="T2" fmla="*/ 346 w 579"/>
                  <a:gd name="T3" fmla="*/ 4 h 579"/>
                  <a:gd name="T4" fmla="*/ 390 w 579"/>
                  <a:gd name="T5" fmla="*/ 48 h 579"/>
                  <a:gd name="T6" fmla="*/ 451 w 579"/>
                  <a:gd name="T7" fmla="*/ 48 h 579"/>
                  <a:gd name="T8" fmla="*/ 475 w 579"/>
                  <a:gd name="T9" fmla="*/ 105 h 579"/>
                  <a:gd name="T10" fmla="*/ 532 w 579"/>
                  <a:gd name="T11" fmla="*/ 128 h 579"/>
                  <a:gd name="T12" fmla="*/ 531 w 579"/>
                  <a:gd name="T13" fmla="*/ 190 h 579"/>
                  <a:gd name="T14" fmla="*/ 575 w 579"/>
                  <a:gd name="T15" fmla="*/ 233 h 579"/>
                  <a:gd name="T16" fmla="*/ 551 w 579"/>
                  <a:gd name="T17" fmla="*/ 290 h 579"/>
                  <a:gd name="T18" fmla="*/ 575 w 579"/>
                  <a:gd name="T19" fmla="*/ 347 h 579"/>
                  <a:gd name="T20" fmla="*/ 531 w 579"/>
                  <a:gd name="T21" fmla="*/ 390 h 579"/>
                  <a:gd name="T22" fmla="*/ 532 w 579"/>
                  <a:gd name="T23" fmla="*/ 452 h 579"/>
                  <a:gd name="T24" fmla="*/ 475 w 579"/>
                  <a:gd name="T25" fmla="*/ 475 h 579"/>
                  <a:gd name="T26" fmla="*/ 451 w 579"/>
                  <a:gd name="T27" fmla="*/ 532 h 579"/>
                  <a:gd name="T28" fmla="*/ 390 w 579"/>
                  <a:gd name="T29" fmla="*/ 532 h 579"/>
                  <a:gd name="T30" fmla="*/ 346 w 579"/>
                  <a:gd name="T31" fmla="*/ 575 h 579"/>
                  <a:gd name="T32" fmla="*/ 289 w 579"/>
                  <a:gd name="T33" fmla="*/ 552 h 579"/>
                  <a:gd name="T34" fmla="*/ 233 w 579"/>
                  <a:gd name="T35" fmla="*/ 575 h 579"/>
                  <a:gd name="T36" fmla="*/ 189 w 579"/>
                  <a:gd name="T37" fmla="*/ 532 h 579"/>
                  <a:gd name="T38" fmla="*/ 128 w 579"/>
                  <a:gd name="T39" fmla="*/ 532 h 579"/>
                  <a:gd name="T40" fmla="*/ 104 w 579"/>
                  <a:gd name="T41" fmla="*/ 475 h 579"/>
                  <a:gd name="T42" fmla="*/ 47 w 579"/>
                  <a:gd name="T43" fmla="*/ 452 h 579"/>
                  <a:gd name="T44" fmla="*/ 47 w 579"/>
                  <a:gd name="T45" fmla="*/ 390 h 579"/>
                  <a:gd name="T46" fmla="*/ 4 w 579"/>
                  <a:gd name="T47" fmla="*/ 347 h 579"/>
                  <a:gd name="T48" fmla="*/ 27 w 579"/>
                  <a:gd name="T49" fmla="*/ 290 h 579"/>
                  <a:gd name="T50" fmla="*/ 4 w 579"/>
                  <a:gd name="T51" fmla="*/ 233 h 579"/>
                  <a:gd name="T52" fmla="*/ 47 w 579"/>
                  <a:gd name="T53" fmla="*/ 190 h 579"/>
                  <a:gd name="T54" fmla="*/ 47 w 579"/>
                  <a:gd name="T55" fmla="*/ 128 h 579"/>
                  <a:gd name="T56" fmla="*/ 104 w 579"/>
                  <a:gd name="T57" fmla="*/ 105 h 579"/>
                  <a:gd name="T58" fmla="*/ 128 w 579"/>
                  <a:gd name="T59" fmla="*/ 48 h 579"/>
                  <a:gd name="T60" fmla="*/ 189 w 579"/>
                  <a:gd name="T61" fmla="*/ 48 h 579"/>
                  <a:gd name="T62" fmla="*/ 233 w 579"/>
                  <a:gd name="T63" fmla="*/ 4 h 579"/>
                  <a:gd name="T64" fmla="*/ 289 w 579"/>
                  <a:gd name="T65" fmla="*/ 28 h 579"/>
                  <a:gd name="T66" fmla="*/ 367 w 579"/>
                  <a:gd name="T67" fmla="*/ 103 h 579"/>
                  <a:gd name="T68" fmla="*/ 87 w 579"/>
                  <a:gd name="T69" fmla="*/ 288 h 579"/>
                  <a:gd name="T70" fmla="*/ 367 w 579"/>
                  <a:gd name="T71" fmla="*/ 477 h 579"/>
                  <a:gd name="T72" fmla="*/ 431 w 579"/>
                  <a:gd name="T73" fmla="*/ 146 h 579"/>
                  <a:gd name="T74" fmla="*/ 367 w 579"/>
                  <a:gd name="T75" fmla="*/ 103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79" h="579">
                    <a:moveTo>
                      <a:pt x="289" y="28"/>
                    </a:moveTo>
                    <a:cubicBezTo>
                      <a:pt x="308" y="29"/>
                      <a:pt x="327" y="0"/>
                      <a:pt x="346" y="4"/>
                    </a:cubicBezTo>
                    <a:cubicBezTo>
                      <a:pt x="365" y="8"/>
                      <a:pt x="371" y="42"/>
                      <a:pt x="390" y="48"/>
                    </a:cubicBezTo>
                    <a:cubicBezTo>
                      <a:pt x="407" y="56"/>
                      <a:pt x="435" y="37"/>
                      <a:pt x="451" y="48"/>
                    </a:cubicBezTo>
                    <a:cubicBezTo>
                      <a:pt x="467" y="58"/>
                      <a:pt x="460" y="92"/>
                      <a:pt x="475" y="105"/>
                    </a:cubicBezTo>
                    <a:cubicBezTo>
                      <a:pt x="487" y="119"/>
                      <a:pt x="521" y="112"/>
                      <a:pt x="532" y="128"/>
                    </a:cubicBezTo>
                    <a:cubicBezTo>
                      <a:pt x="542" y="144"/>
                      <a:pt x="523" y="172"/>
                      <a:pt x="531" y="190"/>
                    </a:cubicBezTo>
                    <a:cubicBezTo>
                      <a:pt x="537" y="208"/>
                      <a:pt x="571" y="214"/>
                      <a:pt x="575" y="233"/>
                    </a:cubicBezTo>
                    <a:cubicBezTo>
                      <a:pt x="579" y="252"/>
                      <a:pt x="550" y="271"/>
                      <a:pt x="551" y="290"/>
                    </a:cubicBezTo>
                    <a:cubicBezTo>
                      <a:pt x="550" y="309"/>
                      <a:pt x="579" y="328"/>
                      <a:pt x="575" y="347"/>
                    </a:cubicBezTo>
                    <a:cubicBezTo>
                      <a:pt x="571" y="366"/>
                      <a:pt x="538" y="372"/>
                      <a:pt x="531" y="390"/>
                    </a:cubicBezTo>
                    <a:cubicBezTo>
                      <a:pt x="523" y="407"/>
                      <a:pt x="542" y="436"/>
                      <a:pt x="532" y="452"/>
                    </a:cubicBezTo>
                    <a:cubicBezTo>
                      <a:pt x="521" y="468"/>
                      <a:pt x="487" y="461"/>
                      <a:pt x="475" y="475"/>
                    </a:cubicBezTo>
                    <a:cubicBezTo>
                      <a:pt x="460" y="488"/>
                      <a:pt x="467" y="521"/>
                      <a:pt x="451" y="532"/>
                    </a:cubicBezTo>
                    <a:cubicBezTo>
                      <a:pt x="435" y="543"/>
                      <a:pt x="407" y="523"/>
                      <a:pt x="390" y="532"/>
                    </a:cubicBezTo>
                    <a:cubicBezTo>
                      <a:pt x="372" y="538"/>
                      <a:pt x="365" y="572"/>
                      <a:pt x="346" y="575"/>
                    </a:cubicBezTo>
                    <a:cubicBezTo>
                      <a:pt x="327" y="579"/>
                      <a:pt x="309" y="550"/>
                      <a:pt x="289" y="552"/>
                    </a:cubicBezTo>
                    <a:cubicBezTo>
                      <a:pt x="270" y="550"/>
                      <a:pt x="252" y="579"/>
                      <a:pt x="233" y="575"/>
                    </a:cubicBezTo>
                    <a:cubicBezTo>
                      <a:pt x="214" y="572"/>
                      <a:pt x="207" y="538"/>
                      <a:pt x="189" y="532"/>
                    </a:cubicBezTo>
                    <a:cubicBezTo>
                      <a:pt x="172" y="523"/>
                      <a:pt x="144" y="543"/>
                      <a:pt x="128" y="532"/>
                    </a:cubicBezTo>
                    <a:cubicBezTo>
                      <a:pt x="112" y="521"/>
                      <a:pt x="119" y="488"/>
                      <a:pt x="104" y="475"/>
                    </a:cubicBezTo>
                    <a:cubicBezTo>
                      <a:pt x="92" y="461"/>
                      <a:pt x="58" y="468"/>
                      <a:pt x="47" y="452"/>
                    </a:cubicBezTo>
                    <a:cubicBezTo>
                      <a:pt x="36" y="436"/>
                      <a:pt x="56" y="407"/>
                      <a:pt x="47" y="390"/>
                    </a:cubicBezTo>
                    <a:cubicBezTo>
                      <a:pt x="41" y="372"/>
                      <a:pt x="8" y="366"/>
                      <a:pt x="4" y="347"/>
                    </a:cubicBezTo>
                    <a:cubicBezTo>
                      <a:pt x="0" y="328"/>
                      <a:pt x="29" y="309"/>
                      <a:pt x="27" y="290"/>
                    </a:cubicBezTo>
                    <a:cubicBezTo>
                      <a:pt x="29" y="271"/>
                      <a:pt x="0" y="252"/>
                      <a:pt x="4" y="233"/>
                    </a:cubicBezTo>
                    <a:cubicBezTo>
                      <a:pt x="8" y="214"/>
                      <a:pt x="41" y="208"/>
                      <a:pt x="47" y="190"/>
                    </a:cubicBezTo>
                    <a:cubicBezTo>
                      <a:pt x="56" y="172"/>
                      <a:pt x="36" y="144"/>
                      <a:pt x="47" y="128"/>
                    </a:cubicBezTo>
                    <a:cubicBezTo>
                      <a:pt x="58" y="112"/>
                      <a:pt x="92" y="119"/>
                      <a:pt x="104" y="105"/>
                    </a:cubicBezTo>
                    <a:cubicBezTo>
                      <a:pt x="119" y="92"/>
                      <a:pt x="112" y="58"/>
                      <a:pt x="128" y="48"/>
                    </a:cubicBezTo>
                    <a:cubicBezTo>
                      <a:pt x="144" y="37"/>
                      <a:pt x="172" y="56"/>
                      <a:pt x="189" y="48"/>
                    </a:cubicBezTo>
                    <a:cubicBezTo>
                      <a:pt x="207" y="42"/>
                      <a:pt x="214" y="8"/>
                      <a:pt x="233" y="4"/>
                    </a:cubicBezTo>
                    <a:cubicBezTo>
                      <a:pt x="252" y="0"/>
                      <a:pt x="270" y="29"/>
                      <a:pt x="289" y="28"/>
                    </a:cubicBezTo>
                    <a:close/>
                    <a:moveTo>
                      <a:pt x="367" y="103"/>
                    </a:moveTo>
                    <a:cubicBezTo>
                      <a:pt x="234" y="48"/>
                      <a:pt x="88" y="145"/>
                      <a:pt x="87" y="288"/>
                    </a:cubicBezTo>
                    <a:cubicBezTo>
                      <a:pt x="86" y="433"/>
                      <a:pt x="233" y="532"/>
                      <a:pt x="367" y="477"/>
                    </a:cubicBezTo>
                    <a:cubicBezTo>
                      <a:pt x="501" y="421"/>
                      <a:pt x="534" y="247"/>
                      <a:pt x="431" y="146"/>
                    </a:cubicBezTo>
                    <a:cubicBezTo>
                      <a:pt x="413" y="127"/>
                      <a:pt x="391" y="113"/>
                      <a:pt x="367" y="103"/>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sp>
            <p:nvSpPr>
              <p:cNvPr id="134" name="Freeform 29"/>
              <p:cNvSpPr>
                <a:spLocks noEditPoints="1"/>
              </p:cNvSpPr>
              <p:nvPr>
                <p:custDataLst>
                  <p:tags r:id="rId31"/>
                </p:custDataLst>
              </p:nvPr>
            </p:nvSpPr>
            <p:spPr bwMode="auto">
              <a:xfrm>
                <a:off x="3829192" y="3821698"/>
                <a:ext cx="286002" cy="287100"/>
              </a:xfrm>
              <a:custGeom>
                <a:avLst/>
                <a:gdLst>
                  <a:gd name="T0" fmla="*/ 165 w 331"/>
                  <a:gd name="T1" fmla="*/ 0 h 332"/>
                  <a:gd name="T2" fmla="*/ 331 w 331"/>
                  <a:gd name="T3" fmla="*/ 166 h 332"/>
                  <a:gd name="T4" fmla="*/ 165 w 331"/>
                  <a:gd name="T5" fmla="*/ 332 h 332"/>
                  <a:gd name="T6" fmla="*/ 0 w 331"/>
                  <a:gd name="T7" fmla="*/ 166 h 332"/>
                  <a:gd name="T8" fmla="*/ 165 w 331"/>
                  <a:gd name="T9" fmla="*/ 0 h 332"/>
                  <a:gd name="T10" fmla="*/ 176 w 331"/>
                  <a:gd name="T11" fmla="*/ 50 h 332"/>
                  <a:gd name="T12" fmla="*/ 205 w 331"/>
                  <a:gd name="T13" fmla="*/ 111 h 332"/>
                  <a:gd name="T14" fmla="*/ 272 w 331"/>
                  <a:gd name="T15" fmla="*/ 119 h 332"/>
                  <a:gd name="T16" fmla="*/ 282 w 331"/>
                  <a:gd name="T17" fmla="*/ 127 h 332"/>
                  <a:gd name="T18" fmla="*/ 279 w 331"/>
                  <a:gd name="T19" fmla="*/ 140 h 332"/>
                  <a:gd name="T20" fmla="*/ 229 w 331"/>
                  <a:gd name="T21" fmla="*/ 186 h 332"/>
                  <a:gd name="T22" fmla="*/ 242 w 331"/>
                  <a:gd name="T23" fmla="*/ 252 h 332"/>
                  <a:gd name="T24" fmla="*/ 237 w 331"/>
                  <a:gd name="T25" fmla="*/ 265 h 332"/>
                  <a:gd name="T26" fmla="*/ 224 w 331"/>
                  <a:gd name="T27" fmla="*/ 265 h 332"/>
                  <a:gd name="T28" fmla="*/ 165 w 331"/>
                  <a:gd name="T29" fmla="*/ 232 h 332"/>
                  <a:gd name="T30" fmla="*/ 106 w 331"/>
                  <a:gd name="T31" fmla="*/ 265 h 332"/>
                  <a:gd name="T32" fmla="*/ 93 w 331"/>
                  <a:gd name="T33" fmla="*/ 265 h 332"/>
                  <a:gd name="T34" fmla="*/ 89 w 331"/>
                  <a:gd name="T35" fmla="*/ 252 h 332"/>
                  <a:gd name="T36" fmla="*/ 102 w 331"/>
                  <a:gd name="T37" fmla="*/ 186 h 332"/>
                  <a:gd name="T38" fmla="*/ 52 w 331"/>
                  <a:gd name="T39" fmla="*/ 140 h 332"/>
                  <a:gd name="T40" fmla="*/ 49 w 331"/>
                  <a:gd name="T41" fmla="*/ 127 h 332"/>
                  <a:gd name="T42" fmla="*/ 59 w 331"/>
                  <a:gd name="T43" fmla="*/ 119 h 332"/>
                  <a:gd name="T44" fmla="*/ 126 w 331"/>
                  <a:gd name="T45" fmla="*/ 111 h 332"/>
                  <a:gd name="T46" fmla="*/ 154 w 331"/>
                  <a:gd name="T47" fmla="*/ 50 h 332"/>
                  <a:gd name="T48" fmla="*/ 165 w 331"/>
                  <a:gd name="T49" fmla="*/ 43 h 332"/>
                  <a:gd name="T50" fmla="*/ 176 w 331"/>
                  <a:gd name="T51" fmla="*/ 5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1" h="332">
                    <a:moveTo>
                      <a:pt x="165" y="0"/>
                    </a:moveTo>
                    <a:cubicBezTo>
                      <a:pt x="257" y="0"/>
                      <a:pt x="331" y="74"/>
                      <a:pt x="331" y="166"/>
                    </a:cubicBezTo>
                    <a:cubicBezTo>
                      <a:pt x="331" y="257"/>
                      <a:pt x="257" y="332"/>
                      <a:pt x="165" y="332"/>
                    </a:cubicBezTo>
                    <a:cubicBezTo>
                      <a:pt x="74" y="332"/>
                      <a:pt x="0" y="257"/>
                      <a:pt x="0" y="166"/>
                    </a:cubicBezTo>
                    <a:cubicBezTo>
                      <a:pt x="0" y="74"/>
                      <a:pt x="74" y="0"/>
                      <a:pt x="165" y="0"/>
                    </a:cubicBezTo>
                    <a:close/>
                    <a:moveTo>
                      <a:pt x="176" y="50"/>
                    </a:moveTo>
                    <a:cubicBezTo>
                      <a:pt x="205" y="111"/>
                      <a:pt x="205" y="111"/>
                      <a:pt x="205" y="111"/>
                    </a:cubicBezTo>
                    <a:cubicBezTo>
                      <a:pt x="272" y="119"/>
                      <a:pt x="272" y="119"/>
                      <a:pt x="272" y="119"/>
                    </a:cubicBezTo>
                    <a:cubicBezTo>
                      <a:pt x="277" y="120"/>
                      <a:pt x="281" y="123"/>
                      <a:pt x="282" y="127"/>
                    </a:cubicBezTo>
                    <a:cubicBezTo>
                      <a:pt x="284" y="132"/>
                      <a:pt x="282" y="137"/>
                      <a:pt x="279" y="140"/>
                    </a:cubicBezTo>
                    <a:cubicBezTo>
                      <a:pt x="229" y="186"/>
                      <a:pt x="229" y="186"/>
                      <a:pt x="229" y="186"/>
                    </a:cubicBezTo>
                    <a:cubicBezTo>
                      <a:pt x="242" y="252"/>
                      <a:pt x="242" y="252"/>
                      <a:pt x="242" y="252"/>
                    </a:cubicBezTo>
                    <a:cubicBezTo>
                      <a:pt x="243" y="257"/>
                      <a:pt x="241" y="262"/>
                      <a:pt x="237" y="265"/>
                    </a:cubicBezTo>
                    <a:cubicBezTo>
                      <a:pt x="234" y="267"/>
                      <a:pt x="229" y="268"/>
                      <a:pt x="224" y="265"/>
                    </a:cubicBezTo>
                    <a:cubicBezTo>
                      <a:pt x="165" y="232"/>
                      <a:pt x="165" y="232"/>
                      <a:pt x="165" y="232"/>
                    </a:cubicBezTo>
                    <a:cubicBezTo>
                      <a:pt x="106" y="265"/>
                      <a:pt x="106" y="265"/>
                      <a:pt x="106" y="265"/>
                    </a:cubicBezTo>
                    <a:cubicBezTo>
                      <a:pt x="102" y="268"/>
                      <a:pt x="97" y="267"/>
                      <a:pt x="93" y="265"/>
                    </a:cubicBezTo>
                    <a:cubicBezTo>
                      <a:pt x="89" y="262"/>
                      <a:pt x="88" y="257"/>
                      <a:pt x="89" y="252"/>
                    </a:cubicBezTo>
                    <a:cubicBezTo>
                      <a:pt x="102" y="186"/>
                      <a:pt x="102" y="186"/>
                      <a:pt x="102" y="186"/>
                    </a:cubicBezTo>
                    <a:cubicBezTo>
                      <a:pt x="52" y="140"/>
                      <a:pt x="52" y="140"/>
                      <a:pt x="52" y="140"/>
                    </a:cubicBezTo>
                    <a:cubicBezTo>
                      <a:pt x="48" y="137"/>
                      <a:pt x="47" y="132"/>
                      <a:pt x="49" y="127"/>
                    </a:cubicBezTo>
                    <a:cubicBezTo>
                      <a:pt x="50" y="123"/>
                      <a:pt x="54" y="120"/>
                      <a:pt x="59" y="119"/>
                    </a:cubicBezTo>
                    <a:cubicBezTo>
                      <a:pt x="126" y="111"/>
                      <a:pt x="126" y="111"/>
                      <a:pt x="126" y="111"/>
                    </a:cubicBezTo>
                    <a:cubicBezTo>
                      <a:pt x="154" y="50"/>
                      <a:pt x="154" y="50"/>
                      <a:pt x="154" y="50"/>
                    </a:cubicBezTo>
                    <a:cubicBezTo>
                      <a:pt x="156" y="45"/>
                      <a:pt x="161" y="43"/>
                      <a:pt x="165" y="43"/>
                    </a:cubicBezTo>
                    <a:cubicBezTo>
                      <a:pt x="170" y="43"/>
                      <a:pt x="174" y="45"/>
                      <a:pt x="176" y="50"/>
                    </a:cubicBezTo>
                    <a:close/>
                  </a:path>
                </a:pathLst>
              </a:custGeom>
              <a:grpFill/>
              <a:ln w="12700" cap="flat" cmpd="sng" algn="ctr">
                <a:noFill/>
                <a:prstDash val="solid"/>
                <a:miter lim="800000"/>
              </a:ln>
              <a:effectLst/>
            </p:spPr>
            <p:txBody>
              <a:bodyPr rtlCol="0" anchor="ct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字魂手刻宋" panose="00000500000000000000" charset="-122"/>
                  <a:ea typeface="字魂手刻宋" panose="00000500000000000000" charset="-122"/>
                  <a:cs typeface="+mn-cs"/>
                </a:endParaRPr>
              </a:p>
            </p:txBody>
          </p:sp>
        </p:grpSp>
        <p:sp>
          <p:nvSpPr>
            <p:cNvPr id="135" name="文本框 134"/>
            <p:cNvSpPr txBox="1"/>
            <p:nvPr>
              <p:custDataLst>
                <p:tags r:id="rId32"/>
              </p:custDataLst>
            </p:nvPr>
          </p:nvSpPr>
          <p:spPr>
            <a:xfrm>
              <a:off x="1110" y="4336"/>
              <a:ext cx="2845" cy="1182"/>
            </a:xfrm>
            <a:prstGeom prst="rect">
              <a:avLst/>
            </a:prstGeom>
            <a:noFill/>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nSpc>
                  <a:spcPct val="150000"/>
                </a:lnSpc>
              </a:pPr>
              <a:r>
                <a:rPr lang="zh-CN" altLang="en-US" sz="1200" b="0" i="0" dirty="0">
                  <a:solidFill>
                    <a:schemeClr val="tx1">
                      <a:lumMod val="75000"/>
                      <a:lumOff val="25000"/>
                    </a:schemeClr>
                  </a:solidFill>
                  <a:effectLst/>
                  <a:latin typeface="字魂手刻宋" panose="00000500000000000000" charset="-122"/>
                  <a:ea typeface="字魂手刻宋" panose="00000500000000000000" charset="-122"/>
                  <a:cs typeface="字魂手刻宋" panose="00000500000000000000" charset="-122"/>
                </a:rPr>
                <a:t>安全管理制度不规范，安全体系缺乏有效运转，运行记录与实际不相符，存在体系管理“两张皮”等现象，企业安全管理缺乏系统化、标准化管理。</a:t>
              </a:r>
              <a:endParaRPr lang="zh-CN" altLang="en-US" sz="1200" b="0" i="0" dirty="0">
                <a:solidFill>
                  <a:schemeClr val="tx1">
                    <a:lumMod val="75000"/>
                    <a:lumOff val="25000"/>
                  </a:schemeClr>
                </a:solidFill>
                <a:effectLst/>
                <a:latin typeface="字魂手刻宋" panose="00000500000000000000" charset="-122"/>
                <a:ea typeface="字魂手刻宋" panose="00000500000000000000" charset="-122"/>
                <a:cs typeface="字魂手刻宋" panose="00000500000000000000" charset="-122"/>
              </a:endParaRPr>
            </a:p>
          </p:txBody>
        </p:sp>
        <p:sp>
          <p:nvSpPr>
            <p:cNvPr id="23" name="文本框 22"/>
            <p:cNvSpPr txBox="1"/>
            <p:nvPr>
              <p:custDataLst>
                <p:tags r:id="rId33"/>
              </p:custDataLst>
            </p:nvPr>
          </p:nvSpPr>
          <p:spPr>
            <a:xfrm>
              <a:off x="4178" y="4334"/>
              <a:ext cx="2832" cy="960"/>
            </a:xfrm>
            <a:prstGeom prst="rect">
              <a:avLst/>
            </a:prstGeom>
            <a:noFill/>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a:lnSpc>
                  <a:spcPct val="150000"/>
                </a:lnSpc>
              </a:pPr>
              <a:r>
                <a:rPr lang="zh-CN" altLang="en-US" sz="1200" dirty="0">
                  <a:solidFill>
                    <a:schemeClr val="tx1">
                      <a:lumMod val="75000"/>
                      <a:lumOff val="25000"/>
                    </a:schemeClr>
                  </a:solidFill>
                  <a:latin typeface="字魂手刻宋" panose="00000500000000000000" charset="-122"/>
                  <a:ea typeface="字魂手刻宋" panose="00000500000000000000" charset="-122"/>
                </a:rPr>
                <a:t>企业管理层级纵深交错，安全制度管控不严，岗位职责不清晰，安全责任跟踪落实到点困难，</a:t>
              </a:r>
              <a:r>
                <a:rPr lang="zh-CN" altLang="zh-CN" sz="1200" dirty="0">
                  <a:solidFill>
                    <a:schemeClr val="tx1">
                      <a:lumMod val="75000"/>
                      <a:lumOff val="25000"/>
                    </a:schemeClr>
                  </a:solidFill>
                  <a:latin typeface="字魂手刻宋" panose="00000500000000000000" charset="-122"/>
                  <a:ea typeface="字魂手刻宋" panose="00000500000000000000" charset="-122"/>
                  <a:sym typeface="+mn-lt"/>
                </a:rPr>
                <a:t>难以分解、分级实现重心下移和全员参与</a:t>
              </a:r>
              <a:r>
                <a:rPr lang="zh-CN" altLang="en-US" sz="1200" dirty="0">
                  <a:solidFill>
                    <a:schemeClr val="tx1">
                      <a:lumMod val="75000"/>
                      <a:lumOff val="25000"/>
                    </a:schemeClr>
                  </a:solidFill>
                  <a:latin typeface="字魂手刻宋" panose="00000500000000000000" charset="-122"/>
                  <a:ea typeface="字魂手刻宋" panose="00000500000000000000" charset="-122"/>
                  <a:sym typeface="+mn-lt"/>
                </a:rPr>
                <a:t>。</a:t>
              </a:r>
              <a:endParaRPr lang="zh-CN" altLang="en-US" sz="1200" dirty="0">
                <a:solidFill>
                  <a:schemeClr val="tx1">
                    <a:lumMod val="75000"/>
                    <a:lumOff val="25000"/>
                  </a:schemeClr>
                </a:solidFill>
                <a:latin typeface="字魂手刻宋" panose="00000500000000000000" charset="-122"/>
                <a:ea typeface="字魂手刻宋" panose="00000500000000000000" charset="-122"/>
                <a:sym typeface="+mn-lt"/>
              </a:endParaRPr>
            </a:p>
          </p:txBody>
        </p:sp>
        <p:sp>
          <p:nvSpPr>
            <p:cNvPr id="24" name="文本框 23"/>
            <p:cNvSpPr txBox="1"/>
            <p:nvPr>
              <p:custDataLst>
                <p:tags r:id="rId34"/>
              </p:custDataLst>
            </p:nvPr>
          </p:nvSpPr>
          <p:spPr>
            <a:xfrm>
              <a:off x="7288" y="4342"/>
              <a:ext cx="2909" cy="1182"/>
            </a:xfrm>
            <a:prstGeom prst="rect">
              <a:avLst/>
            </a:prstGeom>
            <a:noFill/>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lvl="0" algn="l">
                <a:lnSpc>
                  <a:spcPct val="150000"/>
                </a:lnSpc>
                <a:buClrTx/>
                <a:buSzTx/>
                <a:buFontTx/>
              </a:pPr>
              <a:r>
                <a:rPr lang="zh-CN" altLang="en-US" sz="1200" dirty="0">
                  <a:solidFill>
                    <a:schemeClr val="tx1">
                      <a:lumMod val="75000"/>
                      <a:lumOff val="25000"/>
                    </a:schemeClr>
                  </a:solidFill>
                  <a:effectLst/>
                  <a:latin typeface="字魂手刻宋" panose="00000500000000000000" charset="-122"/>
                  <a:ea typeface="字魂手刻宋" panose="00000500000000000000" charset="-122"/>
                  <a:sym typeface="+mn-ea"/>
                </a:rPr>
                <a:t>安全管理点多、面广、线长，各类运行数据繁杂、数量庞大，</a:t>
              </a:r>
              <a:r>
                <a:rPr lang="zh-CN" altLang="en-US" sz="1200" dirty="0">
                  <a:solidFill>
                    <a:schemeClr val="tx1">
                      <a:lumMod val="75000"/>
                      <a:lumOff val="25000"/>
                    </a:schemeClr>
                  </a:solidFill>
                  <a:effectLst/>
                  <a:latin typeface="字魂手刻宋" panose="00000500000000000000" charset="-122"/>
                  <a:ea typeface="字魂手刻宋" panose="00000500000000000000" charset="-122"/>
                  <a:sym typeface="+mn-lt"/>
                </a:rPr>
                <a:t>安全生产形式无法预测，安全管理短板无法预警，安全管理决策不精准，不及时，缺乏数据支撑。</a:t>
              </a:r>
              <a:endParaRPr lang="zh-CN" altLang="en-US" sz="1200" dirty="0">
                <a:solidFill>
                  <a:schemeClr val="tx1">
                    <a:lumMod val="75000"/>
                    <a:lumOff val="25000"/>
                  </a:schemeClr>
                </a:solidFill>
                <a:effectLst/>
                <a:latin typeface="字魂手刻宋" panose="00000500000000000000" charset="-122"/>
                <a:ea typeface="字魂手刻宋" panose="00000500000000000000" charset="-122"/>
                <a:sym typeface="+mn-lt"/>
              </a:endParaRPr>
            </a:p>
          </p:txBody>
        </p:sp>
        <p:sp>
          <p:nvSpPr>
            <p:cNvPr id="138" name="文本框 137"/>
            <p:cNvSpPr txBox="1"/>
            <p:nvPr>
              <p:custDataLst>
                <p:tags r:id="rId35"/>
              </p:custDataLst>
            </p:nvPr>
          </p:nvSpPr>
          <p:spPr>
            <a:xfrm>
              <a:off x="10432" y="4342"/>
              <a:ext cx="2909" cy="960"/>
            </a:xfrm>
            <a:prstGeom prst="rect">
              <a:avLst/>
            </a:prstGeom>
            <a:noFill/>
          </p:spPr>
          <p:txBody>
            <a:bodyPr wrap="square">
              <a:spAutoFit/>
            </a:bodyPr>
            <a:ls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a:lstStyle>
            <a:p>
              <a:pPr lvl="0" algn="l">
                <a:lnSpc>
                  <a:spcPct val="150000"/>
                </a:lnSpc>
                <a:buClrTx/>
                <a:buSzTx/>
                <a:buFontTx/>
              </a:pPr>
              <a:r>
                <a:rPr lang="zh-CN" altLang="en-US" sz="1200" dirty="0">
                  <a:solidFill>
                    <a:schemeClr val="tx1">
                      <a:lumMod val="75000"/>
                      <a:lumOff val="25000"/>
                    </a:schemeClr>
                  </a:solidFill>
                  <a:effectLst/>
                  <a:latin typeface="字魂手刻宋" panose="00000500000000000000" charset="-122"/>
                  <a:ea typeface="字魂手刻宋" panose="00000500000000000000" charset="-122"/>
                  <a:sym typeface="+mn-ea"/>
                </a:rPr>
                <a:t>风险管控和隐患管理缺乏有效的管控机制，难以常态化运行，无法真正实现风险关口前移，潜在事故风险大。</a:t>
              </a:r>
              <a:endParaRPr lang="zh-CN" altLang="en-US" sz="1200" dirty="0">
                <a:solidFill>
                  <a:schemeClr val="tx1">
                    <a:lumMod val="75000"/>
                    <a:lumOff val="25000"/>
                  </a:schemeClr>
                </a:solidFill>
                <a:effectLst/>
                <a:latin typeface="字魂手刻宋" panose="00000500000000000000" charset="-122"/>
                <a:ea typeface="字魂手刻宋" panose="00000500000000000000" charset="-122"/>
                <a:sym typeface="+mn-ea"/>
              </a:endParaRPr>
            </a:p>
          </p:txBody>
        </p:sp>
      </p:grpSp>
      <p:sp>
        <p:nvSpPr>
          <p:cNvPr id="26" name="文本框 25"/>
          <p:cNvSpPr txBox="1"/>
          <p:nvPr/>
        </p:nvSpPr>
        <p:spPr>
          <a:xfrm>
            <a:off x="1057275" y="745490"/>
            <a:ext cx="10814685" cy="521970"/>
          </a:xfrm>
          <a:prstGeom prst="rect">
            <a:avLst/>
          </a:prstGeom>
          <a:noFill/>
        </p:spPr>
        <p:txBody>
          <a:bodyPr wrap="square" rtlCol="0" anchor="t">
            <a:spAutoFit/>
          </a:bodyPr>
          <a:p>
            <a:r>
              <a:rPr lang="zh-CN" altLang="en-US" sz="1400">
                <a:latin typeface="字魂手刻宋" panose="00000500000000000000" charset="-122"/>
                <a:ea typeface="字魂手刻宋" panose="00000500000000000000" charset="-122"/>
              </a:rPr>
              <a:t>复杂的生产环境中，工矿商贸企业面临着诸多安全挑战，每一个细节都直接关系到企业的安全稳定，</a:t>
            </a:r>
            <a:r>
              <a:rPr lang="zh-CN" altLang="en-US" sz="1400" b="1">
                <a:solidFill>
                  <a:srgbClr val="054487"/>
                </a:solidFill>
                <a:latin typeface="字魂手刻宋" panose="00000500000000000000" charset="-122"/>
                <a:ea typeface="字魂手刻宋" panose="00000500000000000000" charset="-122"/>
              </a:rPr>
              <a:t>只有从本质安全管理出发，才是确保安全生产的正确解、唯一解。</a:t>
            </a:r>
            <a:endParaRPr lang="zh-CN" altLang="en-US" sz="1400" b="1">
              <a:solidFill>
                <a:srgbClr val="054487"/>
              </a:solidFill>
              <a:latin typeface="字魂手刻宋" panose="00000500000000000000" charset="-122"/>
              <a:ea typeface="字魂手刻宋" panose="00000500000000000000" charset="-122"/>
            </a:endParaRPr>
          </a:p>
        </p:txBody>
      </p:sp>
      <p:sp>
        <p:nvSpPr>
          <p:cNvPr id="3" name="文本框 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3.5</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117475"/>
            <a:ext cx="999363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工矿商贸企业</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3" name="文本框 2"/>
          <p:cNvSpPr txBox="1"/>
          <p:nvPr/>
        </p:nvSpPr>
        <p:spPr>
          <a:xfrm>
            <a:off x="985861" y="569947"/>
            <a:ext cx="10749170" cy="737235"/>
          </a:xfrm>
          <a:prstGeom prst="rect">
            <a:avLst/>
          </a:prstGeom>
          <a:noFill/>
        </p:spPr>
        <p:txBody>
          <a:bodyPr wrap="square" rtlCol="0">
            <a:spAutoFit/>
          </a:bodyPr>
          <a:lstStyle/>
          <a:p>
            <a:pPr>
              <a:lnSpc>
                <a:spcPct val="150000"/>
              </a:lnSpc>
            </a:pP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安环家致力于为工矿商贸企业提供了一个全面、智能、高效的企业风险自主管理平台。基于数字孪生技术，将现实空间的风</a:t>
            </a:r>
            <a:endPar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险、安全、环境及人员行为等关键要素进行可视化呈现，使企业实现全员参与、全员覆盖，保证简便、易行、经济、实效</a:t>
            </a: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a:t>
            </a:r>
            <a:endPar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nvGrpSpPr>
          <p:cNvPr id="28" name="组合 27"/>
          <p:cNvGrpSpPr/>
          <p:nvPr>
            <p:custDataLst>
              <p:tags r:id="rId2"/>
            </p:custDataLst>
          </p:nvPr>
        </p:nvGrpSpPr>
        <p:grpSpPr>
          <a:xfrm>
            <a:off x="888365" y="1525270"/>
            <a:ext cx="6454140" cy="4926330"/>
            <a:chOff x="1399" y="2402"/>
            <a:chExt cx="10164" cy="7758"/>
          </a:xfrm>
        </p:grpSpPr>
        <p:sp>
          <p:nvSpPr>
            <p:cNvPr id="7" name="等腰三角形 6"/>
            <p:cNvSpPr/>
            <p:nvPr>
              <p:custDataLst>
                <p:tags r:id="rId3"/>
              </p:custDataLst>
            </p:nvPr>
          </p:nvSpPr>
          <p:spPr>
            <a:xfrm>
              <a:off x="7453" y="2620"/>
              <a:ext cx="4111" cy="3409"/>
            </a:xfrm>
            <a:prstGeom prst="triangle">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字魂手刻宋" panose="00000500000000000000" charset="-122"/>
                <a:ea typeface="字魂手刻宋" panose="00000500000000000000" charset="-122"/>
              </a:endParaRPr>
            </a:p>
          </p:txBody>
        </p:sp>
        <p:grpSp>
          <p:nvGrpSpPr>
            <p:cNvPr id="25" name="组合 24"/>
            <p:cNvGrpSpPr/>
            <p:nvPr>
              <p:custDataLst>
                <p:tags r:id="rId4"/>
              </p:custDataLst>
            </p:nvPr>
          </p:nvGrpSpPr>
          <p:grpSpPr>
            <a:xfrm>
              <a:off x="8307" y="3454"/>
              <a:ext cx="2376" cy="875"/>
              <a:chOff x="8307" y="3454"/>
              <a:chExt cx="2376" cy="875"/>
            </a:xfrm>
          </p:grpSpPr>
          <p:sp>
            <p:nvSpPr>
              <p:cNvPr id="6" name="任意多边形 5"/>
              <p:cNvSpPr/>
              <p:nvPr>
                <p:custDataLst>
                  <p:tags r:id="rId5"/>
                </p:custDataLst>
              </p:nvPr>
            </p:nvSpPr>
            <p:spPr>
              <a:xfrm>
                <a:off x="9993" y="3454"/>
                <a:ext cx="691" cy="115"/>
              </a:xfrm>
              <a:custGeom>
                <a:avLst/>
                <a:gdLst>
                  <a:gd name="connsiteX0" fmla="*/ 89 w 846"/>
                  <a:gd name="connsiteY0" fmla="*/ 218 h 218"/>
                  <a:gd name="connsiteX1" fmla="*/ 0 w 846"/>
                  <a:gd name="connsiteY1" fmla="*/ 0 h 218"/>
                  <a:gd name="connsiteX2" fmla="*/ 846 w 846"/>
                  <a:gd name="connsiteY2" fmla="*/ 218 h 218"/>
                  <a:gd name="connsiteX3" fmla="*/ 89 w 846"/>
                  <a:gd name="connsiteY3" fmla="*/ 218 h 218"/>
                </a:gdLst>
                <a:ahLst/>
                <a:cxnLst>
                  <a:cxn ang="0">
                    <a:pos x="connsiteX0" y="connsiteY0"/>
                  </a:cxn>
                  <a:cxn ang="0">
                    <a:pos x="connsiteX1" y="connsiteY1"/>
                  </a:cxn>
                  <a:cxn ang="0">
                    <a:pos x="connsiteX2" y="connsiteY2"/>
                  </a:cxn>
                  <a:cxn ang="0">
                    <a:pos x="connsiteX3" y="connsiteY3"/>
                  </a:cxn>
                </a:cxnLst>
                <a:rect l="l" t="t" r="r" b="b"/>
                <a:pathLst>
                  <a:path w="846" h="218">
                    <a:moveTo>
                      <a:pt x="89" y="218"/>
                    </a:moveTo>
                    <a:lnTo>
                      <a:pt x="0" y="0"/>
                    </a:lnTo>
                    <a:lnTo>
                      <a:pt x="846" y="218"/>
                    </a:lnTo>
                    <a:lnTo>
                      <a:pt x="89" y="21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字魂手刻宋" panose="00000500000000000000" charset="-122"/>
                  <a:ea typeface="字魂手刻宋" panose="00000500000000000000" charset="-122"/>
                </a:endParaRPr>
              </a:p>
            </p:txBody>
          </p:sp>
          <p:sp>
            <p:nvSpPr>
              <p:cNvPr id="10" name="任意多边形 9"/>
              <p:cNvSpPr/>
              <p:nvPr>
                <p:custDataLst>
                  <p:tags r:id="rId6"/>
                </p:custDataLst>
              </p:nvPr>
            </p:nvSpPr>
            <p:spPr>
              <a:xfrm rot="3000000" flipH="1">
                <a:off x="8342" y="4141"/>
                <a:ext cx="196" cy="180"/>
              </a:xfrm>
              <a:custGeom>
                <a:avLst/>
                <a:gdLst>
                  <a:gd name="connsiteX0" fmla="*/ 0 w 316"/>
                  <a:gd name="connsiteY0" fmla="*/ 185 h 291"/>
                  <a:gd name="connsiteX1" fmla="*/ 81 w 316"/>
                  <a:gd name="connsiteY1" fmla="*/ 0 h 291"/>
                  <a:gd name="connsiteX2" fmla="*/ 316 w 316"/>
                  <a:gd name="connsiteY2" fmla="*/ 291 h 291"/>
                  <a:gd name="connsiteX3" fmla="*/ 0 w 316"/>
                  <a:gd name="connsiteY3" fmla="*/ 185 h 291"/>
                </a:gdLst>
                <a:ahLst/>
                <a:cxnLst>
                  <a:cxn ang="0">
                    <a:pos x="connsiteX0" y="connsiteY0"/>
                  </a:cxn>
                  <a:cxn ang="0">
                    <a:pos x="connsiteX1" y="connsiteY1"/>
                  </a:cxn>
                  <a:cxn ang="0">
                    <a:pos x="connsiteX2" y="connsiteY2"/>
                  </a:cxn>
                  <a:cxn ang="0">
                    <a:pos x="connsiteX3" y="connsiteY3"/>
                  </a:cxn>
                </a:cxnLst>
                <a:rect l="l" t="t" r="r" b="b"/>
                <a:pathLst>
                  <a:path w="316" h="291">
                    <a:moveTo>
                      <a:pt x="0" y="185"/>
                    </a:moveTo>
                    <a:lnTo>
                      <a:pt x="81" y="0"/>
                    </a:lnTo>
                    <a:lnTo>
                      <a:pt x="316" y="291"/>
                    </a:lnTo>
                    <a:lnTo>
                      <a:pt x="0" y="18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字魂手刻宋" panose="00000500000000000000" charset="-122"/>
                  <a:ea typeface="字魂手刻宋" panose="00000500000000000000" charset="-122"/>
                </a:endParaRPr>
              </a:p>
            </p:txBody>
          </p:sp>
          <p:sp>
            <p:nvSpPr>
              <p:cNvPr id="14" name="矩形 13"/>
              <p:cNvSpPr/>
              <p:nvPr>
                <p:custDataLst>
                  <p:tags r:id="rId7"/>
                </p:custDataLst>
              </p:nvPr>
            </p:nvSpPr>
            <p:spPr>
              <a:xfrm>
                <a:off x="8307" y="3565"/>
                <a:ext cx="2376" cy="650"/>
              </a:xfrm>
              <a:prstGeom prst="rect">
                <a:avLst/>
              </a:prstGeom>
              <a:gradFill>
                <a:gsLst>
                  <a:gs pos="0">
                    <a:schemeClr val="accent1">
                      <a:lumMod val="20000"/>
                      <a:lumOff val="80000"/>
                    </a:schemeClr>
                  </a:gs>
                  <a:gs pos="100000">
                    <a:schemeClr val="accent1"/>
                  </a:gs>
                  <a:gs pos="3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tIns="71755" bIns="36195" rtlCol="0" anchor="ctr">
                <a:noAutofit/>
              </a:bodyPr>
              <a:p>
                <a:pPr algn="ctr">
                  <a:spcBef>
                    <a:spcPct val="0"/>
                  </a:spcBef>
                  <a:spcAft>
                    <a:spcPct val="0"/>
                  </a:spcAft>
                </a:pPr>
                <a:r>
                  <a:rPr lang="en-US" sz="2400" b="1" dirty="0">
                    <a:solidFill>
                      <a:srgbClr val="FFFFFF"/>
                    </a:solidFill>
                    <a:latin typeface="字魂手刻宋" panose="00000500000000000000" charset="-122"/>
                    <a:ea typeface="字魂手刻宋" panose="00000500000000000000" charset="-122"/>
                    <a:cs typeface="+mn-ea"/>
                    <a:sym typeface="+mn-ea"/>
                  </a:rPr>
                  <a:t>01</a:t>
                </a:r>
                <a:endParaRPr lang="en-US" sz="2400" b="1" dirty="0">
                  <a:solidFill>
                    <a:srgbClr val="FFFFFF"/>
                  </a:solidFill>
                  <a:latin typeface="字魂手刻宋" panose="00000500000000000000" charset="-122"/>
                  <a:ea typeface="字魂手刻宋" panose="00000500000000000000" charset="-122"/>
                  <a:cs typeface="+mn-ea"/>
                  <a:sym typeface="+mn-ea"/>
                </a:endParaRPr>
              </a:p>
            </p:txBody>
          </p:sp>
        </p:grpSp>
        <p:sp>
          <p:nvSpPr>
            <p:cNvPr id="15" name="矩形 14"/>
            <p:cNvSpPr/>
            <p:nvPr>
              <p:custDataLst>
                <p:tags r:id="rId8"/>
              </p:custDataLst>
            </p:nvPr>
          </p:nvSpPr>
          <p:spPr>
            <a:xfrm>
              <a:off x="1634" y="2402"/>
              <a:ext cx="5004" cy="850"/>
            </a:xfrm>
            <a:prstGeom prst="rect">
              <a:avLst/>
            </a:prstGeom>
            <a:noFill/>
          </p:spPr>
          <p:txBody>
            <a:bodyPr wrap="square" lIns="0" tIns="0" rIns="0" bIns="0" rtlCol="0" anchor="b">
              <a:noAutofit/>
            </a:bodyPr>
            <a:p>
              <a:pPr algn="l">
                <a:spcBef>
                  <a:spcPct val="0"/>
                </a:spcBef>
                <a:spcAft>
                  <a:spcPct val="0"/>
                </a:spcAft>
              </a:pPr>
              <a:r>
                <a:rPr lang="zh-CN" altLang="en-US" sz="1800" b="1">
                  <a:solidFill>
                    <a:schemeClr val="accent1"/>
                  </a:solidFill>
                  <a:latin typeface="字魂手刻宋" panose="00000500000000000000" charset="-122"/>
                  <a:ea typeface="字魂手刻宋" panose="00000500000000000000" charset="-122"/>
                  <a:cs typeface="+mn-ea"/>
                </a:rPr>
                <a:t>智慧双重预防：</a:t>
              </a:r>
              <a:endParaRPr lang="zh-CN" altLang="en-US" sz="1800" b="1">
                <a:solidFill>
                  <a:schemeClr val="accent1"/>
                </a:solidFill>
                <a:latin typeface="字魂手刻宋" panose="00000500000000000000" charset="-122"/>
                <a:ea typeface="字魂手刻宋" panose="00000500000000000000" charset="-122"/>
                <a:cs typeface="+mn-ea"/>
              </a:endParaRPr>
            </a:p>
            <a:p>
              <a:pPr algn="l">
                <a:spcBef>
                  <a:spcPct val="0"/>
                </a:spcBef>
                <a:spcAft>
                  <a:spcPct val="0"/>
                </a:spcAft>
              </a:pPr>
              <a:r>
                <a:rPr lang="zh-CN" altLang="en-US" sz="1800" b="1">
                  <a:solidFill>
                    <a:schemeClr val="accent1"/>
                  </a:solidFill>
                  <a:latin typeface="字魂手刻宋" panose="00000500000000000000" charset="-122"/>
                  <a:ea typeface="字魂手刻宋" panose="00000500000000000000" charset="-122"/>
                  <a:cs typeface="+mn-ea"/>
                </a:rPr>
                <a:t>企业安全风险全过程量化管控</a:t>
              </a:r>
              <a:endParaRPr lang="zh-CN" altLang="en-US" sz="1800" b="1">
                <a:solidFill>
                  <a:schemeClr val="accent1"/>
                </a:solidFill>
                <a:latin typeface="字魂手刻宋" panose="00000500000000000000" charset="-122"/>
                <a:ea typeface="字魂手刻宋" panose="00000500000000000000" charset="-122"/>
                <a:cs typeface="+mn-ea"/>
              </a:endParaRPr>
            </a:p>
          </p:txBody>
        </p:sp>
        <p:cxnSp>
          <p:nvCxnSpPr>
            <p:cNvPr id="17" name="直接连接符 16"/>
            <p:cNvCxnSpPr/>
            <p:nvPr>
              <p:custDataLst>
                <p:tags r:id="rId9"/>
              </p:custDataLst>
            </p:nvPr>
          </p:nvCxnSpPr>
          <p:spPr>
            <a:xfrm>
              <a:off x="7398" y="3889"/>
              <a:ext cx="909" cy="1"/>
            </a:xfrm>
            <a:prstGeom prst="line">
              <a:avLst/>
            </a:prstGeom>
            <a:noFill/>
            <a:ln w="9525">
              <a:solidFill>
                <a:schemeClr val="tx1">
                  <a:lumMod val="65000"/>
                  <a:lumOff val="35000"/>
                  <a:alpha val="40000"/>
                </a:schemeClr>
              </a:solidFill>
              <a:prstDash val="sysDash"/>
              <a:headEnd type="oval"/>
              <a:tailEnd type="none"/>
            </a:ln>
          </p:spPr>
          <p:style>
            <a:lnRef idx="2">
              <a:schemeClr val="accent1">
                <a:shade val="50000"/>
              </a:schemeClr>
            </a:lnRef>
            <a:fillRef idx="1">
              <a:schemeClr val="accent1"/>
            </a:fillRef>
            <a:effectRef idx="0">
              <a:schemeClr val="accent1"/>
            </a:effectRef>
            <a:fontRef idx="minor">
              <a:schemeClr val="lt1"/>
            </a:fontRef>
          </p:style>
        </p:cxnSp>
        <p:sp>
          <p:nvSpPr>
            <p:cNvPr id="20" name="矩形 19"/>
            <p:cNvSpPr/>
            <p:nvPr>
              <p:custDataLst>
                <p:tags r:id="rId10"/>
              </p:custDataLst>
            </p:nvPr>
          </p:nvSpPr>
          <p:spPr>
            <a:xfrm>
              <a:off x="1399" y="3604"/>
              <a:ext cx="6000" cy="2210"/>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基于国家双重预防机制，通过“鑫安云”系统构建“智慧双重预防”服务模式，运用大数据和系统方法实现安全管理科学化、常态化。通过科技手段优化资源配置，实现闭环管理、风险分级、隐患排查和预警等功能，提高企业工作效率，降低安全风险和管理成本。</a:t>
              </a:r>
              <a:endPar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pic>
          <p:nvPicPr>
            <p:cNvPr id="21" name="图片 20"/>
            <p:cNvPicPr>
              <a:picLocks noChangeAspect="1"/>
            </p:cNvPicPr>
            <p:nvPr/>
          </p:nvPicPr>
          <p:blipFill>
            <a:blip r:embed="rId11"/>
            <a:stretch>
              <a:fillRect/>
            </a:stretch>
          </p:blipFill>
          <p:spPr>
            <a:xfrm>
              <a:off x="1888" y="6536"/>
              <a:ext cx="6626" cy="3625"/>
            </a:xfrm>
            <a:prstGeom prst="rect">
              <a:avLst/>
            </a:prstGeom>
          </p:spPr>
        </p:pic>
      </p:grpSp>
      <p:grpSp>
        <p:nvGrpSpPr>
          <p:cNvPr id="29" name="组合 28"/>
          <p:cNvGrpSpPr/>
          <p:nvPr/>
        </p:nvGrpSpPr>
        <p:grpSpPr>
          <a:xfrm>
            <a:off x="4854575" y="1765935"/>
            <a:ext cx="6271895" cy="4627245"/>
            <a:chOff x="7645" y="2781"/>
            <a:chExt cx="9877" cy="7287"/>
          </a:xfrm>
        </p:grpSpPr>
        <p:grpSp>
          <p:nvGrpSpPr>
            <p:cNvPr id="27" name="组合 26"/>
            <p:cNvGrpSpPr/>
            <p:nvPr>
              <p:custDataLst>
                <p:tags r:id="rId12"/>
              </p:custDataLst>
            </p:nvPr>
          </p:nvGrpSpPr>
          <p:grpSpPr>
            <a:xfrm>
              <a:off x="7645" y="4607"/>
              <a:ext cx="3694" cy="865"/>
              <a:chOff x="7645" y="4607"/>
              <a:chExt cx="3694" cy="865"/>
            </a:xfrm>
          </p:grpSpPr>
          <p:sp>
            <p:nvSpPr>
              <p:cNvPr id="8" name="任意多边形 7"/>
              <p:cNvSpPr/>
              <p:nvPr>
                <p:custDataLst>
                  <p:tags r:id="rId13"/>
                </p:custDataLst>
              </p:nvPr>
            </p:nvSpPr>
            <p:spPr>
              <a:xfrm rot="3000000" flipH="1">
                <a:off x="7674" y="5300"/>
                <a:ext cx="182" cy="162"/>
              </a:xfrm>
              <a:custGeom>
                <a:avLst/>
                <a:gdLst>
                  <a:gd name="connsiteX0" fmla="*/ 0 w 316"/>
                  <a:gd name="connsiteY0" fmla="*/ 185 h 291"/>
                  <a:gd name="connsiteX1" fmla="*/ 81 w 316"/>
                  <a:gd name="connsiteY1" fmla="*/ 0 h 291"/>
                  <a:gd name="connsiteX2" fmla="*/ 316 w 316"/>
                  <a:gd name="connsiteY2" fmla="*/ 291 h 291"/>
                  <a:gd name="connsiteX3" fmla="*/ 0 w 316"/>
                  <a:gd name="connsiteY3" fmla="*/ 185 h 291"/>
                </a:gdLst>
                <a:ahLst/>
                <a:cxnLst>
                  <a:cxn ang="0">
                    <a:pos x="connsiteX0" y="connsiteY0"/>
                  </a:cxn>
                  <a:cxn ang="0">
                    <a:pos x="connsiteX1" y="connsiteY1"/>
                  </a:cxn>
                  <a:cxn ang="0">
                    <a:pos x="connsiteX2" y="connsiteY2"/>
                  </a:cxn>
                  <a:cxn ang="0">
                    <a:pos x="connsiteX3" y="connsiteY3"/>
                  </a:cxn>
                </a:cxnLst>
                <a:rect l="l" t="t" r="r" b="b"/>
                <a:pathLst>
                  <a:path w="316" h="291">
                    <a:moveTo>
                      <a:pt x="0" y="185"/>
                    </a:moveTo>
                    <a:lnTo>
                      <a:pt x="81" y="0"/>
                    </a:lnTo>
                    <a:lnTo>
                      <a:pt x="316" y="291"/>
                    </a:lnTo>
                    <a:lnTo>
                      <a:pt x="0" y="18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字魂手刻宋" panose="00000500000000000000" charset="-122"/>
                  <a:ea typeface="字魂手刻宋" panose="00000500000000000000" charset="-122"/>
                </a:endParaRPr>
              </a:p>
            </p:txBody>
          </p:sp>
          <p:grpSp>
            <p:nvGrpSpPr>
              <p:cNvPr id="26" name="组合 25"/>
              <p:cNvGrpSpPr/>
              <p:nvPr>
                <p:custDataLst>
                  <p:tags r:id="rId14"/>
                </p:custDataLst>
              </p:nvPr>
            </p:nvGrpSpPr>
            <p:grpSpPr>
              <a:xfrm>
                <a:off x="7645" y="4607"/>
                <a:ext cx="3694" cy="750"/>
                <a:chOff x="7645" y="4613"/>
                <a:chExt cx="3694" cy="750"/>
              </a:xfrm>
            </p:grpSpPr>
            <p:sp>
              <p:nvSpPr>
                <p:cNvPr id="11" name="任意多边形 10"/>
                <p:cNvSpPr/>
                <p:nvPr>
                  <p:custDataLst>
                    <p:tags r:id="rId15"/>
                  </p:custDataLst>
                </p:nvPr>
              </p:nvSpPr>
              <p:spPr>
                <a:xfrm>
                  <a:off x="10684" y="4613"/>
                  <a:ext cx="655" cy="100"/>
                </a:xfrm>
                <a:custGeom>
                  <a:avLst/>
                  <a:gdLst>
                    <a:gd name="connsiteX0" fmla="*/ 89 w 846"/>
                    <a:gd name="connsiteY0" fmla="*/ 218 h 218"/>
                    <a:gd name="connsiteX1" fmla="*/ 0 w 846"/>
                    <a:gd name="connsiteY1" fmla="*/ 0 h 218"/>
                    <a:gd name="connsiteX2" fmla="*/ 846 w 846"/>
                    <a:gd name="connsiteY2" fmla="*/ 218 h 218"/>
                    <a:gd name="connsiteX3" fmla="*/ 89 w 846"/>
                    <a:gd name="connsiteY3" fmla="*/ 218 h 218"/>
                  </a:gdLst>
                  <a:ahLst/>
                  <a:cxnLst>
                    <a:cxn ang="0">
                      <a:pos x="connsiteX0" y="connsiteY0"/>
                    </a:cxn>
                    <a:cxn ang="0">
                      <a:pos x="connsiteX1" y="connsiteY1"/>
                    </a:cxn>
                    <a:cxn ang="0">
                      <a:pos x="connsiteX2" y="connsiteY2"/>
                    </a:cxn>
                    <a:cxn ang="0">
                      <a:pos x="connsiteX3" y="connsiteY3"/>
                    </a:cxn>
                  </a:cxnLst>
                  <a:rect l="l" t="t" r="r" b="b"/>
                  <a:pathLst>
                    <a:path w="846" h="218">
                      <a:moveTo>
                        <a:pt x="89" y="218"/>
                      </a:moveTo>
                      <a:lnTo>
                        <a:pt x="0" y="0"/>
                      </a:lnTo>
                      <a:lnTo>
                        <a:pt x="846" y="218"/>
                      </a:lnTo>
                      <a:lnTo>
                        <a:pt x="89" y="21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字魂手刻宋" panose="00000500000000000000" charset="-122"/>
                    <a:ea typeface="字魂手刻宋" panose="00000500000000000000" charset="-122"/>
                  </a:endParaRPr>
                </a:p>
              </p:txBody>
            </p:sp>
            <p:sp>
              <p:nvSpPr>
                <p:cNvPr id="13" name="矩形 12"/>
                <p:cNvSpPr/>
                <p:nvPr>
                  <p:custDataLst>
                    <p:tags r:id="rId16"/>
                  </p:custDataLst>
                </p:nvPr>
              </p:nvSpPr>
              <p:spPr>
                <a:xfrm>
                  <a:off x="7645" y="4713"/>
                  <a:ext cx="3694" cy="650"/>
                </a:xfrm>
                <a:prstGeom prst="rect">
                  <a:avLst/>
                </a:prstGeom>
                <a:gradFill>
                  <a:gsLst>
                    <a:gs pos="0">
                      <a:schemeClr val="accent4">
                        <a:lumMod val="20000"/>
                        <a:lumOff val="80000"/>
                      </a:schemeClr>
                    </a:gs>
                    <a:gs pos="100000">
                      <a:schemeClr val="accent4"/>
                    </a:gs>
                    <a:gs pos="30000">
                      <a:schemeClr val="accent4">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71755" bIns="36195" numCol="1" spcCol="0" rtlCol="0" fromWordArt="0" anchor="ctr" anchorCtr="0" forceAA="0" compatLnSpc="1">
                  <a:noAutofit/>
                </a:bodyPr>
                <a:p>
                  <a:pPr algn="ctr">
                    <a:spcBef>
                      <a:spcPct val="0"/>
                    </a:spcBef>
                    <a:spcAft>
                      <a:spcPct val="0"/>
                    </a:spcAft>
                  </a:pPr>
                  <a:r>
                    <a:rPr lang="en-US" sz="2400" b="1" dirty="0">
                      <a:solidFill>
                        <a:srgbClr val="FFFFFF"/>
                      </a:solidFill>
                      <a:latin typeface="字魂手刻宋" panose="00000500000000000000" charset="-122"/>
                      <a:ea typeface="字魂手刻宋" panose="00000500000000000000" charset="-122"/>
                      <a:cs typeface="+mn-ea"/>
                      <a:sym typeface="+mn-ea"/>
                    </a:rPr>
                    <a:t>02</a:t>
                  </a:r>
                  <a:endParaRPr lang="en-US" sz="2400" b="1" dirty="0">
                    <a:solidFill>
                      <a:srgbClr val="FFFFFF"/>
                    </a:solidFill>
                    <a:latin typeface="字魂手刻宋" panose="00000500000000000000" charset="-122"/>
                    <a:ea typeface="字魂手刻宋" panose="00000500000000000000" charset="-122"/>
                    <a:cs typeface="+mn-ea"/>
                    <a:sym typeface="+mn-ea"/>
                  </a:endParaRPr>
                </a:p>
              </p:txBody>
            </p:sp>
          </p:grpSp>
        </p:grpSp>
        <p:sp>
          <p:nvSpPr>
            <p:cNvPr id="16" name="矩形 15"/>
            <p:cNvSpPr/>
            <p:nvPr>
              <p:custDataLst>
                <p:tags r:id="rId17"/>
              </p:custDataLst>
            </p:nvPr>
          </p:nvSpPr>
          <p:spPr>
            <a:xfrm>
              <a:off x="12248" y="2781"/>
              <a:ext cx="4885" cy="787"/>
            </a:xfrm>
            <a:prstGeom prst="rect">
              <a:avLst/>
            </a:prstGeom>
            <a:noFill/>
          </p:spPr>
          <p:txBody>
            <a:bodyPr wrap="square" lIns="0" tIns="0" rIns="0" bIns="0" rtlCol="0" anchor="b">
              <a:noAutofit/>
            </a:bodyPr>
            <a:p>
              <a:pPr>
                <a:spcBef>
                  <a:spcPct val="0"/>
                </a:spcBef>
                <a:spcAft>
                  <a:spcPct val="0"/>
                </a:spcAft>
              </a:pPr>
              <a:r>
                <a:rPr lang="zh-CN" altLang="en-US" sz="1800" b="1">
                  <a:solidFill>
                    <a:schemeClr val="accent4"/>
                  </a:solidFill>
                  <a:latin typeface="字魂手刻宋" panose="00000500000000000000" charset="-122"/>
                  <a:ea typeface="字魂手刻宋" panose="00000500000000000000" charset="-122"/>
                  <a:cs typeface="+mn-ea"/>
                </a:rPr>
                <a:t>智慧安全托管：</a:t>
              </a:r>
              <a:endParaRPr lang="zh-CN" altLang="en-US" sz="1800" b="1">
                <a:solidFill>
                  <a:schemeClr val="accent4"/>
                </a:solidFill>
                <a:latin typeface="字魂手刻宋" panose="00000500000000000000" charset="-122"/>
                <a:ea typeface="字魂手刻宋" panose="00000500000000000000" charset="-122"/>
                <a:cs typeface="+mn-ea"/>
              </a:endParaRPr>
            </a:p>
            <a:p>
              <a:pPr>
                <a:spcBef>
                  <a:spcPct val="0"/>
                </a:spcBef>
                <a:spcAft>
                  <a:spcPct val="0"/>
                </a:spcAft>
              </a:pPr>
              <a:r>
                <a:rPr lang="zh-CN" altLang="en-US" sz="1800" b="1">
                  <a:solidFill>
                    <a:schemeClr val="accent4"/>
                  </a:solidFill>
                  <a:latin typeface="字魂手刻宋" panose="00000500000000000000" charset="-122"/>
                  <a:ea typeface="字魂手刻宋" panose="00000500000000000000" charset="-122"/>
                  <a:cs typeface="+mn-ea"/>
                </a:rPr>
                <a:t>企业一站式安全大管家服务</a:t>
              </a:r>
              <a:endParaRPr lang="zh-CN" altLang="en-US" sz="1800" b="1">
                <a:solidFill>
                  <a:schemeClr val="accent4"/>
                </a:solidFill>
                <a:latin typeface="字魂手刻宋" panose="00000500000000000000" charset="-122"/>
                <a:ea typeface="字魂手刻宋" panose="00000500000000000000" charset="-122"/>
                <a:cs typeface="+mn-ea"/>
              </a:endParaRPr>
            </a:p>
          </p:txBody>
        </p:sp>
        <p:cxnSp>
          <p:nvCxnSpPr>
            <p:cNvPr id="18" name="直接连接符 17"/>
            <p:cNvCxnSpPr/>
            <p:nvPr>
              <p:custDataLst>
                <p:tags r:id="rId18"/>
              </p:custDataLst>
            </p:nvPr>
          </p:nvCxnSpPr>
          <p:spPr>
            <a:xfrm>
              <a:off x="11339" y="5038"/>
              <a:ext cx="653" cy="1"/>
            </a:xfrm>
            <a:prstGeom prst="line">
              <a:avLst/>
            </a:prstGeom>
            <a:noFill/>
            <a:ln w="9525">
              <a:solidFill>
                <a:schemeClr val="tx1">
                  <a:lumMod val="65000"/>
                  <a:lumOff val="35000"/>
                  <a:alpha val="40000"/>
                </a:schemeClr>
              </a:solidFill>
              <a:prstDash val="sysDash"/>
              <a:headEnd type="none"/>
              <a:tailEnd type="oval"/>
            </a:ln>
          </p:spPr>
          <p:style>
            <a:lnRef idx="2">
              <a:schemeClr val="accent1">
                <a:shade val="50000"/>
              </a:schemeClr>
            </a:lnRef>
            <a:fillRef idx="1">
              <a:schemeClr val="accent1"/>
            </a:fillRef>
            <a:effectRef idx="0">
              <a:schemeClr val="accent1"/>
            </a:effectRef>
            <a:fontRef idx="minor">
              <a:schemeClr val="lt1"/>
            </a:fontRef>
          </p:style>
        </p:cxnSp>
        <p:sp>
          <p:nvSpPr>
            <p:cNvPr id="19" name="矩形 18"/>
            <p:cNvSpPr/>
            <p:nvPr>
              <p:custDataLst>
                <p:tags r:id="rId19"/>
              </p:custDataLst>
            </p:nvPr>
          </p:nvSpPr>
          <p:spPr>
            <a:xfrm>
              <a:off x="12248" y="3863"/>
              <a:ext cx="5275" cy="1640"/>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安环家智慧托管服务，汇集机构管理端、工程师服务端及企业客户端三端融合，通过企业客户管理、项目管理、工程师任务管理等功能，实现安全托管服务过程动态掌握、全程有效监管和资源整合调度。通</a:t>
              </a:r>
              <a:endPar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pic>
          <p:nvPicPr>
            <p:cNvPr id="22" name="图片 21"/>
            <p:cNvPicPr>
              <a:picLocks noChangeAspect="1"/>
            </p:cNvPicPr>
            <p:nvPr/>
          </p:nvPicPr>
          <p:blipFill>
            <a:blip r:embed="rId20"/>
            <a:stretch>
              <a:fillRect/>
            </a:stretch>
          </p:blipFill>
          <p:spPr>
            <a:xfrm>
              <a:off x="9712" y="6536"/>
              <a:ext cx="6087" cy="3533"/>
            </a:xfrm>
            <a:prstGeom prst="rect">
              <a:avLst/>
            </a:prstGeom>
          </p:spPr>
        </p:pic>
      </p:grpSp>
      <p:sp>
        <p:nvSpPr>
          <p:cNvPr id="23" name="文本框 2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3.5</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500"/>
                                        <p:tgtEl>
                                          <p:spTgt spid="2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62660" y="117475"/>
            <a:ext cx="9993630" cy="460375"/>
          </a:xfrm>
          <a:prstGeom prst="rect">
            <a:avLst/>
          </a:prstGeom>
          <a:noFill/>
        </p:spPr>
        <p:txBody>
          <a:bodyPr wrap="square">
            <a:spAutoFit/>
          </a:bodyPr>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工矿商贸企业</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5" name="矩形 4"/>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23" name="文本框 2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3.5</a:t>
            </a:r>
            <a:endParaRPr lang="en-US" altLang="zh-CN" sz="3200" b="1" spc="150">
              <a:solidFill>
                <a:schemeClr val="bg1"/>
              </a:solidFill>
              <a:latin typeface="字魂手刻宋" panose="00000500000000000000" charset="-122"/>
              <a:ea typeface="字魂手刻宋" panose="00000500000000000000" charset="-122"/>
            </a:endParaRPr>
          </a:p>
        </p:txBody>
      </p:sp>
      <p:pic>
        <p:nvPicPr>
          <p:cNvPr id="17" name="2023_12_27_102239">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962660" y="837565"/>
            <a:ext cx="10105390" cy="5683885"/>
          </a:xfrm>
          <a:prstGeom prst="roundRect">
            <a:avLst>
              <a:gd name="adj" fmla="val 5783"/>
            </a:avLst>
          </a:prstGeom>
          <a:ln>
            <a:noFill/>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remove"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防护用品供应商</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3" name="文本框 2"/>
          <p:cNvSpPr txBox="1"/>
          <p:nvPr/>
        </p:nvSpPr>
        <p:spPr>
          <a:xfrm>
            <a:off x="985861" y="569947"/>
            <a:ext cx="10749170" cy="1060450"/>
          </a:xfrm>
          <a:prstGeom prst="rect">
            <a:avLst/>
          </a:prstGeom>
          <a:noFill/>
        </p:spPr>
        <p:txBody>
          <a:bodyPr wrap="square" rtlCol="0">
            <a:spAutoFit/>
          </a:bodyPr>
          <a:lstStyle/>
          <a:p>
            <a:pPr>
              <a:lnSpc>
                <a:spcPct val="150000"/>
              </a:lnSpc>
            </a:pPr>
            <a:r>
              <a:rPr sz="1400" b="1" dirty="0">
                <a:solidFill>
                  <a:srgbClr val="054487"/>
                </a:solidFill>
                <a:latin typeface="字魂手刻宋" panose="00000500000000000000" charset="-122"/>
                <a:ea typeface="字魂手刻宋" panose="00000500000000000000" charset="-122"/>
                <a:cs typeface="字魂手刻宋" panose="00000500000000000000" charset="-122"/>
              </a:rPr>
              <a:t>安全防护用品是预防伤害、减轻伤害的最后一道安全防线，是企业最常见、最基本的一种安全保障措施</a:t>
            </a:r>
            <a:r>
              <a:rPr lang="zh-CN" sz="1400" b="1" dirty="0">
                <a:solidFill>
                  <a:srgbClr val="054487"/>
                </a:solidFill>
                <a:latin typeface="字魂手刻宋" panose="00000500000000000000" charset="-122"/>
                <a:ea typeface="字魂手刻宋" panose="00000500000000000000" charset="-122"/>
                <a:cs typeface="字魂手刻宋" panose="00000500000000000000" charset="-122"/>
              </a:rPr>
              <a:t>，也是安全风险管理产业链的重要一环</a:t>
            </a: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。中国安全防护用品行业日益成熟，市场趋于饱和，安全防护用品</a:t>
            </a: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供应</a:t>
            </a: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商作为安全产业链的重要环节，面临着越来越大的市场竞争压力</a:t>
            </a: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，同时供给侧与需求端的矛盾加剧</a:t>
            </a: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a:t>
            </a:r>
            <a:endPar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6" name="圆角矩形 5"/>
          <p:cNvSpPr>
            <a:spLocks noChangeAspect="1" noChangeArrowheads="1"/>
          </p:cNvSpPr>
          <p:nvPr/>
        </p:nvSpPr>
        <p:spPr bwMode="auto">
          <a:xfrm>
            <a:off x="3175101" y="1702018"/>
            <a:ext cx="5932618" cy="457417"/>
          </a:xfrm>
          <a:prstGeom prst="roundRect">
            <a:avLst>
              <a:gd name="adj" fmla="val 16667"/>
            </a:avLst>
          </a:prstGeom>
        </p:spPr>
        <p:style>
          <a:lnRef idx="0">
            <a:srgbClr val="FFFFFF"/>
          </a:lnRef>
          <a:fillRef idx="1">
            <a:schemeClr val="accent1"/>
          </a:fillRef>
          <a:effectRef idx="0">
            <a:srgbClr val="FFFFFF"/>
          </a:effectRef>
          <a:fontRef idx="minor">
            <a:schemeClr val="lt1"/>
          </a:fontRef>
        </p:style>
        <p:txBody>
          <a:bodyPr rtlCol="0" anchor="ctr"/>
          <a:p>
            <a:pPr algn="ctr"/>
            <a:r>
              <a:rPr lang="zh-CN" sz="2000" dirty="0">
                <a:solidFill>
                  <a:schemeClr val="bg1"/>
                </a:solidFill>
                <a:latin typeface="字魂手刻宋" panose="00000500000000000000" charset="-122"/>
                <a:ea typeface="字魂手刻宋" panose="00000500000000000000" charset="-122"/>
                <a:sym typeface="微软雅黑" panose="020B0503020204020204" charset="-122"/>
              </a:rPr>
              <a:t>传统模式下，供给侧与需求端的矛盾</a:t>
            </a:r>
            <a:endParaRPr lang="zh-CN" sz="2000" dirty="0">
              <a:solidFill>
                <a:schemeClr val="bg1"/>
              </a:solidFill>
              <a:latin typeface="字魂手刻宋" panose="00000500000000000000" charset="-122"/>
              <a:ea typeface="字魂手刻宋" panose="00000500000000000000" charset="-122"/>
              <a:sym typeface="微软雅黑" panose="020B0503020204020204" charset="-122"/>
            </a:endParaRPr>
          </a:p>
        </p:txBody>
      </p:sp>
      <p:grpSp>
        <p:nvGrpSpPr>
          <p:cNvPr id="5" name="组合 4"/>
          <p:cNvGrpSpPr/>
          <p:nvPr>
            <p:custDataLst>
              <p:tags r:id="rId2"/>
            </p:custDataLst>
          </p:nvPr>
        </p:nvGrpSpPr>
        <p:grpSpPr>
          <a:xfrm>
            <a:off x="478790" y="2565400"/>
            <a:ext cx="11304905" cy="3888740"/>
            <a:chOff x="754" y="4040"/>
            <a:chExt cx="17803" cy="6124"/>
          </a:xfrm>
        </p:grpSpPr>
        <p:sp>
          <p:nvSpPr>
            <p:cNvPr id="70" name="矩形 69"/>
            <p:cNvSpPr/>
            <p:nvPr>
              <p:custDataLst>
                <p:tags r:id="rId3"/>
              </p:custDataLst>
            </p:nvPr>
          </p:nvSpPr>
          <p:spPr>
            <a:xfrm>
              <a:off x="1432" y="5590"/>
              <a:ext cx="2975" cy="381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sp>
          <p:nvSpPr>
            <p:cNvPr id="76" name="矩形 75"/>
            <p:cNvSpPr/>
            <p:nvPr>
              <p:custDataLst>
                <p:tags r:id="rId4"/>
              </p:custDataLst>
            </p:nvPr>
          </p:nvSpPr>
          <p:spPr>
            <a:xfrm>
              <a:off x="4775" y="5590"/>
              <a:ext cx="2975" cy="381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sp>
          <p:nvSpPr>
            <p:cNvPr id="80" name="矩形 79"/>
            <p:cNvSpPr/>
            <p:nvPr>
              <p:custDataLst>
                <p:tags r:id="rId5"/>
              </p:custDataLst>
            </p:nvPr>
          </p:nvSpPr>
          <p:spPr>
            <a:xfrm>
              <a:off x="8118" y="5590"/>
              <a:ext cx="2975" cy="381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sp>
          <p:nvSpPr>
            <p:cNvPr id="81" name="矩形 80"/>
            <p:cNvSpPr/>
            <p:nvPr>
              <p:custDataLst>
                <p:tags r:id="rId6"/>
              </p:custDataLst>
            </p:nvPr>
          </p:nvSpPr>
          <p:spPr>
            <a:xfrm>
              <a:off x="11461" y="5590"/>
              <a:ext cx="2975" cy="381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sp>
          <p:nvSpPr>
            <p:cNvPr id="82" name="矩形 81"/>
            <p:cNvSpPr/>
            <p:nvPr>
              <p:custDataLst>
                <p:tags r:id="rId7"/>
              </p:custDataLst>
            </p:nvPr>
          </p:nvSpPr>
          <p:spPr>
            <a:xfrm>
              <a:off x="14804" y="5590"/>
              <a:ext cx="2975" cy="381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nvGrpSpPr>
            <p:cNvPr id="95" name="组合 94"/>
            <p:cNvGrpSpPr/>
            <p:nvPr>
              <p:custDataLst>
                <p:tags r:id="rId8"/>
              </p:custDataLst>
            </p:nvPr>
          </p:nvGrpSpPr>
          <p:grpSpPr>
            <a:xfrm rot="0">
              <a:off x="2309" y="4826"/>
              <a:ext cx="1220" cy="1220"/>
              <a:chOff x="2309" y="4027"/>
              <a:chExt cx="1220" cy="1220"/>
            </a:xfrm>
          </p:grpSpPr>
          <p:sp>
            <p:nvSpPr>
              <p:cNvPr id="94" name="椭圆 93"/>
              <p:cNvSpPr/>
              <p:nvPr>
                <p:custDataLst>
                  <p:tags r:id="rId9"/>
                </p:custDataLst>
              </p:nvPr>
            </p:nvSpPr>
            <p:spPr>
              <a:xfrm>
                <a:off x="2309" y="4027"/>
                <a:ext cx="1221" cy="1221"/>
              </a:xfrm>
              <a:prstGeom prst="ellipse">
                <a:avLst/>
              </a:prstGeom>
              <a:gradFill>
                <a:gsLst>
                  <a:gs pos="0">
                    <a:srgbClr val="0061AE"/>
                  </a:gs>
                  <a:gs pos="100000">
                    <a:srgbClr val="0061AE"/>
                  </a:gs>
                </a:gsLst>
                <a:lin ang="0" scaled="1"/>
              </a:gradFill>
              <a:ln w="12700" cap="flat" cmpd="sng" algn="ctr">
                <a:noFill/>
                <a:prstDash val="solid"/>
                <a:miter lim="800000"/>
              </a:ln>
              <a:effectLst>
                <a:outerShdw blurRad="381000" algn="ctr" rotWithShape="0">
                  <a:prstClr val="black">
                    <a:alpha val="15000"/>
                  </a:prstClr>
                </a:outerShdw>
              </a:effectLst>
            </p:spPr>
            <p:txBody>
              <a:bodyPr rtlCol="0" anchor="ctr"/>
              <a:p>
                <a:pPr algn="ctr">
                  <a:lnSpc>
                    <a:spcPct val="150000"/>
                  </a:lnSpc>
                </a:pPr>
                <a:endParaRPr lang="zh-CN" altLang="en-US" kern="0" dirty="0">
                  <a:solidFill>
                    <a:schemeClr val="tx1">
                      <a:lumMod val="75000"/>
                      <a:lumOff val="25000"/>
                    </a:schemeClr>
                  </a:solidFill>
                  <a:latin typeface="字魂手刻宋" panose="00000500000000000000" charset="-122"/>
                  <a:ea typeface="字魂手刻宋" panose="00000500000000000000" charset="-122"/>
                </a:endParaRPr>
              </a:p>
            </p:txBody>
          </p:sp>
          <p:sp>
            <p:nvSpPr>
              <p:cNvPr id="7" name="Freeform 113"/>
              <p:cNvSpPr>
                <a:spLocks noEditPoints="1"/>
              </p:cNvSpPr>
              <p:nvPr>
                <p:custDataLst>
                  <p:tags r:id="rId10"/>
                </p:custDataLst>
              </p:nvPr>
            </p:nvSpPr>
            <p:spPr bwMode="auto">
              <a:xfrm>
                <a:off x="2569" y="4288"/>
                <a:ext cx="700" cy="700"/>
              </a:xfrm>
              <a:custGeom>
                <a:avLst/>
                <a:gdLst>
                  <a:gd name="T0" fmla="*/ 70 w 140"/>
                  <a:gd name="T1" fmla="*/ 140 h 140"/>
                  <a:gd name="T2" fmla="*/ 26 w 140"/>
                  <a:gd name="T3" fmla="*/ 123 h 140"/>
                  <a:gd name="T4" fmla="*/ 70 w 140"/>
                  <a:gd name="T5" fmla="*/ 128 h 140"/>
                  <a:gd name="T6" fmla="*/ 128 w 140"/>
                  <a:gd name="T7" fmla="*/ 70 h 140"/>
                  <a:gd name="T8" fmla="*/ 70 w 140"/>
                  <a:gd name="T9" fmla="*/ 12 h 140"/>
                  <a:gd name="T10" fmla="*/ 12 w 140"/>
                  <a:gd name="T11" fmla="*/ 70 h 140"/>
                  <a:gd name="T12" fmla="*/ 15 w 140"/>
                  <a:gd name="T13" fmla="*/ 113 h 140"/>
                  <a:gd name="T14" fmla="*/ 15 w 140"/>
                  <a:gd name="T15" fmla="*/ 113 h 140"/>
                  <a:gd name="T16" fmla="*/ 70 w 140"/>
                  <a:gd name="T17" fmla="*/ 0 h 140"/>
                  <a:gd name="T18" fmla="*/ 56 w 140"/>
                  <a:gd name="T19" fmla="*/ 109 h 140"/>
                  <a:gd name="T20" fmla="*/ 53 w 140"/>
                  <a:gd name="T21" fmla="*/ 107 h 140"/>
                  <a:gd name="T22" fmla="*/ 40 w 140"/>
                  <a:gd name="T23" fmla="*/ 109 h 140"/>
                  <a:gd name="T24" fmla="*/ 119 w 140"/>
                  <a:gd name="T25" fmla="*/ 70 h 140"/>
                  <a:gd name="T26" fmla="*/ 21 w 140"/>
                  <a:gd name="T27" fmla="*/ 70 h 140"/>
                  <a:gd name="T28" fmla="*/ 36 w 140"/>
                  <a:gd name="T29" fmla="*/ 92 h 140"/>
                  <a:gd name="T30" fmla="*/ 31 w 140"/>
                  <a:gd name="T31" fmla="*/ 85 h 140"/>
                  <a:gd name="T32" fmla="*/ 31 w 140"/>
                  <a:gd name="T33" fmla="*/ 81 h 140"/>
                  <a:gd name="T34" fmla="*/ 30 w 140"/>
                  <a:gd name="T35" fmla="*/ 70 h 140"/>
                  <a:gd name="T36" fmla="*/ 70 w 140"/>
                  <a:gd name="T37" fmla="*/ 30 h 140"/>
                  <a:gd name="T38" fmla="*/ 111 w 140"/>
                  <a:gd name="T39" fmla="*/ 70 h 140"/>
                  <a:gd name="T40" fmla="*/ 70 w 140"/>
                  <a:gd name="T41" fmla="*/ 111 h 140"/>
                  <a:gd name="T42" fmla="*/ 56 w 140"/>
                  <a:gd name="T43" fmla="*/ 109 h 140"/>
                  <a:gd name="T44" fmla="*/ 60 w 140"/>
                  <a:gd name="T45" fmla="*/ 94 h 140"/>
                  <a:gd name="T46" fmla="*/ 70 w 140"/>
                  <a:gd name="T47" fmla="*/ 102 h 140"/>
                  <a:gd name="T48" fmla="*/ 70 w 140"/>
                  <a:gd name="T49" fmla="*/ 39 h 140"/>
                  <a:gd name="T50" fmla="*/ 40 w 140"/>
                  <a:gd name="T51" fmla="*/ 79 h 140"/>
                  <a:gd name="T52" fmla="*/ 44 w 140"/>
                  <a:gd name="T53" fmla="*/ 70 h 140"/>
                  <a:gd name="T54" fmla="*/ 96 w 140"/>
                  <a:gd name="T55" fmla="*/ 70 h 140"/>
                  <a:gd name="T56" fmla="*/ 38 w 140"/>
                  <a:gd name="T57" fmla="*/ 107 h 140"/>
                  <a:gd name="T58" fmla="*/ 47 w 140"/>
                  <a:gd name="T59" fmla="*/ 98 h 140"/>
                  <a:gd name="T60" fmla="*/ 56 w 140"/>
                  <a:gd name="T61" fmla="*/ 106 h 140"/>
                  <a:gd name="T62" fmla="*/ 56 w 140"/>
                  <a:gd name="T63" fmla="*/ 106 h 140"/>
                  <a:gd name="T64" fmla="*/ 58 w 140"/>
                  <a:gd name="T65" fmla="*/ 93 h 140"/>
                  <a:gd name="T66" fmla="*/ 59 w 140"/>
                  <a:gd name="T67" fmla="*/ 81 h 140"/>
                  <a:gd name="T68" fmla="*/ 57 w 140"/>
                  <a:gd name="T69" fmla="*/ 80 h 140"/>
                  <a:gd name="T70" fmla="*/ 41 w 140"/>
                  <a:gd name="T71" fmla="*/ 81 h 140"/>
                  <a:gd name="T72" fmla="*/ 32 w 140"/>
                  <a:gd name="T73" fmla="*/ 83 h 140"/>
                  <a:gd name="T74" fmla="*/ 41 w 140"/>
                  <a:gd name="T75" fmla="*/ 91 h 140"/>
                  <a:gd name="T76" fmla="*/ 31 w 140"/>
                  <a:gd name="T77" fmla="*/ 100 h 140"/>
                  <a:gd name="T78" fmla="*/ 17 w 140"/>
                  <a:gd name="T79" fmla="*/ 115 h 140"/>
                  <a:gd name="T80" fmla="*/ 16 w 140"/>
                  <a:gd name="T81" fmla="*/ 118 h 140"/>
                  <a:gd name="T82" fmla="*/ 20 w 140"/>
                  <a:gd name="T83" fmla="*/ 123 h 140"/>
                  <a:gd name="T84" fmla="*/ 24 w 140"/>
                  <a:gd name="T85" fmla="*/ 121 h 140"/>
                  <a:gd name="T86" fmla="*/ 38 w 140"/>
                  <a:gd name="T87" fmla="*/ 10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40">
                    <a:moveTo>
                      <a:pt x="140" y="70"/>
                    </a:moveTo>
                    <a:cubicBezTo>
                      <a:pt x="140" y="109"/>
                      <a:pt x="109" y="140"/>
                      <a:pt x="70" y="140"/>
                    </a:cubicBezTo>
                    <a:cubicBezTo>
                      <a:pt x="53" y="140"/>
                      <a:pt x="37" y="134"/>
                      <a:pt x="25" y="124"/>
                    </a:cubicBezTo>
                    <a:cubicBezTo>
                      <a:pt x="25" y="123"/>
                      <a:pt x="25" y="123"/>
                      <a:pt x="26" y="123"/>
                    </a:cubicBezTo>
                    <a:cubicBezTo>
                      <a:pt x="34" y="115"/>
                      <a:pt x="34" y="115"/>
                      <a:pt x="34" y="115"/>
                    </a:cubicBezTo>
                    <a:cubicBezTo>
                      <a:pt x="44" y="123"/>
                      <a:pt x="56" y="128"/>
                      <a:pt x="70" y="128"/>
                    </a:cubicBezTo>
                    <a:cubicBezTo>
                      <a:pt x="86" y="128"/>
                      <a:pt x="101" y="122"/>
                      <a:pt x="111" y="111"/>
                    </a:cubicBezTo>
                    <a:cubicBezTo>
                      <a:pt x="122" y="101"/>
                      <a:pt x="128" y="86"/>
                      <a:pt x="128" y="70"/>
                    </a:cubicBezTo>
                    <a:cubicBezTo>
                      <a:pt x="128" y="54"/>
                      <a:pt x="122" y="40"/>
                      <a:pt x="111" y="29"/>
                    </a:cubicBezTo>
                    <a:cubicBezTo>
                      <a:pt x="101" y="19"/>
                      <a:pt x="86" y="12"/>
                      <a:pt x="70" y="12"/>
                    </a:cubicBezTo>
                    <a:cubicBezTo>
                      <a:pt x="54" y="12"/>
                      <a:pt x="40" y="19"/>
                      <a:pt x="29" y="29"/>
                    </a:cubicBezTo>
                    <a:cubicBezTo>
                      <a:pt x="19" y="40"/>
                      <a:pt x="12" y="54"/>
                      <a:pt x="12" y="70"/>
                    </a:cubicBezTo>
                    <a:cubicBezTo>
                      <a:pt x="12" y="83"/>
                      <a:pt x="17" y="95"/>
                      <a:pt x="24" y="105"/>
                    </a:cubicBezTo>
                    <a:cubicBezTo>
                      <a:pt x="15" y="113"/>
                      <a:pt x="15" y="113"/>
                      <a:pt x="15" y="113"/>
                    </a:cubicBezTo>
                    <a:cubicBezTo>
                      <a:pt x="15" y="113"/>
                      <a:pt x="15" y="113"/>
                      <a:pt x="15" y="113"/>
                    </a:cubicBezTo>
                    <a:cubicBezTo>
                      <a:pt x="15" y="113"/>
                      <a:pt x="15" y="113"/>
                      <a:pt x="15" y="113"/>
                    </a:cubicBezTo>
                    <a:cubicBezTo>
                      <a:pt x="6" y="101"/>
                      <a:pt x="0" y="87"/>
                      <a:pt x="0" y="70"/>
                    </a:cubicBezTo>
                    <a:cubicBezTo>
                      <a:pt x="0" y="32"/>
                      <a:pt x="32" y="0"/>
                      <a:pt x="70" y="0"/>
                    </a:cubicBezTo>
                    <a:cubicBezTo>
                      <a:pt x="109" y="0"/>
                      <a:pt x="140" y="32"/>
                      <a:pt x="140" y="70"/>
                    </a:cubicBezTo>
                    <a:close/>
                    <a:moveTo>
                      <a:pt x="56" y="109"/>
                    </a:moveTo>
                    <a:cubicBezTo>
                      <a:pt x="55" y="109"/>
                      <a:pt x="54" y="108"/>
                      <a:pt x="54" y="108"/>
                    </a:cubicBezTo>
                    <a:cubicBezTo>
                      <a:pt x="53" y="107"/>
                      <a:pt x="53" y="107"/>
                      <a:pt x="53" y="107"/>
                    </a:cubicBezTo>
                    <a:cubicBezTo>
                      <a:pt x="51" y="106"/>
                      <a:pt x="48" y="104"/>
                      <a:pt x="46" y="103"/>
                    </a:cubicBezTo>
                    <a:cubicBezTo>
                      <a:pt x="40" y="109"/>
                      <a:pt x="40" y="109"/>
                      <a:pt x="40" y="109"/>
                    </a:cubicBezTo>
                    <a:cubicBezTo>
                      <a:pt x="48" y="115"/>
                      <a:pt x="59" y="119"/>
                      <a:pt x="70" y="119"/>
                    </a:cubicBezTo>
                    <a:cubicBezTo>
                      <a:pt x="97" y="119"/>
                      <a:pt x="119" y="97"/>
                      <a:pt x="119" y="70"/>
                    </a:cubicBezTo>
                    <a:cubicBezTo>
                      <a:pt x="119" y="43"/>
                      <a:pt x="97" y="21"/>
                      <a:pt x="70" y="21"/>
                    </a:cubicBezTo>
                    <a:cubicBezTo>
                      <a:pt x="43" y="21"/>
                      <a:pt x="21" y="43"/>
                      <a:pt x="21" y="70"/>
                    </a:cubicBezTo>
                    <a:cubicBezTo>
                      <a:pt x="21" y="81"/>
                      <a:pt x="25" y="90"/>
                      <a:pt x="30" y="98"/>
                    </a:cubicBezTo>
                    <a:cubicBezTo>
                      <a:pt x="36" y="92"/>
                      <a:pt x="36" y="92"/>
                      <a:pt x="36" y="92"/>
                    </a:cubicBezTo>
                    <a:cubicBezTo>
                      <a:pt x="35" y="91"/>
                      <a:pt x="34" y="89"/>
                      <a:pt x="34" y="88"/>
                    </a:cubicBezTo>
                    <a:cubicBezTo>
                      <a:pt x="31" y="85"/>
                      <a:pt x="31" y="85"/>
                      <a:pt x="31" y="85"/>
                    </a:cubicBezTo>
                    <a:cubicBezTo>
                      <a:pt x="30" y="84"/>
                      <a:pt x="30" y="83"/>
                      <a:pt x="30" y="82"/>
                    </a:cubicBezTo>
                    <a:cubicBezTo>
                      <a:pt x="30" y="82"/>
                      <a:pt x="30" y="81"/>
                      <a:pt x="31" y="81"/>
                    </a:cubicBezTo>
                    <a:cubicBezTo>
                      <a:pt x="31" y="81"/>
                      <a:pt x="31" y="80"/>
                      <a:pt x="31" y="80"/>
                    </a:cubicBezTo>
                    <a:cubicBezTo>
                      <a:pt x="30" y="77"/>
                      <a:pt x="30" y="74"/>
                      <a:pt x="30" y="70"/>
                    </a:cubicBezTo>
                    <a:cubicBezTo>
                      <a:pt x="30" y="59"/>
                      <a:pt x="34" y="49"/>
                      <a:pt x="42" y="42"/>
                    </a:cubicBezTo>
                    <a:cubicBezTo>
                      <a:pt x="49" y="34"/>
                      <a:pt x="59" y="30"/>
                      <a:pt x="70" y="30"/>
                    </a:cubicBezTo>
                    <a:cubicBezTo>
                      <a:pt x="82" y="30"/>
                      <a:pt x="92" y="34"/>
                      <a:pt x="99" y="42"/>
                    </a:cubicBezTo>
                    <a:cubicBezTo>
                      <a:pt x="106" y="49"/>
                      <a:pt x="111" y="59"/>
                      <a:pt x="111" y="70"/>
                    </a:cubicBezTo>
                    <a:cubicBezTo>
                      <a:pt x="111" y="82"/>
                      <a:pt x="106" y="92"/>
                      <a:pt x="99" y="99"/>
                    </a:cubicBezTo>
                    <a:cubicBezTo>
                      <a:pt x="92" y="106"/>
                      <a:pt x="82" y="111"/>
                      <a:pt x="70" y="111"/>
                    </a:cubicBezTo>
                    <a:cubicBezTo>
                      <a:pt x="66" y="111"/>
                      <a:pt x="61" y="110"/>
                      <a:pt x="57" y="109"/>
                    </a:cubicBezTo>
                    <a:cubicBezTo>
                      <a:pt x="57" y="109"/>
                      <a:pt x="56" y="109"/>
                      <a:pt x="56" y="109"/>
                    </a:cubicBezTo>
                    <a:close/>
                    <a:moveTo>
                      <a:pt x="70" y="96"/>
                    </a:moveTo>
                    <a:cubicBezTo>
                      <a:pt x="67" y="96"/>
                      <a:pt x="63" y="96"/>
                      <a:pt x="60" y="94"/>
                    </a:cubicBezTo>
                    <a:cubicBezTo>
                      <a:pt x="59" y="100"/>
                      <a:pt x="59" y="100"/>
                      <a:pt x="59" y="100"/>
                    </a:cubicBezTo>
                    <a:cubicBezTo>
                      <a:pt x="63" y="101"/>
                      <a:pt x="66" y="102"/>
                      <a:pt x="70" y="102"/>
                    </a:cubicBezTo>
                    <a:cubicBezTo>
                      <a:pt x="88" y="102"/>
                      <a:pt x="102" y="88"/>
                      <a:pt x="102" y="70"/>
                    </a:cubicBezTo>
                    <a:cubicBezTo>
                      <a:pt x="102" y="53"/>
                      <a:pt x="88" y="39"/>
                      <a:pt x="70" y="39"/>
                    </a:cubicBezTo>
                    <a:cubicBezTo>
                      <a:pt x="53" y="39"/>
                      <a:pt x="39" y="53"/>
                      <a:pt x="39" y="70"/>
                    </a:cubicBezTo>
                    <a:cubicBezTo>
                      <a:pt x="39" y="73"/>
                      <a:pt x="39" y="76"/>
                      <a:pt x="40" y="79"/>
                    </a:cubicBezTo>
                    <a:cubicBezTo>
                      <a:pt x="46" y="79"/>
                      <a:pt x="46" y="79"/>
                      <a:pt x="46" y="79"/>
                    </a:cubicBezTo>
                    <a:cubicBezTo>
                      <a:pt x="45" y="76"/>
                      <a:pt x="44" y="73"/>
                      <a:pt x="44" y="70"/>
                    </a:cubicBezTo>
                    <a:cubicBezTo>
                      <a:pt x="44" y="56"/>
                      <a:pt x="56" y="44"/>
                      <a:pt x="70" y="44"/>
                    </a:cubicBezTo>
                    <a:cubicBezTo>
                      <a:pt x="85" y="44"/>
                      <a:pt x="96" y="56"/>
                      <a:pt x="96" y="70"/>
                    </a:cubicBezTo>
                    <a:cubicBezTo>
                      <a:pt x="96" y="85"/>
                      <a:pt x="85" y="96"/>
                      <a:pt x="70" y="96"/>
                    </a:cubicBezTo>
                    <a:close/>
                    <a:moveTo>
                      <a:pt x="38" y="107"/>
                    </a:moveTo>
                    <a:cubicBezTo>
                      <a:pt x="44" y="101"/>
                      <a:pt x="44" y="101"/>
                      <a:pt x="44" y="101"/>
                    </a:cubicBezTo>
                    <a:cubicBezTo>
                      <a:pt x="47" y="98"/>
                      <a:pt x="47" y="98"/>
                      <a:pt x="47" y="98"/>
                    </a:cubicBezTo>
                    <a:cubicBezTo>
                      <a:pt x="55" y="106"/>
                      <a:pt x="55" y="106"/>
                      <a:pt x="55" y="106"/>
                    </a:cubicBezTo>
                    <a:cubicBezTo>
                      <a:pt x="56" y="106"/>
                      <a:pt x="56" y="106"/>
                      <a:pt x="56" y="106"/>
                    </a:cubicBezTo>
                    <a:cubicBezTo>
                      <a:pt x="56" y="106"/>
                      <a:pt x="56" y="106"/>
                      <a:pt x="56" y="106"/>
                    </a:cubicBezTo>
                    <a:cubicBezTo>
                      <a:pt x="56" y="106"/>
                      <a:pt x="56" y="106"/>
                      <a:pt x="56" y="106"/>
                    </a:cubicBezTo>
                    <a:cubicBezTo>
                      <a:pt x="57" y="99"/>
                      <a:pt x="57" y="99"/>
                      <a:pt x="57" y="99"/>
                    </a:cubicBezTo>
                    <a:cubicBezTo>
                      <a:pt x="58" y="93"/>
                      <a:pt x="58" y="93"/>
                      <a:pt x="58" y="93"/>
                    </a:cubicBezTo>
                    <a:cubicBezTo>
                      <a:pt x="59" y="81"/>
                      <a:pt x="59" y="81"/>
                      <a:pt x="59" y="81"/>
                    </a:cubicBezTo>
                    <a:cubicBezTo>
                      <a:pt x="59" y="81"/>
                      <a:pt x="59" y="81"/>
                      <a:pt x="59" y="81"/>
                    </a:cubicBezTo>
                    <a:cubicBezTo>
                      <a:pt x="59" y="80"/>
                      <a:pt x="58" y="80"/>
                      <a:pt x="57" y="80"/>
                    </a:cubicBezTo>
                    <a:cubicBezTo>
                      <a:pt x="57" y="80"/>
                      <a:pt x="57" y="80"/>
                      <a:pt x="57" y="80"/>
                    </a:cubicBezTo>
                    <a:cubicBezTo>
                      <a:pt x="46" y="81"/>
                      <a:pt x="46" y="81"/>
                      <a:pt x="46" y="81"/>
                    </a:cubicBezTo>
                    <a:cubicBezTo>
                      <a:pt x="41" y="81"/>
                      <a:pt x="41" y="81"/>
                      <a:pt x="41" y="81"/>
                    </a:cubicBezTo>
                    <a:cubicBezTo>
                      <a:pt x="33" y="82"/>
                      <a:pt x="33" y="82"/>
                      <a:pt x="33" y="82"/>
                    </a:cubicBezTo>
                    <a:cubicBezTo>
                      <a:pt x="32" y="82"/>
                      <a:pt x="32" y="83"/>
                      <a:pt x="32" y="83"/>
                    </a:cubicBezTo>
                    <a:cubicBezTo>
                      <a:pt x="32" y="83"/>
                      <a:pt x="32" y="83"/>
                      <a:pt x="32" y="83"/>
                    </a:cubicBezTo>
                    <a:cubicBezTo>
                      <a:pt x="41" y="91"/>
                      <a:pt x="41" y="91"/>
                      <a:pt x="41" y="91"/>
                    </a:cubicBezTo>
                    <a:cubicBezTo>
                      <a:pt x="37" y="94"/>
                      <a:pt x="37" y="94"/>
                      <a:pt x="37" y="94"/>
                    </a:cubicBezTo>
                    <a:cubicBezTo>
                      <a:pt x="31" y="100"/>
                      <a:pt x="31" y="100"/>
                      <a:pt x="31" y="100"/>
                    </a:cubicBezTo>
                    <a:cubicBezTo>
                      <a:pt x="25" y="107"/>
                      <a:pt x="25" y="107"/>
                      <a:pt x="25" y="107"/>
                    </a:cubicBezTo>
                    <a:cubicBezTo>
                      <a:pt x="17" y="115"/>
                      <a:pt x="17" y="115"/>
                      <a:pt x="17" y="115"/>
                    </a:cubicBezTo>
                    <a:cubicBezTo>
                      <a:pt x="17" y="115"/>
                      <a:pt x="17" y="115"/>
                      <a:pt x="17" y="115"/>
                    </a:cubicBezTo>
                    <a:cubicBezTo>
                      <a:pt x="16" y="116"/>
                      <a:pt x="16" y="117"/>
                      <a:pt x="16" y="118"/>
                    </a:cubicBezTo>
                    <a:cubicBezTo>
                      <a:pt x="16" y="119"/>
                      <a:pt x="16" y="121"/>
                      <a:pt x="17" y="121"/>
                    </a:cubicBezTo>
                    <a:cubicBezTo>
                      <a:pt x="18" y="122"/>
                      <a:pt x="19" y="123"/>
                      <a:pt x="20" y="123"/>
                    </a:cubicBezTo>
                    <a:cubicBezTo>
                      <a:pt x="21" y="123"/>
                      <a:pt x="22" y="123"/>
                      <a:pt x="23" y="122"/>
                    </a:cubicBezTo>
                    <a:cubicBezTo>
                      <a:pt x="23" y="122"/>
                      <a:pt x="24" y="122"/>
                      <a:pt x="24" y="121"/>
                    </a:cubicBezTo>
                    <a:cubicBezTo>
                      <a:pt x="32" y="114"/>
                      <a:pt x="32" y="114"/>
                      <a:pt x="32" y="114"/>
                    </a:cubicBezTo>
                    <a:lnTo>
                      <a:pt x="38"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96" name="组合 95"/>
            <p:cNvGrpSpPr/>
            <p:nvPr>
              <p:custDataLst>
                <p:tags r:id="rId11"/>
              </p:custDataLst>
            </p:nvPr>
          </p:nvGrpSpPr>
          <p:grpSpPr>
            <a:xfrm rot="0">
              <a:off x="5652" y="4826"/>
              <a:ext cx="1220" cy="1220"/>
              <a:chOff x="2309" y="4027"/>
              <a:chExt cx="1220" cy="1220"/>
            </a:xfrm>
          </p:grpSpPr>
          <p:sp>
            <p:nvSpPr>
              <p:cNvPr id="97" name="椭圆 96"/>
              <p:cNvSpPr/>
              <p:nvPr>
                <p:custDataLst>
                  <p:tags r:id="rId12"/>
                </p:custDataLst>
              </p:nvPr>
            </p:nvSpPr>
            <p:spPr>
              <a:xfrm>
                <a:off x="2309" y="4027"/>
                <a:ext cx="1221" cy="1221"/>
              </a:xfrm>
              <a:prstGeom prst="ellipse">
                <a:avLst/>
              </a:prstGeom>
              <a:gradFill>
                <a:gsLst>
                  <a:gs pos="0">
                    <a:srgbClr val="0061AE"/>
                  </a:gs>
                  <a:gs pos="100000">
                    <a:srgbClr val="0061AE"/>
                  </a:gs>
                </a:gsLst>
                <a:lin ang="0" scaled="1"/>
              </a:gradFill>
              <a:ln w="12700" cap="flat" cmpd="sng" algn="ctr">
                <a:noFill/>
                <a:prstDash val="solid"/>
                <a:miter lim="800000"/>
              </a:ln>
              <a:effectLst>
                <a:outerShdw blurRad="381000" algn="ctr" rotWithShape="0">
                  <a:prstClr val="black">
                    <a:alpha val="15000"/>
                  </a:prstClr>
                </a:outerShdw>
              </a:effectLst>
            </p:spPr>
            <p:txBody>
              <a:bodyPr rtlCol="0" anchor="ctr"/>
              <a:p>
                <a:pPr algn="ctr">
                  <a:lnSpc>
                    <a:spcPct val="150000"/>
                  </a:lnSpc>
                </a:pPr>
                <a:endParaRPr lang="zh-CN" altLang="en-US" kern="0" dirty="0">
                  <a:solidFill>
                    <a:schemeClr val="tx1">
                      <a:lumMod val="75000"/>
                      <a:lumOff val="25000"/>
                    </a:schemeClr>
                  </a:solidFill>
                  <a:latin typeface="字魂手刻宋" panose="00000500000000000000" charset="-122"/>
                  <a:ea typeface="字魂手刻宋" panose="00000500000000000000" charset="-122"/>
                </a:endParaRPr>
              </a:p>
            </p:txBody>
          </p:sp>
          <p:sp>
            <p:nvSpPr>
              <p:cNvPr id="98" name="Freeform 113"/>
              <p:cNvSpPr>
                <a:spLocks noEditPoints="1"/>
              </p:cNvSpPr>
              <p:nvPr>
                <p:custDataLst>
                  <p:tags r:id="rId13"/>
                </p:custDataLst>
              </p:nvPr>
            </p:nvSpPr>
            <p:spPr bwMode="auto">
              <a:xfrm>
                <a:off x="2569" y="4288"/>
                <a:ext cx="700" cy="700"/>
              </a:xfrm>
              <a:custGeom>
                <a:avLst/>
                <a:gdLst>
                  <a:gd name="T0" fmla="*/ 70 w 140"/>
                  <a:gd name="T1" fmla="*/ 140 h 140"/>
                  <a:gd name="T2" fmla="*/ 26 w 140"/>
                  <a:gd name="T3" fmla="*/ 123 h 140"/>
                  <a:gd name="T4" fmla="*/ 70 w 140"/>
                  <a:gd name="T5" fmla="*/ 128 h 140"/>
                  <a:gd name="T6" fmla="*/ 128 w 140"/>
                  <a:gd name="T7" fmla="*/ 70 h 140"/>
                  <a:gd name="T8" fmla="*/ 70 w 140"/>
                  <a:gd name="T9" fmla="*/ 12 h 140"/>
                  <a:gd name="T10" fmla="*/ 12 w 140"/>
                  <a:gd name="T11" fmla="*/ 70 h 140"/>
                  <a:gd name="T12" fmla="*/ 15 w 140"/>
                  <a:gd name="T13" fmla="*/ 113 h 140"/>
                  <a:gd name="T14" fmla="*/ 15 w 140"/>
                  <a:gd name="T15" fmla="*/ 113 h 140"/>
                  <a:gd name="T16" fmla="*/ 70 w 140"/>
                  <a:gd name="T17" fmla="*/ 0 h 140"/>
                  <a:gd name="T18" fmla="*/ 56 w 140"/>
                  <a:gd name="T19" fmla="*/ 109 h 140"/>
                  <a:gd name="T20" fmla="*/ 53 w 140"/>
                  <a:gd name="T21" fmla="*/ 107 h 140"/>
                  <a:gd name="T22" fmla="*/ 40 w 140"/>
                  <a:gd name="T23" fmla="*/ 109 h 140"/>
                  <a:gd name="T24" fmla="*/ 119 w 140"/>
                  <a:gd name="T25" fmla="*/ 70 h 140"/>
                  <a:gd name="T26" fmla="*/ 21 w 140"/>
                  <a:gd name="T27" fmla="*/ 70 h 140"/>
                  <a:gd name="T28" fmla="*/ 36 w 140"/>
                  <a:gd name="T29" fmla="*/ 92 h 140"/>
                  <a:gd name="T30" fmla="*/ 31 w 140"/>
                  <a:gd name="T31" fmla="*/ 85 h 140"/>
                  <a:gd name="T32" fmla="*/ 31 w 140"/>
                  <a:gd name="T33" fmla="*/ 81 h 140"/>
                  <a:gd name="T34" fmla="*/ 30 w 140"/>
                  <a:gd name="T35" fmla="*/ 70 h 140"/>
                  <a:gd name="T36" fmla="*/ 70 w 140"/>
                  <a:gd name="T37" fmla="*/ 30 h 140"/>
                  <a:gd name="T38" fmla="*/ 111 w 140"/>
                  <a:gd name="T39" fmla="*/ 70 h 140"/>
                  <a:gd name="T40" fmla="*/ 70 w 140"/>
                  <a:gd name="T41" fmla="*/ 111 h 140"/>
                  <a:gd name="T42" fmla="*/ 56 w 140"/>
                  <a:gd name="T43" fmla="*/ 109 h 140"/>
                  <a:gd name="T44" fmla="*/ 60 w 140"/>
                  <a:gd name="T45" fmla="*/ 94 h 140"/>
                  <a:gd name="T46" fmla="*/ 70 w 140"/>
                  <a:gd name="T47" fmla="*/ 102 h 140"/>
                  <a:gd name="T48" fmla="*/ 70 w 140"/>
                  <a:gd name="T49" fmla="*/ 39 h 140"/>
                  <a:gd name="T50" fmla="*/ 40 w 140"/>
                  <a:gd name="T51" fmla="*/ 79 h 140"/>
                  <a:gd name="T52" fmla="*/ 44 w 140"/>
                  <a:gd name="T53" fmla="*/ 70 h 140"/>
                  <a:gd name="T54" fmla="*/ 96 w 140"/>
                  <a:gd name="T55" fmla="*/ 70 h 140"/>
                  <a:gd name="T56" fmla="*/ 38 w 140"/>
                  <a:gd name="T57" fmla="*/ 107 h 140"/>
                  <a:gd name="T58" fmla="*/ 47 w 140"/>
                  <a:gd name="T59" fmla="*/ 98 h 140"/>
                  <a:gd name="T60" fmla="*/ 56 w 140"/>
                  <a:gd name="T61" fmla="*/ 106 h 140"/>
                  <a:gd name="T62" fmla="*/ 56 w 140"/>
                  <a:gd name="T63" fmla="*/ 106 h 140"/>
                  <a:gd name="T64" fmla="*/ 58 w 140"/>
                  <a:gd name="T65" fmla="*/ 93 h 140"/>
                  <a:gd name="T66" fmla="*/ 59 w 140"/>
                  <a:gd name="T67" fmla="*/ 81 h 140"/>
                  <a:gd name="T68" fmla="*/ 57 w 140"/>
                  <a:gd name="T69" fmla="*/ 80 h 140"/>
                  <a:gd name="T70" fmla="*/ 41 w 140"/>
                  <a:gd name="T71" fmla="*/ 81 h 140"/>
                  <a:gd name="T72" fmla="*/ 32 w 140"/>
                  <a:gd name="T73" fmla="*/ 83 h 140"/>
                  <a:gd name="T74" fmla="*/ 41 w 140"/>
                  <a:gd name="T75" fmla="*/ 91 h 140"/>
                  <a:gd name="T76" fmla="*/ 31 w 140"/>
                  <a:gd name="T77" fmla="*/ 100 h 140"/>
                  <a:gd name="T78" fmla="*/ 17 w 140"/>
                  <a:gd name="T79" fmla="*/ 115 h 140"/>
                  <a:gd name="T80" fmla="*/ 16 w 140"/>
                  <a:gd name="T81" fmla="*/ 118 h 140"/>
                  <a:gd name="T82" fmla="*/ 20 w 140"/>
                  <a:gd name="T83" fmla="*/ 123 h 140"/>
                  <a:gd name="T84" fmla="*/ 24 w 140"/>
                  <a:gd name="T85" fmla="*/ 121 h 140"/>
                  <a:gd name="T86" fmla="*/ 38 w 140"/>
                  <a:gd name="T87" fmla="*/ 10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40">
                    <a:moveTo>
                      <a:pt x="140" y="70"/>
                    </a:moveTo>
                    <a:cubicBezTo>
                      <a:pt x="140" y="109"/>
                      <a:pt x="109" y="140"/>
                      <a:pt x="70" y="140"/>
                    </a:cubicBezTo>
                    <a:cubicBezTo>
                      <a:pt x="53" y="140"/>
                      <a:pt x="37" y="134"/>
                      <a:pt x="25" y="124"/>
                    </a:cubicBezTo>
                    <a:cubicBezTo>
                      <a:pt x="25" y="123"/>
                      <a:pt x="25" y="123"/>
                      <a:pt x="26" y="123"/>
                    </a:cubicBezTo>
                    <a:cubicBezTo>
                      <a:pt x="34" y="115"/>
                      <a:pt x="34" y="115"/>
                      <a:pt x="34" y="115"/>
                    </a:cubicBezTo>
                    <a:cubicBezTo>
                      <a:pt x="44" y="123"/>
                      <a:pt x="56" y="128"/>
                      <a:pt x="70" y="128"/>
                    </a:cubicBezTo>
                    <a:cubicBezTo>
                      <a:pt x="86" y="128"/>
                      <a:pt x="101" y="122"/>
                      <a:pt x="111" y="111"/>
                    </a:cubicBezTo>
                    <a:cubicBezTo>
                      <a:pt x="122" y="101"/>
                      <a:pt x="128" y="86"/>
                      <a:pt x="128" y="70"/>
                    </a:cubicBezTo>
                    <a:cubicBezTo>
                      <a:pt x="128" y="54"/>
                      <a:pt x="122" y="40"/>
                      <a:pt x="111" y="29"/>
                    </a:cubicBezTo>
                    <a:cubicBezTo>
                      <a:pt x="101" y="19"/>
                      <a:pt x="86" y="12"/>
                      <a:pt x="70" y="12"/>
                    </a:cubicBezTo>
                    <a:cubicBezTo>
                      <a:pt x="54" y="12"/>
                      <a:pt x="40" y="19"/>
                      <a:pt x="29" y="29"/>
                    </a:cubicBezTo>
                    <a:cubicBezTo>
                      <a:pt x="19" y="40"/>
                      <a:pt x="12" y="54"/>
                      <a:pt x="12" y="70"/>
                    </a:cubicBezTo>
                    <a:cubicBezTo>
                      <a:pt x="12" y="83"/>
                      <a:pt x="17" y="95"/>
                      <a:pt x="24" y="105"/>
                    </a:cubicBezTo>
                    <a:cubicBezTo>
                      <a:pt x="15" y="113"/>
                      <a:pt x="15" y="113"/>
                      <a:pt x="15" y="113"/>
                    </a:cubicBezTo>
                    <a:cubicBezTo>
                      <a:pt x="15" y="113"/>
                      <a:pt x="15" y="113"/>
                      <a:pt x="15" y="113"/>
                    </a:cubicBezTo>
                    <a:cubicBezTo>
                      <a:pt x="15" y="113"/>
                      <a:pt x="15" y="113"/>
                      <a:pt x="15" y="113"/>
                    </a:cubicBezTo>
                    <a:cubicBezTo>
                      <a:pt x="6" y="101"/>
                      <a:pt x="0" y="87"/>
                      <a:pt x="0" y="70"/>
                    </a:cubicBezTo>
                    <a:cubicBezTo>
                      <a:pt x="0" y="32"/>
                      <a:pt x="32" y="0"/>
                      <a:pt x="70" y="0"/>
                    </a:cubicBezTo>
                    <a:cubicBezTo>
                      <a:pt x="109" y="0"/>
                      <a:pt x="140" y="32"/>
                      <a:pt x="140" y="70"/>
                    </a:cubicBezTo>
                    <a:close/>
                    <a:moveTo>
                      <a:pt x="56" y="109"/>
                    </a:moveTo>
                    <a:cubicBezTo>
                      <a:pt x="55" y="109"/>
                      <a:pt x="54" y="108"/>
                      <a:pt x="54" y="108"/>
                    </a:cubicBezTo>
                    <a:cubicBezTo>
                      <a:pt x="53" y="107"/>
                      <a:pt x="53" y="107"/>
                      <a:pt x="53" y="107"/>
                    </a:cubicBezTo>
                    <a:cubicBezTo>
                      <a:pt x="51" y="106"/>
                      <a:pt x="48" y="104"/>
                      <a:pt x="46" y="103"/>
                    </a:cubicBezTo>
                    <a:cubicBezTo>
                      <a:pt x="40" y="109"/>
                      <a:pt x="40" y="109"/>
                      <a:pt x="40" y="109"/>
                    </a:cubicBezTo>
                    <a:cubicBezTo>
                      <a:pt x="48" y="115"/>
                      <a:pt x="59" y="119"/>
                      <a:pt x="70" y="119"/>
                    </a:cubicBezTo>
                    <a:cubicBezTo>
                      <a:pt x="97" y="119"/>
                      <a:pt x="119" y="97"/>
                      <a:pt x="119" y="70"/>
                    </a:cubicBezTo>
                    <a:cubicBezTo>
                      <a:pt x="119" y="43"/>
                      <a:pt x="97" y="21"/>
                      <a:pt x="70" y="21"/>
                    </a:cubicBezTo>
                    <a:cubicBezTo>
                      <a:pt x="43" y="21"/>
                      <a:pt x="21" y="43"/>
                      <a:pt x="21" y="70"/>
                    </a:cubicBezTo>
                    <a:cubicBezTo>
                      <a:pt x="21" y="81"/>
                      <a:pt x="25" y="90"/>
                      <a:pt x="30" y="98"/>
                    </a:cubicBezTo>
                    <a:cubicBezTo>
                      <a:pt x="36" y="92"/>
                      <a:pt x="36" y="92"/>
                      <a:pt x="36" y="92"/>
                    </a:cubicBezTo>
                    <a:cubicBezTo>
                      <a:pt x="35" y="91"/>
                      <a:pt x="34" y="89"/>
                      <a:pt x="34" y="88"/>
                    </a:cubicBezTo>
                    <a:cubicBezTo>
                      <a:pt x="31" y="85"/>
                      <a:pt x="31" y="85"/>
                      <a:pt x="31" y="85"/>
                    </a:cubicBezTo>
                    <a:cubicBezTo>
                      <a:pt x="30" y="84"/>
                      <a:pt x="30" y="83"/>
                      <a:pt x="30" y="82"/>
                    </a:cubicBezTo>
                    <a:cubicBezTo>
                      <a:pt x="30" y="82"/>
                      <a:pt x="30" y="81"/>
                      <a:pt x="31" y="81"/>
                    </a:cubicBezTo>
                    <a:cubicBezTo>
                      <a:pt x="31" y="81"/>
                      <a:pt x="31" y="80"/>
                      <a:pt x="31" y="80"/>
                    </a:cubicBezTo>
                    <a:cubicBezTo>
                      <a:pt x="30" y="77"/>
                      <a:pt x="30" y="74"/>
                      <a:pt x="30" y="70"/>
                    </a:cubicBezTo>
                    <a:cubicBezTo>
                      <a:pt x="30" y="59"/>
                      <a:pt x="34" y="49"/>
                      <a:pt x="42" y="42"/>
                    </a:cubicBezTo>
                    <a:cubicBezTo>
                      <a:pt x="49" y="34"/>
                      <a:pt x="59" y="30"/>
                      <a:pt x="70" y="30"/>
                    </a:cubicBezTo>
                    <a:cubicBezTo>
                      <a:pt x="82" y="30"/>
                      <a:pt x="92" y="34"/>
                      <a:pt x="99" y="42"/>
                    </a:cubicBezTo>
                    <a:cubicBezTo>
                      <a:pt x="106" y="49"/>
                      <a:pt x="111" y="59"/>
                      <a:pt x="111" y="70"/>
                    </a:cubicBezTo>
                    <a:cubicBezTo>
                      <a:pt x="111" y="82"/>
                      <a:pt x="106" y="92"/>
                      <a:pt x="99" y="99"/>
                    </a:cubicBezTo>
                    <a:cubicBezTo>
                      <a:pt x="92" y="106"/>
                      <a:pt x="82" y="111"/>
                      <a:pt x="70" y="111"/>
                    </a:cubicBezTo>
                    <a:cubicBezTo>
                      <a:pt x="66" y="111"/>
                      <a:pt x="61" y="110"/>
                      <a:pt x="57" y="109"/>
                    </a:cubicBezTo>
                    <a:cubicBezTo>
                      <a:pt x="57" y="109"/>
                      <a:pt x="56" y="109"/>
                      <a:pt x="56" y="109"/>
                    </a:cubicBezTo>
                    <a:close/>
                    <a:moveTo>
                      <a:pt x="70" y="96"/>
                    </a:moveTo>
                    <a:cubicBezTo>
                      <a:pt x="67" y="96"/>
                      <a:pt x="63" y="96"/>
                      <a:pt x="60" y="94"/>
                    </a:cubicBezTo>
                    <a:cubicBezTo>
                      <a:pt x="59" y="100"/>
                      <a:pt x="59" y="100"/>
                      <a:pt x="59" y="100"/>
                    </a:cubicBezTo>
                    <a:cubicBezTo>
                      <a:pt x="63" y="101"/>
                      <a:pt x="66" y="102"/>
                      <a:pt x="70" y="102"/>
                    </a:cubicBezTo>
                    <a:cubicBezTo>
                      <a:pt x="88" y="102"/>
                      <a:pt x="102" y="88"/>
                      <a:pt x="102" y="70"/>
                    </a:cubicBezTo>
                    <a:cubicBezTo>
                      <a:pt x="102" y="53"/>
                      <a:pt x="88" y="39"/>
                      <a:pt x="70" y="39"/>
                    </a:cubicBezTo>
                    <a:cubicBezTo>
                      <a:pt x="53" y="39"/>
                      <a:pt x="39" y="53"/>
                      <a:pt x="39" y="70"/>
                    </a:cubicBezTo>
                    <a:cubicBezTo>
                      <a:pt x="39" y="73"/>
                      <a:pt x="39" y="76"/>
                      <a:pt x="40" y="79"/>
                    </a:cubicBezTo>
                    <a:cubicBezTo>
                      <a:pt x="46" y="79"/>
                      <a:pt x="46" y="79"/>
                      <a:pt x="46" y="79"/>
                    </a:cubicBezTo>
                    <a:cubicBezTo>
                      <a:pt x="45" y="76"/>
                      <a:pt x="44" y="73"/>
                      <a:pt x="44" y="70"/>
                    </a:cubicBezTo>
                    <a:cubicBezTo>
                      <a:pt x="44" y="56"/>
                      <a:pt x="56" y="44"/>
                      <a:pt x="70" y="44"/>
                    </a:cubicBezTo>
                    <a:cubicBezTo>
                      <a:pt x="85" y="44"/>
                      <a:pt x="96" y="56"/>
                      <a:pt x="96" y="70"/>
                    </a:cubicBezTo>
                    <a:cubicBezTo>
                      <a:pt x="96" y="85"/>
                      <a:pt x="85" y="96"/>
                      <a:pt x="70" y="96"/>
                    </a:cubicBezTo>
                    <a:close/>
                    <a:moveTo>
                      <a:pt x="38" y="107"/>
                    </a:moveTo>
                    <a:cubicBezTo>
                      <a:pt x="44" y="101"/>
                      <a:pt x="44" y="101"/>
                      <a:pt x="44" y="101"/>
                    </a:cubicBezTo>
                    <a:cubicBezTo>
                      <a:pt x="47" y="98"/>
                      <a:pt x="47" y="98"/>
                      <a:pt x="47" y="98"/>
                    </a:cubicBezTo>
                    <a:cubicBezTo>
                      <a:pt x="55" y="106"/>
                      <a:pt x="55" y="106"/>
                      <a:pt x="55" y="106"/>
                    </a:cubicBezTo>
                    <a:cubicBezTo>
                      <a:pt x="56" y="106"/>
                      <a:pt x="56" y="106"/>
                      <a:pt x="56" y="106"/>
                    </a:cubicBezTo>
                    <a:cubicBezTo>
                      <a:pt x="56" y="106"/>
                      <a:pt x="56" y="106"/>
                      <a:pt x="56" y="106"/>
                    </a:cubicBezTo>
                    <a:cubicBezTo>
                      <a:pt x="56" y="106"/>
                      <a:pt x="56" y="106"/>
                      <a:pt x="56" y="106"/>
                    </a:cubicBezTo>
                    <a:cubicBezTo>
                      <a:pt x="57" y="99"/>
                      <a:pt x="57" y="99"/>
                      <a:pt x="57" y="99"/>
                    </a:cubicBezTo>
                    <a:cubicBezTo>
                      <a:pt x="58" y="93"/>
                      <a:pt x="58" y="93"/>
                      <a:pt x="58" y="93"/>
                    </a:cubicBezTo>
                    <a:cubicBezTo>
                      <a:pt x="59" y="81"/>
                      <a:pt x="59" y="81"/>
                      <a:pt x="59" y="81"/>
                    </a:cubicBezTo>
                    <a:cubicBezTo>
                      <a:pt x="59" y="81"/>
                      <a:pt x="59" y="81"/>
                      <a:pt x="59" y="81"/>
                    </a:cubicBezTo>
                    <a:cubicBezTo>
                      <a:pt x="59" y="80"/>
                      <a:pt x="58" y="80"/>
                      <a:pt x="57" y="80"/>
                    </a:cubicBezTo>
                    <a:cubicBezTo>
                      <a:pt x="57" y="80"/>
                      <a:pt x="57" y="80"/>
                      <a:pt x="57" y="80"/>
                    </a:cubicBezTo>
                    <a:cubicBezTo>
                      <a:pt x="46" y="81"/>
                      <a:pt x="46" y="81"/>
                      <a:pt x="46" y="81"/>
                    </a:cubicBezTo>
                    <a:cubicBezTo>
                      <a:pt x="41" y="81"/>
                      <a:pt x="41" y="81"/>
                      <a:pt x="41" y="81"/>
                    </a:cubicBezTo>
                    <a:cubicBezTo>
                      <a:pt x="33" y="82"/>
                      <a:pt x="33" y="82"/>
                      <a:pt x="33" y="82"/>
                    </a:cubicBezTo>
                    <a:cubicBezTo>
                      <a:pt x="32" y="82"/>
                      <a:pt x="32" y="83"/>
                      <a:pt x="32" y="83"/>
                    </a:cubicBezTo>
                    <a:cubicBezTo>
                      <a:pt x="32" y="83"/>
                      <a:pt x="32" y="83"/>
                      <a:pt x="32" y="83"/>
                    </a:cubicBezTo>
                    <a:cubicBezTo>
                      <a:pt x="41" y="91"/>
                      <a:pt x="41" y="91"/>
                      <a:pt x="41" y="91"/>
                    </a:cubicBezTo>
                    <a:cubicBezTo>
                      <a:pt x="37" y="94"/>
                      <a:pt x="37" y="94"/>
                      <a:pt x="37" y="94"/>
                    </a:cubicBezTo>
                    <a:cubicBezTo>
                      <a:pt x="31" y="100"/>
                      <a:pt x="31" y="100"/>
                      <a:pt x="31" y="100"/>
                    </a:cubicBezTo>
                    <a:cubicBezTo>
                      <a:pt x="25" y="107"/>
                      <a:pt x="25" y="107"/>
                      <a:pt x="25" y="107"/>
                    </a:cubicBezTo>
                    <a:cubicBezTo>
                      <a:pt x="17" y="115"/>
                      <a:pt x="17" y="115"/>
                      <a:pt x="17" y="115"/>
                    </a:cubicBezTo>
                    <a:cubicBezTo>
                      <a:pt x="17" y="115"/>
                      <a:pt x="17" y="115"/>
                      <a:pt x="17" y="115"/>
                    </a:cubicBezTo>
                    <a:cubicBezTo>
                      <a:pt x="16" y="116"/>
                      <a:pt x="16" y="117"/>
                      <a:pt x="16" y="118"/>
                    </a:cubicBezTo>
                    <a:cubicBezTo>
                      <a:pt x="16" y="119"/>
                      <a:pt x="16" y="121"/>
                      <a:pt x="17" y="121"/>
                    </a:cubicBezTo>
                    <a:cubicBezTo>
                      <a:pt x="18" y="122"/>
                      <a:pt x="19" y="123"/>
                      <a:pt x="20" y="123"/>
                    </a:cubicBezTo>
                    <a:cubicBezTo>
                      <a:pt x="21" y="123"/>
                      <a:pt x="22" y="123"/>
                      <a:pt x="23" y="122"/>
                    </a:cubicBezTo>
                    <a:cubicBezTo>
                      <a:pt x="23" y="122"/>
                      <a:pt x="24" y="122"/>
                      <a:pt x="24" y="121"/>
                    </a:cubicBezTo>
                    <a:cubicBezTo>
                      <a:pt x="32" y="114"/>
                      <a:pt x="32" y="114"/>
                      <a:pt x="32" y="114"/>
                    </a:cubicBezTo>
                    <a:lnTo>
                      <a:pt x="38"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99" name="组合 98"/>
            <p:cNvGrpSpPr/>
            <p:nvPr>
              <p:custDataLst>
                <p:tags r:id="rId14"/>
              </p:custDataLst>
            </p:nvPr>
          </p:nvGrpSpPr>
          <p:grpSpPr>
            <a:xfrm rot="0">
              <a:off x="8995" y="4826"/>
              <a:ext cx="1220" cy="1220"/>
              <a:chOff x="2309" y="4027"/>
              <a:chExt cx="1220" cy="1220"/>
            </a:xfrm>
          </p:grpSpPr>
          <p:sp>
            <p:nvSpPr>
              <p:cNvPr id="100" name="椭圆 99"/>
              <p:cNvSpPr/>
              <p:nvPr>
                <p:custDataLst>
                  <p:tags r:id="rId15"/>
                </p:custDataLst>
              </p:nvPr>
            </p:nvSpPr>
            <p:spPr>
              <a:xfrm>
                <a:off x="2309" y="4027"/>
                <a:ext cx="1221" cy="1221"/>
              </a:xfrm>
              <a:prstGeom prst="ellipse">
                <a:avLst/>
              </a:prstGeom>
              <a:gradFill>
                <a:gsLst>
                  <a:gs pos="0">
                    <a:srgbClr val="0061AE"/>
                  </a:gs>
                  <a:gs pos="100000">
                    <a:srgbClr val="0061AE"/>
                  </a:gs>
                </a:gsLst>
                <a:lin ang="0" scaled="1"/>
              </a:gradFill>
              <a:ln w="12700" cap="flat" cmpd="sng" algn="ctr">
                <a:noFill/>
                <a:prstDash val="solid"/>
                <a:miter lim="800000"/>
              </a:ln>
              <a:effectLst>
                <a:outerShdw blurRad="381000" algn="ctr" rotWithShape="0">
                  <a:prstClr val="black">
                    <a:alpha val="15000"/>
                  </a:prstClr>
                </a:outerShdw>
              </a:effectLst>
            </p:spPr>
            <p:txBody>
              <a:bodyPr rtlCol="0" anchor="ctr"/>
              <a:p>
                <a:pPr algn="ctr">
                  <a:lnSpc>
                    <a:spcPct val="150000"/>
                  </a:lnSpc>
                </a:pPr>
                <a:endParaRPr lang="zh-CN" altLang="en-US" kern="0" dirty="0">
                  <a:solidFill>
                    <a:schemeClr val="tx1">
                      <a:lumMod val="75000"/>
                      <a:lumOff val="25000"/>
                    </a:schemeClr>
                  </a:solidFill>
                  <a:latin typeface="字魂手刻宋" panose="00000500000000000000" charset="-122"/>
                  <a:ea typeface="字魂手刻宋" panose="00000500000000000000" charset="-122"/>
                </a:endParaRPr>
              </a:p>
            </p:txBody>
          </p:sp>
          <p:sp>
            <p:nvSpPr>
              <p:cNvPr id="101" name="Freeform 113"/>
              <p:cNvSpPr>
                <a:spLocks noEditPoints="1"/>
              </p:cNvSpPr>
              <p:nvPr>
                <p:custDataLst>
                  <p:tags r:id="rId16"/>
                </p:custDataLst>
              </p:nvPr>
            </p:nvSpPr>
            <p:spPr bwMode="auto">
              <a:xfrm>
                <a:off x="2569" y="4288"/>
                <a:ext cx="700" cy="700"/>
              </a:xfrm>
              <a:custGeom>
                <a:avLst/>
                <a:gdLst>
                  <a:gd name="T0" fmla="*/ 70 w 140"/>
                  <a:gd name="T1" fmla="*/ 140 h 140"/>
                  <a:gd name="T2" fmla="*/ 26 w 140"/>
                  <a:gd name="T3" fmla="*/ 123 h 140"/>
                  <a:gd name="T4" fmla="*/ 70 w 140"/>
                  <a:gd name="T5" fmla="*/ 128 h 140"/>
                  <a:gd name="T6" fmla="*/ 128 w 140"/>
                  <a:gd name="T7" fmla="*/ 70 h 140"/>
                  <a:gd name="T8" fmla="*/ 70 w 140"/>
                  <a:gd name="T9" fmla="*/ 12 h 140"/>
                  <a:gd name="T10" fmla="*/ 12 w 140"/>
                  <a:gd name="T11" fmla="*/ 70 h 140"/>
                  <a:gd name="T12" fmla="*/ 15 w 140"/>
                  <a:gd name="T13" fmla="*/ 113 h 140"/>
                  <a:gd name="T14" fmla="*/ 15 w 140"/>
                  <a:gd name="T15" fmla="*/ 113 h 140"/>
                  <a:gd name="T16" fmla="*/ 70 w 140"/>
                  <a:gd name="T17" fmla="*/ 0 h 140"/>
                  <a:gd name="T18" fmla="*/ 56 w 140"/>
                  <a:gd name="T19" fmla="*/ 109 h 140"/>
                  <a:gd name="T20" fmla="*/ 53 w 140"/>
                  <a:gd name="T21" fmla="*/ 107 h 140"/>
                  <a:gd name="T22" fmla="*/ 40 w 140"/>
                  <a:gd name="T23" fmla="*/ 109 h 140"/>
                  <a:gd name="T24" fmla="*/ 119 w 140"/>
                  <a:gd name="T25" fmla="*/ 70 h 140"/>
                  <a:gd name="T26" fmla="*/ 21 w 140"/>
                  <a:gd name="T27" fmla="*/ 70 h 140"/>
                  <a:gd name="T28" fmla="*/ 36 w 140"/>
                  <a:gd name="T29" fmla="*/ 92 h 140"/>
                  <a:gd name="T30" fmla="*/ 31 w 140"/>
                  <a:gd name="T31" fmla="*/ 85 h 140"/>
                  <a:gd name="T32" fmla="*/ 31 w 140"/>
                  <a:gd name="T33" fmla="*/ 81 h 140"/>
                  <a:gd name="T34" fmla="*/ 30 w 140"/>
                  <a:gd name="T35" fmla="*/ 70 h 140"/>
                  <a:gd name="T36" fmla="*/ 70 w 140"/>
                  <a:gd name="T37" fmla="*/ 30 h 140"/>
                  <a:gd name="T38" fmla="*/ 111 w 140"/>
                  <a:gd name="T39" fmla="*/ 70 h 140"/>
                  <a:gd name="T40" fmla="*/ 70 w 140"/>
                  <a:gd name="T41" fmla="*/ 111 h 140"/>
                  <a:gd name="T42" fmla="*/ 56 w 140"/>
                  <a:gd name="T43" fmla="*/ 109 h 140"/>
                  <a:gd name="T44" fmla="*/ 60 w 140"/>
                  <a:gd name="T45" fmla="*/ 94 h 140"/>
                  <a:gd name="T46" fmla="*/ 70 w 140"/>
                  <a:gd name="T47" fmla="*/ 102 h 140"/>
                  <a:gd name="T48" fmla="*/ 70 w 140"/>
                  <a:gd name="T49" fmla="*/ 39 h 140"/>
                  <a:gd name="T50" fmla="*/ 40 w 140"/>
                  <a:gd name="T51" fmla="*/ 79 h 140"/>
                  <a:gd name="T52" fmla="*/ 44 w 140"/>
                  <a:gd name="T53" fmla="*/ 70 h 140"/>
                  <a:gd name="T54" fmla="*/ 96 w 140"/>
                  <a:gd name="T55" fmla="*/ 70 h 140"/>
                  <a:gd name="T56" fmla="*/ 38 w 140"/>
                  <a:gd name="T57" fmla="*/ 107 h 140"/>
                  <a:gd name="T58" fmla="*/ 47 w 140"/>
                  <a:gd name="T59" fmla="*/ 98 h 140"/>
                  <a:gd name="T60" fmla="*/ 56 w 140"/>
                  <a:gd name="T61" fmla="*/ 106 h 140"/>
                  <a:gd name="T62" fmla="*/ 56 w 140"/>
                  <a:gd name="T63" fmla="*/ 106 h 140"/>
                  <a:gd name="T64" fmla="*/ 58 w 140"/>
                  <a:gd name="T65" fmla="*/ 93 h 140"/>
                  <a:gd name="T66" fmla="*/ 59 w 140"/>
                  <a:gd name="T67" fmla="*/ 81 h 140"/>
                  <a:gd name="T68" fmla="*/ 57 w 140"/>
                  <a:gd name="T69" fmla="*/ 80 h 140"/>
                  <a:gd name="T70" fmla="*/ 41 w 140"/>
                  <a:gd name="T71" fmla="*/ 81 h 140"/>
                  <a:gd name="T72" fmla="*/ 32 w 140"/>
                  <a:gd name="T73" fmla="*/ 83 h 140"/>
                  <a:gd name="T74" fmla="*/ 41 w 140"/>
                  <a:gd name="T75" fmla="*/ 91 h 140"/>
                  <a:gd name="T76" fmla="*/ 31 w 140"/>
                  <a:gd name="T77" fmla="*/ 100 h 140"/>
                  <a:gd name="T78" fmla="*/ 17 w 140"/>
                  <a:gd name="T79" fmla="*/ 115 h 140"/>
                  <a:gd name="T80" fmla="*/ 16 w 140"/>
                  <a:gd name="T81" fmla="*/ 118 h 140"/>
                  <a:gd name="T82" fmla="*/ 20 w 140"/>
                  <a:gd name="T83" fmla="*/ 123 h 140"/>
                  <a:gd name="T84" fmla="*/ 24 w 140"/>
                  <a:gd name="T85" fmla="*/ 121 h 140"/>
                  <a:gd name="T86" fmla="*/ 38 w 140"/>
                  <a:gd name="T87" fmla="*/ 10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40">
                    <a:moveTo>
                      <a:pt x="140" y="70"/>
                    </a:moveTo>
                    <a:cubicBezTo>
                      <a:pt x="140" y="109"/>
                      <a:pt x="109" y="140"/>
                      <a:pt x="70" y="140"/>
                    </a:cubicBezTo>
                    <a:cubicBezTo>
                      <a:pt x="53" y="140"/>
                      <a:pt x="37" y="134"/>
                      <a:pt x="25" y="124"/>
                    </a:cubicBezTo>
                    <a:cubicBezTo>
                      <a:pt x="25" y="123"/>
                      <a:pt x="25" y="123"/>
                      <a:pt x="26" y="123"/>
                    </a:cubicBezTo>
                    <a:cubicBezTo>
                      <a:pt x="34" y="115"/>
                      <a:pt x="34" y="115"/>
                      <a:pt x="34" y="115"/>
                    </a:cubicBezTo>
                    <a:cubicBezTo>
                      <a:pt x="44" y="123"/>
                      <a:pt x="56" y="128"/>
                      <a:pt x="70" y="128"/>
                    </a:cubicBezTo>
                    <a:cubicBezTo>
                      <a:pt x="86" y="128"/>
                      <a:pt x="101" y="122"/>
                      <a:pt x="111" y="111"/>
                    </a:cubicBezTo>
                    <a:cubicBezTo>
                      <a:pt x="122" y="101"/>
                      <a:pt x="128" y="86"/>
                      <a:pt x="128" y="70"/>
                    </a:cubicBezTo>
                    <a:cubicBezTo>
                      <a:pt x="128" y="54"/>
                      <a:pt x="122" y="40"/>
                      <a:pt x="111" y="29"/>
                    </a:cubicBezTo>
                    <a:cubicBezTo>
                      <a:pt x="101" y="19"/>
                      <a:pt x="86" y="12"/>
                      <a:pt x="70" y="12"/>
                    </a:cubicBezTo>
                    <a:cubicBezTo>
                      <a:pt x="54" y="12"/>
                      <a:pt x="40" y="19"/>
                      <a:pt x="29" y="29"/>
                    </a:cubicBezTo>
                    <a:cubicBezTo>
                      <a:pt x="19" y="40"/>
                      <a:pt x="12" y="54"/>
                      <a:pt x="12" y="70"/>
                    </a:cubicBezTo>
                    <a:cubicBezTo>
                      <a:pt x="12" y="83"/>
                      <a:pt x="17" y="95"/>
                      <a:pt x="24" y="105"/>
                    </a:cubicBezTo>
                    <a:cubicBezTo>
                      <a:pt x="15" y="113"/>
                      <a:pt x="15" y="113"/>
                      <a:pt x="15" y="113"/>
                    </a:cubicBezTo>
                    <a:cubicBezTo>
                      <a:pt x="15" y="113"/>
                      <a:pt x="15" y="113"/>
                      <a:pt x="15" y="113"/>
                    </a:cubicBezTo>
                    <a:cubicBezTo>
                      <a:pt x="15" y="113"/>
                      <a:pt x="15" y="113"/>
                      <a:pt x="15" y="113"/>
                    </a:cubicBezTo>
                    <a:cubicBezTo>
                      <a:pt x="6" y="101"/>
                      <a:pt x="0" y="87"/>
                      <a:pt x="0" y="70"/>
                    </a:cubicBezTo>
                    <a:cubicBezTo>
                      <a:pt x="0" y="32"/>
                      <a:pt x="32" y="0"/>
                      <a:pt x="70" y="0"/>
                    </a:cubicBezTo>
                    <a:cubicBezTo>
                      <a:pt x="109" y="0"/>
                      <a:pt x="140" y="32"/>
                      <a:pt x="140" y="70"/>
                    </a:cubicBezTo>
                    <a:close/>
                    <a:moveTo>
                      <a:pt x="56" y="109"/>
                    </a:moveTo>
                    <a:cubicBezTo>
                      <a:pt x="55" y="109"/>
                      <a:pt x="54" y="108"/>
                      <a:pt x="54" y="108"/>
                    </a:cubicBezTo>
                    <a:cubicBezTo>
                      <a:pt x="53" y="107"/>
                      <a:pt x="53" y="107"/>
                      <a:pt x="53" y="107"/>
                    </a:cubicBezTo>
                    <a:cubicBezTo>
                      <a:pt x="51" y="106"/>
                      <a:pt x="48" y="104"/>
                      <a:pt x="46" y="103"/>
                    </a:cubicBezTo>
                    <a:cubicBezTo>
                      <a:pt x="40" y="109"/>
                      <a:pt x="40" y="109"/>
                      <a:pt x="40" y="109"/>
                    </a:cubicBezTo>
                    <a:cubicBezTo>
                      <a:pt x="48" y="115"/>
                      <a:pt x="59" y="119"/>
                      <a:pt x="70" y="119"/>
                    </a:cubicBezTo>
                    <a:cubicBezTo>
                      <a:pt x="97" y="119"/>
                      <a:pt x="119" y="97"/>
                      <a:pt x="119" y="70"/>
                    </a:cubicBezTo>
                    <a:cubicBezTo>
                      <a:pt x="119" y="43"/>
                      <a:pt x="97" y="21"/>
                      <a:pt x="70" y="21"/>
                    </a:cubicBezTo>
                    <a:cubicBezTo>
                      <a:pt x="43" y="21"/>
                      <a:pt x="21" y="43"/>
                      <a:pt x="21" y="70"/>
                    </a:cubicBezTo>
                    <a:cubicBezTo>
                      <a:pt x="21" y="81"/>
                      <a:pt x="25" y="90"/>
                      <a:pt x="30" y="98"/>
                    </a:cubicBezTo>
                    <a:cubicBezTo>
                      <a:pt x="36" y="92"/>
                      <a:pt x="36" y="92"/>
                      <a:pt x="36" y="92"/>
                    </a:cubicBezTo>
                    <a:cubicBezTo>
                      <a:pt x="35" y="91"/>
                      <a:pt x="34" y="89"/>
                      <a:pt x="34" y="88"/>
                    </a:cubicBezTo>
                    <a:cubicBezTo>
                      <a:pt x="31" y="85"/>
                      <a:pt x="31" y="85"/>
                      <a:pt x="31" y="85"/>
                    </a:cubicBezTo>
                    <a:cubicBezTo>
                      <a:pt x="30" y="84"/>
                      <a:pt x="30" y="83"/>
                      <a:pt x="30" y="82"/>
                    </a:cubicBezTo>
                    <a:cubicBezTo>
                      <a:pt x="30" y="82"/>
                      <a:pt x="30" y="81"/>
                      <a:pt x="31" y="81"/>
                    </a:cubicBezTo>
                    <a:cubicBezTo>
                      <a:pt x="31" y="81"/>
                      <a:pt x="31" y="80"/>
                      <a:pt x="31" y="80"/>
                    </a:cubicBezTo>
                    <a:cubicBezTo>
                      <a:pt x="30" y="77"/>
                      <a:pt x="30" y="74"/>
                      <a:pt x="30" y="70"/>
                    </a:cubicBezTo>
                    <a:cubicBezTo>
                      <a:pt x="30" y="59"/>
                      <a:pt x="34" y="49"/>
                      <a:pt x="42" y="42"/>
                    </a:cubicBezTo>
                    <a:cubicBezTo>
                      <a:pt x="49" y="34"/>
                      <a:pt x="59" y="30"/>
                      <a:pt x="70" y="30"/>
                    </a:cubicBezTo>
                    <a:cubicBezTo>
                      <a:pt x="82" y="30"/>
                      <a:pt x="92" y="34"/>
                      <a:pt x="99" y="42"/>
                    </a:cubicBezTo>
                    <a:cubicBezTo>
                      <a:pt x="106" y="49"/>
                      <a:pt x="111" y="59"/>
                      <a:pt x="111" y="70"/>
                    </a:cubicBezTo>
                    <a:cubicBezTo>
                      <a:pt x="111" y="82"/>
                      <a:pt x="106" y="92"/>
                      <a:pt x="99" y="99"/>
                    </a:cubicBezTo>
                    <a:cubicBezTo>
                      <a:pt x="92" y="106"/>
                      <a:pt x="82" y="111"/>
                      <a:pt x="70" y="111"/>
                    </a:cubicBezTo>
                    <a:cubicBezTo>
                      <a:pt x="66" y="111"/>
                      <a:pt x="61" y="110"/>
                      <a:pt x="57" y="109"/>
                    </a:cubicBezTo>
                    <a:cubicBezTo>
                      <a:pt x="57" y="109"/>
                      <a:pt x="56" y="109"/>
                      <a:pt x="56" y="109"/>
                    </a:cubicBezTo>
                    <a:close/>
                    <a:moveTo>
                      <a:pt x="70" y="96"/>
                    </a:moveTo>
                    <a:cubicBezTo>
                      <a:pt x="67" y="96"/>
                      <a:pt x="63" y="96"/>
                      <a:pt x="60" y="94"/>
                    </a:cubicBezTo>
                    <a:cubicBezTo>
                      <a:pt x="59" y="100"/>
                      <a:pt x="59" y="100"/>
                      <a:pt x="59" y="100"/>
                    </a:cubicBezTo>
                    <a:cubicBezTo>
                      <a:pt x="63" y="101"/>
                      <a:pt x="66" y="102"/>
                      <a:pt x="70" y="102"/>
                    </a:cubicBezTo>
                    <a:cubicBezTo>
                      <a:pt x="88" y="102"/>
                      <a:pt x="102" y="88"/>
                      <a:pt x="102" y="70"/>
                    </a:cubicBezTo>
                    <a:cubicBezTo>
                      <a:pt x="102" y="53"/>
                      <a:pt x="88" y="39"/>
                      <a:pt x="70" y="39"/>
                    </a:cubicBezTo>
                    <a:cubicBezTo>
                      <a:pt x="53" y="39"/>
                      <a:pt x="39" y="53"/>
                      <a:pt x="39" y="70"/>
                    </a:cubicBezTo>
                    <a:cubicBezTo>
                      <a:pt x="39" y="73"/>
                      <a:pt x="39" y="76"/>
                      <a:pt x="40" y="79"/>
                    </a:cubicBezTo>
                    <a:cubicBezTo>
                      <a:pt x="46" y="79"/>
                      <a:pt x="46" y="79"/>
                      <a:pt x="46" y="79"/>
                    </a:cubicBezTo>
                    <a:cubicBezTo>
                      <a:pt x="45" y="76"/>
                      <a:pt x="44" y="73"/>
                      <a:pt x="44" y="70"/>
                    </a:cubicBezTo>
                    <a:cubicBezTo>
                      <a:pt x="44" y="56"/>
                      <a:pt x="56" y="44"/>
                      <a:pt x="70" y="44"/>
                    </a:cubicBezTo>
                    <a:cubicBezTo>
                      <a:pt x="85" y="44"/>
                      <a:pt x="96" y="56"/>
                      <a:pt x="96" y="70"/>
                    </a:cubicBezTo>
                    <a:cubicBezTo>
                      <a:pt x="96" y="85"/>
                      <a:pt x="85" y="96"/>
                      <a:pt x="70" y="96"/>
                    </a:cubicBezTo>
                    <a:close/>
                    <a:moveTo>
                      <a:pt x="38" y="107"/>
                    </a:moveTo>
                    <a:cubicBezTo>
                      <a:pt x="44" y="101"/>
                      <a:pt x="44" y="101"/>
                      <a:pt x="44" y="101"/>
                    </a:cubicBezTo>
                    <a:cubicBezTo>
                      <a:pt x="47" y="98"/>
                      <a:pt x="47" y="98"/>
                      <a:pt x="47" y="98"/>
                    </a:cubicBezTo>
                    <a:cubicBezTo>
                      <a:pt x="55" y="106"/>
                      <a:pt x="55" y="106"/>
                      <a:pt x="55" y="106"/>
                    </a:cubicBezTo>
                    <a:cubicBezTo>
                      <a:pt x="56" y="106"/>
                      <a:pt x="56" y="106"/>
                      <a:pt x="56" y="106"/>
                    </a:cubicBezTo>
                    <a:cubicBezTo>
                      <a:pt x="56" y="106"/>
                      <a:pt x="56" y="106"/>
                      <a:pt x="56" y="106"/>
                    </a:cubicBezTo>
                    <a:cubicBezTo>
                      <a:pt x="56" y="106"/>
                      <a:pt x="56" y="106"/>
                      <a:pt x="56" y="106"/>
                    </a:cubicBezTo>
                    <a:cubicBezTo>
                      <a:pt x="57" y="99"/>
                      <a:pt x="57" y="99"/>
                      <a:pt x="57" y="99"/>
                    </a:cubicBezTo>
                    <a:cubicBezTo>
                      <a:pt x="58" y="93"/>
                      <a:pt x="58" y="93"/>
                      <a:pt x="58" y="93"/>
                    </a:cubicBezTo>
                    <a:cubicBezTo>
                      <a:pt x="59" y="81"/>
                      <a:pt x="59" y="81"/>
                      <a:pt x="59" y="81"/>
                    </a:cubicBezTo>
                    <a:cubicBezTo>
                      <a:pt x="59" y="81"/>
                      <a:pt x="59" y="81"/>
                      <a:pt x="59" y="81"/>
                    </a:cubicBezTo>
                    <a:cubicBezTo>
                      <a:pt x="59" y="80"/>
                      <a:pt x="58" y="80"/>
                      <a:pt x="57" y="80"/>
                    </a:cubicBezTo>
                    <a:cubicBezTo>
                      <a:pt x="57" y="80"/>
                      <a:pt x="57" y="80"/>
                      <a:pt x="57" y="80"/>
                    </a:cubicBezTo>
                    <a:cubicBezTo>
                      <a:pt x="46" y="81"/>
                      <a:pt x="46" y="81"/>
                      <a:pt x="46" y="81"/>
                    </a:cubicBezTo>
                    <a:cubicBezTo>
                      <a:pt x="41" y="81"/>
                      <a:pt x="41" y="81"/>
                      <a:pt x="41" y="81"/>
                    </a:cubicBezTo>
                    <a:cubicBezTo>
                      <a:pt x="33" y="82"/>
                      <a:pt x="33" y="82"/>
                      <a:pt x="33" y="82"/>
                    </a:cubicBezTo>
                    <a:cubicBezTo>
                      <a:pt x="32" y="82"/>
                      <a:pt x="32" y="83"/>
                      <a:pt x="32" y="83"/>
                    </a:cubicBezTo>
                    <a:cubicBezTo>
                      <a:pt x="32" y="83"/>
                      <a:pt x="32" y="83"/>
                      <a:pt x="32" y="83"/>
                    </a:cubicBezTo>
                    <a:cubicBezTo>
                      <a:pt x="41" y="91"/>
                      <a:pt x="41" y="91"/>
                      <a:pt x="41" y="91"/>
                    </a:cubicBezTo>
                    <a:cubicBezTo>
                      <a:pt x="37" y="94"/>
                      <a:pt x="37" y="94"/>
                      <a:pt x="37" y="94"/>
                    </a:cubicBezTo>
                    <a:cubicBezTo>
                      <a:pt x="31" y="100"/>
                      <a:pt x="31" y="100"/>
                      <a:pt x="31" y="100"/>
                    </a:cubicBezTo>
                    <a:cubicBezTo>
                      <a:pt x="25" y="107"/>
                      <a:pt x="25" y="107"/>
                      <a:pt x="25" y="107"/>
                    </a:cubicBezTo>
                    <a:cubicBezTo>
                      <a:pt x="17" y="115"/>
                      <a:pt x="17" y="115"/>
                      <a:pt x="17" y="115"/>
                    </a:cubicBezTo>
                    <a:cubicBezTo>
                      <a:pt x="17" y="115"/>
                      <a:pt x="17" y="115"/>
                      <a:pt x="17" y="115"/>
                    </a:cubicBezTo>
                    <a:cubicBezTo>
                      <a:pt x="16" y="116"/>
                      <a:pt x="16" y="117"/>
                      <a:pt x="16" y="118"/>
                    </a:cubicBezTo>
                    <a:cubicBezTo>
                      <a:pt x="16" y="119"/>
                      <a:pt x="16" y="121"/>
                      <a:pt x="17" y="121"/>
                    </a:cubicBezTo>
                    <a:cubicBezTo>
                      <a:pt x="18" y="122"/>
                      <a:pt x="19" y="123"/>
                      <a:pt x="20" y="123"/>
                    </a:cubicBezTo>
                    <a:cubicBezTo>
                      <a:pt x="21" y="123"/>
                      <a:pt x="22" y="123"/>
                      <a:pt x="23" y="122"/>
                    </a:cubicBezTo>
                    <a:cubicBezTo>
                      <a:pt x="23" y="122"/>
                      <a:pt x="24" y="122"/>
                      <a:pt x="24" y="121"/>
                    </a:cubicBezTo>
                    <a:cubicBezTo>
                      <a:pt x="32" y="114"/>
                      <a:pt x="32" y="114"/>
                      <a:pt x="32" y="114"/>
                    </a:cubicBezTo>
                    <a:lnTo>
                      <a:pt x="38"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102" name="组合 101"/>
            <p:cNvGrpSpPr/>
            <p:nvPr>
              <p:custDataLst>
                <p:tags r:id="rId17"/>
              </p:custDataLst>
            </p:nvPr>
          </p:nvGrpSpPr>
          <p:grpSpPr>
            <a:xfrm rot="0">
              <a:off x="12338" y="4826"/>
              <a:ext cx="1220" cy="1220"/>
              <a:chOff x="2309" y="4027"/>
              <a:chExt cx="1220" cy="1220"/>
            </a:xfrm>
          </p:grpSpPr>
          <p:sp>
            <p:nvSpPr>
              <p:cNvPr id="103" name="椭圆 102"/>
              <p:cNvSpPr/>
              <p:nvPr>
                <p:custDataLst>
                  <p:tags r:id="rId18"/>
                </p:custDataLst>
              </p:nvPr>
            </p:nvSpPr>
            <p:spPr>
              <a:xfrm>
                <a:off x="2309" y="4027"/>
                <a:ext cx="1221" cy="1221"/>
              </a:xfrm>
              <a:prstGeom prst="ellipse">
                <a:avLst/>
              </a:prstGeom>
              <a:gradFill>
                <a:gsLst>
                  <a:gs pos="0">
                    <a:srgbClr val="0061AE"/>
                  </a:gs>
                  <a:gs pos="100000">
                    <a:srgbClr val="0061AE"/>
                  </a:gs>
                </a:gsLst>
                <a:lin ang="0" scaled="1"/>
              </a:gradFill>
              <a:ln w="12700" cap="flat" cmpd="sng" algn="ctr">
                <a:noFill/>
                <a:prstDash val="solid"/>
                <a:miter lim="800000"/>
              </a:ln>
              <a:effectLst>
                <a:outerShdw blurRad="381000" algn="ctr" rotWithShape="0">
                  <a:prstClr val="black">
                    <a:alpha val="15000"/>
                  </a:prstClr>
                </a:outerShdw>
              </a:effectLst>
            </p:spPr>
            <p:txBody>
              <a:bodyPr rtlCol="0" anchor="ctr"/>
              <a:p>
                <a:pPr algn="ctr">
                  <a:lnSpc>
                    <a:spcPct val="150000"/>
                  </a:lnSpc>
                </a:pPr>
                <a:endParaRPr lang="zh-CN" altLang="en-US" kern="0" dirty="0">
                  <a:solidFill>
                    <a:schemeClr val="tx1">
                      <a:lumMod val="75000"/>
                      <a:lumOff val="25000"/>
                    </a:schemeClr>
                  </a:solidFill>
                  <a:latin typeface="字魂手刻宋" panose="00000500000000000000" charset="-122"/>
                  <a:ea typeface="字魂手刻宋" panose="00000500000000000000" charset="-122"/>
                </a:endParaRPr>
              </a:p>
            </p:txBody>
          </p:sp>
          <p:sp>
            <p:nvSpPr>
              <p:cNvPr id="104" name="Freeform 113"/>
              <p:cNvSpPr>
                <a:spLocks noEditPoints="1"/>
              </p:cNvSpPr>
              <p:nvPr>
                <p:custDataLst>
                  <p:tags r:id="rId19"/>
                </p:custDataLst>
              </p:nvPr>
            </p:nvSpPr>
            <p:spPr bwMode="auto">
              <a:xfrm>
                <a:off x="2569" y="4288"/>
                <a:ext cx="700" cy="700"/>
              </a:xfrm>
              <a:custGeom>
                <a:avLst/>
                <a:gdLst>
                  <a:gd name="T0" fmla="*/ 70 w 140"/>
                  <a:gd name="T1" fmla="*/ 140 h 140"/>
                  <a:gd name="T2" fmla="*/ 26 w 140"/>
                  <a:gd name="T3" fmla="*/ 123 h 140"/>
                  <a:gd name="T4" fmla="*/ 70 w 140"/>
                  <a:gd name="T5" fmla="*/ 128 h 140"/>
                  <a:gd name="T6" fmla="*/ 128 w 140"/>
                  <a:gd name="T7" fmla="*/ 70 h 140"/>
                  <a:gd name="T8" fmla="*/ 70 w 140"/>
                  <a:gd name="T9" fmla="*/ 12 h 140"/>
                  <a:gd name="T10" fmla="*/ 12 w 140"/>
                  <a:gd name="T11" fmla="*/ 70 h 140"/>
                  <a:gd name="T12" fmla="*/ 15 w 140"/>
                  <a:gd name="T13" fmla="*/ 113 h 140"/>
                  <a:gd name="T14" fmla="*/ 15 w 140"/>
                  <a:gd name="T15" fmla="*/ 113 h 140"/>
                  <a:gd name="T16" fmla="*/ 70 w 140"/>
                  <a:gd name="T17" fmla="*/ 0 h 140"/>
                  <a:gd name="T18" fmla="*/ 56 w 140"/>
                  <a:gd name="T19" fmla="*/ 109 h 140"/>
                  <a:gd name="T20" fmla="*/ 53 w 140"/>
                  <a:gd name="T21" fmla="*/ 107 h 140"/>
                  <a:gd name="T22" fmla="*/ 40 w 140"/>
                  <a:gd name="T23" fmla="*/ 109 h 140"/>
                  <a:gd name="T24" fmla="*/ 119 w 140"/>
                  <a:gd name="T25" fmla="*/ 70 h 140"/>
                  <a:gd name="T26" fmla="*/ 21 w 140"/>
                  <a:gd name="T27" fmla="*/ 70 h 140"/>
                  <a:gd name="T28" fmla="*/ 36 w 140"/>
                  <a:gd name="T29" fmla="*/ 92 h 140"/>
                  <a:gd name="T30" fmla="*/ 31 w 140"/>
                  <a:gd name="T31" fmla="*/ 85 h 140"/>
                  <a:gd name="T32" fmla="*/ 31 w 140"/>
                  <a:gd name="T33" fmla="*/ 81 h 140"/>
                  <a:gd name="T34" fmla="*/ 30 w 140"/>
                  <a:gd name="T35" fmla="*/ 70 h 140"/>
                  <a:gd name="T36" fmla="*/ 70 w 140"/>
                  <a:gd name="T37" fmla="*/ 30 h 140"/>
                  <a:gd name="T38" fmla="*/ 111 w 140"/>
                  <a:gd name="T39" fmla="*/ 70 h 140"/>
                  <a:gd name="T40" fmla="*/ 70 w 140"/>
                  <a:gd name="T41" fmla="*/ 111 h 140"/>
                  <a:gd name="T42" fmla="*/ 56 w 140"/>
                  <a:gd name="T43" fmla="*/ 109 h 140"/>
                  <a:gd name="T44" fmla="*/ 60 w 140"/>
                  <a:gd name="T45" fmla="*/ 94 h 140"/>
                  <a:gd name="T46" fmla="*/ 70 w 140"/>
                  <a:gd name="T47" fmla="*/ 102 h 140"/>
                  <a:gd name="T48" fmla="*/ 70 w 140"/>
                  <a:gd name="T49" fmla="*/ 39 h 140"/>
                  <a:gd name="T50" fmla="*/ 40 w 140"/>
                  <a:gd name="T51" fmla="*/ 79 h 140"/>
                  <a:gd name="T52" fmla="*/ 44 w 140"/>
                  <a:gd name="T53" fmla="*/ 70 h 140"/>
                  <a:gd name="T54" fmla="*/ 96 w 140"/>
                  <a:gd name="T55" fmla="*/ 70 h 140"/>
                  <a:gd name="T56" fmla="*/ 38 w 140"/>
                  <a:gd name="T57" fmla="*/ 107 h 140"/>
                  <a:gd name="T58" fmla="*/ 47 w 140"/>
                  <a:gd name="T59" fmla="*/ 98 h 140"/>
                  <a:gd name="T60" fmla="*/ 56 w 140"/>
                  <a:gd name="T61" fmla="*/ 106 h 140"/>
                  <a:gd name="T62" fmla="*/ 56 w 140"/>
                  <a:gd name="T63" fmla="*/ 106 h 140"/>
                  <a:gd name="T64" fmla="*/ 58 w 140"/>
                  <a:gd name="T65" fmla="*/ 93 h 140"/>
                  <a:gd name="T66" fmla="*/ 59 w 140"/>
                  <a:gd name="T67" fmla="*/ 81 h 140"/>
                  <a:gd name="T68" fmla="*/ 57 w 140"/>
                  <a:gd name="T69" fmla="*/ 80 h 140"/>
                  <a:gd name="T70" fmla="*/ 41 w 140"/>
                  <a:gd name="T71" fmla="*/ 81 h 140"/>
                  <a:gd name="T72" fmla="*/ 32 w 140"/>
                  <a:gd name="T73" fmla="*/ 83 h 140"/>
                  <a:gd name="T74" fmla="*/ 41 w 140"/>
                  <a:gd name="T75" fmla="*/ 91 h 140"/>
                  <a:gd name="T76" fmla="*/ 31 w 140"/>
                  <a:gd name="T77" fmla="*/ 100 h 140"/>
                  <a:gd name="T78" fmla="*/ 17 w 140"/>
                  <a:gd name="T79" fmla="*/ 115 h 140"/>
                  <a:gd name="T80" fmla="*/ 16 w 140"/>
                  <a:gd name="T81" fmla="*/ 118 h 140"/>
                  <a:gd name="T82" fmla="*/ 20 w 140"/>
                  <a:gd name="T83" fmla="*/ 123 h 140"/>
                  <a:gd name="T84" fmla="*/ 24 w 140"/>
                  <a:gd name="T85" fmla="*/ 121 h 140"/>
                  <a:gd name="T86" fmla="*/ 38 w 140"/>
                  <a:gd name="T87" fmla="*/ 10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40">
                    <a:moveTo>
                      <a:pt x="140" y="70"/>
                    </a:moveTo>
                    <a:cubicBezTo>
                      <a:pt x="140" y="109"/>
                      <a:pt x="109" y="140"/>
                      <a:pt x="70" y="140"/>
                    </a:cubicBezTo>
                    <a:cubicBezTo>
                      <a:pt x="53" y="140"/>
                      <a:pt x="37" y="134"/>
                      <a:pt x="25" y="124"/>
                    </a:cubicBezTo>
                    <a:cubicBezTo>
                      <a:pt x="25" y="123"/>
                      <a:pt x="25" y="123"/>
                      <a:pt x="26" y="123"/>
                    </a:cubicBezTo>
                    <a:cubicBezTo>
                      <a:pt x="34" y="115"/>
                      <a:pt x="34" y="115"/>
                      <a:pt x="34" y="115"/>
                    </a:cubicBezTo>
                    <a:cubicBezTo>
                      <a:pt x="44" y="123"/>
                      <a:pt x="56" y="128"/>
                      <a:pt x="70" y="128"/>
                    </a:cubicBezTo>
                    <a:cubicBezTo>
                      <a:pt x="86" y="128"/>
                      <a:pt x="101" y="122"/>
                      <a:pt x="111" y="111"/>
                    </a:cubicBezTo>
                    <a:cubicBezTo>
                      <a:pt x="122" y="101"/>
                      <a:pt x="128" y="86"/>
                      <a:pt x="128" y="70"/>
                    </a:cubicBezTo>
                    <a:cubicBezTo>
                      <a:pt x="128" y="54"/>
                      <a:pt x="122" y="40"/>
                      <a:pt x="111" y="29"/>
                    </a:cubicBezTo>
                    <a:cubicBezTo>
                      <a:pt x="101" y="19"/>
                      <a:pt x="86" y="12"/>
                      <a:pt x="70" y="12"/>
                    </a:cubicBezTo>
                    <a:cubicBezTo>
                      <a:pt x="54" y="12"/>
                      <a:pt x="40" y="19"/>
                      <a:pt x="29" y="29"/>
                    </a:cubicBezTo>
                    <a:cubicBezTo>
                      <a:pt x="19" y="40"/>
                      <a:pt x="12" y="54"/>
                      <a:pt x="12" y="70"/>
                    </a:cubicBezTo>
                    <a:cubicBezTo>
                      <a:pt x="12" y="83"/>
                      <a:pt x="17" y="95"/>
                      <a:pt x="24" y="105"/>
                    </a:cubicBezTo>
                    <a:cubicBezTo>
                      <a:pt x="15" y="113"/>
                      <a:pt x="15" y="113"/>
                      <a:pt x="15" y="113"/>
                    </a:cubicBezTo>
                    <a:cubicBezTo>
                      <a:pt x="15" y="113"/>
                      <a:pt x="15" y="113"/>
                      <a:pt x="15" y="113"/>
                    </a:cubicBezTo>
                    <a:cubicBezTo>
                      <a:pt x="15" y="113"/>
                      <a:pt x="15" y="113"/>
                      <a:pt x="15" y="113"/>
                    </a:cubicBezTo>
                    <a:cubicBezTo>
                      <a:pt x="6" y="101"/>
                      <a:pt x="0" y="87"/>
                      <a:pt x="0" y="70"/>
                    </a:cubicBezTo>
                    <a:cubicBezTo>
                      <a:pt x="0" y="32"/>
                      <a:pt x="32" y="0"/>
                      <a:pt x="70" y="0"/>
                    </a:cubicBezTo>
                    <a:cubicBezTo>
                      <a:pt x="109" y="0"/>
                      <a:pt x="140" y="32"/>
                      <a:pt x="140" y="70"/>
                    </a:cubicBezTo>
                    <a:close/>
                    <a:moveTo>
                      <a:pt x="56" y="109"/>
                    </a:moveTo>
                    <a:cubicBezTo>
                      <a:pt x="55" y="109"/>
                      <a:pt x="54" y="108"/>
                      <a:pt x="54" y="108"/>
                    </a:cubicBezTo>
                    <a:cubicBezTo>
                      <a:pt x="53" y="107"/>
                      <a:pt x="53" y="107"/>
                      <a:pt x="53" y="107"/>
                    </a:cubicBezTo>
                    <a:cubicBezTo>
                      <a:pt x="51" y="106"/>
                      <a:pt x="48" y="104"/>
                      <a:pt x="46" y="103"/>
                    </a:cubicBezTo>
                    <a:cubicBezTo>
                      <a:pt x="40" y="109"/>
                      <a:pt x="40" y="109"/>
                      <a:pt x="40" y="109"/>
                    </a:cubicBezTo>
                    <a:cubicBezTo>
                      <a:pt x="48" y="115"/>
                      <a:pt x="59" y="119"/>
                      <a:pt x="70" y="119"/>
                    </a:cubicBezTo>
                    <a:cubicBezTo>
                      <a:pt x="97" y="119"/>
                      <a:pt x="119" y="97"/>
                      <a:pt x="119" y="70"/>
                    </a:cubicBezTo>
                    <a:cubicBezTo>
                      <a:pt x="119" y="43"/>
                      <a:pt x="97" y="21"/>
                      <a:pt x="70" y="21"/>
                    </a:cubicBezTo>
                    <a:cubicBezTo>
                      <a:pt x="43" y="21"/>
                      <a:pt x="21" y="43"/>
                      <a:pt x="21" y="70"/>
                    </a:cubicBezTo>
                    <a:cubicBezTo>
                      <a:pt x="21" y="81"/>
                      <a:pt x="25" y="90"/>
                      <a:pt x="30" y="98"/>
                    </a:cubicBezTo>
                    <a:cubicBezTo>
                      <a:pt x="36" y="92"/>
                      <a:pt x="36" y="92"/>
                      <a:pt x="36" y="92"/>
                    </a:cubicBezTo>
                    <a:cubicBezTo>
                      <a:pt x="35" y="91"/>
                      <a:pt x="34" y="89"/>
                      <a:pt x="34" y="88"/>
                    </a:cubicBezTo>
                    <a:cubicBezTo>
                      <a:pt x="31" y="85"/>
                      <a:pt x="31" y="85"/>
                      <a:pt x="31" y="85"/>
                    </a:cubicBezTo>
                    <a:cubicBezTo>
                      <a:pt x="30" y="84"/>
                      <a:pt x="30" y="83"/>
                      <a:pt x="30" y="82"/>
                    </a:cubicBezTo>
                    <a:cubicBezTo>
                      <a:pt x="30" y="82"/>
                      <a:pt x="30" y="81"/>
                      <a:pt x="31" y="81"/>
                    </a:cubicBezTo>
                    <a:cubicBezTo>
                      <a:pt x="31" y="81"/>
                      <a:pt x="31" y="80"/>
                      <a:pt x="31" y="80"/>
                    </a:cubicBezTo>
                    <a:cubicBezTo>
                      <a:pt x="30" y="77"/>
                      <a:pt x="30" y="74"/>
                      <a:pt x="30" y="70"/>
                    </a:cubicBezTo>
                    <a:cubicBezTo>
                      <a:pt x="30" y="59"/>
                      <a:pt x="34" y="49"/>
                      <a:pt x="42" y="42"/>
                    </a:cubicBezTo>
                    <a:cubicBezTo>
                      <a:pt x="49" y="34"/>
                      <a:pt x="59" y="30"/>
                      <a:pt x="70" y="30"/>
                    </a:cubicBezTo>
                    <a:cubicBezTo>
                      <a:pt x="82" y="30"/>
                      <a:pt x="92" y="34"/>
                      <a:pt x="99" y="42"/>
                    </a:cubicBezTo>
                    <a:cubicBezTo>
                      <a:pt x="106" y="49"/>
                      <a:pt x="111" y="59"/>
                      <a:pt x="111" y="70"/>
                    </a:cubicBezTo>
                    <a:cubicBezTo>
                      <a:pt x="111" y="82"/>
                      <a:pt x="106" y="92"/>
                      <a:pt x="99" y="99"/>
                    </a:cubicBezTo>
                    <a:cubicBezTo>
                      <a:pt x="92" y="106"/>
                      <a:pt x="82" y="111"/>
                      <a:pt x="70" y="111"/>
                    </a:cubicBezTo>
                    <a:cubicBezTo>
                      <a:pt x="66" y="111"/>
                      <a:pt x="61" y="110"/>
                      <a:pt x="57" y="109"/>
                    </a:cubicBezTo>
                    <a:cubicBezTo>
                      <a:pt x="57" y="109"/>
                      <a:pt x="56" y="109"/>
                      <a:pt x="56" y="109"/>
                    </a:cubicBezTo>
                    <a:close/>
                    <a:moveTo>
                      <a:pt x="70" y="96"/>
                    </a:moveTo>
                    <a:cubicBezTo>
                      <a:pt x="67" y="96"/>
                      <a:pt x="63" y="96"/>
                      <a:pt x="60" y="94"/>
                    </a:cubicBezTo>
                    <a:cubicBezTo>
                      <a:pt x="59" y="100"/>
                      <a:pt x="59" y="100"/>
                      <a:pt x="59" y="100"/>
                    </a:cubicBezTo>
                    <a:cubicBezTo>
                      <a:pt x="63" y="101"/>
                      <a:pt x="66" y="102"/>
                      <a:pt x="70" y="102"/>
                    </a:cubicBezTo>
                    <a:cubicBezTo>
                      <a:pt x="88" y="102"/>
                      <a:pt x="102" y="88"/>
                      <a:pt x="102" y="70"/>
                    </a:cubicBezTo>
                    <a:cubicBezTo>
                      <a:pt x="102" y="53"/>
                      <a:pt x="88" y="39"/>
                      <a:pt x="70" y="39"/>
                    </a:cubicBezTo>
                    <a:cubicBezTo>
                      <a:pt x="53" y="39"/>
                      <a:pt x="39" y="53"/>
                      <a:pt x="39" y="70"/>
                    </a:cubicBezTo>
                    <a:cubicBezTo>
                      <a:pt x="39" y="73"/>
                      <a:pt x="39" y="76"/>
                      <a:pt x="40" y="79"/>
                    </a:cubicBezTo>
                    <a:cubicBezTo>
                      <a:pt x="46" y="79"/>
                      <a:pt x="46" y="79"/>
                      <a:pt x="46" y="79"/>
                    </a:cubicBezTo>
                    <a:cubicBezTo>
                      <a:pt x="45" y="76"/>
                      <a:pt x="44" y="73"/>
                      <a:pt x="44" y="70"/>
                    </a:cubicBezTo>
                    <a:cubicBezTo>
                      <a:pt x="44" y="56"/>
                      <a:pt x="56" y="44"/>
                      <a:pt x="70" y="44"/>
                    </a:cubicBezTo>
                    <a:cubicBezTo>
                      <a:pt x="85" y="44"/>
                      <a:pt x="96" y="56"/>
                      <a:pt x="96" y="70"/>
                    </a:cubicBezTo>
                    <a:cubicBezTo>
                      <a:pt x="96" y="85"/>
                      <a:pt x="85" y="96"/>
                      <a:pt x="70" y="96"/>
                    </a:cubicBezTo>
                    <a:close/>
                    <a:moveTo>
                      <a:pt x="38" y="107"/>
                    </a:moveTo>
                    <a:cubicBezTo>
                      <a:pt x="44" y="101"/>
                      <a:pt x="44" y="101"/>
                      <a:pt x="44" y="101"/>
                    </a:cubicBezTo>
                    <a:cubicBezTo>
                      <a:pt x="47" y="98"/>
                      <a:pt x="47" y="98"/>
                      <a:pt x="47" y="98"/>
                    </a:cubicBezTo>
                    <a:cubicBezTo>
                      <a:pt x="55" y="106"/>
                      <a:pt x="55" y="106"/>
                      <a:pt x="55" y="106"/>
                    </a:cubicBezTo>
                    <a:cubicBezTo>
                      <a:pt x="56" y="106"/>
                      <a:pt x="56" y="106"/>
                      <a:pt x="56" y="106"/>
                    </a:cubicBezTo>
                    <a:cubicBezTo>
                      <a:pt x="56" y="106"/>
                      <a:pt x="56" y="106"/>
                      <a:pt x="56" y="106"/>
                    </a:cubicBezTo>
                    <a:cubicBezTo>
                      <a:pt x="56" y="106"/>
                      <a:pt x="56" y="106"/>
                      <a:pt x="56" y="106"/>
                    </a:cubicBezTo>
                    <a:cubicBezTo>
                      <a:pt x="57" y="99"/>
                      <a:pt x="57" y="99"/>
                      <a:pt x="57" y="99"/>
                    </a:cubicBezTo>
                    <a:cubicBezTo>
                      <a:pt x="58" y="93"/>
                      <a:pt x="58" y="93"/>
                      <a:pt x="58" y="93"/>
                    </a:cubicBezTo>
                    <a:cubicBezTo>
                      <a:pt x="59" y="81"/>
                      <a:pt x="59" y="81"/>
                      <a:pt x="59" y="81"/>
                    </a:cubicBezTo>
                    <a:cubicBezTo>
                      <a:pt x="59" y="81"/>
                      <a:pt x="59" y="81"/>
                      <a:pt x="59" y="81"/>
                    </a:cubicBezTo>
                    <a:cubicBezTo>
                      <a:pt x="59" y="80"/>
                      <a:pt x="58" y="80"/>
                      <a:pt x="57" y="80"/>
                    </a:cubicBezTo>
                    <a:cubicBezTo>
                      <a:pt x="57" y="80"/>
                      <a:pt x="57" y="80"/>
                      <a:pt x="57" y="80"/>
                    </a:cubicBezTo>
                    <a:cubicBezTo>
                      <a:pt x="46" y="81"/>
                      <a:pt x="46" y="81"/>
                      <a:pt x="46" y="81"/>
                    </a:cubicBezTo>
                    <a:cubicBezTo>
                      <a:pt x="41" y="81"/>
                      <a:pt x="41" y="81"/>
                      <a:pt x="41" y="81"/>
                    </a:cubicBezTo>
                    <a:cubicBezTo>
                      <a:pt x="33" y="82"/>
                      <a:pt x="33" y="82"/>
                      <a:pt x="33" y="82"/>
                    </a:cubicBezTo>
                    <a:cubicBezTo>
                      <a:pt x="32" y="82"/>
                      <a:pt x="32" y="83"/>
                      <a:pt x="32" y="83"/>
                    </a:cubicBezTo>
                    <a:cubicBezTo>
                      <a:pt x="32" y="83"/>
                      <a:pt x="32" y="83"/>
                      <a:pt x="32" y="83"/>
                    </a:cubicBezTo>
                    <a:cubicBezTo>
                      <a:pt x="41" y="91"/>
                      <a:pt x="41" y="91"/>
                      <a:pt x="41" y="91"/>
                    </a:cubicBezTo>
                    <a:cubicBezTo>
                      <a:pt x="37" y="94"/>
                      <a:pt x="37" y="94"/>
                      <a:pt x="37" y="94"/>
                    </a:cubicBezTo>
                    <a:cubicBezTo>
                      <a:pt x="31" y="100"/>
                      <a:pt x="31" y="100"/>
                      <a:pt x="31" y="100"/>
                    </a:cubicBezTo>
                    <a:cubicBezTo>
                      <a:pt x="25" y="107"/>
                      <a:pt x="25" y="107"/>
                      <a:pt x="25" y="107"/>
                    </a:cubicBezTo>
                    <a:cubicBezTo>
                      <a:pt x="17" y="115"/>
                      <a:pt x="17" y="115"/>
                      <a:pt x="17" y="115"/>
                    </a:cubicBezTo>
                    <a:cubicBezTo>
                      <a:pt x="17" y="115"/>
                      <a:pt x="17" y="115"/>
                      <a:pt x="17" y="115"/>
                    </a:cubicBezTo>
                    <a:cubicBezTo>
                      <a:pt x="16" y="116"/>
                      <a:pt x="16" y="117"/>
                      <a:pt x="16" y="118"/>
                    </a:cubicBezTo>
                    <a:cubicBezTo>
                      <a:pt x="16" y="119"/>
                      <a:pt x="16" y="121"/>
                      <a:pt x="17" y="121"/>
                    </a:cubicBezTo>
                    <a:cubicBezTo>
                      <a:pt x="18" y="122"/>
                      <a:pt x="19" y="123"/>
                      <a:pt x="20" y="123"/>
                    </a:cubicBezTo>
                    <a:cubicBezTo>
                      <a:pt x="21" y="123"/>
                      <a:pt x="22" y="123"/>
                      <a:pt x="23" y="122"/>
                    </a:cubicBezTo>
                    <a:cubicBezTo>
                      <a:pt x="23" y="122"/>
                      <a:pt x="24" y="122"/>
                      <a:pt x="24" y="121"/>
                    </a:cubicBezTo>
                    <a:cubicBezTo>
                      <a:pt x="32" y="114"/>
                      <a:pt x="32" y="114"/>
                      <a:pt x="32" y="114"/>
                    </a:cubicBezTo>
                    <a:lnTo>
                      <a:pt x="38"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grpSp>
          <p:nvGrpSpPr>
            <p:cNvPr id="105" name="组合 104"/>
            <p:cNvGrpSpPr/>
            <p:nvPr>
              <p:custDataLst>
                <p:tags r:id="rId20"/>
              </p:custDataLst>
            </p:nvPr>
          </p:nvGrpSpPr>
          <p:grpSpPr>
            <a:xfrm rot="0">
              <a:off x="15681" y="4826"/>
              <a:ext cx="1220" cy="1220"/>
              <a:chOff x="2309" y="4027"/>
              <a:chExt cx="1220" cy="1220"/>
            </a:xfrm>
          </p:grpSpPr>
          <p:sp>
            <p:nvSpPr>
              <p:cNvPr id="106" name="椭圆 105"/>
              <p:cNvSpPr/>
              <p:nvPr>
                <p:custDataLst>
                  <p:tags r:id="rId21"/>
                </p:custDataLst>
              </p:nvPr>
            </p:nvSpPr>
            <p:spPr>
              <a:xfrm>
                <a:off x="2309" y="4027"/>
                <a:ext cx="1221" cy="1221"/>
              </a:xfrm>
              <a:prstGeom prst="ellipse">
                <a:avLst/>
              </a:prstGeom>
              <a:gradFill>
                <a:gsLst>
                  <a:gs pos="0">
                    <a:srgbClr val="0061AE"/>
                  </a:gs>
                  <a:gs pos="100000">
                    <a:srgbClr val="0061AE"/>
                  </a:gs>
                </a:gsLst>
                <a:lin ang="0" scaled="1"/>
              </a:gradFill>
              <a:ln w="12700" cap="flat" cmpd="sng" algn="ctr">
                <a:noFill/>
                <a:prstDash val="solid"/>
                <a:miter lim="800000"/>
              </a:ln>
              <a:effectLst>
                <a:outerShdw blurRad="381000" algn="ctr" rotWithShape="0">
                  <a:prstClr val="black">
                    <a:alpha val="15000"/>
                  </a:prstClr>
                </a:outerShdw>
              </a:effectLst>
            </p:spPr>
            <p:txBody>
              <a:bodyPr rtlCol="0" anchor="ctr"/>
              <a:p>
                <a:pPr algn="ctr">
                  <a:lnSpc>
                    <a:spcPct val="150000"/>
                  </a:lnSpc>
                </a:pPr>
                <a:endParaRPr lang="zh-CN" altLang="en-US" kern="0" dirty="0">
                  <a:solidFill>
                    <a:schemeClr val="tx1">
                      <a:lumMod val="75000"/>
                      <a:lumOff val="25000"/>
                    </a:schemeClr>
                  </a:solidFill>
                  <a:latin typeface="字魂手刻宋" panose="00000500000000000000" charset="-122"/>
                  <a:ea typeface="字魂手刻宋" panose="00000500000000000000" charset="-122"/>
                </a:endParaRPr>
              </a:p>
            </p:txBody>
          </p:sp>
          <p:sp>
            <p:nvSpPr>
              <p:cNvPr id="107" name="Freeform 113"/>
              <p:cNvSpPr>
                <a:spLocks noEditPoints="1"/>
              </p:cNvSpPr>
              <p:nvPr>
                <p:custDataLst>
                  <p:tags r:id="rId22"/>
                </p:custDataLst>
              </p:nvPr>
            </p:nvSpPr>
            <p:spPr bwMode="auto">
              <a:xfrm>
                <a:off x="2569" y="4288"/>
                <a:ext cx="700" cy="700"/>
              </a:xfrm>
              <a:custGeom>
                <a:avLst/>
                <a:gdLst>
                  <a:gd name="T0" fmla="*/ 70 w 140"/>
                  <a:gd name="T1" fmla="*/ 140 h 140"/>
                  <a:gd name="T2" fmla="*/ 26 w 140"/>
                  <a:gd name="T3" fmla="*/ 123 h 140"/>
                  <a:gd name="T4" fmla="*/ 70 w 140"/>
                  <a:gd name="T5" fmla="*/ 128 h 140"/>
                  <a:gd name="T6" fmla="*/ 128 w 140"/>
                  <a:gd name="T7" fmla="*/ 70 h 140"/>
                  <a:gd name="T8" fmla="*/ 70 w 140"/>
                  <a:gd name="T9" fmla="*/ 12 h 140"/>
                  <a:gd name="T10" fmla="*/ 12 w 140"/>
                  <a:gd name="T11" fmla="*/ 70 h 140"/>
                  <a:gd name="T12" fmla="*/ 15 w 140"/>
                  <a:gd name="T13" fmla="*/ 113 h 140"/>
                  <a:gd name="T14" fmla="*/ 15 w 140"/>
                  <a:gd name="T15" fmla="*/ 113 h 140"/>
                  <a:gd name="T16" fmla="*/ 70 w 140"/>
                  <a:gd name="T17" fmla="*/ 0 h 140"/>
                  <a:gd name="T18" fmla="*/ 56 w 140"/>
                  <a:gd name="T19" fmla="*/ 109 h 140"/>
                  <a:gd name="T20" fmla="*/ 53 w 140"/>
                  <a:gd name="T21" fmla="*/ 107 h 140"/>
                  <a:gd name="T22" fmla="*/ 40 w 140"/>
                  <a:gd name="T23" fmla="*/ 109 h 140"/>
                  <a:gd name="T24" fmla="*/ 119 w 140"/>
                  <a:gd name="T25" fmla="*/ 70 h 140"/>
                  <a:gd name="T26" fmla="*/ 21 w 140"/>
                  <a:gd name="T27" fmla="*/ 70 h 140"/>
                  <a:gd name="T28" fmla="*/ 36 w 140"/>
                  <a:gd name="T29" fmla="*/ 92 h 140"/>
                  <a:gd name="T30" fmla="*/ 31 w 140"/>
                  <a:gd name="T31" fmla="*/ 85 h 140"/>
                  <a:gd name="T32" fmla="*/ 31 w 140"/>
                  <a:gd name="T33" fmla="*/ 81 h 140"/>
                  <a:gd name="T34" fmla="*/ 30 w 140"/>
                  <a:gd name="T35" fmla="*/ 70 h 140"/>
                  <a:gd name="T36" fmla="*/ 70 w 140"/>
                  <a:gd name="T37" fmla="*/ 30 h 140"/>
                  <a:gd name="T38" fmla="*/ 111 w 140"/>
                  <a:gd name="T39" fmla="*/ 70 h 140"/>
                  <a:gd name="T40" fmla="*/ 70 w 140"/>
                  <a:gd name="T41" fmla="*/ 111 h 140"/>
                  <a:gd name="T42" fmla="*/ 56 w 140"/>
                  <a:gd name="T43" fmla="*/ 109 h 140"/>
                  <a:gd name="T44" fmla="*/ 60 w 140"/>
                  <a:gd name="T45" fmla="*/ 94 h 140"/>
                  <a:gd name="T46" fmla="*/ 70 w 140"/>
                  <a:gd name="T47" fmla="*/ 102 h 140"/>
                  <a:gd name="T48" fmla="*/ 70 w 140"/>
                  <a:gd name="T49" fmla="*/ 39 h 140"/>
                  <a:gd name="T50" fmla="*/ 40 w 140"/>
                  <a:gd name="T51" fmla="*/ 79 h 140"/>
                  <a:gd name="T52" fmla="*/ 44 w 140"/>
                  <a:gd name="T53" fmla="*/ 70 h 140"/>
                  <a:gd name="T54" fmla="*/ 96 w 140"/>
                  <a:gd name="T55" fmla="*/ 70 h 140"/>
                  <a:gd name="T56" fmla="*/ 38 w 140"/>
                  <a:gd name="T57" fmla="*/ 107 h 140"/>
                  <a:gd name="T58" fmla="*/ 47 w 140"/>
                  <a:gd name="T59" fmla="*/ 98 h 140"/>
                  <a:gd name="T60" fmla="*/ 56 w 140"/>
                  <a:gd name="T61" fmla="*/ 106 h 140"/>
                  <a:gd name="T62" fmla="*/ 56 w 140"/>
                  <a:gd name="T63" fmla="*/ 106 h 140"/>
                  <a:gd name="T64" fmla="*/ 58 w 140"/>
                  <a:gd name="T65" fmla="*/ 93 h 140"/>
                  <a:gd name="T66" fmla="*/ 59 w 140"/>
                  <a:gd name="T67" fmla="*/ 81 h 140"/>
                  <a:gd name="T68" fmla="*/ 57 w 140"/>
                  <a:gd name="T69" fmla="*/ 80 h 140"/>
                  <a:gd name="T70" fmla="*/ 41 w 140"/>
                  <a:gd name="T71" fmla="*/ 81 h 140"/>
                  <a:gd name="T72" fmla="*/ 32 w 140"/>
                  <a:gd name="T73" fmla="*/ 83 h 140"/>
                  <a:gd name="T74" fmla="*/ 41 w 140"/>
                  <a:gd name="T75" fmla="*/ 91 h 140"/>
                  <a:gd name="T76" fmla="*/ 31 w 140"/>
                  <a:gd name="T77" fmla="*/ 100 h 140"/>
                  <a:gd name="T78" fmla="*/ 17 w 140"/>
                  <a:gd name="T79" fmla="*/ 115 h 140"/>
                  <a:gd name="T80" fmla="*/ 16 w 140"/>
                  <a:gd name="T81" fmla="*/ 118 h 140"/>
                  <a:gd name="T82" fmla="*/ 20 w 140"/>
                  <a:gd name="T83" fmla="*/ 123 h 140"/>
                  <a:gd name="T84" fmla="*/ 24 w 140"/>
                  <a:gd name="T85" fmla="*/ 121 h 140"/>
                  <a:gd name="T86" fmla="*/ 38 w 140"/>
                  <a:gd name="T87" fmla="*/ 10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40">
                    <a:moveTo>
                      <a:pt x="140" y="70"/>
                    </a:moveTo>
                    <a:cubicBezTo>
                      <a:pt x="140" y="109"/>
                      <a:pt x="109" y="140"/>
                      <a:pt x="70" y="140"/>
                    </a:cubicBezTo>
                    <a:cubicBezTo>
                      <a:pt x="53" y="140"/>
                      <a:pt x="37" y="134"/>
                      <a:pt x="25" y="124"/>
                    </a:cubicBezTo>
                    <a:cubicBezTo>
                      <a:pt x="25" y="123"/>
                      <a:pt x="25" y="123"/>
                      <a:pt x="26" y="123"/>
                    </a:cubicBezTo>
                    <a:cubicBezTo>
                      <a:pt x="34" y="115"/>
                      <a:pt x="34" y="115"/>
                      <a:pt x="34" y="115"/>
                    </a:cubicBezTo>
                    <a:cubicBezTo>
                      <a:pt x="44" y="123"/>
                      <a:pt x="56" y="128"/>
                      <a:pt x="70" y="128"/>
                    </a:cubicBezTo>
                    <a:cubicBezTo>
                      <a:pt x="86" y="128"/>
                      <a:pt x="101" y="122"/>
                      <a:pt x="111" y="111"/>
                    </a:cubicBezTo>
                    <a:cubicBezTo>
                      <a:pt x="122" y="101"/>
                      <a:pt x="128" y="86"/>
                      <a:pt x="128" y="70"/>
                    </a:cubicBezTo>
                    <a:cubicBezTo>
                      <a:pt x="128" y="54"/>
                      <a:pt x="122" y="40"/>
                      <a:pt x="111" y="29"/>
                    </a:cubicBezTo>
                    <a:cubicBezTo>
                      <a:pt x="101" y="19"/>
                      <a:pt x="86" y="12"/>
                      <a:pt x="70" y="12"/>
                    </a:cubicBezTo>
                    <a:cubicBezTo>
                      <a:pt x="54" y="12"/>
                      <a:pt x="40" y="19"/>
                      <a:pt x="29" y="29"/>
                    </a:cubicBezTo>
                    <a:cubicBezTo>
                      <a:pt x="19" y="40"/>
                      <a:pt x="12" y="54"/>
                      <a:pt x="12" y="70"/>
                    </a:cubicBezTo>
                    <a:cubicBezTo>
                      <a:pt x="12" y="83"/>
                      <a:pt x="17" y="95"/>
                      <a:pt x="24" y="105"/>
                    </a:cubicBezTo>
                    <a:cubicBezTo>
                      <a:pt x="15" y="113"/>
                      <a:pt x="15" y="113"/>
                      <a:pt x="15" y="113"/>
                    </a:cubicBezTo>
                    <a:cubicBezTo>
                      <a:pt x="15" y="113"/>
                      <a:pt x="15" y="113"/>
                      <a:pt x="15" y="113"/>
                    </a:cubicBezTo>
                    <a:cubicBezTo>
                      <a:pt x="15" y="113"/>
                      <a:pt x="15" y="113"/>
                      <a:pt x="15" y="113"/>
                    </a:cubicBezTo>
                    <a:cubicBezTo>
                      <a:pt x="6" y="101"/>
                      <a:pt x="0" y="87"/>
                      <a:pt x="0" y="70"/>
                    </a:cubicBezTo>
                    <a:cubicBezTo>
                      <a:pt x="0" y="32"/>
                      <a:pt x="32" y="0"/>
                      <a:pt x="70" y="0"/>
                    </a:cubicBezTo>
                    <a:cubicBezTo>
                      <a:pt x="109" y="0"/>
                      <a:pt x="140" y="32"/>
                      <a:pt x="140" y="70"/>
                    </a:cubicBezTo>
                    <a:close/>
                    <a:moveTo>
                      <a:pt x="56" y="109"/>
                    </a:moveTo>
                    <a:cubicBezTo>
                      <a:pt x="55" y="109"/>
                      <a:pt x="54" y="108"/>
                      <a:pt x="54" y="108"/>
                    </a:cubicBezTo>
                    <a:cubicBezTo>
                      <a:pt x="53" y="107"/>
                      <a:pt x="53" y="107"/>
                      <a:pt x="53" y="107"/>
                    </a:cubicBezTo>
                    <a:cubicBezTo>
                      <a:pt x="51" y="106"/>
                      <a:pt x="48" y="104"/>
                      <a:pt x="46" y="103"/>
                    </a:cubicBezTo>
                    <a:cubicBezTo>
                      <a:pt x="40" y="109"/>
                      <a:pt x="40" y="109"/>
                      <a:pt x="40" y="109"/>
                    </a:cubicBezTo>
                    <a:cubicBezTo>
                      <a:pt x="48" y="115"/>
                      <a:pt x="59" y="119"/>
                      <a:pt x="70" y="119"/>
                    </a:cubicBezTo>
                    <a:cubicBezTo>
                      <a:pt x="97" y="119"/>
                      <a:pt x="119" y="97"/>
                      <a:pt x="119" y="70"/>
                    </a:cubicBezTo>
                    <a:cubicBezTo>
                      <a:pt x="119" y="43"/>
                      <a:pt x="97" y="21"/>
                      <a:pt x="70" y="21"/>
                    </a:cubicBezTo>
                    <a:cubicBezTo>
                      <a:pt x="43" y="21"/>
                      <a:pt x="21" y="43"/>
                      <a:pt x="21" y="70"/>
                    </a:cubicBezTo>
                    <a:cubicBezTo>
                      <a:pt x="21" y="81"/>
                      <a:pt x="25" y="90"/>
                      <a:pt x="30" y="98"/>
                    </a:cubicBezTo>
                    <a:cubicBezTo>
                      <a:pt x="36" y="92"/>
                      <a:pt x="36" y="92"/>
                      <a:pt x="36" y="92"/>
                    </a:cubicBezTo>
                    <a:cubicBezTo>
                      <a:pt x="35" y="91"/>
                      <a:pt x="34" y="89"/>
                      <a:pt x="34" y="88"/>
                    </a:cubicBezTo>
                    <a:cubicBezTo>
                      <a:pt x="31" y="85"/>
                      <a:pt x="31" y="85"/>
                      <a:pt x="31" y="85"/>
                    </a:cubicBezTo>
                    <a:cubicBezTo>
                      <a:pt x="30" y="84"/>
                      <a:pt x="30" y="83"/>
                      <a:pt x="30" y="82"/>
                    </a:cubicBezTo>
                    <a:cubicBezTo>
                      <a:pt x="30" y="82"/>
                      <a:pt x="30" y="81"/>
                      <a:pt x="31" y="81"/>
                    </a:cubicBezTo>
                    <a:cubicBezTo>
                      <a:pt x="31" y="81"/>
                      <a:pt x="31" y="80"/>
                      <a:pt x="31" y="80"/>
                    </a:cubicBezTo>
                    <a:cubicBezTo>
                      <a:pt x="30" y="77"/>
                      <a:pt x="30" y="74"/>
                      <a:pt x="30" y="70"/>
                    </a:cubicBezTo>
                    <a:cubicBezTo>
                      <a:pt x="30" y="59"/>
                      <a:pt x="34" y="49"/>
                      <a:pt x="42" y="42"/>
                    </a:cubicBezTo>
                    <a:cubicBezTo>
                      <a:pt x="49" y="34"/>
                      <a:pt x="59" y="30"/>
                      <a:pt x="70" y="30"/>
                    </a:cubicBezTo>
                    <a:cubicBezTo>
                      <a:pt x="82" y="30"/>
                      <a:pt x="92" y="34"/>
                      <a:pt x="99" y="42"/>
                    </a:cubicBezTo>
                    <a:cubicBezTo>
                      <a:pt x="106" y="49"/>
                      <a:pt x="111" y="59"/>
                      <a:pt x="111" y="70"/>
                    </a:cubicBezTo>
                    <a:cubicBezTo>
                      <a:pt x="111" y="82"/>
                      <a:pt x="106" y="92"/>
                      <a:pt x="99" y="99"/>
                    </a:cubicBezTo>
                    <a:cubicBezTo>
                      <a:pt x="92" y="106"/>
                      <a:pt x="82" y="111"/>
                      <a:pt x="70" y="111"/>
                    </a:cubicBezTo>
                    <a:cubicBezTo>
                      <a:pt x="66" y="111"/>
                      <a:pt x="61" y="110"/>
                      <a:pt x="57" y="109"/>
                    </a:cubicBezTo>
                    <a:cubicBezTo>
                      <a:pt x="57" y="109"/>
                      <a:pt x="56" y="109"/>
                      <a:pt x="56" y="109"/>
                    </a:cubicBezTo>
                    <a:close/>
                    <a:moveTo>
                      <a:pt x="70" y="96"/>
                    </a:moveTo>
                    <a:cubicBezTo>
                      <a:pt x="67" y="96"/>
                      <a:pt x="63" y="96"/>
                      <a:pt x="60" y="94"/>
                    </a:cubicBezTo>
                    <a:cubicBezTo>
                      <a:pt x="59" y="100"/>
                      <a:pt x="59" y="100"/>
                      <a:pt x="59" y="100"/>
                    </a:cubicBezTo>
                    <a:cubicBezTo>
                      <a:pt x="63" y="101"/>
                      <a:pt x="66" y="102"/>
                      <a:pt x="70" y="102"/>
                    </a:cubicBezTo>
                    <a:cubicBezTo>
                      <a:pt x="88" y="102"/>
                      <a:pt x="102" y="88"/>
                      <a:pt x="102" y="70"/>
                    </a:cubicBezTo>
                    <a:cubicBezTo>
                      <a:pt x="102" y="53"/>
                      <a:pt x="88" y="39"/>
                      <a:pt x="70" y="39"/>
                    </a:cubicBezTo>
                    <a:cubicBezTo>
                      <a:pt x="53" y="39"/>
                      <a:pt x="39" y="53"/>
                      <a:pt x="39" y="70"/>
                    </a:cubicBezTo>
                    <a:cubicBezTo>
                      <a:pt x="39" y="73"/>
                      <a:pt x="39" y="76"/>
                      <a:pt x="40" y="79"/>
                    </a:cubicBezTo>
                    <a:cubicBezTo>
                      <a:pt x="46" y="79"/>
                      <a:pt x="46" y="79"/>
                      <a:pt x="46" y="79"/>
                    </a:cubicBezTo>
                    <a:cubicBezTo>
                      <a:pt x="45" y="76"/>
                      <a:pt x="44" y="73"/>
                      <a:pt x="44" y="70"/>
                    </a:cubicBezTo>
                    <a:cubicBezTo>
                      <a:pt x="44" y="56"/>
                      <a:pt x="56" y="44"/>
                      <a:pt x="70" y="44"/>
                    </a:cubicBezTo>
                    <a:cubicBezTo>
                      <a:pt x="85" y="44"/>
                      <a:pt x="96" y="56"/>
                      <a:pt x="96" y="70"/>
                    </a:cubicBezTo>
                    <a:cubicBezTo>
                      <a:pt x="96" y="85"/>
                      <a:pt x="85" y="96"/>
                      <a:pt x="70" y="96"/>
                    </a:cubicBezTo>
                    <a:close/>
                    <a:moveTo>
                      <a:pt x="38" y="107"/>
                    </a:moveTo>
                    <a:cubicBezTo>
                      <a:pt x="44" y="101"/>
                      <a:pt x="44" y="101"/>
                      <a:pt x="44" y="101"/>
                    </a:cubicBezTo>
                    <a:cubicBezTo>
                      <a:pt x="47" y="98"/>
                      <a:pt x="47" y="98"/>
                      <a:pt x="47" y="98"/>
                    </a:cubicBezTo>
                    <a:cubicBezTo>
                      <a:pt x="55" y="106"/>
                      <a:pt x="55" y="106"/>
                      <a:pt x="55" y="106"/>
                    </a:cubicBezTo>
                    <a:cubicBezTo>
                      <a:pt x="56" y="106"/>
                      <a:pt x="56" y="106"/>
                      <a:pt x="56" y="106"/>
                    </a:cubicBezTo>
                    <a:cubicBezTo>
                      <a:pt x="56" y="106"/>
                      <a:pt x="56" y="106"/>
                      <a:pt x="56" y="106"/>
                    </a:cubicBezTo>
                    <a:cubicBezTo>
                      <a:pt x="56" y="106"/>
                      <a:pt x="56" y="106"/>
                      <a:pt x="56" y="106"/>
                    </a:cubicBezTo>
                    <a:cubicBezTo>
                      <a:pt x="57" y="99"/>
                      <a:pt x="57" y="99"/>
                      <a:pt x="57" y="99"/>
                    </a:cubicBezTo>
                    <a:cubicBezTo>
                      <a:pt x="58" y="93"/>
                      <a:pt x="58" y="93"/>
                      <a:pt x="58" y="93"/>
                    </a:cubicBezTo>
                    <a:cubicBezTo>
                      <a:pt x="59" y="81"/>
                      <a:pt x="59" y="81"/>
                      <a:pt x="59" y="81"/>
                    </a:cubicBezTo>
                    <a:cubicBezTo>
                      <a:pt x="59" y="81"/>
                      <a:pt x="59" y="81"/>
                      <a:pt x="59" y="81"/>
                    </a:cubicBezTo>
                    <a:cubicBezTo>
                      <a:pt x="59" y="80"/>
                      <a:pt x="58" y="80"/>
                      <a:pt x="57" y="80"/>
                    </a:cubicBezTo>
                    <a:cubicBezTo>
                      <a:pt x="57" y="80"/>
                      <a:pt x="57" y="80"/>
                      <a:pt x="57" y="80"/>
                    </a:cubicBezTo>
                    <a:cubicBezTo>
                      <a:pt x="46" y="81"/>
                      <a:pt x="46" y="81"/>
                      <a:pt x="46" y="81"/>
                    </a:cubicBezTo>
                    <a:cubicBezTo>
                      <a:pt x="41" y="81"/>
                      <a:pt x="41" y="81"/>
                      <a:pt x="41" y="81"/>
                    </a:cubicBezTo>
                    <a:cubicBezTo>
                      <a:pt x="33" y="82"/>
                      <a:pt x="33" y="82"/>
                      <a:pt x="33" y="82"/>
                    </a:cubicBezTo>
                    <a:cubicBezTo>
                      <a:pt x="32" y="82"/>
                      <a:pt x="32" y="83"/>
                      <a:pt x="32" y="83"/>
                    </a:cubicBezTo>
                    <a:cubicBezTo>
                      <a:pt x="32" y="83"/>
                      <a:pt x="32" y="83"/>
                      <a:pt x="32" y="83"/>
                    </a:cubicBezTo>
                    <a:cubicBezTo>
                      <a:pt x="41" y="91"/>
                      <a:pt x="41" y="91"/>
                      <a:pt x="41" y="91"/>
                    </a:cubicBezTo>
                    <a:cubicBezTo>
                      <a:pt x="37" y="94"/>
                      <a:pt x="37" y="94"/>
                      <a:pt x="37" y="94"/>
                    </a:cubicBezTo>
                    <a:cubicBezTo>
                      <a:pt x="31" y="100"/>
                      <a:pt x="31" y="100"/>
                      <a:pt x="31" y="100"/>
                    </a:cubicBezTo>
                    <a:cubicBezTo>
                      <a:pt x="25" y="107"/>
                      <a:pt x="25" y="107"/>
                      <a:pt x="25" y="107"/>
                    </a:cubicBezTo>
                    <a:cubicBezTo>
                      <a:pt x="17" y="115"/>
                      <a:pt x="17" y="115"/>
                      <a:pt x="17" y="115"/>
                    </a:cubicBezTo>
                    <a:cubicBezTo>
                      <a:pt x="17" y="115"/>
                      <a:pt x="17" y="115"/>
                      <a:pt x="17" y="115"/>
                    </a:cubicBezTo>
                    <a:cubicBezTo>
                      <a:pt x="16" y="116"/>
                      <a:pt x="16" y="117"/>
                      <a:pt x="16" y="118"/>
                    </a:cubicBezTo>
                    <a:cubicBezTo>
                      <a:pt x="16" y="119"/>
                      <a:pt x="16" y="121"/>
                      <a:pt x="17" y="121"/>
                    </a:cubicBezTo>
                    <a:cubicBezTo>
                      <a:pt x="18" y="122"/>
                      <a:pt x="19" y="123"/>
                      <a:pt x="20" y="123"/>
                    </a:cubicBezTo>
                    <a:cubicBezTo>
                      <a:pt x="21" y="123"/>
                      <a:pt x="22" y="123"/>
                      <a:pt x="23" y="122"/>
                    </a:cubicBezTo>
                    <a:cubicBezTo>
                      <a:pt x="23" y="122"/>
                      <a:pt x="24" y="122"/>
                      <a:pt x="24" y="121"/>
                    </a:cubicBezTo>
                    <a:cubicBezTo>
                      <a:pt x="32" y="114"/>
                      <a:pt x="32" y="114"/>
                      <a:pt x="32" y="114"/>
                    </a:cubicBezTo>
                    <a:lnTo>
                      <a:pt x="38"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sp>
          <p:nvSpPr>
            <p:cNvPr id="108" name="文本框 107"/>
            <p:cNvSpPr txBox="1"/>
            <p:nvPr>
              <p:custDataLst>
                <p:tags r:id="rId23"/>
              </p:custDataLst>
            </p:nvPr>
          </p:nvSpPr>
          <p:spPr>
            <a:xfrm>
              <a:off x="1722" y="6324"/>
              <a:ext cx="2415" cy="580"/>
            </a:xfrm>
            <a:prstGeom prst="rect">
              <a:avLst/>
            </a:prstGeom>
            <a:noFill/>
          </p:spPr>
          <p:txBody>
            <a:bodyPr wrap="square" rtlCol="0">
              <a:spAutoFit/>
            </a:bodyPr>
            <a:p>
              <a:pPr algn="ctr"/>
              <a:r>
                <a:rPr lang="zh-CN" altLang="en-US" sz="1800" b="1">
                  <a:solidFill>
                    <a:schemeClr val="tx1">
                      <a:lumMod val="75000"/>
                      <a:lumOff val="25000"/>
                    </a:schemeClr>
                  </a:solidFill>
                  <a:latin typeface="字魂手刻宋" panose="00000500000000000000" charset="-122"/>
                  <a:ea typeface="字魂手刻宋" panose="00000500000000000000" charset="-122"/>
                </a:rPr>
                <a:t>药不治病</a:t>
              </a:r>
              <a:endParaRPr lang="zh-CN" altLang="en-US" sz="1800" b="1">
                <a:solidFill>
                  <a:schemeClr val="tx1">
                    <a:lumMod val="75000"/>
                    <a:lumOff val="25000"/>
                  </a:schemeClr>
                </a:solidFill>
                <a:latin typeface="字魂手刻宋" panose="00000500000000000000" charset="-122"/>
                <a:ea typeface="字魂手刻宋" panose="00000500000000000000" charset="-122"/>
              </a:endParaRPr>
            </a:p>
          </p:txBody>
        </p:sp>
        <p:sp>
          <p:nvSpPr>
            <p:cNvPr id="109" name="文本框 108"/>
            <p:cNvSpPr txBox="1"/>
            <p:nvPr>
              <p:custDataLst>
                <p:tags r:id="rId24"/>
              </p:custDataLst>
            </p:nvPr>
          </p:nvSpPr>
          <p:spPr>
            <a:xfrm>
              <a:off x="1472" y="7238"/>
              <a:ext cx="3025" cy="1888"/>
            </a:xfrm>
            <a:prstGeom prst="rect">
              <a:avLst/>
            </a:prstGeom>
            <a:noFill/>
          </p:spPr>
          <p:txBody>
            <a:bodyPr wrap="square" rtlCol="0">
              <a:spAutoFit/>
            </a:bodyPr>
            <a:p>
              <a:pPr>
                <a:lnSpc>
                  <a:spcPct val="150000"/>
                </a:lnSpc>
              </a:pPr>
              <a:r>
                <a:rPr lang="zh-CN" altLang="en-US" sz="1200">
                  <a:solidFill>
                    <a:schemeClr val="tx1">
                      <a:lumMod val="75000"/>
                      <a:lumOff val="25000"/>
                    </a:schemeClr>
                  </a:solidFill>
                  <a:latin typeface="字魂手刻宋" panose="00000500000000000000" charset="-122"/>
                  <a:ea typeface="字魂手刻宋" panose="00000500000000000000" charset="-122"/>
                </a:rPr>
                <a:t>无处方，盲目选配，应付监管；防护过度，企业采购成本过高，防护不足，起不到防护作用。</a:t>
              </a:r>
              <a:endParaRPr lang="zh-CN" altLang="en-US" sz="1200">
                <a:solidFill>
                  <a:schemeClr val="tx1">
                    <a:lumMod val="75000"/>
                    <a:lumOff val="25000"/>
                  </a:schemeClr>
                </a:solidFill>
                <a:latin typeface="字魂手刻宋" panose="00000500000000000000" charset="-122"/>
                <a:ea typeface="字魂手刻宋" panose="00000500000000000000" charset="-122"/>
              </a:endParaRPr>
            </a:p>
          </p:txBody>
        </p:sp>
        <p:sp>
          <p:nvSpPr>
            <p:cNvPr id="110" name="文本框 109"/>
            <p:cNvSpPr txBox="1"/>
            <p:nvPr>
              <p:custDataLst>
                <p:tags r:id="rId25"/>
              </p:custDataLst>
            </p:nvPr>
          </p:nvSpPr>
          <p:spPr>
            <a:xfrm>
              <a:off x="5000" y="6324"/>
              <a:ext cx="2415" cy="580"/>
            </a:xfrm>
            <a:prstGeom prst="rect">
              <a:avLst/>
            </a:prstGeom>
            <a:noFill/>
          </p:spPr>
          <p:txBody>
            <a:bodyPr wrap="square" rtlCol="0">
              <a:spAutoFit/>
            </a:bodyPr>
            <a:p>
              <a:pPr algn="ctr"/>
              <a:r>
                <a:rPr lang="zh-CN" altLang="en-US" sz="1800" b="1">
                  <a:solidFill>
                    <a:schemeClr val="tx1">
                      <a:lumMod val="75000"/>
                      <a:lumOff val="25000"/>
                    </a:schemeClr>
                  </a:solidFill>
                  <a:latin typeface="字魂手刻宋" panose="00000500000000000000" charset="-122"/>
                  <a:ea typeface="字魂手刻宋" panose="00000500000000000000" charset="-122"/>
                </a:rPr>
                <a:t>无服务</a:t>
              </a:r>
              <a:endParaRPr lang="zh-CN" altLang="en-US" sz="1800" b="1">
                <a:solidFill>
                  <a:schemeClr val="tx1">
                    <a:lumMod val="75000"/>
                    <a:lumOff val="25000"/>
                  </a:schemeClr>
                </a:solidFill>
                <a:latin typeface="字魂手刻宋" panose="00000500000000000000" charset="-122"/>
                <a:ea typeface="字魂手刻宋" panose="00000500000000000000" charset="-122"/>
              </a:endParaRPr>
            </a:p>
          </p:txBody>
        </p:sp>
        <p:sp>
          <p:nvSpPr>
            <p:cNvPr id="111" name="文本框 110"/>
            <p:cNvSpPr txBox="1"/>
            <p:nvPr>
              <p:custDataLst>
                <p:tags r:id="rId26"/>
              </p:custDataLst>
            </p:nvPr>
          </p:nvSpPr>
          <p:spPr>
            <a:xfrm>
              <a:off x="4750" y="7238"/>
              <a:ext cx="3025" cy="1452"/>
            </a:xfrm>
            <a:prstGeom prst="rect">
              <a:avLst/>
            </a:prstGeom>
            <a:noFill/>
          </p:spPr>
          <p:txBody>
            <a:bodyPr wrap="square" rtlCol="0">
              <a:spAutoFit/>
            </a:bodyPr>
            <a:p>
              <a:pPr>
                <a:lnSpc>
                  <a:spcPct val="150000"/>
                </a:lnSpc>
              </a:pPr>
              <a:r>
                <a:rPr lang="zh-CN" altLang="en-US" sz="1200">
                  <a:solidFill>
                    <a:schemeClr val="tx1">
                      <a:lumMod val="75000"/>
                      <a:lumOff val="25000"/>
                    </a:schemeClr>
                  </a:solidFill>
                  <a:latin typeface="字魂手刻宋" panose="00000500000000000000" charset="-122"/>
                  <a:ea typeface="字魂手刻宋" panose="00000500000000000000" charset="-122"/>
                </a:rPr>
                <a:t>从业者以销售产品为主，对防护效果不关心，经销商无服务意识和能力。</a:t>
              </a:r>
              <a:endParaRPr lang="zh-CN" altLang="en-US" sz="1200">
                <a:solidFill>
                  <a:schemeClr val="tx1">
                    <a:lumMod val="75000"/>
                    <a:lumOff val="25000"/>
                  </a:schemeClr>
                </a:solidFill>
                <a:latin typeface="字魂手刻宋" panose="00000500000000000000" charset="-122"/>
                <a:ea typeface="字魂手刻宋" panose="00000500000000000000" charset="-122"/>
              </a:endParaRPr>
            </a:p>
          </p:txBody>
        </p:sp>
        <p:sp>
          <p:nvSpPr>
            <p:cNvPr id="112" name="文本框 111"/>
            <p:cNvSpPr txBox="1"/>
            <p:nvPr>
              <p:custDataLst>
                <p:tags r:id="rId27"/>
              </p:custDataLst>
            </p:nvPr>
          </p:nvSpPr>
          <p:spPr>
            <a:xfrm>
              <a:off x="8388" y="6324"/>
              <a:ext cx="2415" cy="580"/>
            </a:xfrm>
            <a:prstGeom prst="rect">
              <a:avLst/>
            </a:prstGeom>
            <a:noFill/>
          </p:spPr>
          <p:txBody>
            <a:bodyPr wrap="square" rtlCol="0">
              <a:spAutoFit/>
            </a:bodyPr>
            <a:p>
              <a:pPr algn="ctr"/>
              <a:r>
                <a:rPr lang="zh-CN" altLang="en-US" sz="1800" b="1">
                  <a:solidFill>
                    <a:schemeClr val="tx1">
                      <a:lumMod val="75000"/>
                      <a:lumOff val="25000"/>
                    </a:schemeClr>
                  </a:solidFill>
                  <a:latin typeface="字魂手刻宋" panose="00000500000000000000" charset="-122"/>
                  <a:ea typeface="字魂手刻宋" panose="00000500000000000000" charset="-122"/>
                </a:rPr>
                <a:t>无保障</a:t>
              </a:r>
              <a:endParaRPr lang="zh-CN" altLang="en-US" sz="1800" b="1">
                <a:solidFill>
                  <a:schemeClr val="tx1">
                    <a:lumMod val="75000"/>
                    <a:lumOff val="25000"/>
                  </a:schemeClr>
                </a:solidFill>
                <a:latin typeface="字魂手刻宋" panose="00000500000000000000" charset="-122"/>
                <a:ea typeface="字魂手刻宋" panose="00000500000000000000" charset="-122"/>
              </a:endParaRPr>
            </a:p>
          </p:txBody>
        </p:sp>
        <p:sp>
          <p:nvSpPr>
            <p:cNvPr id="113" name="文本框 112"/>
            <p:cNvSpPr txBox="1"/>
            <p:nvPr>
              <p:custDataLst>
                <p:tags r:id="rId28"/>
              </p:custDataLst>
            </p:nvPr>
          </p:nvSpPr>
          <p:spPr>
            <a:xfrm>
              <a:off x="8138" y="7238"/>
              <a:ext cx="3025" cy="1888"/>
            </a:xfrm>
            <a:prstGeom prst="rect">
              <a:avLst/>
            </a:prstGeom>
            <a:noFill/>
          </p:spPr>
          <p:txBody>
            <a:bodyPr wrap="square" rtlCol="0">
              <a:spAutoFit/>
            </a:bodyPr>
            <a:p>
              <a:pPr>
                <a:lnSpc>
                  <a:spcPct val="150000"/>
                </a:lnSpc>
              </a:pPr>
              <a:r>
                <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产品鱼龙混杂，三无产品、假冒伪劣产品较多，经销商采购渠道不明，</a:t>
              </a:r>
              <a:r>
                <a:rPr lang="en-US" altLang="zh-CN"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3</a:t>
              </a:r>
              <a:r>
                <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元钱的安全帽。</a:t>
              </a:r>
              <a:endParaRPr lang="zh-CN"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8" name="文本框 7"/>
            <p:cNvSpPr txBox="1"/>
            <p:nvPr>
              <p:custDataLst>
                <p:tags r:id="rId29"/>
              </p:custDataLst>
            </p:nvPr>
          </p:nvSpPr>
          <p:spPr>
            <a:xfrm>
              <a:off x="11489" y="6324"/>
              <a:ext cx="2848" cy="580"/>
            </a:xfrm>
            <a:prstGeom prst="rect">
              <a:avLst/>
            </a:prstGeom>
            <a:noFill/>
          </p:spPr>
          <p:txBody>
            <a:bodyPr wrap="square" rtlCol="0">
              <a:spAutoFit/>
            </a:bodyPr>
            <a:p>
              <a:pPr algn="ctr"/>
              <a:r>
                <a:rPr lang="zh-CN" altLang="en-US" sz="1800" b="1">
                  <a:solidFill>
                    <a:schemeClr val="tx1">
                      <a:lumMod val="75000"/>
                      <a:lumOff val="25000"/>
                    </a:schemeClr>
                  </a:solidFill>
                  <a:latin typeface="字魂手刻宋" panose="00000500000000000000" charset="-122"/>
                  <a:ea typeface="字魂手刻宋" panose="00000500000000000000" charset="-122"/>
                </a:rPr>
                <a:t>从业者不受尊重</a:t>
              </a:r>
              <a:endParaRPr lang="zh-CN" altLang="en-US" sz="1800" b="1">
                <a:solidFill>
                  <a:schemeClr val="tx1">
                    <a:lumMod val="75000"/>
                    <a:lumOff val="25000"/>
                  </a:schemeClr>
                </a:solidFill>
                <a:latin typeface="字魂手刻宋" panose="00000500000000000000" charset="-122"/>
                <a:ea typeface="字魂手刻宋" panose="00000500000000000000" charset="-122"/>
              </a:endParaRPr>
            </a:p>
          </p:txBody>
        </p:sp>
        <p:sp>
          <p:nvSpPr>
            <p:cNvPr id="10" name="文本框 9"/>
            <p:cNvSpPr txBox="1"/>
            <p:nvPr>
              <p:custDataLst>
                <p:tags r:id="rId30"/>
              </p:custDataLst>
            </p:nvPr>
          </p:nvSpPr>
          <p:spPr>
            <a:xfrm>
              <a:off x="11490" y="7238"/>
              <a:ext cx="3025" cy="1452"/>
            </a:xfrm>
            <a:prstGeom prst="rect">
              <a:avLst/>
            </a:prstGeom>
            <a:noFill/>
          </p:spPr>
          <p:txBody>
            <a:bodyPr wrap="square" rtlCol="0">
              <a:spAutoFit/>
            </a:bodyPr>
            <a:p>
              <a:pPr>
                <a:lnSpc>
                  <a:spcPct val="150000"/>
                </a:lnSpc>
              </a:pPr>
              <a:r>
                <a:rPr lang="zh-CN" sz="1200">
                  <a:solidFill>
                    <a:schemeClr val="tx1">
                      <a:lumMod val="75000"/>
                      <a:lumOff val="25000"/>
                    </a:schemeClr>
                  </a:solidFill>
                  <a:latin typeface="字魂手刻宋" panose="00000500000000000000" charset="-122"/>
                  <a:ea typeface="字魂手刻宋" panose="00000500000000000000" charset="-122"/>
                </a:rPr>
                <a:t>市场人员无技术服务能力，以公开销售为目的，不受社会尊重</a:t>
              </a:r>
              <a:r>
                <a:rPr lang="zh-CN" altLang="en-US" sz="1200">
                  <a:solidFill>
                    <a:schemeClr val="tx1">
                      <a:lumMod val="75000"/>
                      <a:lumOff val="25000"/>
                    </a:schemeClr>
                  </a:solidFill>
                  <a:latin typeface="字魂手刻宋" panose="00000500000000000000" charset="-122"/>
                  <a:ea typeface="字魂手刻宋" panose="00000500000000000000" charset="-122"/>
                </a:rPr>
                <a:t>。</a:t>
              </a:r>
              <a:endParaRPr lang="zh-CN" altLang="en-US" sz="1200">
                <a:solidFill>
                  <a:schemeClr val="tx1">
                    <a:lumMod val="75000"/>
                    <a:lumOff val="25000"/>
                  </a:schemeClr>
                </a:solidFill>
                <a:latin typeface="字魂手刻宋" panose="00000500000000000000" charset="-122"/>
                <a:ea typeface="字魂手刻宋" panose="00000500000000000000" charset="-122"/>
              </a:endParaRPr>
            </a:p>
          </p:txBody>
        </p:sp>
        <p:sp>
          <p:nvSpPr>
            <p:cNvPr id="11" name="文本框 10"/>
            <p:cNvSpPr txBox="1"/>
            <p:nvPr>
              <p:custDataLst>
                <p:tags r:id="rId31"/>
              </p:custDataLst>
            </p:nvPr>
          </p:nvSpPr>
          <p:spPr>
            <a:xfrm>
              <a:off x="14841" y="6324"/>
              <a:ext cx="2848" cy="580"/>
            </a:xfrm>
            <a:prstGeom prst="rect">
              <a:avLst/>
            </a:prstGeom>
            <a:noFill/>
          </p:spPr>
          <p:txBody>
            <a:bodyPr wrap="square" rtlCol="0">
              <a:spAutoFit/>
            </a:bodyPr>
            <a:p>
              <a:pPr algn="ctr"/>
              <a:r>
                <a:rPr lang="zh-CN" altLang="en-US" sz="1800" b="1">
                  <a:solidFill>
                    <a:schemeClr val="tx1">
                      <a:lumMod val="75000"/>
                      <a:lumOff val="25000"/>
                    </a:schemeClr>
                  </a:solidFill>
                  <a:latin typeface="字魂手刻宋" panose="00000500000000000000" charset="-122"/>
                  <a:ea typeface="字魂手刻宋" panose="00000500000000000000" charset="-122"/>
                </a:rPr>
                <a:t>无核心竞争力</a:t>
              </a:r>
              <a:endParaRPr lang="zh-CN" altLang="en-US" sz="1800" b="1">
                <a:solidFill>
                  <a:schemeClr val="tx1">
                    <a:lumMod val="75000"/>
                    <a:lumOff val="25000"/>
                  </a:schemeClr>
                </a:solidFill>
                <a:latin typeface="字魂手刻宋" panose="00000500000000000000" charset="-122"/>
                <a:ea typeface="字魂手刻宋" panose="00000500000000000000" charset="-122"/>
              </a:endParaRPr>
            </a:p>
          </p:txBody>
        </p:sp>
        <p:sp>
          <p:nvSpPr>
            <p:cNvPr id="13" name="文本框 12"/>
            <p:cNvSpPr txBox="1"/>
            <p:nvPr>
              <p:custDataLst>
                <p:tags r:id="rId32"/>
              </p:custDataLst>
            </p:nvPr>
          </p:nvSpPr>
          <p:spPr>
            <a:xfrm>
              <a:off x="14842" y="7238"/>
              <a:ext cx="3025" cy="1452"/>
            </a:xfrm>
            <a:prstGeom prst="rect">
              <a:avLst/>
            </a:prstGeom>
            <a:noFill/>
          </p:spPr>
          <p:txBody>
            <a:bodyPr wrap="square" rtlCol="0">
              <a:spAutoFit/>
            </a:bodyPr>
            <a:p>
              <a:pPr>
                <a:lnSpc>
                  <a:spcPct val="150000"/>
                </a:lnSpc>
              </a:pPr>
              <a:r>
                <a:rPr lang="zh-CN" sz="1200">
                  <a:solidFill>
                    <a:schemeClr val="tx1">
                      <a:lumMod val="75000"/>
                      <a:lumOff val="25000"/>
                    </a:schemeClr>
                  </a:solidFill>
                  <a:latin typeface="字魂手刻宋" panose="00000500000000000000" charset="-122"/>
                  <a:ea typeface="字魂手刻宋" panose="00000500000000000000" charset="-122"/>
                </a:rPr>
                <a:t>经销商为提高市场竞争力，代理产品多以次充好，打价格战。</a:t>
              </a:r>
              <a:endParaRPr lang="zh-CN" altLang="en-US" sz="1200">
                <a:solidFill>
                  <a:schemeClr val="tx1">
                    <a:lumMod val="75000"/>
                    <a:lumOff val="25000"/>
                  </a:schemeClr>
                </a:solidFill>
                <a:latin typeface="字魂手刻宋" panose="00000500000000000000" charset="-122"/>
                <a:ea typeface="字魂手刻宋" panose="00000500000000000000" charset="-122"/>
              </a:endParaRPr>
            </a:p>
          </p:txBody>
        </p:sp>
        <p:sp>
          <p:nvSpPr>
            <p:cNvPr id="14" name="圆角矩形 13"/>
            <p:cNvSpPr/>
            <p:nvPr>
              <p:custDataLst>
                <p:tags r:id="rId33"/>
              </p:custDataLst>
            </p:nvPr>
          </p:nvSpPr>
          <p:spPr>
            <a:xfrm>
              <a:off x="754" y="4040"/>
              <a:ext cx="17803" cy="6124"/>
            </a:xfrm>
            <a:prstGeom prst="roundRect">
              <a:avLst/>
            </a:prstGeom>
            <a:noFill/>
            <a:ln>
              <a:gradFill>
                <a:gsLst>
                  <a:gs pos="50000">
                    <a:schemeClr val="accent1"/>
                  </a:gs>
                  <a:gs pos="0">
                    <a:schemeClr val="accent1">
                      <a:lumMod val="25000"/>
                      <a:lumOff val="75000"/>
                    </a:schemeClr>
                  </a:gs>
                  <a:gs pos="100000">
                    <a:schemeClr val="accent1">
                      <a:lumMod val="85000"/>
                    </a:schemeClr>
                  </a:gs>
                </a:gsLst>
                <a:lin ang="5400000" scaled="0"/>
              </a:gra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lumMod val="75000"/>
                    <a:lumOff val="25000"/>
                  </a:schemeClr>
                </a:solidFill>
                <a:latin typeface="字魂手刻宋" panose="00000500000000000000" charset="-122"/>
                <a:ea typeface="字魂手刻宋" panose="00000500000000000000" charset="-122"/>
              </a:endParaRPr>
            </a:p>
          </p:txBody>
        </p:sp>
      </p:grpSp>
      <p:sp>
        <p:nvSpPr>
          <p:cNvPr id="15" name="文本框 14"/>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3.6</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2660" y="69850"/>
            <a:ext cx="898525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防护用品供应商</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2" name="直接连接符 11"/>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2" name="矩形 1"/>
          <p:cNvSpPr/>
          <p:nvPr userDrawn="1">
            <p:custDataLst>
              <p:tags r:id="rId1"/>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sp>
        <p:nvSpPr>
          <p:cNvPr id="3" name="文本框 2"/>
          <p:cNvSpPr txBox="1"/>
          <p:nvPr/>
        </p:nvSpPr>
        <p:spPr>
          <a:xfrm>
            <a:off x="985861" y="621382"/>
            <a:ext cx="10749170" cy="737235"/>
          </a:xfrm>
          <a:prstGeom prst="rect">
            <a:avLst/>
          </a:prstGeom>
          <a:noFill/>
        </p:spPr>
        <p:txBody>
          <a:bodyPr wrap="square" rtlCol="0">
            <a:spAutoFit/>
          </a:bodyPr>
          <a:lstStyle/>
          <a:p>
            <a:pPr>
              <a:lnSpc>
                <a:spcPct val="150000"/>
              </a:lnSpc>
            </a:pP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未来防护用品厂商必须关注新兴下游市场需求，提供具有垂直行业特色的产品，提供定制化解决方案，培养个人防护用品企业的差异化竞争优势，推动中国个人防护用品行业的发展与升级，是未来中国防护用品行业发展的主要趋势</a:t>
            </a: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a:t>
            </a:r>
            <a:endPar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nvGrpSpPr>
          <p:cNvPr id="5" name="组合 4"/>
          <p:cNvGrpSpPr/>
          <p:nvPr>
            <p:custDataLst>
              <p:tags r:id="rId2"/>
            </p:custDataLst>
          </p:nvPr>
        </p:nvGrpSpPr>
        <p:grpSpPr>
          <a:xfrm>
            <a:off x="1342390" y="1485900"/>
            <a:ext cx="10293350" cy="5009515"/>
            <a:chOff x="2114" y="2340"/>
            <a:chExt cx="16210" cy="7889"/>
          </a:xfrm>
        </p:grpSpPr>
        <p:sp>
          <p:nvSpPr>
            <p:cNvPr id="39" name="任意多边形: 形状 2978"/>
            <p:cNvSpPr/>
            <p:nvPr>
              <p:custDataLst>
                <p:tags r:id="rId3"/>
              </p:custDataLst>
            </p:nvPr>
          </p:nvSpPr>
          <p:spPr>
            <a:xfrm rot="16200000">
              <a:off x="2217" y="5638"/>
              <a:ext cx="376" cy="582"/>
            </a:xfrm>
            <a:custGeom>
              <a:avLst/>
              <a:gdLst>
                <a:gd name="connsiteX0" fmla="*/ 0 w 385"/>
                <a:gd name="connsiteY0" fmla="*/ 0 h 597"/>
                <a:gd name="connsiteX1" fmla="*/ 229 w 385"/>
                <a:gd name="connsiteY1" fmla="*/ 0 h 597"/>
                <a:gd name="connsiteX2" fmla="*/ 385 w 385"/>
                <a:gd name="connsiteY2" fmla="*/ 225 h 597"/>
                <a:gd name="connsiteX3" fmla="*/ 385 w 385"/>
                <a:gd name="connsiteY3" fmla="*/ 597 h 597"/>
              </a:gdLst>
              <a:ahLst/>
              <a:cxnLst>
                <a:cxn ang="0">
                  <a:pos x="connsiteX0" y="connsiteY0"/>
                </a:cxn>
                <a:cxn ang="0">
                  <a:pos x="connsiteX1" y="connsiteY1"/>
                </a:cxn>
                <a:cxn ang="0">
                  <a:pos x="connsiteX2" y="connsiteY2"/>
                </a:cxn>
                <a:cxn ang="0">
                  <a:pos x="connsiteX3" y="connsiteY3"/>
                </a:cxn>
              </a:cxnLst>
              <a:rect l="l" t="t" r="r" b="b"/>
              <a:pathLst>
                <a:path w="385" h="597">
                  <a:moveTo>
                    <a:pt x="0" y="0"/>
                  </a:moveTo>
                  <a:lnTo>
                    <a:pt x="229" y="0"/>
                  </a:lnTo>
                  <a:lnTo>
                    <a:pt x="385" y="225"/>
                  </a:lnTo>
                  <a:lnTo>
                    <a:pt x="385" y="597"/>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40" name="任意多边形: 形状 2978"/>
            <p:cNvSpPr/>
            <p:nvPr>
              <p:custDataLst>
                <p:tags r:id="rId4"/>
              </p:custDataLst>
            </p:nvPr>
          </p:nvSpPr>
          <p:spPr>
            <a:xfrm rot="16200000">
              <a:off x="6687" y="5796"/>
              <a:ext cx="457" cy="551"/>
            </a:xfrm>
            <a:custGeom>
              <a:avLst/>
              <a:gdLst>
                <a:gd name="connsiteX0" fmla="*/ 469 w 469"/>
                <a:gd name="connsiteY0" fmla="*/ 0 h 566"/>
                <a:gd name="connsiteX1" fmla="*/ 469 w 469"/>
                <a:gd name="connsiteY1" fmla="*/ 289 h 566"/>
                <a:gd name="connsiteX2" fmla="*/ 277 w 469"/>
                <a:gd name="connsiteY2" fmla="*/ 566 h 566"/>
                <a:gd name="connsiteX3" fmla="*/ 0 w 469"/>
                <a:gd name="connsiteY3" fmla="*/ 566 h 566"/>
              </a:gdLst>
              <a:ahLst/>
              <a:cxnLst>
                <a:cxn ang="0">
                  <a:pos x="connsiteX0" y="connsiteY0"/>
                </a:cxn>
                <a:cxn ang="0">
                  <a:pos x="connsiteX1" y="connsiteY1"/>
                </a:cxn>
                <a:cxn ang="0">
                  <a:pos x="connsiteX2" y="connsiteY2"/>
                </a:cxn>
                <a:cxn ang="0">
                  <a:pos x="connsiteX3" y="connsiteY3"/>
                </a:cxn>
              </a:cxnLst>
              <a:rect l="l" t="t" r="r" b="b"/>
              <a:pathLst>
                <a:path w="469" h="566">
                  <a:moveTo>
                    <a:pt x="469" y="0"/>
                  </a:moveTo>
                  <a:lnTo>
                    <a:pt x="469" y="289"/>
                  </a:lnTo>
                  <a:lnTo>
                    <a:pt x="277" y="566"/>
                  </a:lnTo>
                  <a:lnTo>
                    <a:pt x="0" y="566"/>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41" name="任意多边形: 形状 2978"/>
            <p:cNvSpPr/>
            <p:nvPr>
              <p:custDataLst>
                <p:tags r:id="rId5"/>
              </p:custDataLst>
            </p:nvPr>
          </p:nvSpPr>
          <p:spPr>
            <a:xfrm rot="16200000">
              <a:off x="2131" y="9782"/>
              <a:ext cx="430" cy="464"/>
            </a:xfrm>
            <a:custGeom>
              <a:avLst/>
              <a:gdLst>
                <a:gd name="connsiteX0" fmla="*/ 0 w 441"/>
                <a:gd name="connsiteY0" fmla="*/ 477 h 477"/>
                <a:gd name="connsiteX1" fmla="*/ 0 w 441"/>
                <a:gd name="connsiteY1" fmla="*/ 346 h 477"/>
                <a:gd name="connsiteX2" fmla="*/ 0 w 441"/>
                <a:gd name="connsiteY2" fmla="*/ 253 h 477"/>
                <a:gd name="connsiteX3" fmla="*/ 175 w 441"/>
                <a:gd name="connsiteY3" fmla="*/ 0 h 477"/>
                <a:gd name="connsiteX4" fmla="*/ 441 w 441"/>
                <a:gd name="connsiteY4" fmla="*/ 0 h 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 h="477">
                  <a:moveTo>
                    <a:pt x="0" y="477"/>
                  </a:moveTo>
                  <a:lnTo>
                    <a:pt x="0" y="346"/>
                  </a:lnTo>
                  <a:lnTo>
                    <a:pt x="0" y="253"/>
                  </a:lnTo>
                  <a:lnTo>
                    <a:pt x="175" y="0"/>
                  </a:lnTo>
                  <a:lnTo>
                    <a:pt x="441" y="0"/>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42" name="任意多边形: 形状 2978"/>
            <p:cNvSpPr/>
            <p:nvPr>
              <p:custDataLst>
                <p:tags r:id="rId6"/>
              </p:custDataLst>
            </p:nvPr>
          </p:nvSpPr>
          <p:spPr>
            <a:xfrm rot="16200000">
              <a:off x="6562" y="9573"/>
              <a:ext cx="502" cy="551"/>
            </a:xfrm>
            <a:custGeom>
              <a:avLst/>
              <a:gdLst>
                <a:gd name="connsiteX0" fmla="*/ 516 w 516"/>
                <a:gd name="connsiteY0" fmla="*/ 566 h 566"/>
                <a:gd name="connsiteX1" fmla="*/ 192 w 516"/>
                <a:gd name="connsiteY1" fmla="*/ 566 h 566"/>
                <a:gd name="connsiteX2" fmla="*/ 0 w 516"/>
                <a:gd name="connsiteY2" fmla="*/ 289 h 566"/>
                <a:gd name="connsiteX3" fmla="*/ 0 w 516"/>
                <a:gd name="connsiteY3" fmla="*/ 0 h 566"/>
              </a:gdLst>
              <a:ahLst/>
              <a:cxnLst>
                <a:cxn ang="0">
                  <a:pos x="connsiteX0" y="connsiteY0"/>
                </a:cxn>
                <a:cxn ang="0">
                  <a:pos x="connsiteX1" y="connsiteY1"/>
                </a:cxn>
                <a:cxn ang="0">
                  <a:pos x="connsiteX2" y="connsiteY2"/>
                </a:cxn>
                <a:cxn ang="0">
                  <a:pos x="connsiteX3" y="connsiteY3"/>
                </a:cxn>
              </a:cxnLst>
              <a:rect l="l" t="t" r="r" b="b"/>
              <a:pathLst>
                <a:path w="516" h="566">
                  <a:moveTo>
                    <a:pt x="516" y="566"/>
                  </a:moveTo>
                  <a:lnTo>
                    <a:pt x="192" y="566"/>
                  </a:lnTo>
                  <a:lnTo>
                    <a:pt x="0" y="289"/>
                  </a:lnTo>
                  <a:lnTo>
                    <a:pt x="0" y="0"/>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19" name="任意多边形: 形状 2978"/>
            <p:cNvSpPr/>
            <p:nvPr>
              <p:custDataLst>
                <p:tags r:id="rId7"/>
              </p:custDataLst>
            </p:nvPr>
          </p:nvSpPr>
          <p:spPr>
            <a:xfrm rot="16200000">
              <a:off x="2217" y="2237"/>
              <a:ext cx="376" cy="582"/>
            </a:xfrm>
            <a:custGeom>
              <a:avLst/>
              <a:gdLst>
                <a:gd name="connsiteX0" fmla="*/ 0 w 385"/>
                <a:gd name="connsiteY0" fmla="*/ 0 h 597"/>
                <a:gd name="connsiteX1" fmla="*/ 229 w 385"/>
                <a:gd name="connsiteY1" fmla="*/ 0 h 597"/>
                <a:gd name="connsiteX2" fmla="*/ 385 w 385"/>
                <a:gd name="connsiteY2" fmla="*/ 225 h 597"/>
                <a:gd name="connsiteX3" fmla="*/ 385 w 385"/>
                <a:gd name="connsiteY3" fmla="*/ 597 h 597"/>
              </a:gdLst>
              <a:ahLst/>
              <a:cxnLst>
                <a:cxn ang="0">
                  <a:pos x="connsiteX0" y="connsiteY0"/>
                </a:cxn>
                <a:cxn ang="0">
                  <a:pos x="connsiteX1" y="connsiteY1"/>
                </a:cxn>
                <a:cxn ang="0">
                  <a:pos x="connsiteX2" y="connsiteY2"/>
                </a:cxn>
                <a:cxn ang="0">
                  <a:pos x="connsiteX3" y="connsiteY3"/>
                </a:cxn>
              </a:cxnLst>
              <a:rect l="l" t="t" r="r" b="b"/>
              <a:pathLst>
                <a:path w="385" h="597">
                  <a:moveTo>
                    <a:pt x="0" y="0"/>
                  </a:moveTo>
                  <a:lnTo>
                    <a:pt x="229" y="0"/>
                  </a:lnTo>
                  <a:lnTo>
                    <a:pt x="385" y="225"/>
                  </a:lnTo>
                  <a:lnTo>
                    <a:pt x="385" y="597"/>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20" name="任意多边形: 形状 2978"/>
            <p:cNvSpPr/>
            <p:nvPr>
              <p:custDataLst>
                <p:tags r:id="rId8"/>
              </p:custDataLst>
            </p:nvPr>
          </p:nvSpPr>
          <p:spPr>
            <a:xfrm rot="16200000">
              <a:off x="6924" y="2293"/>
              <a:ext cx="457" cy="551"/>
            </a:xfrm>
            <a:custGeom>
              <a:avLst/>
              <a:gdLst>
                <a:gd name="connsiteX0" fmla="*/ 469 w 469"/>
                <a:gd name="connsiteY0" fmla="*/ 0 h 566"/>
                <a:gd name="connsiteX1" fmla="*/ 469 w 469"/>
                <a:gd name="connsiteY1" fmla="*/ 289 h 566"/>
                <a:gd name="connsiteX2" fmla="*/ 277 w 469"/>
                <a:gd name="connsiteY2" fmla="*/ 566 h 566"/>
                <a:gd name="connsiteX3" fmla="*/ 0 w 469"/>
                <a:gd name="connsiteY3" fmla="*/ 566 h 566"/>
              </a:gdLst>
              <a:ahLst/>
              <a:cxnLst>
                <a:cxn ang="0">
                  <a:pos x="connsiteX0" y="connsiteY0"/>
                </a:cxn>
                <a:cxn ang="0">
                  <a:pos x="connsiteX1" y="connsiteY1"/>
                </a:cxn>
                <a:cxn ang="0">
                  <a:pos x="connsiteX2" y="connsiteY2"/>
                </a:cxn>
                <a:cxn ang="0">
                  <a:pos x="connsiteX3" y="connsiteY3"/>
                </a:cxn>
              </a:cxnLst>
              <a:rect l="l" t="t" r="r" b="b"/>
              <a:pathLst>
                <a:path w="469" h="566">
                  <a:moveTo>
                    <a:pt x="469" y="0"/>
                  </a:moveTo>
                  <a:lnTo>
                    <a:pt x="469" y="289"/>
                  </a:lnTo>
                  <a:lnTo>
                    <a:pt x="277" y="566"/>
                  </a:lnTo>
                  <a:lnTo>
                    <a:pt x="0" y="566"/>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24" name="任意多边形: 形状 2978"/>
            <p:cNvSpPr/>
            <p:nvPr>
              <p:custDataLst>
                <p:tags r:id="rId9"/>
              </p:custDataLst>
            </p:nvPr>
          </p:nvSpPr>
          <p:spPr>
            <a:xfrm rot="16200000">
              <a:off x="2131" y="4944"/>
              <a:ext cx="430" cy="464"/>
            </a:xfrm>
            <a:custGeom>
              <a:avLst/>
              <a:gdLst>
                <a:gd name="connsiteX0" fmla="*/ 0 w 441"/>
                <a:gd name="connsiteY0" fmla="*/ 477 h 477"/>
                <a:gd name="connsiteX1" fmla="*/ 0 w 441"/>
                <a:gd name="connsiteY1" fmla="*/ 346 h 477"/>
                <a:gd name="connsiteX2" fmla="*/ 0 w 441"/>
                <a:gd name="connsiteY2" fmla="*/ 253 h 477"/>
                <a:gd name="connsiteX3" fmla="*/ 175 w 441"/>
                <a:gd name="connsiteY3" fmla="*/ 0 h 477"/>
                <a:gd name="connsiteX4" fmla="*/ 441 w 441"/>
                <a:gd name="connsiteY4" fmla="*/ 0 h 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 h="477">
                  <a:moveTo>
                    <a:pt x="0" y="477"/>
                  </a:moveTo>
                  <a:lnTo>
                    <a:pt x="0" y="346"/>
                  </a:lnTo>
                  <a:lnTo>
                    <a:pt x="0" y="253"/>
                  </a:lnTo>
                  <a:lnTo>
                    <a:pt x="175" y="0"/>
                  </a:lnTo>
                  <a:lnTo>
                    <a:pt x="441" y="0"/>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31" name="任意多边形: 形状 2978"/>
            <p:cNvSpPr/>
            <p:nvPr>
              <p:custDataLst>
                <p:tags r:id="rId10"/>
              </p:custDataLst>
            </p:nvPr>
          </p:nvSpPr>
          <p:spPr>
            <a:xfrm rot="16200000">
              <a:off x="6789" y="4882"/>
              <a:ext cx="502" cy="551"/>
            </a:xfrm>
            <a:custGeom>
              <a:avLst/>
              <a:gdLst>
                <a:gd name="connsiteX0" fmla="*/ 516 w 516"/>
                <a:gd name="connsiteY0" fmla="*/ 566 h 566"/>
                <a:gd name="connsiteX1" fmla="*/ 192 w 516"/>
                <a:gd name="connsiteY1" fmla="*/ 566 h 566"/>
                <a:gd name="connsiteX2" fmla="*/ 0 w 516"/>
                <a:gd name="connsiteY2" fmla="*/ 289 h 566"/>
                <a:gd name="connsiteX3" fmla="*/ 0 w 516"/>
                <a:gd name="connsiteY3" fmla="*/ 0 h 566"/>
              </a:gdLst>
              <a:ahLst/>
              <a:cxnLst>
                <a:cxn ang="0">
                  <a:pos x="connsiteX0" y="connsiteY0"/>
                </a:cxn>
                <a:cxn ang="0">
                  <a:pos x="connsiteX1" y="connsiteY1"/>
                </a:cxn>
                <a:cxn ang="0">
                  <a:pos x="connsiteX2" y="connsiteY2"/>
                </a:cxn>
                <a:cxn ang="0">
                  <a:pos x="connsiteX3" y="connsiteY3"/>
                </a:cxn>
              </a:cxnLst>
              <a:rect l="l" t="t" r="r" b="b"/>
              <a:pathLst>
                <a:path w="516" h="566">
                  <a:moveTo>
                    <a:pt x="516" y="566"/>
                  </a:moveTo>
                  <a:lnTo>
                    <a:pt x="192" y="566"/>
                  </a:lnTo>
                  <a:lnTo>
                    <a:pt x="0" y="289"/>
                  </a:lnTo>
                  <a:lnTo>
                    <a:pt x="0" y="0"/>
                  </a:lnTo>
                </a:path>
              </a:pathLst>
            </a:cu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14" name="稻壳设计师康帅7-1"/>
            <p:cNvSpPr/>
            <p:nvPr>
              <p:custDataLst>
                <p:tags r:id="rId11"/>
              </p:custDataLst>
            </p:nvPr>
          </p:nvSpPr>
          <p:spPr>
            <a:xfrm>
              <a:off x="8985" y="3736"/>
              <a:ext cx="8650" cy="1806"/>
            </a:xfrm>
            <a:prstGeom prst="snip2DiagRect">
              <a:avLst>
                <a:gd name="adj1" fmla="val 11218"/>
                <a:gd name="adj2" fmla="val 0"/>
              </a:avLst>
            </a:prstGeom>
            <a:gradFill>
              <a:gsLst>
                <a:gs pos="76000">
                  <a:schemeClr val="accent1">
                    <a:alpha val="0"/>
                  </a:schemeClr>
                </a:gs>
                <a:gs pos="20000">
                  <a:schemeClr val="accent1">
                    <a:alpha val="0"/>
                  </a:schemeClr>
                </a:gs>
                <a:gs pos="0">
                  <a:schemeClr val="accent1">
                    <a:alpha val="25000"/>
                  </a:schemeClr>
                </a:gs>
                <a:gs pos="100000">
                  <a:schemeClr val="accent1">
                    <a:alpha val="25000"/>
                  </a:schemeClr>
                </a:gs>
              </a:gsLst>
              <a:lin ang="2700000" scaled="0"/>
            </a:gradFill>
            <a:ln w="6350">
              <a:gradFill>
                <a:gsLst>
                  <a:gs pos="0">
                    <a:schemeClr val="accent1">
                      <a:alpha val="0"/>
                    </a:schemeClr>
                  </a:gs>
                  <a:gs pos="100000">
                    <a:schemeClr val="accent1">
                      <a:alpha val="50000"/>
                    </a:schemeClr>
                  </a:gs>
                </a:gsLst>
                <a:path path="circle">
                  <a:fillToRect l="50000" t="50000" r="50000" b="50000"/>
                </a:path>
                <a:tileRect/>
              </a:gradFill>
            </a:ln>
          </p:spPr>
          <p:txBody>
            <a:bodyPr wrap="square" lIns="0" tIns="0" rIns="0" bIns="0" rtlCol="0" anchor="t" anchorCtr="0">
              <a:noAutofit/>
            </a:bodyPr>
            <a:lstStyle/>
            <a:p>
              <a:pPr lvl="0" algn="l">
                <a:lnSpc>
                  <a:spcPct val="150000"/>
                </a:lnSpc>
                <a:buClrTx/>
                <a:buSzTx/>
                <a:buFontTx/>
              </a:pPr>
              <a:r>
                <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rPr>
                <a:t>安环家产业大脑通过</a:t>
              </a:r>
              <a:r>
                <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rPr>
                <a:t>整合</a:t>
              </a:r>
              <a:r>
                <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rPr>
                <a:t>上下游供应链资源，为劳保用品供应商提供从产品推广、销售增长、定制化需求满足、技术支持、成本控制等多维度全面的解决方案，帮助其快速实现业务增长。</a:t>
              </a:r>
              <a:endPar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sp>
          <p:nvSpPr>
            <p:cNvPr id="16" name="椭圆 15"/>
            <p:cNvSpPr/>
            <p:nvPr>
              <p:custDataLst>
                <p:tags r:id="rId12"/>
              </p:custDataLst>
            </p:nvPr>
          </p:nvSpPr>
          <p:spPr>
            <a:xfrm>
              <a:off x="8154" y="3027"/>
              <a:ext cx="840" cy="840"/>
            </a:xfrm>
            <a:prstGeom prst="ellipse">
              <a:avLst/>
            </a:prstGeom>
            <a:gradFill>
              <a:gsLst>
                <a:gs pos="73000">
                  <a:schemeClr val="accent1">
                    <a:alpha val="0"/>
                  </a:schemeClr>
                </a:gs>
                <a:gs pos="100000">
                  <a:schemeClr val="accent1">
                    <a:alpha val="35000"/>
                  </a:schemeClr>
                </a:gs>
              </a:gsLst>
              <a:path path="shape">
                <a:fillToRect l="50000" t="50000" r="50000" b="50000"/>
              </a:path>
              <a:tileRect/>
            </a:gradFill>
            <a:ln w="6350">
              <a:gradFill>
                <a:gsLst>
                  <a:gs pos="0">
                    <a:schemeClr val="accent1"/>
                  </a:gs>
                  <a:gs pos="100000">
                    <a:schemeClr val="accent1">
                      <a:alpha val="0"/>
                    </a:schemeClr>
                  </a:gs>
                </a:gsLst>
                <a:lin ang="5400000" scaled="1"/>
              </a:gradFill>
            </a:ln>
            <a:effectLst/>
          </p:spPr>
          <p:txBody>
            <a:bodyPr wrap="none" lIns="0" tIns="0" rIns="0" bIns="0" rtlCol="0" anchor="ctr" anchorCtr="0">
              <a:noAutofit/>
            </a:bodyPr>
            <a:lstStyle/>
            <a:p>
              <a:pPr lvl="0" algn="ctr">
                <a:buClrTx/>
                <a:buSzTx/>
                <a:buFontTx/>
              </a:pPr>
              <a:endParaRPr lang="en-US" altLang="zh-CN" sz="2400" b="1">
                <a:solidFill>
                  <a:schemeClr val="accent1"/>
                </a:solidFill>
                <a:latin typeface="+mn-ea"/>
                <a:cs typeface="MiSans Normal" panose="00000500000000000000" charset="-122"/>
                <a:sym typeface="MiSans Normal" panose="00000500000000000000" charset="-122"/>
              </a:endParaRPr>
            </a:p>
          </p:txBody>
        </p:sp>
        <p:sp>
          <p:nvSpPr>
            <p:cNvPr id="6" name="矩形 5"/>
            <p:cNvSpPr/>
            <p:nvPr>
              <p:custDataLst>
                <p:tags r:id="rId13"/>
              </p:custDataLst>
            </p:nvPr>
          </p:nvSpPr>
          <p:spPr>
            <a:xfrm>
              <a:off x="9152" y="3209"/>
              <a:ext cx="7093" cy="47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1800" b="1">
                  <a:solidFill>
                    <a:srgbClr val="0061AE"/>
                  </a:solidFill>
                  <a:latin typeface="字魂手刻宋" panose="00000500000000000000" charset="-122"/>
                  <a:ea typeface="字魂手刻宋" panose="00000500000000000000" charset="-122"/>
                  <a:cs typeface="MiSans Normal" panose="00000500000000000000" charset="-122"/>
                  <a:sym typeface="MiSans Normal" panose="00000500000000000000" charset="-122"/>
                </a:rPr>
                <a:t>针对传统防护用品供应商</a:t>
              </a:r>
              <a:endParaRPr lang="zh-CN" altLang="en-US" sz="1800" b="1">
                <a:solidFill>
                  <a:srgbClr val="0061AE"/>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sp>
          <p:nvSpPr>
            <p:cNvPr id="18" name="任意多边形 17"/>
            <p:cNvSpPr/>
            <p:nvPr>
              <p:custDataLst>
                <p:tags r:id="rId14"/>
              </p:custDataLst>
            </p:nvPr>
          </p:nvSpPr>
          <p:spPr>
            <a:xfrm>
              <a:off x="8409" y="3337"/>
              <a:ext cx="331" cy="220"/>
            </a:xfrm>
            <a:custGeom>
              <a:avLst/>
              <a:gdLst/>
              <a:ahLst/>
              <a:cxnLst>
                <a:cxn ang="3">
                  <a:pos x="hc" y="t"/>
                </a:cxn>
                <a:cxn ang="cd2">
                  <a:pos x="l" y="vc"/>
                </a:cxn>
                <a:cxn ang="cd4">
                  <a:pos x="hc" y="b"/>
                </a:cxn>
                <a:cxn ang="0">
                  <a:pos x="r" y="vc"/>
                </a:cxn>
              </a:cxnLst>
              <a:rect l="l" t="t" r="r" b="b"/>
              <a:pathLst>
                <a:path w="507" h="334">
                  <a:moveTo>
                    <a:pt x="0" y="0"/>
                  </a:moveTo>
                  <a:lnTo>
                    <a:pt x="89" y="0"/>
                  </a:lnTo>
                  <a:lnTo>
                    <a:pt x="89" y="286"/>
                  </a:lnTo>
                  <a:lnTo>
                    <a:pt x="204" y="286"/>
                  </a:lnTo>
                  <a:lnTo>
                    <a:pt x="204" y="49"/>
                  </a:lnTo>
                  <a:lnTo>
                    <a:pt x="89" y="49"/>
                  </a:lnTo>
                  <a:lnTo>
                    <a:pt x="105" y="0"/>
                  </a:lnTo>
                  <a:lnTo>
                    <a:pt x="227" y="0"/>
                  </a:lnTo>
                  <a:lnTo>
                    <a:pt x="293" y="63"/>
                  </a:lnTo>
                  <a:lnTo>
                    <a:pt x="293" y="272"/>
                  </a:lnTo>
                  <a:lnTo>
                    <a:pt x="227" y="334"/>
                  </a:lnTo>
                  <a:lnTo>
                    <a:pt x="66" y="334"/>
                  </a:lnTo>
                  <a:lnTo>
                    <a:pt x="0" y="272"/>
                  </a:lnTo>
                  <a:lnTo>
                    <a:pt x="0" y="0"/>
                  </a:lnTo>
                  <a:close/>
                  <a:moveTo>
                    <a:pt x="350" y="0"/>
                  </a:moveTo>
                  <a:lnTo>
                    <a:pt x="465" y="0"/>
                  </a:lnTo>
                  <a:lnTo>
                    <a:pt x="465" y="286"/>
                  </a:lnTo>
                  <a:lnTo>
                    <a:pt x="507" y="286"/>
                  </a:lnTo>
                  <a:lnTo>
                    <a:pt x="507" y="334"/>
                  </a:lnTo>
                  <a:lnTo>
                    <a:pt x="325" y="334"/>
                  </a:lnTo>
                  <a:lnTo>
                    <a:pt x="340" y="286"/>
                  </a:lnTo>
                  <a:lnTo>
                    <a:pt x="376" y="286"/>
                  </a:lnTo>
                  <a:lnTo>
                    <a:pt x="376" y="48"/>
                  </a:lnTo>
                  <a:lnTo>
                    <a:pt x="335" y="48"/>
                  </a:lnTo>
                  <a:lnTo>
                    <a:pt x="350" y="0"/>
                  </a:lnTo>
                  <a:close/>
                </a:path>
              </a:pathLst>
            </a:custGeom>
            <a:gradFill>
              <a:gsLst>
                <a:gs pos="0">
                  <a:schemeClr val="accent1">
                    <a:lumMod val="40000"/>
                    <a:lumOff val="60000"/>
                  </a:schemeClr>
                </a:gs>
                <a:gs pos="100000">
                  <a:schemeClr val="accent1">
                    <a:alpha val="100000"/>
                  </a:schemeClr>
                </a:gs>
              </a:gsLst>
              <a:lin ang="54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cxnSp>
          <p:nvCxnSpPr>
            <p:cNvPr id="32" name="直接连接符 31"/>
            <p:cNvCxnSpPr/>
            <p:nvPr>
              <p:custDataLst>
                <p:tags r:id="rId15"/>
              </p:custDataLst>
            </p:nvPr>
          </p:nvCxnSpPr>
          <p:spPr>
            <a:xfrm flipH="1" flipV="1">
              <a:off x="8957" y="3623"/>
              <a:ext cx="198" cy="151"/>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alpha val="60000"/>
                </a:schemeClr>
              </a:solidFill>
              <a:round/>
            </a:ln>
            <a:effectLst/>
          </p:spPr>
          <p:style>
            <a:lnRef idx="2">
              <a:schemeClr val="accent1">
                <a:shade val="50000"/>
              </a:schemeClr>
            </a:lnRef>
            <a:fillRef idx="1">
              <a:schemeClr val="accent1"/>
            </a:fillRef>
            <a:effectRef idx="0">
              <a:schemeClr val="accent1"/>
            </a:effectRef>
            <a:fontRef idx="minor">
              <a:schemeClr val="lt1"/>
            </a:fontRef>
          </p:style>
        </p:cxnSp>
        <p:sp>
          <p:nvSpPr>
            <p:cNvPr id="33" name="稻壳设计师康帅7-2"/>
            <p:cNvSpPr/>
            <p:nvPr>
              <p:custDataLst>
                <p:tags r:id="rId16"/>
              </p:custDataLst>
            </p:nvPr>
          </p:nvSpPr>
          <p:spPr>
            <a:xfrm>
              <a:off x="9001" y="5487"/>
              <a:ext cx="1469" cy="57"/>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il" t="it" r="ir" b="ib"/>
              <a:pathLst>
                <a:path w="1791" h="69">
                  <a:moveTo>
                    <a:pt x="0" y="69"/>
                  </a:moveTo>
                  <a:lnTo>
                    <a:pt x="17" y="0"/>
                  </a:lnTo>
                  <a:lnTo>
                    <a:pt x="127" y="0"/>
                  </a:lnTo>
                  <a:lnTo>
                    <a:pt x="110" y="69"/>
                  </a:lnTo>
                  <a:lnTo>
                    <a:pt x="0" y="69"/>
                  </a:lnTo>
                  <a:close/>
                  <a:moveTo>
                    <a:pt x="166" y="69"/>
                  </a:moveTo>
                  <a:lnTo>
                    <a:pt x="183" y="0"/>
                  </a:lnTo>
                  <a:lnTo>
                    <a:pt x="293" y="0"/>
                  </a:lnTo>
                  <a:lnTo>
                    <a:pt x="276" y="69"/>
                  </a:lnTo>
                  <a:lnTo>
                    <a:pt x="166" y="69"/>
                  </a:lnTo>
                  <a:close/>
                  <a:moveTo>
                    <a:pt x="333" y="69"/>
                  </a:moveTo>
                  <a:lnTo>
                    <a:pt x="350" y="0"/>
                  </a:lnTo>
                  <a:lnTo>
                    <a:pt x="460" y="0"/>
                  </a:lnTo>
                  <a:lnTo>
                    <a:pt x="443" y="69"/>
                  </a:lnTo>
                  <a:lnTo>
                    <a:pt x="333" y="69"/>
                  </a:lnTo>
                  <a:close/>
                  <a:moveTo>
                    <a:pt x="499" y="69"/>
                  </a:moveTo>
                  <a:lnTo>
                    <a:pt x="516" y="0"/>
                  </a:lnTo>
                  <a:lnTo>
                    <a:pt x="626" y="0"/>
                  </a:lnTo>
                  <a:lnTo>
                    <a:pt x="609" y="69"/>
                  </a:lnTo>
                  <a:lnTo>
                    <a:pt x="499" y="69"/>
                  </a:lnTo>
                  <a:close/>
                  <a:moveTo>
                    <a:pt x="666" y="69"/>
                  </a:moveTo>
                  <a:lnTo>
                    <a:pt x="683" y="0"/>
                  </a:lnTo>
                  <a:lnTo>
                    <a:pt x="793" y="0"/>
                  </a:lnTo>
                  <a:lnTo>
                    <a:pt x="776" y="69"/>
                  </a:lnTo>
                  <a:lnTo>
                    <a:pt x="666" y="69"/>
                  </a:lnTo>
                  <a:close/>
                  <a:moveTo>
                    <a:pt x="832" y="69"/>
                  </a:moveTo>
                  <a:lnTo>
                    <a:pt x="849" y="0"/>
                  </a:lnTo>
                  <a:lnTo>
                    <a:pt x="959" y="0"/>
                  </a:lnTo>
                  <a:lnTo>
                    <a:pt x="942" y="69"/>
                  </a:lnTo>
                  <a:lnTo>
                    <a:pt x="832" y="69"/>
                  </a:lnTo>
                  <a:close/>
                  <a:moveTo>
                    <a:pt x="999" y="69"/>
                  </a:moveTo>
                  <a:lnTo>
                    <a:pt x="1016" y="0"/>
                  </a:lnTo>
                  <a:lnTo>
                    <a:pt x="1126" y="0"/>
                  </a:lnTo>
                  <a:lnTo>
                    <a:pt x="1109" y="69"/>
                  </a:lnTo>
                  <a:lnTo>
                    <a:pt x="999" y="69"/>
                  </a:lnTo>
                  <a:close/>
                  <a:moveTo>
                    <a:pt x="1165" y="69"/>
                  </a:moveTo>
                  <a:lnTo>
                    <a:pt x="1182" y="0"/>
                  </a:lnTo>
                  <a:lnTo>
                    <a:pt x="1292" y="0"/>
                  </a:lnTo>
                  <a:lnTo>
                    <a:pt x="1275" y="69"/>
                  </a:lnTo>
                  <a:lnTo>
                    <a:pt x="1165" y="69"/>
                  </a:lnTo>
                  <a:close/>
                  <a:moveTo>
                    <a:pt x="1332" y="69"/>
                  </a:moveTo>
                  <a:lnTo>
                    <a:pt x="1349" y="0"/>
                  </a:lnTo>
                  <a:lnTo>
                    <a:pt x="1459" y="0"/>
                  </a:lnTo>
                  <a:lnTo>
                    <a:pt x="1442" y="69"/>
                  </a:lnTo>
                  <a:lnTo>
                    <a:pt x="1332" y="69"/>
                  </a:lnTo>
                  <a:close/>
                  <a:moveTo>
                    <a:pt x="1498" y="69"/>
                  </a:moveTo>
                  <a:lnTo>
                    <a:pt x="1515" y="0"/>
                  </a:lnTo>
                  <a:lnTo>
                    <a:pt x="1625" y="0"/>
                  </a:lnTo>
                  <a:lnTo>
                    <a:pt x="1608" y="69"/>
                  </a:lnTo>
                  <a:lnTo>
                    <a:pt x="1498" y="69"/>
                  </a:lnTo>
                  <a:close/>
                  <a:moveTo>
                    <a:pt x="1664" y="69"/>
                  </a:moveTo>
                  <a:lnTo>
                    <a:pt x="1681" y="0"/>
                  </a:lnTo>
                  <a:lnTo>
                    <a:pt x="1791" y="0"/>
                  </a:lnTo>
                  <a:lnTo>
                    <a:pt x="1774" y="69"/>
                  </a:lnTo>
                  <a:lnTo>
                    <a:pt x="1664" y="69"/>
                  </a:lnTo>
                  <a:close/>
                </a:path>
              </a:pathLst>
            </a:custGeom>
            <a:gradFill flip="none" rotWithShape="1">
              <a:gsLst>
                <a:gs pos="0">
                  <a:schemeClr val="accent1"/>
                </a:gs>
                <a:gs pos="100000">
                  <a:schemeClr val="accent1">
                    <a:alpha val="0"/>
                  </a:schemeClr>
                </a:gs>
              </a:gsLst>
              <a:lin ang="0" scaled="0"/>
              <a:tileRect/>
            </a:gradFill>
            <a:ln>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mn-ea"/>
                <a:sym typeface="MiSans Normal" panose="00000500000000000000" charset="-122"/>
              </a:endParaRPr>
            </a:p>
          </p:txBody>
        </p:sp>
        <p:cxnSp>
          <p:nvCxnSpPr>
            <p:cNvPr id="37" name="稻壳设计师康帅7-13"/>
            <p:cNvCxnSpPr/>
            <p:nvPr>
              <p:custDataLst>
                <p:tags r:id="rId17"/>
              </p:custDataLst>
            </p:nvPr>
          </p:nvCxnSpPr>
          <p:spPr>
            <a:xfrm>
              <a:off x="14279" y="5484"/>
              <a:ext cx="1828"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cmpd="sng" algn="ctr">
              <a:solidFill>
                <a:schemeClr val="accent1">
                  <a:alpha val="70000"/>
                </a:schemeClr>
              </a:solidFill>
              <a:prstDash val="solid"/>
              <a:round/>
            </a:ln>
            <a:effectLst>
              <a:outerShdw blurRad="177800" algn="ctr" rotWithShape="0">
                <a:srgbClr val="65B4D5">
                  <a:alpha val="89000"/>
                </a:srgbClr>
              </a:outerShdw>
            </a:effectLst>
          </p:spPr>
        </p:cxnSp>
        <p:cxnSp>
          <p:nvCxnSpPr>
            <p:cNvPr id="43" name="稻壳设计师康帅7-14"/>
            <p:cNvCxnSpPr/>
            <p:nvPr>
              <p:custDataLst>
                <p:tags r:id="rId18"/>
              </p:custDataLst>
            </p:nvPr>
          </p:nvCxnSpPr>
          <p:spPr>
            <a:xfrm flipV="1">
              <a:off x="16107" y="5347"/>
              <a:ext cx="126" cy="136"/>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cmpd="sng" algn="ctr">
              <a:solidFill>
                <a:schemeClr val="accent1">
                  <a:alpha val="70000"/>
                </a:schemeClr>
              </a:solidFill>
              <a:prstDash val="solid"/>
              <a:round/>
            </a:ln>
            <a:effectLst>
              <a:outerShdw blurRad="177800" algn="ctr" rotWithShape="0">
                <a:srgbClr val="65B4D5">
                  <a:alpha val="89000"/>
                </a:srgbClr>
              </a:outerShdw>
            </a:effectLst>
          </p:spPr>
        </p:cxnSp>
        <p:sp>
          <p:nvSpPr>
            <p:cNvPr id="44" name="椭圆 43"/>
            <p:cNvSpPr/>
            <p:nvPr>
              <p:custDataLst>
                <p:tags r:id="rId19"/>
              </p:custDataLst>
            </p:nvPr>
          </p:nvSpPr>
          <p:spPr>
            <a:xfrm>
              <a:off x="8154" y="6225"/>
              <a:ext cx="840" cy="840"/>
            </a:xfrm>
            <a:prstGeom prst="ellipse">
              <a:avLst/>
            </a:prstGeom>
            <a:gradFill>
              <a:gsLst>
                <a:gs pos="73000">
                  <a:schemeClr val="accent1">
                    <a:alpha val="0"/>
                  </a:schemeClr>
                </a:gs>
                <a:gs pos="100000">
                  <a:schemeClr val="accent1">
                    <a:alpha val="35000"/>
                  </a:schemeClr>
                </a:gs>
              </a:gsLst>
              <a:path path="shape">
                <a:fillToRect l="50000" t="50000" r="50000" b="50000"/>
              </a:path>
              <a:tileRect/>
            </a:gradFill>
            <a:ln w="6350">
              <a:gradFill>
                <a:gsLst>
                  <a:gs pos="0">
                    <a:schemeClr val="accent1"/>
                  </a:gs>
                  <a:gs pos="100000">
                    <a:schemeClr val="accent1">
                      <a:alpha val="0"/>
                    </a:schemeClr>
                  </a:gs>
                </a:gsLst>
                <a:lin ang="5400000" scaled="1"/>
              </a:gradFill>
            </a:ln>
            <a:effectLst/>
          </p:spPr>
          <p:txBody>
            <a:bodyPr wrap="none" lIns="0" tIns="0" rIns="0" bIns="0" rtlCol="0" anchor="ctr" anchorCtr="0">
              <a:noAutofit/>
            </a:bodyPr>
            <a:lstStyle/>
            <a:p>
              <a:pPr lvl="0" algn="ctr">
                <a:buClrTx/>
                <a:buSzTx/>
                <a:buFontTx/>
              </a:pPr>
              <a:endParaRPr lang="en-US" altLang="zh-CN" sz="2400" b="1">
                <a:solidFill>
                  <a:schemeClr val="accent1"/>
                </a:solidFill>
                <a:latin typeface="+mn-ea"/>
                <a:cs typeface="MiSans Normal" panose="00000500000000000000" charset="-122"/>
                <a:sym typeface="MiSans Normal" panose="00000500000000000000" charset="-122"/>
              </a:endParaRPr>
            </a:p>
          </p:txBody>
        </p:sp>
        <p:sp>
          <p:nvSpPr>
            <p:cNvPr id="45" name="任意多边形 44"/>
            <p:cNvSpPr/>
            <p:nvPr>
              <p:custDataLst>
                <p:tags r:id="rId20"/>
              </p:custDataLst>
            </p:nvPr>
          </p:nvSpPr>
          <p:spPr>
            <a:xfrm>
              <a:off x="8372" y="6536"/>
              <a:ext cx="404" cy="218"/>
            </a:xfrm>
            <a:custGeom>
              <a:avLst/>
              <a:gdLst/>
              <a:ahLst/>
              <a:cxnLst>
                <a:cxn ang="3">
                  <a:pos x="hc" y="t"/>
                </a:cxn>
                <a:cxn ang="cd2">
                  <a:pos x="l" y="vc"/>
                </a:cxn>
                <a:cxn ang="cd4">
                  <a:pos x="hc" y="b"/>
                </a:cxn>
                <a:cxn ang="0">
                  <a:pos x="r" y="vc"/>
                </a:cxn>
              </a:cxnLst>
              <a:rect l="l" t="t" r="r" b="b"/>
              <a:pathLst>
                <a:path w="620" h="333">
                  <a:moveTo>
                    <a:pt x="333" y="142"/>
                  </a:moveTo>
                  <a:lnTo>
                    <a:pt x="422" y="142"/>
                  </a:lnTo>
                  <a:lnTo>
                    <a:pt x="422" y="285"/>
                  </a:lnTo>
                  <a:lnTo>
                    <a:pt x="620" y="285"/>
                  </a:lnTo>
                  <a:lnTo>
                    <a:pt x="620" y="333"/>
                  </a:lnTo>
                  <a:lnTo>
                    <a:pt x="333" y="333"/>
                  </a:lnTo>
                  <a:lnTo>
                    <a:pt x="333" y="142"/>
                  </a:lnTo>
                  <a:close/>
                  <a:moveTo>
                    <a:pt x="344" y="0"/>
                  </a:moveTo>
                  <a:lnTo>
                    <a:pt x="613" y="0"/>
                  </a:lnTo>
                  <a:lnTo>
                    <a:pt x="613" y="127"/>
                  </a:lnTo>
                  <a:lnTo>
                    <a:pt x="547" y="190"/>
                  </a:lnTo>
                  <a:lnTo>
                    <a:pt x="422" y="190"/>
                  </a:lnTo>
                  <a:lnTo>
                    <a:pt x="438" y="142"/>
                  </a:lnTo>
                  <a:lnTo>
                    <a:pt x="524" y="142"/>
                  </a:lnTo>
                  <a:lnTo>
                    <a:pt x="524" y="48"/>
                  </a:lnTo>
                  <a:lnTo>
                    <a:pt x="329" y="48"/>
                  </a:lnTo>
                  <a:lnTo>
                    <a:pt x="344" y="0"/>
                  </a:lnTo>
                  <a:close/>
                  <a:moveTo>
                    <a:pt x="0" y="0"/>
                  </a:moveTo>
                  <a:lnTo>
                    <a:pt x="89" y="0"/>
                  </a:lnTo>
                  <a:lnTo>
                    <a:pt x="89" y="285"/>
                  </a:lnTo>
                  <a:lnTo>
                    <a:pt x="205" y="285"/>
                  </a:lnTo>
                  <a:lnTo>
                    <a:pt x="205" y="48"/>
                  </a:lnTo>
                  <a:lnTo>
                    <a:pt x="89" y="48"/>
                  </a:lnTo>
                  <a:lnTo>
                    <a:pt x="105" y="0"/>
                  </a:lnTo>
                  <a:lnTo>
                    <a:pt x="227" y="0"/>
                  </a:lnTo>
                  <a:lnTo>
                    <a:pt x="293" y="62"/>
                  </a:lnTo>
                  <a:lnTo>
                    <a:pt x="293" y="271"/>
                  </a:lnTo>
                  <a:lnTo>
                    <a:pt x="227" y="333"/>
                  </a:lnTo>
                  <a:lnTo>
                    <a:pt x="66" y="333"/>
                  </a:lnTo>
                  <a:lnTo>
                    <a:pt x="0" y="271"/>
                  </a:lnTo>
                  <a:lnTo>
                    <a:pt x="0" y="0"/>
                  </a:lnTo>
                  <a:close/>
                </a:path>
              </a:pathLst>
            </a:custGeom>
            <a:gradFill>
              <a:gsLst>
                <a:gs pos="0">
                  <a:schemeClr val="accent1">
                    <a:lumMod val="40000"/>
                    <a:lumOff val="60000"/>
                  </a:schemeClr>
                </a:gs>
                <a:gs pos="100000">
                  <a:schemeClr val="accent1">
                    <a:alpha val="100000"/>
                  </a:schemeClr>
                </a:gs>
              </a:gsLst>
              <a:lin ang="54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46" name="稻壳设计师康帅7-1"/>
            <p:cNvSpPr/>
            <p:nvPr>
              <p:custDataLst>
                <p:tags r:id="rId21"/>
              </p:custDataLst>
            </p:nvPr>
          </p:nvSpPr>
          <p:spPr>
            <a:xfrm>
              <a:off x="8995" y="7061"/>
              <a:ext cx="8765" cy="2779"/>
            </a:xfrm>
            <a:prstGeom prst="snip2DiagRect">
              <a:avLst>
                <a:gd name="adj1" fmla="val 11218"/>
                <a:gd name="adj2" fmla="val 0"/>
              </a:avLst>
            </a:prstGeom>
            <a:gradFill>
              <a:gsLst>
                <a:gs pos="76000">
                  <a:schemeClr val="accent1">
                    <a:alpha val="0"/>
                  </a:schemeClr>
                </a:gs>
                <a:gs pos="20000">
                  <a:schemeClr val="accent1">
                    <a:alpha val="0"/>
                  </a:schemeClr>
                </a:gs>
                <a:gs pos="0">
                  <a:schemeClr val="accent1">
                    <a:alpha val="25000"/>
                  </a:schemeClr>
                </a:gs>
                <a:gs pos="100000">
                  <a:schemeClr val="accent1">
                    <a:alpha val="25000"/>
                  </a:schemeClr>
                </a:gs>
              </a:gsLst>
              <a:lin ang="2700000" scaled="0"/>
            </a:gradFill>
            <a:ln w="6350">
              <a:gradFill>
                <a:gsLst>
                  <a:gs pos="0">
                    <a:schemeClr val="accent1">
                      <a:alpha val="0"/>
                    </a:schemeClr>
                  </a:gs>
                  <a:gs pos="100000">
                    <a:schemeClr val="accent1">
                      <a:alpha val="50000"/>
                    </a:schemeClr>
                  </a:gs>
                </a:gsLst>
                <a:path path="circle">
                  <a:fillToRect l="50000" t="50000" r="50000" b="50000"/>
                </a:path>
                <a:tileRect/>
              </a:gradFill>
            </a:ln>
          </p:spPr>
          <p:txBody>
            <a:bodyPr wrap="square" lIns="0" tIns="0" rIns="0" bIns="0" rtlCol="0" anchor="t" anchorCtr="0">
              <a:noAutofit/>
            </a:bodyPr>
            <a:lstStyle/>
            <a:p>
              <a:pPr lvl="0" algn="l">
                <a:lnSpc>
                  <a:spcPct val="150000"/>
                </a:lnSpc>
                <a:buClrTx/>
                <a:buSzTx/>
                <a:buFontTx/>
              </a:pPr>
              <a:r>
                <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字魂手刻宋" panose="00000500000000000000" charset="-122"/>
                  <a:sym typeface="MiSans Normal" panose="00000500000000000000" charset="-122"/>
                </a:rPr>
                <a:t>服务机构和安全风险管理师等可通过安环云采为企业提供全生命周期安全风险管理。针对企业安全管理当中面临的各类短板，可为企业客户提供定制化的安全风险管理解决方案、先进的技术支持以及质优价廉的安全生产用品，一键式智能匹配防护、应急、消防等相关产品，为企业提供“诊断、开方、配药、治病”一站式全程管理服务。</a:t>
              </a:r>
              <a:endParaRPr lang="zh-CN" altLang="en-US" sz="1400" dirty="0">
                <a:ln>
                  <a:noFill/>
                  <a:prstDash val="sysDot"/>
                </a:ln>
                <a:solidFill>
                  <a:schemeClr val="tx1">
                    <a:lumMod val="85000"/>
                    <a:lumOff val="15000"/>
                  </a:schemeClr>
                </a:solidFill>
                <a:latin typeface="字魂手刻宋" panose="00000500000000000000" charset="-122"/>
                <a:ea typeface="字魂手刻宋" panose="00000500000000000000" charset="-122"/>
                <a:cs typeface="字魂手刻宋" panose="00000500000000000000" charset="-122"/>
                <a:sym typeface="MiSans Normal" panose="00000500000000000000" charset="-122"/>
              </a:endParaRPr>
            </a:p>
          </p:txBody>
        </p:sp>
        <p:sp>
          <p:nvSpPr>
            <p:cNvPr id="47" name="矩形 46"/>
            <p:cNvSpPr/>
            <p:nvPr>
              <p:custDataLst>
                <p:tags r:id="rId22"/>
              </p:custDataLst>
            </p:nvPr>
          </p:nvSpPr>
          <p:spPr>
            <a:xfrm>
              <a:off x="9152" y="6406"/>
              <a:ext cx="9173" cy="477"/>
            </a:xfrm>
            <a:prstGeom prst="rect">
              <a:avLst/>
            </a:prstGeom>
            <a:noFill/>
          </p:spPr>
          <p:txBody>
            <a:bodyPr wrap="square" lIns="0" tIns="0" rIns="0" bIns="0" rtlCol="0" anchor="b">
              <a:noAutofit/>
            </a:bodyPr>
            <a:lstStyle/>
            <a:p>
              <a:pPr>
                <a:spcBef>
                  <a:spcPct val="0"/>
                </a:spcBef>
                <a:spcAft>
                  <a:spcPct val="0"/>
                </a:spcAft>
                <a:buClr>
                  <a:schemeClr val="accent1"/>
                </a:buClr>
                <a:buSzPct val="70000"/>
              </a:pPr>
              <a:r>
                <a:rPr lang="zh-CN" altLang="en-US" sz="1800" b="1">
                  <a:solidFill>
                    <a:srgbClr val="0061AE"/>
                  </a:solidFill>
                  <a:latin typeface="字魂手刻宋" panose="00000500000000000000" charset="-122"/>
                  <a:ea typeface="字魂手刻宋" panose="00000500000000000000" charset="-122"/>
                  <a:cs typeface="MiSans Normal" panose="00000500000000000000" charset="-122"/>
                  <a:sym typeface="MiSans Normal" panose="00000500000000000000" charset="-122"/>
                </a:rPr>
                <a:t>针对服务机构、安全风险管理师</a:t>
              </a:r>
              <a:endParaRPr lang="zh-CN" altLang="en-US" sz="1800" b="1">
                <a:solidFill>
                  <a:srgbClr val="0061AE"/>
                </a:solidFill>
                <a:latin typeface="字魂手刻宋" panose="00000500000000000000" charset="-122"/>
                <a:ea typeface="字魂手刻宋" panose="00000500000000000000" charset="-122"/>
                <a:cs typeface="MiSans Normal" panose="00000500000000000000" charset="-122"/>
                <a:sym typeface="MiSans Normal" panose="00000500000000000000" charset="-122"/>
              </a:endParaRPr>
            </a:p>
          </p:txBody>
        </p:sp>
        <p:cxnSp>
          <p:nvCxnSpPr>
            <p:cNvPr id="48" name="直接连接符 47"/>
            <p:cNvCxnSpPr/>
            <p:nvPr>
              <p:custDataLst>
                <p:tags r:id="rId23"/>
              </p:custDataLst>
            </p:nvPr>
          </p:nvCxnSpPr>
          <p:spPr>
            <a:xfrm flipH="1" flipV="1">
              <a:off x="8957" y="6820"/>
              <a:ext cx="198" cy="151"/>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alpha val="60000"/>
                </a:schemeClr>
              </a:solidFill>
              <a:round/>
            </a:ln>
            <a:effectLst/>
          </p:spPr>
          <p:style>
            <a:lnRef idx="2">
              <a:schemeClr val="accent1">
                <a:shade val="50000"/>
              </a:schemeClr>
            </a:lnRef>
            <a:fillRef idx="1">
              <a:schemeClr val="accent1"/>
            </a:fillRef>
            <a:effectRef idx="0">
              <a:schemeClr val="accent1"/>
            </a:effectRef>
            <a:fontRef idx="minor">
              <a:schemeClr val="lt1"/>
            </a:fontRef>
          </p:style>
        </p:cxnSp>
        <p:cxnSp>
          <p:nvCxnSpPr>
            <p:cNvPr id="51" name="稻壳设计师康帅7-13"/>
            <p:cNvCxnSpPr/>
            <p:nvPr>
              <p:custDataLst>
                <p:tags r:id="rId24"/>
              </p:custDataLst>
            </p:nvPr>
          </p:nvCxnSpPr>
          <p:spPr>
            <a:xfrm>
              <a:off x="14279" y="8681"/>
              <a:ext cx="1828"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cmpd="sng" algn="ctr">
              <a:solidFill>
                <a:schemeClr val="accent1">
                  <a:alpha val="70000"/>
                </a:schemeClr>
              </a:solidFill>
              <a:prstDash val="solid"/>
              <a:round/>
            </a:ln>
            <a:effectLst>
              <a:outerShdw blurRad="177800" algn="ctr" rotWithShape="0">
                <a:srgbClr val="65B4D5">
                  <a:alpha val="89000"/>
                </a:srgbClr>
              </a:outerShdw>
            </a:effectLst>
          </p:spPr>
        </p:cxnSp>
        <p:cxnSp>
          <p:nvCxnSpPr>
            <p:cNvPr id="52" name="稻壳设计师康帅7-14"/>
            <p:cNvCxnSpPr/>
            <p:nvPr>
              <p:custDataLst>
                <p:tags r:id="rId25"/>
              </p:custDataLst>
            </p:nvPr>
          </p:nvCxnSpPr>
          <p:spPr>
            <a:xfrm flipV="1">
              <a:off x="16107" y="8544"/>
              <a:ext cx="126" cy="136"/>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cmpd="sng" algn="ctr">
              <a:solidFill>
                <a:schemeClr val="accent1">
                  <a:alpha val="70000"/>
                </a:schemeClr>
              </a:solidFill>
              <a:prstDash val="solid"/>
              <a:round/>
            </a:ln>
            <a:effectLst>
              <a:outerShdw blurRad="177800" algn="ctr" rotWithShape="0">
                <a:srgbClr val="65B4D5">
                  <a:alpha val="89000"/>
                </a:srgbClr>
              </a:outerShdw>
            </a:effectLst>
          </p:spPr>
        </p:cxnSp>
        <p:cxnSp>
          <p:nvCxnSpPr>
            <p:cNvPr id="53" name="直接连接符 52"/>
            <p:cNvCxnSpPr/>
            <p:nvPr>
              <p:custDataLst>
                <p:tags r:id="rId26"/>
              </p:custDataLst>
            </p:nvPr>
          </p:nvCxnSpPr>
          <p:spPr>
            <a:xfrm>
              <a:off x="9155" y="3775"/>
              <a:ext cx="7015"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alpha val="60000"/>
                </a:schemeClr>
              </a:solidFill>
              <a:round/>
              <a:tailEnd type="oval"/>
            </a:ln>
            <a:effectLst/>
          </p:spPr>
          <p:style>
            <a:lnRef idx="2">
              <a:schemeClr val="accent1">
                <a:shade val="50000"/>
              </a:schemeClr>
            </a:lnRef>
            <a:fillRef idx="1">
              <a:schemeClr val="accent1"/>
            </a:fillRef>
            <a:effectRef idx="0">
              <a:schemeClr val="accent1"/>
            </a:effectRef>
            <a:fontRef idx="minor">
              <a:schemeClr val="lt1"/>
            </a:fontRef>
          </p:style>
        </p:cxnSp>
        <p:cxnSp>
          <p:nvCxnSpPr>
            <p:cNvPr id="54" name="直接连接符 53"/>
            <p:cNvCxnSpPr/>
            <p:nvPr>
              <p:custDataLst>
                <p:tags r:id="rId27"/>
              </p:custDataLst>
            </p:nvPr>
          </p:nvCxnSpPr>
          <p:spPr>
            <a:xfrm>
              <a:off x="9155" y="6972"/>
              <a:ext cx="7015"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alpha val="60000"/>
                </a:schemeClr>
              </a:solidFill>
              <a:round/>
              <a:tailEnd type="oval"/>
            </a:ln>
            <a:effectLst/>
          </p:spPr>
          <p:style>
            <a:lnRef idx="2">
              <a:schemeClr val="accent1">
                <a:shade val="50000"/>
              </a:schemeClr>
            </a:lnRef>
            <a:fillRef idx="1">
              <a:schemeClr val="accent1"/>
            </a:fillRef>
            <a:effectRef idx="0">
              <a:schemeClr val="accent1"/>
            </a:effectRef>
            <a:fontRef idx="minor">
              <a:schemeClr val="lt1"/>
            </a:fontRef>
          </p:style>
        </p:cxnSp>
        <p:pic>
          <p:nvPicPr>
            <p:cNvPr id="7" name="图片 6"/>
            <p:cNvPicPr>
              <a:picLocks noChangeAspect="1"/>
            </p:cNvPicPr>
            <p:nvPr/>
          </p:nvPicPr>
          <p:blipFill>
            <a:blip r:embed="rId28"/>
            <a:stretch>
              <a:fillRect/>
            </a:stretch>
          </p:blipFill>
          <p:spPr>
            <a:xfrm>
              <a:off x="2375" y="2453"/>
              <a:ext cx="4807" cy="2748"/>
            </a:xfrm>
            <a:prstGeom prst="rect">
              <a:avLst/>
            </a:prstGeom>
          </p:spPr>
        </p:pic>
        <p:pic>
          <p:nvPicPr>
            <p:cNvPr id="8" name="图片 7"/>
            <p:cNvPicPr>
              <a:picLocks noChangeAspect="1"/>
            </p:cNvPicPr>
            <p:nvPr/>
          </p:nvPicPr>
          <p:blipFill>
            <a:blip r:embed="rId29"/>
            <a:stretch>
              <a:fillRect/>
            </a:stretch>
          </p:blipFill>
          <p:spPr>
            <a:xfrm>
              <a:off x="2375" y="5900"/>
              <a:ext cx="4502" cy="4200"/>
            </a:xfrm>
            <a:prstGeom prst="rect">
              <a:avLst/>
            </a:prstGeom>
          </p:spPr>
        </p:pic>
      </p:grpSp>
      <p:sp>
        <p:nvSpPr>
          <p:cNvPr id="15" name="文本框 14"/>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3.6</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custDataLst>
              <p:tags r:id="rId1"/>
            </p:custDataLst>
          </p:nvPr>
        </p:nvSpPr>
        <p:spPr>
          <a:xfrm>
            <a:off x="145396" y="69812"/>
            <a:ext cx="757456" cy="737235"/>
          </a:xfrm>
          <a:prstGeom prst="rect">
            <a:avLst/>
          </a:prstGeom>
          <a:noFill/>
        </p:spPr>
        <p:txBody>
          <a:bodyPr wrap="square">
            <a:spAutoFit/>
          </a:bodyPr>
          <a:lst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a:lstStyle>
          <a:p>
            <a:pPr algn="ctr">
              <a:lnSpc>
                <a:spcPct val="150000"/>
              </a:lnSpc>
              <a:spcBef>
                <a:spcPts val="1200"/>
              </a:spcBef>
            </a:pPr>
            <a:r>
              <a:rPr lang="en-US" altLang="zh-CN" sz="2800" b="1" dirty="0">
                <a:solidFill>
                  <a:schemeClr val="bg1"/>
                </a:solidFill>
                <a:latin typeface="字魂手刻宋" panose="00000500000000000000" charset="-122"/>
                <a:ea typeface="字魂手刻宋" panose="00000500000000000000" charset="-122"/>
              </a:rPr>
              <a:t>1</a:t>
            </a:r>
            <a:endParaRPr lang="en-US" altLang="zh-CN" sz="2800" b="1" dirty="0">
              <a:solidFill>
                <a:schemeClr val="bg1"/>
              </a:solidFill>
              <a:latin typeface="字魂手刻宋" panose="00000500000000000000" charset="-122"/>
              <a:ea typeface="字魂手刻宋" panose="00000500000000000000" charset="-122"/>
            </a:endParaRPr>
          </a:p>
        </p:txBody>
      </p:sp>
      <p:sp>
        <p:nvSpPr>
          <p:cNvPr id="14" name="文本框 13"/>
          <p:cNvSpPr txBox="1"/>
          <p:nvPr>
            <p:custDataLst>
              <p:tags r:id="rId2"/>
            </p:custDataLst>
          </p:nvPr>
        </p:nvSpPr>
        <p:spPr>
          <a:xfrm>
            <a:off x="962660" y="69850"/>
            <a:ext cx="978789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安全风险管理师</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痛点</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cxnSp>
        <p:nvCxnSpPr>
          <p:cNvPr id="18" name="直接连接符 17"/>
          <p:cNvCxnSpPr/>
          <p:nvPr>
            <p:custDataLst>
              <p:tags r:id="rId3"/>
            </p:custDataLst>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88" name="矩形 87"/>
          <p:cNvSpPr/>
          <p:nvPr>
            <p:custDataLst>
              <p:tags r:id="rId4"/>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手刻宋" panose="00000500000000000000" charset="-122"/>
              <a:ea typeface="字魂手刻宋" panose="00000500000000000000" charset="-122"/>
              <a:sym typeface="+mn-ea"/>
            </a:endParaRPr>
          </a:p>
        </p:txBody>
      </p:sp>
      <p:sp>
        <p:nvSpPr>
          <p:cNvPr id="7" name="矩形 6"/>
          <p:cNvSpPr/>
          <p:nvPr>
            <p:custDataLst>
              <p:tags r:id="rId5"/>
            </p:custDataLst>
          </p:nvPr>
        </p:nvSpPr>
        <p:spPr>
          <a:xfrm>
            <a:off x="3692441" y="316317"/>
            <a:ext cx="4816303" cy="1194156"/>
          </a:xfrm>
          <a:prstGeom prst="rect">
            <a:avLst/>
          </a:prstGeom>
          <a:noFill/>
        </p:spPr>
        <p:txBody>
          <a:bodyPr wrap="square" rtlCol="0" anchor="b" anchorCtr="0">
            <a:noAutofit/>
          </a:bodyPr>
          <a:lstStyle/>
          <a:p>
            <a:pPr algn="ctr">
              <a:spcBef>
                <a:spcPct val="0"/>
              </a:spcBef>
              <a:spcAft>
                <a:spcPct val="0"/>
              </a:spcAft>
            </a:pPr>
            <a:r>
              <a:rPr lang="zh-CN" altLang="en-US" sz="2400" b="1" dirty="0">
                <a:ln w="0">
                  <a:noFill/>
                </a:ln>
                <a:solidFill>
                  <a:srgbClr val="0061AE"/>
                </a:solidFill>
                <a:latin typeface="字魂手刻宋" panose="00000500000000000000" charset="-122"/>
                <a:ea typeface="字魂手刻宋" panose="00000500000000000000" charset="-122"/>
                <a:cs typeface="+mn-ea"/>
                <a:sym typeface="+mn-ea"/>
              </a:rPr>
              <a:t>安全服务社会化力量不足</a:t>
            </a:r>
            <a:endParaRPr lang="zh-CN" altLang="en-US" sz="2400" b="1" dirty="0">
              <a:ln w="0">
                <a:noFill/>
              </a:ln>
              <a:solidFill>
                <a:srgbClr val="0061AE"/>
              </a:solidFill>
              <a:latin typeface="字魂手刻宋" panose="00000500000000000000" charset="-122"/>
              <a:ea typeface="字魂手刻宋" panose="00000500000000000000" charset="-122"/>
              <a:cs typeface="+mn-ea"/>
              <a:sym typeface="+mn-ea"/>
            </a:endParaRPr>
          </a:p>
        </p:txBody>
      </p:sp>
      <p:grpSp>
        <p:nvGrpSpPr>
          <p:cNvPr id="20" name="组合 19"/>
          <p:cNvGrpSpPr/>
          <p:nvPr>
            <p:custDataLst>
              <p:tags r:id="rId6"/>
            </p:custDataLst>
          </p:nvPr>
        </p:nvGrpSpPr>
        <p:grpSpPr>
          <a:xfrm>
            <a:off x="478155" y="1330325"/>
            <a:ext cx="11126470" cy="5436235"/>
            <a:chOff x="753" y="2095"/>
            <a:chExt cx="17522" cy="8561"/>
          </a:xfrm>
        </p:grpSpPr>
        <p:sp>
          <p:nvSpPr>
            <p:cNvPr id="42" name="弧形 41"/>
            <p:cNvSpPr/>
            <p:nvPr>
              <p:custDataLst>
                <p:tags r:id="rId7"/>
              </p:custDataLst>
            </p:nvPr>
          </p:nvSpPr>
          <p:spPr>
            <a:xfrm rot="10800000">
              <a:off x="2655" y="2095"/>
              <a:ext cx="13903" cy="4452"/>
            </a:xfrm>
            <a:prstGeom prst="arc">
              <a:avLst>
                <a:gd name="adj1" fmla="val 9452879"/>
                <a:gd name="adj2" fmla="val 1362437"/>
              </a:avLst>
            </a:prstGeom>
            <a:noFill/>
            <a:ln w="31750">
              <a:gradFill>
                <a:gsLst>
                  <a:gs pos="0">
                    <a:schemeClr val="accent1">
                      <a:alpha val="0"/>
                    </a:schemeClr>
                  </a:gs>
                  <a:gs pos="73000">
                    <a:schemeClr val="accent1">
                      <a:alpha val="25000"/>
                    </a:schemeClr>
                  </a:gs>
                  <a:gs pos="100000">
                    <a:schemeClr val="accent1">
                      <a:alpha val="40000"/>
                    </a:schemeClr>
                  </a:gs>
                  <a:gs pos="57000">
                    <a:schemeClr val="accent1">
                      <a:alpha val="20000"/>
                    </a:schemeClr>
                  </a:gs>
                  <a:gs pos="44000">
                    <a:schemeClr val="accent1">
                      <a:alpha val="5000"/>
                    </a:schemeClr>
                  </a:gs>
                </a:gsLst>
                <a:lin ang="1620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rgbClr val="0061AE"/>
                </a:solidFill>
                <a:latin typeface="字魂手刻宋" panose="00000500000000000000" charset="-122"/>
                <a:ea typeface="字魂手刻宋" panose="00000500000000000000" charset="-122"/>
                <a:sym typeface="+mn-ea"/>
              </a:endParaRPr>
            </a:p>
          </p:txBody>
        </p:sp>
        <p:grpSp>
          <p:nvGrpSpPr>
            <p:cNvPr id="19" name="组合 18"/>
            <p:cNvGrpSpPr/>
            <p:nvPr>
              <p:custDataLst>
                <p:tags r:id="rId8"/>
              </p:custDataLst>
            </p:nvPr>
          </p:nvGrpSpPr>
          <p:grpSpPr>
            <a:xfrm>
              <a:off x="753" y="2700"/>
              <a:ext cx="17522" cy="7956"/>
              <a:chOff x="753" y="2700"/>
              <a:chExt cx="17522" cy="7956"/>
            </a:xfrm>
          </p:grpSpPr>
          <p:sp>
            <p:nvSpPr>
              <p:cNvPr id="47" name="矩形 46"/>
              <p:cNvSpPr/>
              <p:nvPr>
                <p:custDataLst>
                  <p:tags r:id="rId9"/>
                </p:custDataLst>
              </p:nvPr>
            </p:nvSpPr>
            <p:spPr>
              <a:xfrm>
                <a:off x="14690" y="6047"/>
                <a:ext cx="2717" cy="15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sym typeface="+mn-ea"/>
                  </a:rPr>
                  <a:t>专业安全服务成本高</a:t>
                </a:r>
                <a:endParaRPr 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sym typeface="+mn-ea"/>
                </a:endParaRPr>
              </a:p>
            </p:txBody>
          </p:sp>
          <p:sp>
            <p:nvSpPr>
              <p:cNvPr id="46" name="矩形 45"/>
              <p:cNvSpPr/>
              <p:nvPr>
                <p:custDataLst>
                  <p:tags r:id="rId10"/>
                </p:custDataLst>
              </p:nvPr>
            </p:nvSpPr>
            <p:spPr>
              <a:xfrm>
                <a:off x="11468" y="6715"/>
                <a:ext cx="2717" cy="15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sym typeface="+mn-ea"/>
                  </a:rPr>
                  <a:t>现场作业难度大</a:t>
                </a:r>
                <a:endParaRPr lang="en-US" altLang="en-US" sz="1400" dirty="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mn-ea"/>
                  <a:sym typeface="+mn-ea"/>
                </a:endParaRPr>
              </a:p>
            </p:txBody>
          </p:sp>
          <p:sp>
            <p:nvSpPr>
              <p:cNvPr id="45" name="矩形 44"/>
              <p:cNvSpPr/>
              <p:nvPr>
                <p:custDataLst>
                  <p:tags r:id="rId11"/>
                </p:custDataLst>
              </p:nvPr>
            </p:nvSpPr>
            <p:spPr>
              <a:xfrm>
                <a:off x="8233" y="7059"/>
                <a:ext cx="2717" cy="15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字魂手刻宋" panose="00000500000000000000" charset="-122"/>
                    <a:sym typeface="+mn-ea"/>
                  </a:rPr>
                  <a:t>专业人才培养难</a:t>
                </a:r>
                <a:r>
                  <a:rPr lang="en-US" altLang="zh-CN"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字魂手刻宋" panose="00000500000000000000" charset="-122"/>
                    <a:sym typeface="+mn-ea"/>
                  </a:rPr>
                  <a:t> </a:t>
                </a:r>
                <a:endParaRPr lang="en-US" altLang="zh-CN" sz="1400" dirty="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字魂手刻宋" panose="00000500000000000000" charset="-122"/>
                  <a:sym typeface="+mn-ea"/>
                </a:endParaRPr>
              </a:p>
            </p:txBody>
          </p:sp>
          <p:sp>
            <p:nvSpPr>
              <p:cNvPr id="44" name="矩形 43"/>
              <p:cNvSpPr/>
              <p:nvPr>
                <p:custDataLst>
                  <p:tags r:id="rId12"/>
                </p:custDataLst>
              </p:nvPr>
            </p:nvSpPr>
            <p:spPr>
              <a:xfrm>
                <a:off x="5010" y="6722"/>
                <a:ext cx="2717" cy="15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sym typeface="+mn-ea"/>
                  </a:rPr>
                  <a:t>风险评估模型不科学</a:t>
                </a:r>
                <a:endParaRPr lang="en-US" altLang="en-US" sz="1400" dirty="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mn-ea"/>
                  <a:sym typeface="+mn-ea"/>
                </a:endParaRPr>
              </a:p>
            </p:txBody>
          </p:sp>
          <p:sp>
            <p:nvSpPr>
              <p:cNvPr id="4" name="矩形 3"/>
              <p:cNvSpPr/>
              <p:nvPr>
                <p:custDataLst>
                  <p:tags r:id="rId13"/>
                </p:custDataLst>
              </p:nvPr>
            </p:nvSpPr>
            <p:spPr>
              <a:xfrm>
                <a:off x="1708" y="6047"/>
                <a:ext cx="2717" cy="15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en-US" sz="140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sym typeface="+mn-ea"/>
                  </a:rPr>
                  <a:t>行业人才缺口大</a:t>
                </a:r>
                <a:endParaRPr lang="en-US" altLang="en-US" sz="1400" dirty="0">
                  <a:solidFill>
                    <a:srgbClr val="0061AE"/>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mn-ea"/>
                  <a:sym typeface="+mn-ea"/>
                </a:endParaRPr>
              </a:p>
            </p:txBody>
          </p:sp>
          <p:sp>
            <p:nvSpPr>
              <p:cNvPr id="2" name="椭圆 1"/>
              <p:cNvSpPr/>
              <p:nvPr>
                <p:custDataLst>
                  <p:tags r:id="rId14"/>
                </p:custDataLst>
              </p:nvPr>
            </p:nvSpPr>
            <p:spPr>
              <a:xfrm>
                <a:off x="9147" y="6007"/>
                <a:ext cx="919" cy="919"/>
              </a:xfrm>
              <a:prstGeom prst="ellipse">
                <a:avLst/>
              </a:prstGeom>
              <a:gradFill>
                <a:gsLst>
                  <a:gs pos="1000">
                    <a:schemeClr val="accent1">
                      <a:lumMod val="90000"/>
                      <a:lumOff val="10000"/>
                    </a:schemeClr>
                  </a:gs>
                  <a:gs pos="86000">
                    <a:schemeClr val="accent1">
                      <a:alpha val="100000"/>
                      <a:lumMod val="30000"/>
                      <a:lumOff val="7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rgbClr val="0061AE"/>
                  </a:solidFill>
                  <a:latin typeface="字魂手刻宋" panose="00000500000000000000" charset="-122"/>
                  <a:ea typeface="字魂手刻宋" panose="00000500000000000000" charset="-122"/>
                  <a:sym typeface="+mn-ea"/>
                </a:endParaRPr>
              </a:p>
            </p:txBody>
          </p:sp>
          <p:sp>
            <p:nvSpPr>
              <p:cNvPr id="6" name="图片 60" descr="343439383331313b343532303032383bbfcdbba7b9dcc0ed"/>
              <p:cNvSpPr/>
              <p:nvPr>
                <p:custDataLst>
                  <p:tags r:id="rId15"/>
                </p:custDataLst>
              </p:nvPr>
            </p:nvSpPr>
            <p:spPr>
              <a:xfrm>
                <a:off x="9441" y="6302"/>
                <a:ext cx="330" cy="330"/>
              </a:xfrm>
              <a:custGeom>
                <a:avLst/>
                <a:gdLst>
                  <a:gd name="connsiteX0" fmla="*/ 173641 w 229494"/>
                  <a:gd name="connsiteY0" fmla="*/ 179437 h 229184"/>
                  <a:gd name="connsiteX1" fmla="*/ 124984 w 229494"/>
                  <a:gd name="connsiteY1" fmla="*/ 141566 h 229184"/>
                  <a:gd name="connsiteX2" fmla="*/ 122102 w 229494"/>
                  <a:gd name="connsiteY2" fmla="*/ 133613 h 229184"/>
                  <a:gd name="connsiteX3" fmla="*/ 122102 w 229494"/>
                  <a:gd name="connsiteY3" fmla="*/ 133494 h 229184"/>
                  <a:gd name="connsiteX4" fmla="*/ 122448 w 229494"/>
                  <a:gd name="connsiteY4" fmla="*/ 132782 h 229184"/>
                  <a:gd name="connsiteX5" fmla="*/ 140665 w 229494"/>
                  <a:gd name="connsiteY5" fmla="*/ 82089 h 229184"/>
                  <a:gd name="connsiteX6" fmla="*/ 121641 w 229494"/>
                  <a:gd name="connsiteY6" fmla="*/ 27954 h 229184"/>
                  <a:gd name="connsiteX7" fmla="*/ 120603 w 229494"/>
                  <a:gd name="connsiteY7" fmla="*/ 21187 h 229184"/>
                  <a:gd name="connsiteX8" fmla="*/ 152196 w 229494"/>
                  <a:gd name="connsiteY8" fmla="*/ 174 h 229184"/>
                  <a:gd name="connsiteX9" fmla="*/ 193704 w 229494"/>
                  <a:gd name="connsiteY9" fmla="*/ 36977 h 229184"/>
                  <a:gd name="connsiteX10" fmla="*/ 179868 w 229494"/>
                  <a:gd name="connsiteY10" fmla="*/ 91587 h 229184"/>
                  <a:gd name="connsiteX11" fmla="*/ 175256 w 229494"/>
                  <a:gd name="connsiteY11" fmla="*/ 97523 h 229184"/>
                  <a:gd name="connsiteX12" fmla="*/ 174794 w 229494"/>
                  <a:gd name="connsiteY12" fmla="*/ 106664 h 229184"/>
                  <a:gd name="connsiteX13" fmla="*/ 176524 w 229494"/>
                  <a:gd name="connsiteY13" fmla="*/ 109632 h 229184"/>
                  <a:gd name="connsiteX14" fmla="*/ 190360 w 229494"/>
                  <a:gd name="connsiteY14" fmla="*/ 116636 h 229184"/>
                  <a:gd name="connsiteX15" fmla="*/ 205349 w 229494"/>
                  <a:gd name="connsiteY15" fmla="*/ 123759 h 229184"/>
                  <a:gd name="connsiteX16" fmla="*/ 228409 w 229494"/>
                  <a:gd name="connsiteY16" fmla="*/ 145129 h 229184"/>
                  <a:gd name="connsiteX17" fmla="*/ 226103 w 229494"/>
                  <a:gd name="connsiteY17" fmla="*/ 167684 h 229184"/>
                  <a:gd name="connsiteX18" fmla="*/ 179291 w 229494"/>
                  <a:gd name="connsiteY18" fmla="*/ 182643 h 229184"/>
                  <a:gd name="connsiteX19" fmla="*/ 173641 w 229494"/>
                  <a:gd name="connsiteY19" fmla="*/ 179437 h 229184"/>
                  <a:gd name="connsiteX20" fmla="*/ 114 w 229494"/>
                  <a:gd name="connsiteY20" fmla="*/ 203181 h 229184"/>
                  <a:gd name="connsiteX21" fmla="*/ 114 w 229494"/>
                  <a:gd name="connsiteY21" fmla="*/ 194870 h 229184"/>
                  <a:gd name="connsiteX22" fmla="*/ 2420 w 229494"/>
                  <a:gd name="connsiteY22" fmla="*/ 187748 h 229184"/>
                  <a:gd name="connsiteX23" fmla="*/ 23981 w 229494"/>
                  <a:gd name="connsiteY23" fmla="*/ 166616 h 229184"/>
                  <a:gd name="connsiteX24" fmla="*/ 24673 w 229494"/>
                  <a:gd name="connsiteY24" fmla="*/ 166141 h 229184"/>
                  <a:gd name="connsiteX25" fmla="*/ 46234 w 229494"/>
                  <a:gd name="connsiteY25" fmla="*/ 155694 h 229184"/>
                  <a:gd name="connsiteX26" fmla="*/ 53152 w 229494"/>
                  <a:gd name="connsiteY26" fmla="*/ 152726 h 229184"/>
                  <a:gd name="connsiteX27" fmla="*/ 55112 w 229494"/>
                  <a:gd name="connsiteY27" fmla="*/ 151183 h 229184"/>
                  <a:gd name="connsiteX28" fmla="*/ 58802 w 229494"/>
                  <a:gd name="connsiteY28" fmla="*/ 131950 h 229184"/>
                  <a:gd name="connsiteX29" fmla="*/ 54305 w 229494"/>
                  <a:gd name="connsiteY29" fmla="*/ 126133 h 229184"/>
                  <a:gd name="connsiteX30" fmla="*/ 54075 w 229494"/>
                  <a:gd name="connsiteY30" fmla="*/ 125896 h 229184"/>
                  <a:gd name="connsiteX31" fmla="*/ 36895 w 229494"/>
                  <a:gd name="connsiteY31" fmla="*/ 70218 h 229184"/>
                  <a:gd name="connsiteX32" fmla="*/ 79556 w 229494"/>
                  <a:gd name="connsiteY32" fmla="*/ 29854 h 229184"/>
                  <a:gd name="connsiteX33" fmla="*/ 123371 w 229494"/>
                  <a:gd name="connsiteY33" fmla="*/ 69980 h 229184"/>
                  <a:gd name="connsiteX34" fmla="*/ 123485 w 229494"/>
                  <a:gd name="connsiteY34" fmla="*/ 70574 h 229184"/>
                  <a:gd name="connsiteX35" fmla="*/ 117721 w 229494"/>
                  <a:gd name="connsiteY35" fmla="*/ 105951 h 229184"/>
                  <a:gd name="connsiteX36" fmla="*/ 106421 w 229494"/>
                  <a:gd name="connsiteY36" fmla="*/ 125777 h 229184"/>
                  <a:gd name="connsiteX37" fmla="*/ 105960 w 229494"/>
                  <a:gd name="connsiteY37" fmla="*/ 126490 h 229184"/>
                  <a:gd name="connsiteX38" fmla="*/ 101809 w 229494"/>
                  <a:gd name="connsiteY38" fmla="*/ 131476 h 229184"/>
                  <a:gd name="connsiteX39" fmla="*/ 101348 w 229494"/>
                  <a:gd name="connsiteY39" fmla="*/ 132663 h 229184"/>
                  <a:gd name="connsiteX40" fmla="*/ 103885 w 229494"/>
                  <a:gd name="connsiteY40" fmla="*/ 152251 h 229184"/>
                  <a:gd name="connsiteX41" fmla="*/ 112878 w 229494"/>
                  <a:gd name="connsiteY41" fmla="*/ 155694 h 229184"/>
                  <a:gd name="connsiteX42" fmla="*/ 113454 w 229494"/>
                  <a:gd name="connsiteY42" fmla="*/ 155931 h 229184"/>
                  <a:gd name="connsiteX43" fmla="*/ 151042 w 229494"/>
                  <a:gd name="connsiteY43" fmla="*/ 178251 h 229184"/>
                  <a:gd name="connsiteX44" fmla="*/ 151388 w 229494"/>
                  <a:gd name="connsiteY44" fmla="*/ 178488 h 229184"/>
                  <a:gd name="connsiteX45" fmla="*/ 159921 w 229494"/>
                  <a:gd name="connsiteY45" fmla="*/ 191428 h 229184"/>
                  <a:gd name="connsiteX46" fmla="*/ 160382 w 229494"/>
                  <a:gd name="connsiteY46" fmla="*/ 195464 h 229184"/>
                  <a:gd name="connsiteX47" fmla="*/ 160382 w 229494"/>
                  <a:gd name="connsiteY47" fmla="*/ 204724 h 229184"/>
                  <a:gd name="connsiteX48" fmla="*/ 160151 w 229494"/>
                  <a:gd name="connsiteY48" fmla="*/ 206387 h 229184"/>
                  <a:gd name="connsiteX49" fmla="*/ 125792 w 229494"/>
                  <a:gd name="connsiteY49" fmla="*/ 225738 h 229184"/>
                  <a:gd name="connsiteX50" fmla="*/ 38163 w 229494"/>
                  <a:gd name="connsiteY50" fmla="*/ 225738 h 229184"/>
                  <a:gd name="connsiteX51" fmla="*/ 4726 w 229494"/>
                  <a:gd name="connsiteY51" fmla="*/ 211491 h 229184"/>
                  <a:gd name="connsiteX52" fmla="*/ 114 w 229494"/>
                  <a:gd name="connsiteY52" fmla="*/ 203181 h 22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29494" h="229184">
                    <a:moveTo>
                      <a:pt x="173641" y="179437"/>
                    </a:moveTo>
                    <a:cubicBezTo>
                      <a:pt x="163726" y="160087"/>
                      <a:pt x="145508" y="149996"/>
                      <a:pt x="124984" y="141566"/>
                    </a:cubicBezTo>
                    <a:cubicBezTo>
                      <a:pt x="121871" y="140261"/>
                      <a:pt x="120603" y="136581"/>
                      <a:pt x="122102" y="133613"/>
                    </a:cubicBezTo>
                    <a:lnTo>
                      <a:pt x="122102" y="133494"/>
                    </a:lnTo>
                    <a:lnTo>
                      <a:pt x="122448" y="132782"/>
                    </a:lnTo>
                    <a:cubicBezTo>
                      <a:pt x="131557" y="119723"/>
                      <a:pt x="139512" y="103221"/>
                      <a:pt x="140665" y="82089"/>
                    </a:cubicBezTo>
                    <a:cubicBezTo>
                      <a:pt x="142856" y="57871"/>
                      <a:pt x="133978" y="40776"/>
                      <a:pt x="121641" y="27954"/>
                    </a:cubicBezTo>
                    <a:cubicBezTo>
                      <a:pt x="119911" y="26173"/>
                      <a:pt x="119450" y="23443"/>
                      <a:pt x="120603" y="21187"/>
                    </a:cubicBezTo>
                    <a:cubicBezTo>
                      <a:pt x="126483" y="10028"/>
                      <a:pt x="135592" y="1243"/>
                      <a:pt x="152196" y="174"/>
                    </a:cubicBezTo>
                    <a:cubicBezTo>
                      <a:pt x="177562" y="-1013"/>
                      <a:pt x="191398" y="15608"/>
                      <a:pt x="193704" y="36977"/>
                    </a:cubicBezTo>
                    <a:cubicBezTo>
                      <a:pt x="197163" y="60720"/>
                      <a:pt x="189092" y="79715"/>
                      <a:pt x="179868" y="91587"/>
                    </a:cubicBezTo>
                    <a:cubicBezTo>
                      <a:pt x="178714" y="93961"/>
                      <a:pt x="176408" y="95148"/>
                      <a:pt x="175256" y="97523"/>
                    </a:cubicBezTo>
                    <a:cubicBezTo>
                      <a:pt x="174333" y="99422"/>
                      <a:pt x="174102" y="103815"/>
                      <a:pt x="174794" y="106664"/>
                    </a:cubicBezTo>
                    <a:cubicBezTo>
                      <a:pt x="175025" y="107851"/>
                      <a:pt x="175601" y="108801"/>
                      <a:pt x="176524" y="109632"/>
                    </a:cubicBezTo>
                    <a:cubicBezTo>
                      <a:pt x="179752" y="112481"/>
                      <a:pt x="186324" y="114499"/>
                      <a:pt x="190360" y="116636"/>
                    </a:cubicBezTo>
                    <a:cubicBezTo>
                      <a:pt x="196125" y="119011"/>
                      <a:pt x="200737" y="121385"/>
                      <a:pt x="205349" y="123759"/>
                    </a:cubicBezTo>
                    <a:cubicBezTo>
                      <a:pt x="214573" y="128508"/>
                      <a:pt x="224950" y="135631"/>
                      <a:pt x="228409" y="145129"/>
                    </a:cubicBezTo>
                    <a:cubicBezTo>
                      <a:pt x="230715" y="151065"/>
                      <a:pt x="229562" y="162936"/>
                      <a:pt x="226103" y="167684"/>
                    </a:cubicBezTo>
                    <a:cubicBezTo>
                      <a:pt x="218609" y="178726"/>
                      <a:pt x="197047" y="180506"/>
                      <a:pt x="179291" y="182643"/>
                    </a:cubicBezTo>
                    <a:cubicBezTo>
                      <a:pt x="176985" y="182762"/>
                      <a:pt x="174794" y="181574"/>
                      <a:pt x="173641" y="179437"/>
                    </a:cubicBezTo>
                    <a:moveTo>
                      <a:pt x="114" y="203181"/>
                    </a:moveTo>
                    <a:lnTo>
                      <a:pt x="114" y="194870"/>
                    </a:lnTo>
                    <a:cubicBezTo>
                      <a:pt x="114" y="192497"/>
                      <a:pt x="1267" y="190122"/>
                      <a:pt x="2420" y="187748"/>
                    </a:cubicBezTo>
                    <a:cubicBezTo>
                      <a:pt x="6917" y="178369"/>
                      <a:pt x="16025" y="172434"/>
                      <a:pt x="23981" y="166616"/>
                    </a:cubicBezTo>
                    <a:cubicBezTo>
                      <a:pt x="24212" y="166498"/>
                      <a:pt x="24442" y="166260"/>
                      <a:pt x="24673" y="166141"/>
                    </a:cubicBezTo>
                    <a:cubicBezTo>
                      <a:pt x="31476" y="162699"/>
                      <a:pt x="38279" y="159137"/>
                      <a:pt x="46234" y="155694"/>
                    </a:cubicBezTo>
                    <a:cubicBezTo>
                      <a:pt x="48194" y="154745"/>
                      <a:pt x="50962" y="153676"/>
                      <a:pt x="53152" y="152726"/>
                    </a:cubicBezTo>
                    <a:cubicBezTo>
                      <a:pt x="53959" y="152370"/>
                      <a:pt x="54651" y="151895"/>
                      <a:pt x="55112" y="151183"/>
                    </a:cubicBezTo>
                    <a:cubicBezTo>
                      <a:pt x="58456" y="147028"/>
                      <a:pt x="62030" y="138480"/>
                      <a:pt x="58802" y="131950"/>
                    </a:cubicBezTo>
                    <a:cubicBezTo>
                      <a:pt x="57649" y="129576"/>
                      <a:pt x="56496" y="128389"/>
                      <a:pt x="54305" y="126133"/>
                    </a:cubicBezTo>
                    <a:lnTo>
                      <a:pt x="54075" y="125896"/>
                    </a:lnTo>
                    <a:cubicBezTo>
                      <a:pt x="43698" y="114024"/>
                      <a:pt x="34589" y="93843"/>
                      <a:pt x="36895" y="70218"/>
                    </a:cubicBezTo>
                    <a:cubicBezTo>
                      <a:pt x="39201" y="46474"/>
                      <a:pt x="54190" y="29854"/>
                      <a:pt x="79556" y="29854"/>
                    </a:cubicBezTo>
                    <a:cubicBezTo>
                      <a:pt x="104807" y="29854"/>
                      <a:pt x="119796" y="46355"/>
                      <a:pt x="123371" y="69980"/>
                    </a:cubicBezTo>
                    <a:cubicBezTo>
                      <a:pt x="123371" y="70218"/>
                      <a:pt x="123371" y="70336"/>
                      <a:pt x="123485" y="70574"/>
                    </a:cubicBezTo>
                    <a:cubicBezTo>
                      <a:pt x="124523" y="84701"/>
                      <a:pt x="121179" y="97642"/>
                      <a:pt x="117721" y="105951"/>
                    </a:cubicBezTo>
                    <a:cubicBezTo>
                      <a:pt x="114377" y="114143"/>
                      <a:pt x="110918" y="119960"/>
                      <a:pt x="106421" y="125777"/>
                    </a:cubicBezTo>
                    <a:cubicBezTo>
                      <a:pt x="106191" y="126014"/>
                      <a:pt x="106075" y="126252"/>
                      <a:pt x="105960" y="126490"/>
                    </a:cubicBezTo>
                    <a:cubicBezTo>
                      <a:pt x="104807" y="128389"/>
                      <a:pt x="102962" y="129576"/>
                      <a:pt x="101809" y="131476"/>
                    </a:cubicBezTo>
                    <a:cubicBezTo>
                      <a:pt x="101579" y="131832"/>
                      <a:pt x="101463" y="132188"/>
                      <a:pt x="101348" y="132663"/>
                    </a:cubicBezTo>
                    <a:cubicBezTo>
                      <a:pt x="99387" y="139667"/>
                      <a:pt x="101579" y="148809"/>
                      <a:pt x="103885" y="152251"/>
                    </a:cubicBezTo>
                    <a:cubicBezTo>
                      <a:pt x="105037" y="154507"/>
                      <a:pt x="109419" y="154626"/>
                      <a:pt x="112878" y="155694"/>
                    </a:cubicBezTo>
                    <a:cubicBezTo>
                      <a:pt x="113109" y="155813"/>
                      <a:pt x="113224" y="155813"/>
                      <a:pt x="113454" y="155931"/>
                    </a:cubicBezTo>
                    <a:cubicBezTo>
                      <a:pt x="127175" y="161867"/>
                      <a:pt x="140781" y="168872"/>
                      <a:pt x="151042" y="178251"/>
                    </a:cubicBezTo>
                    <a:cubicBezTo>
                      <a:pt x="151158" y="178369"/>
                      <a:pt x="151273" y="178488"/>
                      <a:pt x="151388" y="178488"/>
                    </a:cubicBezTo>
                    <a:cubicBezTo>
                      <a:pt x="154386" y="181574"/>
                      <a:pt x="158306" y="185730"/>
                      <a:pt x="159921" y="191428"/>
                    </a:cubicBezTo>
                    <a:cubicBezTo>
                      <a:pt x="160266" y="192734"/>
                      <a:pt x="160382" y="194159"/>
                      <a:pt x="160382" y="195464"/>
                    </a:cubicBezTo>
                    <a:lnTo>
                      <a:pt x="160382" y="204724"/>
                    </a:lnTo>
                    <a:cubicBezTo>
                      <a:pt x="160382" y="205318"/>
                      <a:pt x="160266" y="205912"/>
                      <a:pt x="160151" y="206387"/>
                    </a:cubicBezTo>
                    <a:cubicBezTo>
                      <a:pt x="156231" y="218733"/>
                      <a:pt x="140435" y="222295"/>
                      <a:pt x="125792" y="225738"/>
                    </a:cubicBezTo>
                    <a:cubicBezTo>
                      <a:pt x="100425" y="230486"/>
                      <a:pt x="64682" y="230486"/>
                      <a:pt x="38163" y="225738"/>
                    </a:cubicBezTo>
                    <a:cubicBezTo>
                      <a:pt x="25480" y="223363"/>
                      <a:pt x="11644" y="219802"/>
                      <a:pt x="4726" y="211491"/>
                    </a:cubicBezTo>
                    <a:cubicBezTo>
                      <a:pt x="2420" y="210305"/>
                      <a:pt x="1267" y="207930"/>
                      <a:pt x="114" y="203181"/>
                    </a:cubicBezTo>
                  </a:path>
                </a:pathLst>
              </a:custGeom>
              <a:solidFill>
                <a:schemeClr val="lt1">
                  <a:lumMod val="100000"/>
                </a:schemeClr>
              </a:solidFill>
              <a:ln w="8172" cap="flat">
                <a:noFill/>
                <a:prstDash val="solid"/>
                <a:miter/>
              </a:ln>
            </p:spPr>
            <p:txBody>
              <a:bodyPr rtlCol="0" anchor="ctr"/>
              <a:lstStyle/>
              <a:p>
                <a:endParaRPr lang="zh-CN" altLang="en-US">
                  <a:solidFill>
                    <a:srgbClr val="0061AE"/>
                  </a:solidFill>
                  <a:latin typeface="字魂手刻宋" panose="00000500000000000000" charset="-122"/>
                  <a:ea typeface="字魂手刻宋" panose="00000500000000000000" charset="-122"/>
                </a:endParaRPr>
              </a:p>
            </p:txBody>
          </p:sp>
          <p:sp>
            <p:nvSpPr>
              <p:cNvPr id="17" name="椭圆 16"/>
              <p:cNvSpPr/>
              <p:nvPr>
                <p:custDataLst>
                  <p:tags r:id="rId16"/>
                </p:custDataLst>
              </p:nvPr>
            </p:nvSpPr>
            <p:spPr>
              <a:xfrm>
                <a:off x="5909" y="5676"/>
                <a:ext cx="919" cy="919"/>
              </a:xfrm>
              <a:prstGeom prst="ellipse">
                <a:avLst/>
              </a:prstGeom>
              <a:gradFill>
                <a:gsLst>
                  <a:gs pos="1000">
                    <a:schemeClr val="accent1">
                      <a:lumMod val="90000"/>
                      <a:lumOff val="10000"/>
                    </a:schemeClr>
                  </a:gs>
                  <a:gs pos="86000">
                    <a:schemeClr val="accent1">
                      <a:alpha val="100000"/>
                      <a:lumMod val="30000"/>
                      <a:lumOff val="7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0061AE"/>
                  </a:solidFill>
                  <a:latin typeface="字魂手刻宋" panose="00000500000000000000" charset="-122"/>
                  <a:ea typeface="字魂手刻宋" panose="00000500000000000000" charset="-122"/>
                  <a:sym typeface="+mn-ea"/>
                </a:endParaRPr>
              </a:p>
            </p:txBody>
          </p:sp>
          <p:sp>
            <p:nvSpPr>
              <p:cNvPr id="21" name="图片 33" descr="343439383331313b343532303033313bd3a6d3c3c9ccb3c7"/>
              <p:cNvSpPr/>
              <p:nvPr>
                <p:custDataLst>
                  <p:tags r:id="rId17"/>
                </p:custDataLst>
              </p:nvPr>
            </p:nvSpPr>
            <p:spPr>
              <a:xfrm>
                <a:off x="6218" y="5974"/>
                <a:ext cx="301" cy="336"/>
              </a:xfrm>
              <a:custGeom>
                <a:avLst/>
                <a:gdLst>
                  <a:gd name="connsiteX0" fmla="*/ 169872 w 208931"/>
                  <a:gd name="connsiteY0" fmla="*/ 233482 h 233368"/>
                  <a:gd name="connsiteX1" fmla="*/ 39290 w 208931"/>
                  <a:gd name="connsiteY1" fmla="*/ 233482 h 233368"/>
                  <a:gd name="connsiteX2" fmla="*/ 115 w 208931"/>
                  <a:gd name="connsiteY2" fmla="*/ 194587 h 233368"/>
                  <a:gd name="connsiteX3" fmla="*/ 115 w 208931"/>
                  <a:gd name="connsiteY3" fmla="*/ 39009 h 233368"/>
                  <a:gd name="connsiteX4" fmla="*/ 39290 w 208931"/>
                  <a:gd name="connsiteY4" fmla="*/ 114 h 233368"/>
                  <a:gd name="connsiteX5" fmla="*/ 169872 w 208931"/>
                  <a:gd name="connsiteY5" fmla="*/ 114 h 233368"/>
                  <a:gd name="connsiteX6" fmla="*/ 209046 w 208931"/>
                  <a:gd name="connsiteY6" fmla="*/ 39009 h 233368"/>
                  <a:gd name="connsiteX7" fmla="*/ 209046 w 208931"/>
                  <a:gd name="connsiteY7" fmla="*/ 194587 h 233368"/>
                  <a:gd name="connsiteX8" fmla="*/ 169872 w 208931"/>
                  <a:gd name="connsiteY8" fmla="*/ 233482 h 233368"/>
                  <a:gd name="connsiteX9" fmla="*/ 104581 w 208931"/>
                  <a:gd name="connsiteY9" fmla="*/ 107537 h 233368"/>
                  <a:gd name="connsiteX10" fmla="*/ 156813 w 208931"/>
                  <a:gd name="connsiteY10" fmla="*/ 53826 h 233368"/>
                  <a:gd name="connsiteX11" fmla="*/ 143755 w 208931"/>
                  <a:gd name="connsiteY11" fmla="*/ 40398 h 233368"/>
                  <a:gd name="connsiteX12" fmla="*/ 130697 w 208931"/>
                  <a:gd name="connsiteY12" fmla="*/ 53826 h 233368"/>
                  <a:gd name="connsiteX13" fmla="*/ 104581 w 208931"/>
                  <a:gd name="connsiteY13" fmla="*/ 80682 h 233368"/>
                  <a:gd name="connsiteX14" fmla="*/ 78464 w 208931"/>
                  <a:gd name="connsiteY14" fmla="*/ 53826 h 233368"/>
                  <a:gd name="connsiteX15" fmla="*/ 65406 w 208931"/>
                  <a:gd name="connsiteY15" fmla="*/ 40398 h 233368"/>
                  <a:gd name="connsiteX16" fmla="*/ 52348 w 208931"/>
                  <a:gd name="connsiteY16" fmla="*/ 53826 h 233368"/>
                  <a:gd name="connsiteX17" fmla="*/ 104581 w 208931"/>
                  <a:gd name="connsiteY17" fmla="*/ 107537 h 233368"/>
                  <a:gd name="connsiteX18" fmla="*/ 130697 w 208931"/>
                  <a:gd name="connsiteY18" fmla="*/ 188105 h 233368"/>
                  <a:gd name="connsiteX19" fmla="*/ 143755 w 208931"/>
                  <a:gd name="connsiteY19" fmla="*/ 174677 h 233368"/>
                  <a:gd name="connsiteX20" fmla="*/ 130697 w 208931"/>
                  <a:gd name="connsiteY20" fmla="*/ 161249 h 233368"/>
                  <a:gd name="connsiteX21" fmla="*/ 78464 w 208931"/>
                  <a:gd name="connsiteY21" fmla="*/ 161249 h 233368"/>
                  <a:gd name="connsiteX22" fmla="*/ 65406 w 208931"/>
                  <a:gd name="connsiteY22" fmla="*/ 174677 h 233368"/>
                  <a:gd name="connsiteX23" fmla="*/ 78464 w 208931"/>
                  <a:gd name="connsiteY23" fmla="*/ 188105 h 233368"/>
                  <a:gd name="connsiteX24" fmla="*/ 130697 w 208931"/>
                  <a:gd name="connsiteY24" fmla="*/ 188105 h 23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931" h="233368">
                    <a:moveTo>
                      <a:pt x="169872" y="233482"/>
                    </a:moveTo>
                    <a:lnTo>
                      <a:pt x="39290" y="233482"/>
                    </a:lnTo>
                    <a:cubicBezTo>
                      <a:pt x="17091" y="233482"/>
                      <a:pt x="115" y="216628"/>
                      <a:pt x="115" y="194587"/>
                    </a:cubicBezTo>
                    <a:lnTo>
                      <a:pt x="115" y="39009"/>
                    </a:lnTo>
                    <a:cubicBezTo>
                      <a:pt x="115" y="16968"/>
                      <a:pt x="17091" y="114"/>
                      <a:pt x="39290" y="114"/>
                    </a:cubicBezTo>
                    <a:lnTo>
                      <a:pt x="169872" y="114"/>
                    </a:lnTo>
                    <a:cubicBezTo>
                      <a:pt x="192071" y="114"/>
                      <a:pt x="209046" y="16968"/>
                      <a:pt x="209046" y="39009"/>
                    </a:cubicBezTo>
                    <a:lnTo>
                      <a:pt x="209046" y="194587"/>
                    </a:lnTo>
                    <a:cubicBezTo>
                      <a:pt x="209046" y="216628"/>
                      <a:pt x="192071" y="233482"/>
                      <a:pt x="169872" y="233482"/>
                    </a:cubicBezTo>
                    <a:moveTo>
                      <a:pt x="104581" y="107537"/>
                    </a:moveTo>
                    <a:cubicBezTo>
                      <a:pt x="133308" y="107537"/>
                      <a:pt x="156813" y="83367"/>
                      <a:pt x="156813" y="53826"/>
                    </a:cubicBezTo>
                    <a:cubicBezTo>
                      <a:pt x="156813" y="45769"/>
                      <a:pt x="151590" y="40398"/>
                      <a:pt x="143755" y="40398"/>
                    </a:cubicBezTo>
                    <a:cubicBezTo>
                      <a:pt x="135920" y="40398"/>
                      <a:pt x="130697" y="45769"/>
                      <a:pt x="130697" y="53826"/>
                    </a:cubicBezTo>
                    <a:cubicBezTo>
                      <a:pt x="130697" y="68596"/>
                      <a:pt x="118944" y="80682"/>
                      <a:pt x="104581" y="80682"/>
                    </a:cubicBezTo>
                    <a:cubicBezTo>
                      <a:pt x="90217" y="80682"/>
                      <a:pt x="78464" y="68596"/>
                      <a:pt x="78464" y="53826"/>
                    </a:cubicBezTo>
                    <a:cubicBezTo>
                      <a:pt x="78464" y="45769"/>
                      <a:pt x="73241" y="40398"/>
                      <a:pt x="65406" y="40398"/>
                    </a:cubicBezTo>
                    <a:cubicBezTo>
                      <a:pt x="57571" y="40398"/>
                      <a:pt x="52348" y="45769"/>
                      <a:pt x="52348" y="53826"/>
                    </a:cubicBezTo>
                    <a:cubicBezTo>
                      <a:pt x="52348" y="83367"/>
                      <a:pt x="75852" y="107537"/>
                      <a:pt x="104581" y="107537"/>
                    </a:cubicBezTo>
                    <a:moveTo>
                      <a:pt x="130697" y="188105"/>
                    </a:moveTo>
                    <a:cubicBezTo>
                      <a:pt x="138532" y="188105"/>
                      <a:pt x="143755" y="182734"/>
                      <a:pt x="143755" y="174677"/>
                    </a:cubicBezTo>
                    <a:cubicBezTo>
                      <a:pt x="143755" y="166620"/>
                      <a:pt x="138532" y="161249"/>
                      <a:pt x="130697" y="161249"/>
                    </a:cubicBezTo>
                    <a:lnTo>
                      <a:pt x="78464" y="161249"/>
                    </a:lnTo>
                    <a:cubicBezTo>
                      <a:pt x="70629" y="161249"/>
                      <a:pt x="65406" y="166620"/>
                      <a:pt x="65406" y="174677"/>
                    </a:cubicBezTo>
                    <a:cubicBezTo>
                      <a:pt x="65406" y="182734"/>
                      <a:pt x="70629" y="188105"/>
                      <a:pt x="78464" y="188105"/>
                    </a:cubicBezTo>
                    <a:lnTo>
                      <a:pt x="130697" y="188105"/>
                    </a:lnTo>
                  </a:path>
                </a:pathLst>
              </a:custGeom>
              <a:solidFill>
                <a:schemeClr val="lt1">
                  <a:lumMod val="100000"/>
                </a:schemeClr>
              </a:solidFill>
              <a:ln w="7826" cap="flat">
                <a:noFill/>
                <a:prstDash val="solid"/>
                <a:miter/>
              </a:ln>
            </p:spPr>
            <p:txBody>
              <a:bodyPr rtlCol="0" anchor="ctr"/>
              <a:lstStyle/>
              <a:p>
                <a:endParaRPr lang="zh-CN" altLang="en-US">
                  <a:solidFill>
                    <a:srgbClr val="0061AE"/>
                  </a:solidFill>
                  <a:latin typeface="字魂手刻宋" panose="00000500000000000000" charset="-122"/>
                  <a:ea typeface="字魂手刻宋" panose="00000500000000000000" charset="-122"/>
                </a:endParaRPr>
              </a:p>
            </p:txBody>
          </p:sp>
          <p:sp>
            <p:nvSpPr>
              <p:cNvPr id="15" name="椭圆 14"/>
              <p:cNvSpPr/>
              <p:nvPr>
                <p:custDataLst>
                  <p:tags r:id="rId18"/>
                </p:custDataLst>
              </p:nvPr>
            </p:nvSpPr>
            <p:spPr>
              <a:xfrm>
                <a:off x="2670" y="4603"/>
                <a:ext cx="919" cy="919"/>
              </a:xfrm>
              <a:prstGeom prst="ellipse">
                <a:avLst/>
              </a:prstGeom>
              <a:gradFill>
                <a:gsLst>
                  <a:gs pos="1000">
                    <a:schemeClr val="accent1">
                      <a:lumMod val="90000"/>
                      <a:lumOff val="10000"/>
                    </a:schemeClr>
                  </a:gs>
                  <a:gs pos="86000">
                    <a:schemeClr val="accent1">
                      <a:alpha val="100000"/>
                      <a:lumMod val="30000"/>
                      <a:lumOff val="7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rgbClr val="0061AE"/>
                  </a:solidFill>
                  <a:latin typeface="字魂手刻宋" panose="00000500000000000000" charset="-122"/>
                  <a:ea typeface="字魂手刻宋" panose="00000500000000000000" charset="-122"/>
                  <a:sym typeface="+mn-ea"/>
                </a:endParaRPr>
              </a:p>
            </p:txBody>
          </p:sp>
          <p:sp>
            <p:nvSpPr>
              <p:cNvPr id="22" name="图片 62" descr="343435383036303b343532343134393bcdb7c4d4b7e7b1a9"/>
              <p:cNvSpPr/>
              <p:nvPr>
                <p:custDataLst>
                  <p:tags r:id="rId19"/>
                </p:custDataLst>
              </p:nvPr>
            </p:nvSpPr>
            <p:spPr>
              <a:xfrm>
                <a:off x="2966" y="4876"/>
                <a:ext cx="327" cy="382"/>
              </a:xfrm>
              <a:custGeom>
                <a:avLst/>
                <a:gdLst>
                  <a:gd name="connsiteX0" fmla="*/ 126016 w 227388"/>
                  <a:gd name="connsiteY0" fmla="*/ 114 h 265555"/>
                  <a:gd name="connsiteX1" fmla="*/ 25814 w 227388"/>
                  <a:gd name="connsiteY1" fmla="*/ 85492 h 265555"/>
                  <a:gd name="connsiteX2" fmla="*/ 1521 w 227388"/>
                  <a:gd name="connsiteY2" fmla="*/ 128349 h 265555"/>
                  <a:gd name="connsiteX3" fmla="*/ 10814 w 227388"/>
                  <a:gd name="connsiteY3" fmla="*/ 144298 h 265555"/>
                  <a:gd name="connsiteX4" fmla="*/ 27204 w 227388"/>
                  <a:gd name="connsiteY4" fmla="*/ 144298 h 265555"/>
                  <a:gd name="connsiteX5" fmla="*/ 27204 w 227388"/>
                  <a:gd name="connsiteY5" fmla="*/ 197565 h 265555"/>
                  <a:gd name="connsiteX6" fmla="*/ 55901 w 227388"/>
                  <a:gd name="connsiteY6" fmla="*/ 220183 h 265555"/>
                  <a:gd name="connsiteX7" fmla="*/ 74281 w 227388"/>
                  <a:gd name="connsiteY7" fmla="*/ 217643 h 265555"/>
                  <a:gd name="connsiteX8" fmla="*/ 74281 w 227388"/>
                  <a:gd name="connsiteY8" fmla="*/ 248512 h 265555"/>
                  <a:gd name="connsiteX9" fmla="*/ 91440 w 227388"/>
                  <a:gd name="connsiteY9" fmla="*/ 265670 h 265555"/>
                  <a:gd name="connsiteX10" fmla="*/ 147212 w 227388"/>
                  <a:gd name="connsiteY10" fmla="*/ 265670 h 265555"/>
                  <a:gd name="connsiteX11" fmla="*/ 164375 w 227388"/>
                  <a:gd name="connsiteY11" fmla="*/ 248512 h 265555"/>
                  <a:gd name="connsiteX12" fmla="*/ 164375 w 227388"/>
                  <a:gd name="connsiteY12" fmla="*/ 195514 h 265555"/>
                  <a:gd name="connsiteX13" fmla="*/ 227504 w 227388"/>
                  <a:gd name="connsiteY13" fmla="*/ 101576 h 265555"/>
                  <a:gd name="connsiteX14" fmla="*/ 126016 w 227388"/>
                  <a:gd name="connsiteY14" fmla="*/ 114 h 265555"/>
                  <a:gd name="connsiteX15" fmla="*/ 162868 w 227388"/>
                  <a:gd name="connsiteY15" fmla="*/ 91535 h 265555"/>
                  <a:gd name="connsiteX16" fmla="*/ 107541 w 227388"/>
                  <a:gd name="connsiteY16" fmla="*/ 149689 h 265555"/>
                  <a:gd name="connsiteX17" fmla="*/ 100188 w 227388"/>
                  <a:gd name="connsiteY17" fmla="*/ 146110 h 265555"/>
                  <a:gd name="connsiteX18" fmla="*/ 106015 w 227388"/>
                  <a:gd name="connsiteY18" fmla="*/ 106293 h 265555"/>
                  <a:gd name="connsiteX19" fmla="*/ 80719 w 227388"/>
                  <a:gd name="connsiteY19" fmla="*/ 106293 h 265555"/>
                  <a:gd name="connsiteX20" fmla="*/ 77609 w 227388"/>
                  <a:gd name="connsiteY20" fmla="*/ 99049 h 265555"/>
                  <a:gd name="connsiteX21" fmla="*/ 132940 w 227388"/>
                  <a:gd name="connsiteY21" fmla="*/ 40896 h 265555"/>
                  <a:gd name="connsiteX22" fmla="*/ 140294 w 227388"/>
                  <a:gd name="connsiteY22" fmla="*/ 44474 h 265555"/>
                  <a:gd name="connsiteX23" fmla="*/ 134467 w 227388"/>
                  <a:gd name="connsiteY23" fmla="*/ 84291 h 265555"/>
                  <a:gd name="connsiteX24" fmla="*/ 159762 w 227388"/>
                  <a:gd name="connsiteY24" fmla="*/ 84291 h 265555"/>
                  <a:gd name="connsiteX25" fmla="*/ 162868 w 227388"/>
                  <a:gd name="connsiteY25" fmla="*/ 91535 h 2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7388" h="265555">
                    <a:moveTo>
                      <a:pt x="126016" y="114"/>
                    </a:moveTo>
                    <a:cubicBezTo>
                      <a:pt x="75442" y="114"/>
                      <a:pt x="33523" y="37100"/>
                      <a:pt x="25814" y="85492"/>
                    </a:cubicBezTo>
                    <a:lnTo>
                      <a:pt x="1521" y="128349"/>
                    </a:lnTo>
                    <a:cubicBezTo>
                      <a:pt x="-2516" y="135469"/>
                      <a:pt x="2628" y="144298"/>
                      <a:pt x="10814" y="144298"/>
                    </a:cubicBezTo>
                    <a:lnTo>
                      <a:pt x="27204" y="144298"/>
                    </a:lnTo>
                    <a:lnTo>
                      <a:pt x="27204" y="197565"/>
                    </a:lnTo>
                    <a:cubicBezTo>
                      <a:pt x="27204" y="212608"/>
                      <a:pt x="41270" y="223694"/>
                      <a:pt x="55901" y="220183"/>
                    </a:cubicBezTo>
                    <a:lnTo>
                      <a:pt x="74281" y="217643"/>
                    </a:lnTo>
                    <a:lnTo>
                      <a:pt x="74281" y="248512"/>
                    </a:lnTo>
                    <a:cubicBezTo>
                      <a:pt x="74281" y="257988"/>
                      <a:pt x="81964" y="265670"/>
                      <a:pt x="91440" y="265670"/>
                    </a:cubicBezTo>
                    <a:lnTo>
                      <a:pt x="147212" y="265670"/>
                    </a:lnTo>
                    <a:cubicBezTo>
                      <a:pt x="156691" y="265670"/>
                      <a:pt x="164375" y="257988"/>
                      <a:pt x="164375" y="248512"/>
                    </a:cubicBezTo>
                    <a:lnTo>
                      <a:pt x="164375" y="195514"/>
                    </a:lnTo>
                    <a:cubicBezTo>
                      <a:pt x="201404" y="180387"/>
                      <a:pt x="227504" y="144034"/>
                      <a:pt x="227504" y="101576"/>
                    </a:cubicBezTo>
                    <a:cubicBezTo>
                      <a:pt x="227501" y="45536"/>
                      <a:pt x="182063" y="114"/>
                      <a:pt x="126016" y="114"/>
                    </a:cubicBezTo>
                    <a:moveTo>
                      <a:pt x="162868" y="91535"/>
                    </a:moveTo>
                    <a:lnTo>
                      <a:pt x="107541" y="149689"/>
                    </a:lnTo>
                    <a:cubicBezTo>
                      <a:pt x="104658" y="152721"/>
                      <a:pt x="99584" y="150250"/>
                      <a:pt x="100188" y="146110"/>
                    </a:cubicBezTo>
                    <a:lnTo>
                      <a:pt x="106015" y="106293"/>
                    </a:lnTo>
                    <a:lnTo>
                      <a:pt x="80719" y="106293"/>
                    </a:lnTo>
                    <a:cubicBezTo>
                      <a:pt x="76948" y="106293"/>
                      <a:pt x="75013" y="101782"/>
                      <a:pt x="77609" y="99049"/>
                    </a:cubicBezTo>
                    <a:lnTo>
                      <a:pt x="132940" y="40896"/>
                    </a:lnTo>
                    <a:cubicBezTo>
                      <a:pt x="135823" y="37864"/>
                      <a:pt x="140897" y="40334"/>
                      <a:pt x="140294" y="44474"/>
                    </a:cubicBezTo>
                    <a:lnTo>
                      <a:pt x="134467" y="84291"/>
                    </a:lnTo>
                    <a:lnTo>
                      <a:pt x="159762" y="84291"/>
                    </a:lnTo>
                    <a:cubicBezTo>
                      <a:pt x="163529" y="84291"/>
                      <a:pt x="165468" y="88802"/>
                      <a:pt x="162868" y="91535"/>
                    </a:cubicBezTo>
                  </a:path>
                </a:pathLst>
              </a:custGeom>
              <a:solidFill>
                <a:schemeClr val="lt1">
                  <a:lumMod val="100000"/>
                </a:schemeClr>
              </a:solidFill>
              <a:ln w="9198" cap="flat">
                <a:noFill/>
                <a:prstDash val="solid"/>
                <a:miter/>
              </a:ln>
            </p:spPr>
            <p:txBody>
              <a:bodyPr rtlCol="0" anchor="ctr"/>
              <a:lstStyle/>
              <a:p>
                <a:endParaRPr lang="zh-CN" altLang="en-US">
                  <a:solidFill>
                    <a:srgbClr val="0061AE"/>
                  </a:solidFill>
                  <a:latin typeface="字魂手刻宋" panose="00000500000000000000" charset="-122"/>
                  <a:ea typeface="字魂手刻宋" panose="00000500000000000000" charset="-122"/>
                </a:endParaRPr>
              </a:p>
            </p:txBody>
          </p:sp>
          <p:sp>
            <p:nvSpPr>
              <p:cNvPr id="16" name="椭圆 15"/>
              <p:cNvSpPr/>
              <p:nvPr>
                <p:custDataLst>
                  <p:tags r:id="rId20"/>
                </p:custDataLst>
              </p:nvPr>
            </p:nvSpPr>
            <p:spPr>
              <a:xfrm>
                <a:off x="12385" y="5676"/>
                <a:ext cx="919" cy="919"/>
              </a:xfrm>
              <a:prstGeom prst="ellipse">
                <a:avLst/>
              </a:prstGeom>
              <a:gradFill>
                <a:gsLst>
                  <a:gs pos="1000">
                    <a:schemeClr val="accent1">
                      <a:lumMod val="90000"/>
                      <a:lumOff val="10000"/>
                    </a:schemeClr>
                  </a:gs>
                  <a:gs pos="86000">
                    <a:schemeClr val="accent1">
                      <a:alpha val="100000"/>
                      <a:lumMod val="30000"/>
                      <a:lumOff val="7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rgbClr val="0061AE"/>
                  </a:solidFill>
                  <a:latin typeface="字魂手刻宋" panose="00000500000000000000" charset="-122"/>
                  <a:ea typeface="字魂手刻宋" panose="00000500000000000000" charset="-122"/>
                  <a:sym typeface="+mn-ea"/>
                </a:endParaRPr>
              </a:p>
            </p:txBody>
          </p:sp>
          <p:sp>
            <p:nvSpPr>
              <p:cNvPr id="3" name="椭圆 2"/>
              <p:cNvSpPr/>
              <p:nvPr>
                <p:custDataLst>
                  <p:tags r:id="rId21"/>
                </p:custDataLst>
              </p:nvPr>
            </p:nvSpPr>
            <p:spPr>
              <a:xfrm>
                <a:off x="15624" y="4603"/>
                <a:ext cx="919" cy="919"/>
              </a:xfrm>
              <a:prstGeom prst="ellipse">
                <a:avLst/>
              </a:prstGeom>
              <a:gradFill>
                <a:gsLst>
                  <a:gs pos="1000">
                    <a:schemeClr val="accent1">
                      <a:lumMod val="90000"/>
                      <a:lumOff val="10000"/>
                    </a:schemeClr>
                  </a:gs>
                  <a:gs pos="86000">
                    <a:schemeClr val="accent1">
                      <a:alpha val="100000"/>
                      <a:lumMod val="30000"/>
                      <a:lumOff val="70000"/>
                    </a:schemeClr>
                  </a:gs>
                </a:gsLst>
                <a:lin ang="1620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rgbClr val="0061AE"/>
                  </a:solidFill>
                  <a:latin typeface="字魂手刻宋" panose="00000500000000000000" charset="-122"/>
                  <a:ea typeface="字魂手刻宋" panose="00000500000000000000" charset="-122"/>
                  <a:sym typeface="+mn-ea"/>
                </a:endParaRPr>
              </a:p>
            </p:txBody>
          </p:sp>
          <p:sp>
            <p:nvSpPr>
              <p:cNvPr id="28" name="任意多边形: 形状 27"/>
              <p:cNvSpPr/>
              <p:nvPr>
                <p:custDataLst>
                  <p:tags r:id="rId22"/>
                </p:custDataLst>
              </p:nvPr>
            </p:nvSpPr>
            <p:spPr>
              <a:xfrm>
                <a:off x="15944" y="4909"/>
                <a:ext cx="280" cy="311"/>
              </a:xfrm>
              <a:custGeom>
                <a:avLst/>
                <a:gdLst>
                  <a:gd name="connsiteX0" fmla="*/ 183708 w 183599"/>
                  <a:gd name="connsiteY0" fmla="*/ 107692 h 215999"/>
                  <a:gd name="connsiteX1" fmla="*/ 116019 w 183599"/>
                  <a:gd name="connsiteY1" fmla="*/ 175365 h 215999"/>
                  <a:gd name="connsiteX2" fmla="*/ 98959 w 183599"/>
                  <a:gd name="connsiteY2" fmla="*/ 158152 h 215999"/>
                  <a:gd name="connsiteX3" fmla="*/ 72932 w 183599"/>
                  <a:gd name="connsiteY3" fmla="*/ 158152 h 215999"/>
                  <a:gd name="connsiteX4" fmla="*/ 72932 w 183599"/>
                  <a:gd name="connsiteY4" fmla="*/ 184349 h 215999"/>
                  <a:gd name="connsiteX5" fmla="*/ 100514 w 183599"/>
                  <a:gd name="connsiteY5" fmla="*/ 216114 h 215999"/>
                  <a:gd name="connsiteX6" fmla="*/ 34469 w 183599"/>
                  <a:gd name="connsiteY6" fmla="*/ 215205 h 215999"/>
                  <a:gd name="connsiteX7" fmla="*/ 109 w 183599"/>
                  <a:gd name="connsiteY7" fmla="*/ 179356 h 215999"/>
                  <a:gd name="connsiteX8" fmla="*/ 109 w 183599"/>
                  <a:gd name="connsiteY8" fmla="*/ 35962 h 215999"/>
                  <a:gd name="connsiteX9" fmla="*/ 34469 w 183599"/>
                  <a:gd name="connsiteY9" fmla="*/ 114 h 215999"/>
                  <a:gd name="connsiteX10" fmla="*/ 149003 w 183599"/>
                  <a:gd name="connsiteY10" fmla="*/ 114 h 215999"/>
                  <a:gd name="connsiteX11" fmla="*/ 183363 w 183599"/>
                  <a:gd name="connsiteY11" fmla="*/ 35962 h 215999"/>
                  <a:gd name="connsiteX12" fmla="*/ 183708 w 183599"/>
                  <a:gd name="connsiteY12" fmla="*/ 107692 h 215999"/>
                  <a:gd name="connsiteX13" fmla="*/ 91735 w 183599"/>
                  <a:gd name="connsiteY13" fmla="*/ 95710 h 215999"/>
                  <a:gd name="connsiteX14" fmla="*/ 137549 w 183599"/>
                  <a:gd name="connsiteY14" fmla="*/ 47912 h 215999"/>
                  <a:gd name="connsiteX15" fmla="*/ 126096 w 183599"/>
                  <a:gd name="connsiteY15" fmla="*/ 35962 h 215999"/>
                  <a:gd name="connsiteX16" fmla="*/ 114642 w 183599"/>
                  <a:gd name="connsiteY16" fmla="*/ 47912 h 215999"/>
                  <a:gd name="connsiteX17" fmla="*/ 91735 w 183599"/>
                  <a:gd name="connsiteY17" fmla="*/ 71811 h 215999"/>
                  <a:gd name="connsiteX18" fmla="*/ 68829 w 183599"/>
                  <a:gd name="connsiteY18" fmla="*/ 47912 h 215999"/>
                  <a:gd name="connsiteX19" fmla="*/ 57376 w 183599"/>
                  <a:gd name="connsiteY19" fmla="*/ 35962 h 215999"/>
                  <a:gd name="connsiteX20" fmla="*/ 45922 w 183599"/>
                  <a:gd name="connsiteY20" fmla="*/ 47912 h 215999"/>
                  <a:gd name="connsiteX21" fmla="*/ 91735 w 183599"/>
                  <a:gd name="connsiteY21" fmla="*/ 95710 h 21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7" h="340">
                    <a:moveTo>
                      <a:pt x="289" y="169"/>
                    </a:moveTo>
                    <a:lnTo>
                      <a:pt x="183" y="276"/>
                    </a:lnTo>
                    <a:lnTo>
                      <a:pt x="156" y="249"/>
                    </a:lnTo>
                    <a:cubicBezTo>
                      <a:pt x="144" y="237"/>
                      <a:pt x="126" y="237"/>
                      <a:pt x="115" y="249"/>
                    </a:cubicBezTo>
                    <a:cubicBezTo>
                      <a:pt x="103" y="261"/>
                      <a:pt x="103" y="278"/>
                      <a:pt x="115" y="290"/>
                    </a:cubicBezTo>
                    <a:lnTo>
                      <a:pt x="158" y="340"/>
                    </a:lnTo>
                    <a:lnTo>
                      <a:pt x="54" y="339"/>
                    </a:lnTo>
                    <a:cubicBezTo>
                      <a:pt x="23" y="339"/>
                      <a:pt x="0" y="314"/>
                      <a:pt x="0" y="282"/>
                    </a:cubicBezTo>
                    <a:lnTo>
                      <a:pt x="0" y="56"/>
                    </a:lnTo>
                    <a:cubicBezTo>
                      <a:pt x="0" y="24"/>
                      <a:pt x="23" y="0"/>
                      <a:pt x="54" y="0"/>
                    </a:cubicBezTo>
                    <a:lnTo>
                      <a:pt x="234" y="0"/>
                    </a:lnTo>
                    <a:cubicBezTo>
                      <a:pt x="265" y="0"/>
                      <a:pt x="289" y="24"/>
                      <a:pt x="289" y="56"/>
                    </a:cubicBezTo>
                    <a:lnTo>
                      <a:pt x="289" y="169"/>
                    </a:lnTo>
                    <a:close/>
                    <a:moveTo>
                      <a:pt x="144" y="151"/>
                    </a:moveTo>
                    <a:cubicBezTo>
                      <a:pt x="184" y="151"/>
                      <a:pt x="216" y="117"/>
                      <a:pt x="216" y="75"/>
                    </a:cubicBezTo>
                    <a:cubicBezTo>
                      <a:pt x="216" y="64"/>
                      <a:pt x="209" y="56"/>
                      <a:pt x="198" y="56"/>
                    </a:cubicBezTo>
                    <a:cubicBezTo>
                      <a:pt x="188" y="56"/>
                      <a:pt x="180" y="64"/>
                      <a:pt x="180" y="75"/>
                    </a:cubicBezTo>
                    <a:cubicBezTo>
                      <a:pt x="180" y="96"/>
                      <a:pt x="164" y="113"/>
                      <a:pt x="144" y="113"/>
                    </a:cubicBezTo>
                    <a:cubicBezTo>
                      <a:pt x="124" y="113"/>
                      <a:pt x="108" y="96"/>
                      <a:pt x="108" y="75"/>
                    </a:cubicBezTo>
                    <a:cubicBezTo>
                      <a:pt x="108" y="64"/>
                      <a:pt x="101" y="56"/>
                      <a:pt x="90" y="56"/>
                    </a:cubicBezTo>
                    <a:cubicBezTo>
                      <a:pt x="79" y="56"/>
                      <a:pt x="72" y="64"/>
                      <a:pt x="72" y="75"/>
                    </a:cubicBezTo>
                    <a:cubicBezTo>
                      <a:pt x="72" y="117"/>
                      <a:pt x="105" y="151"/>
                      <a:pt x="144" y="151"/>
                    </a:cubicBezTo>
                    <a:close/>
                    <a:moveTo>
                      <a:pt x="184" y="339"/>
                    </a:moveTo>
                    <a:cubicBezTo>
                      <a:pt x="179" y="339"/>
                      <a:pt x="173" y="337"/>
                      <a:pt x="170" y="333"/>
                    </a:cubicBezTo>
                    <a:lnTo>
                      <a:pt x="126" y="286"/>
                    </a:lnTo>
                    <a:cubicBezTo>
                      <a:pt x="119" y="279"/>
                      <a:pt x="119" y="267"/>
                      <a:pt x="126" y="260"/>
                    </a:cubicBezTo>
                    <a:cubicBezTo>
                      <a:pt x="134" y="252"/>
                      <a:pt x="144" y="252"/>
                      <a:pt x="152" y="260"/>
                    </a:cubicBezTo>
                    <a:lnTo>
                      <a:pt x="184" y="294"/>
                    </a:lnTo>
                    <a:lnTo>
                      <a:pt x="276" y="198"/>
                    </a:lnTo>
                    <a:cubicBezTo>
                      <a:pt x="283" y="190"/>
                      <a:pt x="294" y="190"/>
                      <a:pt x="301" y="198"/>
                    </a:cubicBezTo>
                    <a:cubicBezTo>
                      <a:pt x="309" y="205"/>
                      <a:pt x="309" y="217"/>
                      <a:pt x="301" y="224"/>
                    </a:cubicBezTo>
                    <a:lnTo>
                      <a:pt x="193" y="337"/>
                    </a:lnTo>
                    <a:lnTo>
                      <a:pt x="184" y="339"/>
                    </a:lnTo>
                    <a:close/>
                  </a:path>
                </a:pathLst>
              </a:custGeom>
              <a:solidFill>
                <a:schemeClr val="lt1">
                  <a:lumMod val="100000"/>
                </a:schemeClr>
              </a:solidFill>
              <a:ln w="7456" cap="flat">
                <a:noFill/>
                <a:prstDash val="solid"/>
                <a:miter/>
              </a:ln>
            </p:spPr>
            <p:txBody>
              <a:bodyPr wrap="square" rtlCol="0" anchor="ctr">
                <a:noAutofit/>
              </a:bodyPr>
              <a:lstStyle/>
              <a:p>
                <a:endParaRPr lang="zh-CN" altLang="en-US">
                  <a:solidFill>
                    <a:srgbClr val="0061AE"/>
                  </a:solidFill>
                  <a:latin typeface="字魂手刻宋" panose="00000500000000000000" charset="-122"/>
                  <a:ea typeface="字魂手刻宋" panose="00000500000000000000" charset="-122"/>
                </a:endParaRPr>
              </a:p>
            </p:txBody>
          </p:sp>
          <p:sp>
            <p:nvSpPr>
              <p:cNvPr id="5" name="图片 54" descr="343435383038363b343532323339393bd6b4d0d0d5aad2aa"/>
              <p:cNvSpPr/>
              <p:nvPr>
                <p:custDataLst>
                  <p:tags r:id="rId23"/>
                </p:custDataLst>
              </p:nvPr>
            </p:nvSpPr>
            <p:spPr>
              <a:xfrm>
                <a:off x="12713" y="5980"/>
                <a:ext cx="265" cy="311"/>
              </a:xfrm>
              <a:custGeom>
                <a:avLst/>
                <a:gdLst>
                  <a:gd name="connsiteX0" fmla="*/ 60693 w 183830"/>
                  <a:gd name="connsiteY0" fmla="*/ 22587 h 216000"/>
                  <a:gd name="connsiteX1" fmla="*/ 91531 w 183830"/>
                  <a:gd name="connsiteY1" fmla="*/ -392 h 216000"/>
                  <a:gd name="connsiteX2" fmla="*/ 122369 w 183830"/>
                  <a:gd name="connsiteY2" fmla="*/ 22587 h 216000"/>
                  <a:gd name="connsiteX3" fmla="*/ 165063 w 183830"/>
                  <a:gd name="connsiteY3" fmla="*/ 22587 h 216000"/>
                  <a:gd name="connsiteX4" fmla="*/ 183446 w 183830"/>
                  <a:gd name="connsiteY4" fmla="*/ 40970 h 216000"/>
                  <a:gd name="connsiteX5" fmla="*/ 183446 w 183830"/>
                  <a:gd name="connsiteY5" fmla="*/ 197225 h 216000"/>
                  <a:gd name="connsiteX6" fmla="*/ 165063 w 183830"/>
                  <a:gd name="connsiteY6" fmla="*/ 215608 h 216000"/>
                  <a:gd name="connsiteX7" fmla="*/ 17999 w 183830"/>
                  <a:gd name="connsiteY7" fmla="*/ 215608 h 216000"/>
                  <a:gd name="connsiteX8" fmla="*/ -384 w 183830"/>
                  <a:gd name="connsiteY8" fmla="*/ 197225 h 216000"/>
                  <a:gd name="connsiteX9" fmla="*/ -384 w 183830"/>
                  <a:gd name="connsiteY9" fmla="*/ 40970 h 216000"/>
                  <a:gd name="connsiteX10" fmla="*/ 17999 w 183830"/>
                  <a:gd name="connsiteY10" fmla="*/ 22587 h 216000"/>
                  <a:gd name="connsiteX11" fmla="*/ 60693 w 183830"/>
                  <a:gd name="connsiteY11" fmla="*/ 22587 h 216000"/>
                  <a:gd name="connsiteX12" fmla="*/ 91531 w 183830"/>
                  <a:gd name="connsiteY12" fmla="*/ 36374 h 216000"/>
                  <a:gd name="connsiteX13" fmla="*/ 100723 w 183830"/>
                  <a:gd name="connsiteY13" fmla="*/ 27183 h 216000"/>
                  <a:gd name="connsiteX14" fmla="*/ 91531 w 183830"/>
                  <a:gd name="connsiteY14" fmla="*/ 17991 h 216000"/>
                  <a:gd name="connsiteX15" fmla="*/ 82340 w 183830"/>
                  <a:gd name="connsiteY15" fmla="*/ 27183 h 216000"/>
                  <a:gd name="connsiteX16" fmla="*/ 91531 w 183830"/>
                  <a:gd name="connsiteY16" fmla="*/ 36374 h 216000"/>
                  <a:gd name="connsiteX17" fmla="*/ 45574 w 183830"/>
                  <a:gd name="connsiteY17" fmla="*/ 68544 h 216000"/>
                  <a:gd name="connsiteX18" fmla="*/ 36382 w 183830"/>
                  <a:gd name="connsiteY18" fmla="*/ 77736 h 216000"/>
                  <a:gd name="connsiteX19" fmla="*/ 45574 w 183830"/>
                  <a:gd name="connsiteY19" fmla="*/ 86927 h 216000"/>
                  <a:gd name="connsiteX20" fmla="*/ 137489 w 183830"/>
                  <a:gd name="connsiteY20" fmla="*/ 86927 h 216000"/>
                  <a:gd name="connsiteX21" fmla="*/ 146680 w 183830"/>
                  <a:gd name="connsiteY21" fmla="*/ 77736 h 216000"/>
                  <a:gd name="connsiteX22" fmla="*/ 137489 w 183830"/>
                  <a:gd name="connsiteY22" fmla="*/ 68544 h 216000"/>
                  <a:gd name="connsiteX23" fmla="*/ 45574 w 183830"/>
                  <a:gd name="connsiteY23" fmla="*/ 68544 h 216000"/>
                  <a:gd name="connsiteX24" fmla="*/ 45574 w 183830"/>
                  <a:gd name="connsiteY24" fmla="*/ 109906 h 216000"/>
                  <a:gd name="connsiteX25" fmla="*/ 36382 w 183830"/>
                  <a:gd name="connsiteY25" fmla="*/ 119098 h 216000"/>
                  <a:gd name="connsiteX26" fmla="*/ 45574 w 183830"/>
                  <a:gd name="connsiteY26" fmla="*/ 128289 h 216000"/>
                  <a:gd name="connsiteX27" fmla="*/ 137489 w 183830"/>
                  <a:gd name="connsiteY27" fmla="*/ 128289 h 216000"/>
                  <a:gd name="connsiteX28" fmla="*/ 146680 w 183830"/>
                  <a:gd name="connsiteY28" fmla="*/ 119098 h 216000"/>
                  <a:gd name="connsiteX29" fmla="*/ 137489 w 183830"/>
                  <a:gd name="connsiteY29" fmla="*/ 109906 h 216000"/>
                  <a:gd name="connsiteX30" fmla="*/ 45574 w 183830"/>
                  <a:gd name="connsiteY30" fmla="*/ 109906 h 216000"/>
                  <a:gd name="connsiteX31" fmla="*/ 45574 w 183830"/>
                  <a:gd name="connsiteY31" fmla="*/ 151268 h 216000"/>
                  <a:gd name="connsiteX32" fmla="*/ 36382 w 183830"/>
                  <a:gd name="connsiteY32" fmla="*/ 160459 h 216000"/>
                  <a:gd name="connsiteX33" fmla="*/ 45574 w 183830"/>
                  <a:gd name="connsiteY33" fmla="*/ 169651 h 216000"/>
                  <a:gd name="connsiteX34" fmla="*/ 91531 w 183830"/>
                  <a:gd name="connsiteY34" fmla="*/ 169651 h 216000"/>
                  <a:gd name="connsiteX35" fmla="*/ 100723 w 183830"/>
                  <a:gd name="connsiteY35" fmla="*/ 160459 h 216000"/>
                  <a:gd name="connsiteX36" fmla="*/ 91531 w 183830"/>
                  <a:gd name="connsiteY36" fmla="*/ 151268 h 216000"/>
                  <a:gd name="connsiteX37" fmla="*/ 45574 w 183830"/>
                  <a:gd name="connsiteY37" fmla="*/ 151268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830" h="216000">
                    <a:moveTo>
                      <a:pt x="60693" y="22587"/>
                    </a:moveTo>
                    <a:cubicBezTo>
                      <a:pt x="64648" y="9298"/>
                      <a:pt x="76958" y="-392"/>
                      <a:pt x="91531" y="-392"/>
                    </a:cubicBezTo>
                    <a:cubicBezTo>
                      <a:pt x="106104" y="-392"/>
                      <a:pt x="118414" y="9298"/>
                      <a:pt x="122369" y="22587"/>
                    </a:cubicBezTo>
                    <a:lnTo>
                      <a:pt x="165063" y="22587"/>
                    </a:lnTo>
                    <a:cubicBezTo>
                      <a:pt x="175216" y="22587"/>
                      <a:pt x="183446" y="30817"/>
                      <a:pt x="183446" y="40970"/>
                    </a:cubicBezTo>
                    <a:lnTo>
                      <a:pt x="183446" y="197225"/>
                    </a:lnTo>
                    <a:cubicBezTo>
                      <a:pt x="183446" y="207378"/>
                      <a:pt x="175216" y="215608"/>
                      <a:pt x="165063" y="215608"/>
                    </a:cubicBezTo>
                    <a:lnTo>
                      <a:pt x="17999" y="215608"/>
                    </a:lnTo>
                    <a:cubicBezTo>
                      <a:pt x="7846" y="215608"/>
                      <a:pt x="-384" y="207378"/>
                      <a:pt x="-384" y="197225"/>
                    </a:cubicBezTo>
                    <a:lnTo>
                      <a:pt x="-384" y="40970"/>
                    </a:lnTo>
                    <a:cubicBezTo>
                      <a:pt x="-384" y="30817"/>
                      <a:pt x="7846" y="22587"/>
                      <a:pt x="17999" y="22587"/>
                    </a:cubicBezTo>
                    <a:lnTo>
                      <a:pt x="60693" y="22587"/>
                    </a:lnTo>
                    <a:moveTo>
                      <a:pt x="91531" y="36374"/>
                    </a:moveTo>
                    <a:cubicBezTo>
                      <a:pt x="96607" y="36374"/>
                      <a:pt x="100723" y="32259"/>
                      <a:pt x="100723" y="27183"/>
                    </a:cubicBezTo>
                    <a:cubicBezTo>
                      <a:pt x="100723" y="22106"/>
                      <a:pt x="96607" y="17991"/>
                      <a:pt x="91531" y="17991"/>
                    </a:cubicBezTo>
                    <a:cubicBezTo>
                      <a:pt x="86455" y="17991"/>
                      <a:pt x="82340" y="22106"/>
                      <a:pt x="82340" y="27183"/>
                    </a:cubicBezTo>
                    <a:cubicBezTo>
                      <a:pt x="82340" y="32259"/>
                      <a:pt x="86455" y="36374"/>
                      <a:pt x="91531" y="36374"/>
                    </a:cubicBezTo>
                    <a:moveTo>
                      <a:pt x="45574" y="68544"/>
                    </a:moveTo>
                    <a:cubicBezTo>
                      <a:pt x="40497" y="68544"/>
                      <a:pt x="36382" y="72659"/>
                      <a:pt x="36382" y="77736"/>
                    </a:cubicBezTo>
                    <a:cubicBezTo>
                      <a:pt x="36382" y="82812"/>
                      <a:pt x="40497" y="86927"/>
                      <a:pt x="45574" y="86927"/>
                    </a:cubicBezTo>
                    <a:lnTo>
                      <a:pt x="137489" y="86927"/>
                    </a:lnTo>
                    <a:cubicBezTo>
                      <a:pt x="142565" y="86927"/>
                      <a:pt x="146680" y="82812"/>
                      <a:pt x="146680" y="77736"/>
                    </a:cubicBezTo>
                    <a:cubicBezTo>
                      <a:pt x="146680" y="72659"/>
                      <a:pt x="142565" y="68544"/>
                      <a:pt x="137489" y="68544"/>
                    </a:cubicBezTo>
                    <a:lnTo>
                      <a:pt x="45574" y="68544"/>
                    </a:lnTo>
                    <a:moveTo>
                      <a:pt x="45574" y="109906"/>
                    </a:moveTo>
                    <a:cubicBezTo>
                      <a:pt x="40497" y="109906"/>
                      <a:pt x="36382" y="114021"/>
                      <a:pt x="36382" y="119098"/>
                    </a:cubicBezTo>
                    <a:cubicBezTo>
                      <a:pt x="36382" y="124174"/>
                      <a:pt x="40497" y="128289"/>
                      <a:pt x="45574" y="128289"/>
                    </a:cubicBezTo>
                    <a:lnTo>
                      <a:pt x="137489" y="128289"/>
                    </a:lnTo>
                    <a:cubicBezTo>
                      <a:pt x="142565" y="128289"/>
                      <a:pt x="146680" y="124174"/>
                      <a:pt x="146680" y="119098"/>
                    </a:cubicBezTo>
                    <a:cubicBezTo>
                      <a:pt x="146680" y="114021"/>
                      <a:pt x="142565" y="109906"/>
                      <a:pt x="137489" y="109906"/>
                    </a:cubicBezTo>
                    <a:lnTo>
                      <a:pt x="45574" y="109906"/>
                    </a:lnTo>
                    <a:moveTo>
                      <a:pt x="45574" y="151268"/>
                    </a:moveTo>
                    <a:cubicBezTo>
                      <a:pt x="40497" y="151268"/>
                      <a:pt x="36382" y="155383"/>
                      <a:pt x="36382" y="160459"/>
                    </a:cubicBezTo>
                    <a:cubicBezTo>
                      <a:pt x="36382" y="165536"/>
                      <a:pt x="40497" y="169651"/>
                      <a:pt x="45574" y="169651"/>
                    </a:cubicBezTo>
                    <a:lnTo>
                      <a:pt x="91531" y="169651"/>
                    </a:lnTo>
                    <a:cubicBezTo>
                      <a:pt x="96607" y="169651"/>
                      <a:pt x="100723" y="165536"/>
                      <a:pt x="100723" y="160459"/>
                    </a:cubicBezTo>
                    <a:cubicBezTo>
                      <a:pt x="100723" y="155383"/>
                      <a:pt x="96607" y="151268"/>
                      <a:pt x="91531" y="151268"/>
                    </a:cubicBezTo>
                    <a:lnTo>
                      <a:pt x="45574" y="151268"/>
                    </a:lnTo>
                  </a:path>
                </a:pathLst>
              </a:custGeom>
              <a:solidFill>
                <a:schemeClr val="lt1">
                  <a:lumMod val="100000"/>
                </a:schemeClr>
              </a:solidFill>
              <a:ln w="279" cap="flat">
                <a:noFill/>
                <a:prstDash val="solid"/>
                <a:miter/>
              </a:ln>
            </p:spPr>
            <p:txBody>
              <a:bodyPr rtlCol="0" anchor="ctr"/>
              <a:lstStyle/>
              <a:p>
                <a:endParaRPr lang="zh-CN" altLang="en-US">
                  <a:solidFill>
                    <a:srgbClr val="0061AE"/>
                  </a:solidFill>
                  <a:latin typeface="字魂手刻宋" panose="00000500000000000000" charset="-122"/>
                  <a:ea typeface="字魂手刻宋" panose="00000500000000000000" charset="-122"/>
                </a:endParaRPr>
              </a:p>
            </p:txBody>
          </p:sp>
          <p:sp>
            <p:nvSpPr>
              <p:cNvPr id="34" name="椭圆 33"/>
              <p:cNvSpPr/>
              <p:nvPr>
                <p:custDataLst>
                  <p:tags r:id="rId24"/>
                </p:custDataLst>
              </p:nvPr>
            </p:nvSpPr>
            <p:spPr>
              <a:xfrm>
                <a:off x="7010" y="3430"/>
                <a:ext cx="5165" cy="1607"/>
              </a:xfrm>
              <a:prstGeom prst="ellipse">
                <a:avLst/>
              </a:prstGeom>
              <a:gradFill>
                <a:gsLst>
                  <a:gs pos="4000">
                    <a:schemeClr val="accent1">
                      <a:lumMod val="60000"/>
                      <a:lumOff val="40000"/>
                      <a:alpha val="100000"/>
                    </a:schemeClr>
                  </a:gs>
                  <a:gs pos="45000">
                    <a:schemeClr val="bg1">
                      <a:lumMod val="98000"/>
                      <a:alpha val="25000"/>
                    </a:schemeClr>
                  </a:gs>
                  <a:gs pos="100000">
                    <a:schemeClr val="accent1">
                      <a:lumMod val="60000"/>
                      <a:lumOff val="40000"/>
                      <a:alpha val="100000"/>
                    </a:schemeClr>
                  </a:gs>
                </a:gsLst>
                <a:lin ang="16800000" scaled="0"/>
              </a:gradFill>
              <a:ln w="12700">
                <a:gradFill>
                  <a:gsLst>
                    <a:gs pos="0">
                      <a:schemeClr val="accent1">
                        <a:alpha val="0"/>
                      </a:schemeClr>
                    </a:gs>
                    <a:gs pos="73000">
                      <a:schemeClr val="accent1">
                        <a:alpha val="50000"/>
                      </a:schemeClr>
                    </a:gs>
                    <a:gs pos="100000">
                      <a:schemeClr val="accent1">
                        <a:alpha val="40000"/>
                      </a:schemeClr>
                    </a:gs>
                    <a:gs pos="57000">
                      <a:schemeClr val="accent1">
                        <a:alpha val="20000"/>
                      </a:schemeClr>
                    </a:gs>
                    <a:gs pos="44000">
                      <a:schemeClr val="accent1">
                        <a:alpha val="0"/>
                      </a:schemeClr>
                    </a:gs>
                  </a:gsLst>
                  <a:lin ang="576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rgbClr val="0061AE"/>
                  </a:solidFill>
                  <a:latin typeface="字魂手刻宋" panose="00000500000000000000" charset="-122"/>
                  <a:ea typeface="字魂手刻宋" panose="00000500000000000000" charset="-122"/>
                  <a:sym typeface="+mn-ea"/>
                </a:endParaRPr>
              </a:p>
            </p:txBody>
          </p:sp>
          <p:sp>
            <p:nvSpPr>
              <p:cNvPr id="36" name="弧形 35"/>
              <p:cNvSpPr/>
              <p:nvPr>
                <p:custDataLst>
                  <p:tags r:id="rId25"/>
                </p:custDataLst>
              </p:nvPr>
            </p:nvSpPr>
            <p:spPr>
              <a:xfrm rot="10800000">
                <a:off x="6240" y="3355"/>
                <a:ext cx="6702" cy="2147"/>
              </a:xfrm>
              <a:prstGeom prst="arc">
                <a:avLst>
                  <a:gd name="adj1" fmla="val 9688906"/>
                  <a:gd name="adj2" fmla="val 1102107"/>
                </a:avLst>
              </a:prstGeom>
              <a:ln w="1905">
                <a:gradFill>
                  <a:gsLst>
                    <a:gs pos="100000">
                      <a:schemeClr val="accent1">
                        <a:lumMod val="5000"/>
                        <a:lumOff val="95000"/>
                      </a:schemeClr>
                    </a:gs>
                    <a:gs pos="28000">
                      <a:schemeClr val="accent1">
                        <a:lumMod val="25000"/>
                        <a:lumOff val="75000"/>
                      </a:schemeClr>
                    </a:gs>
                    <a:gs pos="20000">
                      <a:schemeClr val="accent1">
                        <a:lumMod val="25000"/>
                        <a:lumOff val="75000"/>
                      </a:schemeClr>
                    </a:gs>
                    <a:gs pos="0">
                      <a:schemeClr val="accent1">
                        <a:lumMod val="30000"/>
                        <a:lumOff val="7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rgbClr val="0061AE"/>
                  </a:solidFill>
                  <a:latin typeface="字魂手刻宋" panose="00000500000000000000" charset="-122"/>
                  <a:ea typeface="字魂手刻宋" panose="00000500000000000000" charset="-122"/>
                </a:endParaRPr>
              </a:p>
            </p:txBody>
          </p:sp>
          <p:sp>
            <p:nvSpPr>
              <p:cNvPr id="43" name="任意多边形 15"/>
              <p:cNvSpPr/>
              <p:nvPr>
                <p:custDataLst>
                  <p:tags r:id="rId26"/>
                </p:custDataLst>
              </p:nvPr>
            </p:nvSpPr>
            <p:spPr>
              <a:xfrm>
                <a:off x="7668" y="3416"/>
                <a:ext cx="3846" cy="5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33" h="531">
                    <a:moveTo>
                      <a:pt x="1716" y="0"/>
                    </a:moveTo>
                    <a:cubicBezTo>
                      <a:pt x="2424" y="0"/>
                      <a:pt x="3048" y="102"/>
                      <a:pt x="3416" y="258"/>
                    </a:cubicBezTo>
                    <a:lnTo>
                      <a:pt x="3433" y="266"/>
                    </a:lnTo>
                    <a:lnTo>
                      <a:pt x="3416" y="273"/>
                    </a:lnTo>
                    <a:cubicBezTo>
                      <a:pt x="3048" y="429"/>
                      <a:pt x="2424" y="531"/>
                      <a:pt x="1716" y="531"/>
                    </a:cubicBezTo>
                    <a:cubicBezTo>
                      <a:pt x="1009" y="531"/>
                      <a:pt x="385" y="429"/>
                      <a:pt x="17" y="273"/>
                    </a:cubicBezTo>
                    <a:lnTo>
                      <a:pt x="0" y="266"/>
                    </a:lnTo>
                    <a:lnTo>
                      <a:pt x="17" y="258"/>
                    </a:lnTo>
                    <a:cubicBezTo>
                      <a:pt x="385" y="102"/>
                      <a:pt x="1009" y="0"/>
                      <a:pt x="1716" y="0"/>
                    </a:cubicBezTo>
                    <a:close/>
                  </a:path>
                </a:pathLst>
              </a:custGeom>
              <a:solidFill>
                <a:schemeClr val="accent1">
                  <a:lumMod val="20000"/>
                  <a:lumOff val="80000"/>
                  <a:alpha val="44000"/>
                </a:schemeClr>
              </a:solidFill>
              <a:ln w="6350">
                <a:no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rgbClr val="0061AE"/>
                  </a:solidFill>
                  <a:latin typeface="字魂手刻宋" panose="00000500000000000000" charset="-122"/>
                  <a:ea typeface="字魂手刻宋" panose="00000500000000000000" charset="-122"/>
                  <a:sym typeface="+mn-ea"/>
                </a:endParaRPr>
              </a:p>
            </p:txBody>
          </p:sp>
          <p:sp>
            <p:nvSpPr>
              <p:cNvPr id="48" name="任意多边形 3"/>
              <p:cNvSpPr/>
              <p:nvPr>
                <p:custDataLst>
                  <p:tags r:id="rId27"/>
                </p:custDataLst>
              </p:nvPr>
            </p:nvSpPr>
            <p:spPr>
              <a:xfrm>
                <a:off x="7295" y="3356"/>
                <a:ext cx="4592" cy="1372"/>
              </a:xfrm>
              <a:custGeom>
                <a:avLst/>
                <a:gdLst/>
                <a:ahLst/>
                <a:cxnLst>
                  <a:cxn ang="3">
                    <a:pos x="hc" y="t"/>
                  </a:cxn>
                  <a:cxn ang="cd2">
                    <a:pos x="l" y="vc"/>
                  </a:cxn>
                  <a:cxn ang="cd4">
                    <a:pos x="hc" y="b"/>
                  </a:cxn>
                  <a:cxn ang="0">
                    <a:pos x="r" y="vc"/>
                  </a:cxn>
                </a:cxnLst>
                <a:rect l="l" t="t" r="r" b="b"/>
                <a:pathLst>
                  <a:path w="4099" h="1225">
                    <a:moveTo>
                      <a:pt x="0" y="0"/>
                    </a:moveTo>
                    <a:lnTo>
                      <a:pt x="0" y="0"/>
                    </a:lnTo>
                    <a:lnTo>
                      <a:pt x="1" y="15"/>
                    </a:lnTo>
                    <a:cubicBezTo>
                      <a:pt x="29" y="331"/>
                      <a:pt x="935" y="585"/>
                      <a:pt x="2050" y="585"/>
                    </a:cubicBezTo>
                    <a:cubicBezTo>
                      <a:pt x="3164" y="585"/>
                      <a:pt x="4070" y="331"/>
                      <a:pt x="4098" y="15"/>
                    </a:cubicBezTo>
                    <a:lnTo>
                      <a:pt x="4099" y="0"/>
                    </a:lnTo>
                    <a:lnTo>
                      <a:pt x="4099" y="0"/>
                    </a:lnTo>
                    <a:lnTo>
                      <a:pt x="4099" y="640"/>
                    </a:lnTo>
                    <a:lnTo>
                      <a:pt x="4099" y="642"/>
                    </a:lnTo>
                    <a:lnTo>
                      <a:pt x="4099" y="642"/>
                    </a:lnTo>
                    <a:lnTo>
                      <a:pt x="4098" y="655"/>
                    </a:lnTo>
                    <a:cubicBezTo>
                      <a:pt x="4070" y="971"/>
                      <a:pt x="3164" y="1225"/>
                      <a:pt x="2050" y="1225"/>
                    </a:cubicBezTo>
                    <a:cubicBezTo>
                      <a:pt x="935" y="1225"/>
                      <a:pt x="29" y="971"/>
                      <a:pt x="1" y="655"/>
                    </a:cubicBezTo>
                    <a:lnTo>
                      <a:pt x="0" y="642"/>
                    </a:lnTo>
                    <a:lnTo>
                      <a:pt x="0" y="642"/>
                    </a:lnTo>
                    <a:lnTo>
                      <a:pt x="0" y="640"/>
                    </a:lnTo>
                    <a:lnTo>
                      <a:pt x="0" y="0"/>
                    </a:lnTo>
                    <a:close/>
                  </a:path>
                </a:pathLst>
              </a:custGeom>
              <a:gradFill>
                <a:gsLst>
                  <a:gs pos="0">
                    <a:schemeClr val="accent1">
                      <a:lumMod val="80000"/>
                      <a:lumOff val="20000"/>
                      <a:alpha val="60000"/>
                    </a:schemeClr>
                  </a:gs>
                  <a:gs pos="77000">
                    <a:schemeClr val="accent1">
                      <a:lumMod val="30000"/>
                      <a:lumOff val="70000"/>
                      <a:alpha val="50000"/>
                    </a:schemeClr>
                  </a:gs>
                  <a:gs pos="100000">
                    <a:schemeClr val="accent1">
                      <a:alpha val="50000"/>
                      <a:lumMod val="62000"/>
                      <a:lumOff val="38000"/>
                    </a:schemeClr>
                  </a:gs>
                </a:gsLst>
                <a:lin ang="16800000" scaled="0"/>
              </a:gradFill>
              <a:ln w="9525">
                <a:gradFill>
                  <a:gsLst>
                    <a:gs pos="0">
                      <a:schemeClr val="accent1">
                        <a:alpha val="0"/>
                      </a:schemeClr>
                    </a:gs>
                    <a:gs pos="73000">
                      <a:schemeClr val="accent1">
                        <a:alpha val="25000"/>
                      </a:schemeClr>
                    </a:gs>
                    <a:gs pos="100000">
                      <a:schemeClr val="accent1">
                        <a:alpha val="40000"/>
                      </a:schemeClr>
                    </a:gs>
                    <a:gs pos="57000">
                      <a:schemeClr val="accent1">
                        <a:alpha val="20000"/>
                      </a:schemeClr>
                    </a:gs>
                    <a:gs pos="44000">
                      <a:schemeClr val="accent1">
                        <a:alpha val="0"/>
                      </a:schemeClr>
                    </a:gs>
                  </a:gsLst>
                  <a:lin ang="540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rgbClr val="0061AE"/>
                  </a:solidFill>
                  <a:latin typeface="字魂手刻宋" panose="00000500000000000000" charset="-122"/>
                  <a:ea typeface="字魂手刻宋" panose="00000500000000000000" charset="-122"/>
                  <a:sym typeface="+mn-ea"/>
                </a:endParaRPr>
              </a:p>
            </p:txBody>
          </p:sp>
          <p:sp>
            <p:nvSpPr>
              <p:cNvPr id="49" name="椭圆 48"/>
              <p:cNvSpPr/>
              <p:nvPr>
                <p:custDataLst>
                  <p:tags r:id="rId28"/>
                </p:custDataLst>
              </p:nvPr>
            </p:nvSpPr>
            <p:spPr>
              <a:xfrm>
                <a:off x="7295" y="3416"/>
                <a:ext cx="4592" cy="1312"/>
              </a:xfrm>
              <a:prstGeom prst="ellipse">
                <a:avLst/>
              </a:prstGeom>
              <a:noFill/>
              <a:ln w="6350">
                <a:gradFill>
                  <a:gsLst>
                    <a:gs pos="0">
                      <a:schemeClr val="accent1">
                        <a:alpha val="5000"/>
                      </a:schemeClr>
                    </a:gs>
                    <a:gs pos="64000">
                      <a:schemeClr val="accent1">
                        <a:alpha val="25000"/>
                      </a:schemeClr>
                    </a:gs>
                    <a:gs pos="100000">
                      <a:schemeClr val="accent1">
                        <a:alpha val="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rgbClr val="0061AE"/>
                  </a:solidFill>
                  <a:latin typeface="字魂手刻宋" panose="00000500000000000000" charset="-122"/>
                  <a:ea typeface="字魂手刻宋" panose="00000500000000000000" charset="-122"/>
                  <a:sym typeface="+mn-ea"/>
                </a:endParaRPr>
              </a:p>
            </p:txBody>
          </p:sp>
          <p:sp>
            <p:nvSpPr>
              <p:cNvPr id="50" name="椭圆 49"/>
              <p:cNvSpPr/>
              <p:nvPr>
                <p:custDataLst>
                  <p:tags r:id="rId29"/>
                </p:custDataLst>
              </p:nvPr>
            </p:nvSpPr>
            <p:spPr>
              <a:xfrm>
                <a:off x="7295" y="2700"/>
                <a:ext cx="4592" cy="1312"/>
              </a:xfrm>
              <a:prstGeom prst="ellipse">
                <a:avLst/>
              </a:prstGeom>
              <a:gradFill>
                <a:gsLst>
                  <a:gs pos="0">
                    <a:schemeClr val="accent1">
                      <a:lumMod val="20000"/>
                      <a:lumOff val="80000"/>
                    </a:schemeClr>
                  </a:gs>
                  <a:gs pos="37000">
                    <a:schemeClr val="bg2">
                      <a:alpha val="52000"/>
                    </a:schemeClr>
                  </a:gs>
                  <a:gs pos="81000">
                    <a:schemeClr val="bg1">
                      <a:alpha val="39000"/>
                    </a:schemeClr>
                  </a:gs>
                  <a:gs pos="100000">
                    <a:schemeClr val="accent1">
                      <a:lumMod val="60000"/>
                      <a:lumOff val="40000"/>
                    </a:schemeClr>
                  </a:gs>
                </a:gsLst>
                <a:lin ang="4620000" scaled="0"/>
              </a:gradFill>
              <a:ln w="6350">
                <a:gradFill>
                  <a:gsLst>
                    <a:gs pos="0">
                      <a:schemeClr val="accent1">
                        <a:alpha val="20000"/>
                      </a:schemeClr>
                    </a:gs>
                    <a:gs pos="73000">
                      <a:schemeClr val="accent1">
                        <a:alpha val="25000"/>
                      </a:schemeClr>
                    </a:gs>
                    <a:gs pos="100000">
                      <a:schemeClr val="accent1">
                        <a:alpha val="4000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solidFill>
                    <a:srgbClr val="0061AE"/>
                  </a:solidFill>
                  <a:latin typeface="字魂手刻宋" panose="00000500000000000000" charset="-122"/>
                  <a:ea typeface="字魂手刻宋" panose="00000500000000000000" charset="-122"/>
                  <a:sym typeface="+mn-ea"/>
                </a:endParaRPr>
              </a:p>
            </p:txBody>
          </p:sp>
          <p:sp>
            <p:nvSpPr>
              <p:cNvPr id="51" name="椭圆 50"/>
              <p:cNvSpPr/>
              <p:nvPr>
                <p:custDataLst>
                  <p:tags r:id="rId30"/>
                </p:custDataLst>
              </p:nvPr>
            </p:nvSpPr>
            <p:spPr>
              <a:xfrm>
                <a:off x="7667" y="3253"/>
                <a:ext cx="3850" cy="357"/>
              </a:xfrm>
              <a:prstGeom prst="ellipse">
                <a:avLst/>
              </a:prstGeom>
              <a:gradFill>
                <a:gsLst>
                  <a:gs pos="0">
                    <a:schemeClr val="accent1">
                      <a:lumMod val="100000"/>
                      <a:alpha val="53000"/>
                    </a:schemeClr>
                  </a:gs>
                  <a:gs pos="66000">
                    <a:schemeClr val="bg1">
                      <a:alpha val="19000"/>
                    </a:schemeClr>
                  </a:gs>
                  <a:gs pos="25000">
                    <a:schemeClr val="accent1">
                      <a:lumMod val="100000"/>
                      <a:alpha val="31000"/>
                    </a:schemeClr>
                  </a:gs>
                </a:gsLst>
                <a:path path="circle">
                  <a:fillToRect l="50000" t="50000" r="50000" b="50000"/>
                </a:path>
                <a:tileRect/>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rgbClr val="0061AE"/>
                  </a:solidFill>
                  <a:latin typeface="字魂手刻宋" panose="00000500000000000000" charset="-122"/>
                  <a:ea typeface="字魂手刻宋" panose="00000500000000000000" charset="-122"/>
                </a:endParaRPr>
              </a:p>
            </p:txBody>
          </p:sp>
          <p:sp>
            <p:nvSpPr>
              <p:cNvPr id="52" name="弧形 51"/>
              <p:cNvSpPr/>
              <p:nvPr>
                <p:custDataLst>
                  <p:tags r:id="rId31"/>
                </p:custDataLst>
              </p:nvPr>
            </p:nvSpPr>
            <p:spPr>
              <a:xfrm rot="10800000">
                <a:off x="5798" y="3073"/>
                <a:ext cx="7585" cy="2429"/>
              </a:xfrm>
              <a:prstGeom prst="arc">
                <a:avLst>
                  <a:gd name="adj1" fmla="val 9741748"/>
                  <a:gd name="adj2" fmla="val 1074510"/>
                </a:avLst>
              </a:prstGeom>
              <a:ln w="9525">
                <a:gradFill>
                  <a:gsLst>
                    <a:gs pos="100000">
                      <a:schemeClr val="accent1">
                        <a:lumMod val="5000"/>
                        <a:lumOff val="95000"/>
                      </a:schemeClr>
                    </a:gs>
                    <a:gs pos="28000">
                      <a:schemeClr val="accent1">
                        <a:lumMod val="45000"/>
                        <a:lumOff val="55000"/>
                      </a:schemeClr>
                    </a:gs>
                    <a:gs pos="20000">
                      <a:schemeClr val="accent1">
                        <a:lumMod val="45000"/>
                        <a:lumOff val="55000"/>
                      </a:schemeClr>
                    </a:gs>
                    <a:gs pos="0">
                      <a:schemeClr val="accent1">
                        <a:lumMod val="50000"/>
                        <a:lumOff val="5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rgbClr val="0061AE"/>
                  </a:solidFill>
                  <a:latin typeface="字魂手刻宋" panose="00000500000000000000" charset="-122"/>
                  <a:ea typeface="字魂手刻宋" panose="00000500000000000000" charset="-122"/>
                </a:endParaRPr>
              </a:p>
            </p:txBody>
          </p:sp>
          <p:sp>
            <p:nvSpPr>
              <p:cNvPr id="53" name="等腰三角形 52"/>
              <p:cNvSpPr/>
              <p:nvPr>
                <p:custDataLst>
                  <p:tags r:id="rId32"/>
                </p:custDataLst>
              </p:nvPr>
            </p:nvSpPr>
            <p:spPr>
              <a:xfrm rot="4080000">
                <a:off x="6165" y="3550"/>
                <a:ext cx="194" cy="355"/>
              </a:xfrm>
              <a:prstGeom prst="triangle">
                <a:avLst>
                  <a:gd name="adj" fmla="val 29196"/>
                </a:avLst>
              </a:prstGeom>
              <a:gradFill>
                <a:gsLst>
                  <a:gs pos="1000">
                    <a:schemeClr val="accent1">
                      <a:lumMod val="40000"/>
                      <a:lumOff val="60000"/>
                    </a:schemeClr>
                  </a:gs>
                  <a:gs pos="86000">
                    <a:schemeClr val="accent1">
                      <a:alpha val="73000"/>
                      <a:lumMod val="10000"/>
                      <a:lumOff val="9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0061AE"/>
                  </a:solidFill>
                  <a:latin typeface="字魂手刻宋" panose="00000500000000000000" charset="-122"/>
                  <a:ea typeface="字魂手刻宋" panose="00000500000000000000" charset="-122"/>
                  <a:sym typeface="+mn-ea"/>
                </a:endParaRPr>
              </a:p>
            </p:txBody>
          </p:sp>
          <p:sp>
            <p:nvSpPr>
              <p:cNvPr id="54" name="等腰三角形 53"/>
              <p:cNvSpPr/>
              <p:nvPr>
                <p:custDataLst>
                  <p:tags r:id="rId33"/>
                </p:custDataLst>
              </p:nvPr>
            </p:nvSpPr>
            <p:spPr>
              <a:xfrm rot="16680000">
                <a:off x="7879" y="5217"/>
                <a:ext cx="194" cy="355"/>
              </a:xfrm>
              <a:prstGeom prst="triangle">
                <a:avLst>
                  <a:gd name="adj" fmla="val 62096"/>
                </a:avLst>
              </a:prstGeom>
              <a:gradFill>
                <a:gsLst>
                  <a:gs pos="1000">
                    <a:schemeClr val="accent1">
                      <a:lumMod val="60000"/>
                      <a:lumOff val="40000"/>
                    </a:schemeClr>
                  </a:gs>
                  <a:gs pos="86000">
                    <a:schemeClr val="accent1">
                      <a:alpha val="100000"/>
                      <a:lumMod val="30000"/>
                      <a:lumOff val="7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0061AE"/>
                  </a:solidFill>
                  <a:latin typeface="字魂手刻宋" panose="00000500000000000000" charset="-122"/>
                  <a:ea typeface="字魂手刻宋" panose="00000500000000000000" charset="-122"/>
                  <a:sym typeface="+mn-ea"/>
                </a:endParaRPr>
              </a:p>
            </p:txBody>
          </p:sp>
          <p:sp>
            <p:nvSpPr>
              <p:cNvPr id="55" name="等腰三角形 54"/>
              <p:cNvSpPr/>
              <p:nvPr>
                <p:custDataLst>
                  <p:tags r:id="rId34"/>
                </p:custDataLst>
              </p:nvPr>
            </p:nvSpPr>
            <p:spPr>
              <a:xfrm rot="15600000">
                <a:off x="10865" y="5250"/>
                <a:ext cx="194" cy="355"/>
              </a:xfrm>
              <a:prstGeom prst="triangle">
                <a:avLst>
                  <a:gd name="adj" fmla="val 60926"/>
                </a:avLst>
              </a:prstGeom>
              <a:gradFill>
                <a:gsLst>
                  <a:gs pos="1000">
                    <a:schemeClr val="accent1">
                      <a:lumMod val="60000"/>
                      <a:lumOff val="40000"/>
                    </a:schemeClr>
                  </a:gs>
                  <a:gs pos="86000">
                    <a:schemeClr val="accent1">
                      <a:alpha val="100000"/>
                      <a:lumMod val="30000"/>
                      <a:lumOff val="7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0061AE"/>
                  </a:solidFill>
                  <a:latin typeface="字魂手刻宋" panose="00000500000000000000" charset="-122"/>
                  <a:ea typeface="字魂手刻宋" panose="00000500000000000000" charset="-122"/>
                  <a:sym typeface="+mn-ea"/>
                </a:endParaRPr>
              </a:p>
            </p:txBody>
          </p:sp>
          <p:sp>
            <p:nvSpPr>
              <p:cNvPr id="56" name="等腰三角形 55"/>
              <p:cNvSpPr/>
              <p:nvPr>
                <p:custDataLst>
                  <p:tags r:id="rId35"/>
                </p:custDataLst>
              </p:nvPr>
            </p:nvSpPr>
            <p:spPr>
              <a:xfrm rot="19080000" flipV="1">
                <a:off x="12939" y="3646"/>
                <a:ext cx="194" cy="355"/>
              </a:xfrm>
              <a:prstGeom prst="triangle">
                <a:avLst>
                  <a:gd name="adj" fmla="val 83002"/>
                </a:avLst>
              </a:prstGeom>
              <a:gradFill>
                <a:gsLst>
                  <a:gs pos="1000">
                    <a:schemeClr val="accent1">
                      <a:lumMod val="40000"/>
                      <a:lumOff val="60000"/>
                    </a:schemeClr>
                  </a:gs>
                  <a:gs pos="86000">
                    <a:schemeClr val="accent1">
                      <a:alpha val="73000"/>
                      <a:lumMod val="10000"/>
                      <a:lumOff val="9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0061AE"/>
                  </a:solidFill>
                  <a:latin typeface="字魂手刻宋" panose="00000500000000000000" charset="-122"/>
                  <a:ea typeface="字魂手刻宋" panose="00000500000000000000" charset="-122"/>
                  <a:sym typeface="+mn-ea"/>
                </a:endParaRPr>
              </a:p>
            </p:txBody>
          </p:sp>
          <p:sp>
            <p:nvSpPr>
              <p:cNvPr id="8" name="文本框 7"/>
              <p:cNvSpPr txBox="1"/>
              <p:nvPr/>
            </p:nvSpPr>
            <p:spPr>
              <a:xfrm>
                <a:off x="753" y="7329"/>
                <a:ext cx="3510" cy="2599"/>
              </a:xfrm>
              <a:prstGeom prst="rect">
                <a:avLst/>
              </a:prstGeom>
              <a:noFill/>
            </p:spPr>
            <p:txBody>
              <a:bodyPr wrap="square" rtlCol="0" anchor="t">
                <a:spAutoFit/>
              </a:bodyPr>
              <a:p>
                <a:pPr marL="0" lvl="0" indent="0" algn="l">
                  <a:lnSpc>
                    <a:spcPts val="3040"/>
                  </a:lnSpc>
                  <a:spcBef>
                    <a:spcPct val="0"/>
                  </a:spcBef>
                </a:pPr>
                <a:r>
                  <a:rPr lang="en-US" sz="1600">
                    <a:solidFill>
                      <a:schemeClr val="tx1">
                        <a:lumMod val="75000"/>
                        <a:lumOff val="25000"/>
                      </a:schemeClr>
                    </a:solidFill>
                    <a:effectLst>
                      <a:outerShdw blurRad="38100" dist="25400" dir="5400000" algn="ctr" rotWithShape="0">
                        <a:srgbClr val="6E747A">
                          <a:alpha val="43000"/>
                        </a:srgbClr>
                      </a:outerShdw>
                    </a:effectLst>
                    <a:latin typeface="字魂手刻宋" panose="00000500000000000000" charset="-122"/>
                    <a:ea typeface="字魂手刻宋" panose="00000500000000000000" charset="-122"/>
                    <a:cs typeface="字魂手刻宋" panose="00000500000000000000" charset="-122"/>
                    <a:sym typeface="+mn-ea"/>
                  </a:rPr>
                  <a:t> </a:t>
                </a:r>
                <a:r>
                  <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“新安法”下，安责险成为了像交强险一样的刚需险种，1万亿市场规模，1200多万家企业刚需，150万人才缺口；</a:t>
                </a:r>
                <a:endParaRPr lang="en-US" alt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9" name="文本框 8"/>
              <p:cNvSpPr txBox="1"/>
              <p:nvPr/>
            </p:nvSpPr>
            <p:spPr>
              <a:xfrm>
                <a:off x="4583" y="7796"/>
                <a:ext cx="3493" cy="2599"/>
              </a:xfrm>
              <a:prstGeom prst="rect">
                <a:avLst/>
              </a:prstGeom>
              <a:noFill/>
            </p:spPr>
            <p:txBody>
              <a:bodyPr wrap="square" rtlCol="0" anchor="t">
                <a:spAutoFit/>
              </a:bodyPr>
              <a:p>
                <a:pPr marL="0" lvl="0" indent="0" algn="l">
                  <a:lnSpc>
                    <a:spcPts val="3040"/>
                  </a:lnSpc>
                  <a:spcBef>
                    <a:spcPct val="0"/>
                  </a:spcBef>
                </a:pPr>
                <a:r>
                  <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保险公司缺少承保企业的安全生产数据，没有科学风险评估模型，造成想保不敢保、不知怎么保的局面；</a:t>
                </a:r>
                <a:endPar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0" name="文本框 9"/>
              <p:cNvSpPr txBox="1"/>
              <p:nvPr/>
            </p:nvSpPr>
            <p:spPr>
              <a:xfrm>
                <a:off x="15609" y="7556"/>
                <a:ext cx="2667" cy="2325"/>
              </a:xfrm>
              <a:prstGeom prst="rect">
                <a:avLst/>
              </a:prstGeom>
              <a:noFill/>
            </p:spPr>
            <p:txBody>
              <a:bodyPr wrap="square" rtlCol="0" anchor="t">
                <a:spAutoFit/>
              </a:bodyPr>
              <a:p>
                <a:pPr indent="0" fontAlgn="auto">
                  <a:lnSpc>
                    <a:spcPct val="150000"/>
                  </a:lnSpc>
                </a:pPr>
                <a:r>
                  <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行业内安全专家做一次事故预防服务动辄几万元，不能满足众多中小型企业的事故预防需求；</a:t>
                </a:r>
                <a:endPar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sp>
            <p:nvSpPr>
              <p:cNvPr id="11" name="文本框 10"/>
              <p:cNvSpPr txBox="1"/>
              <p:nvPr/>
            </p:nvSpPr>
            <p:spPr>
              <a:xfrm>
                <a:off x="8396" y="8058"/>
                <a:ext cx="3493" cy="2599"/>
              </a:xfrm>
              <a:prstGeom prst="rect">
                <a:avLst/>
              </a:prstGeom>
              <a:noFill/>
            </p:spPr>
            <p:txBody>
              <a:bodyPr wrap="square" rtlCol="0" anchor="t">
                <a:spAutoFit/>
              </a:bodyPr>
              <a:p>
                <a:pPr marL="0" lvl="0" indent="0" algn="l">
                  <a:lnSpc>
                    <a:spcPts val="3040"/>
                  </a:lnSpc>
                  <a:spcBef>
                    <a:spcPct val="0"/>
                  </a:spcBef>
                </a:pPr>
                <a:r>
                  <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保险公司缺少承保企业的安全生产数据，没有科学风险评估模型，造成想保不敢保、不知怎么保的局面；</a:t>
                </a:r>
                <a:endPar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2" name="文本框 11"/>
              <p:cNvSpPr txBox="1"/>
              <p:nvPr/>
            </p:nvSpPr>
            <p:spPr>
              <a:xfrm>
                <a:off x="12003" y="7896"/>
                <a:ext cx="3493" cy="2599"/>
              </a:xfrm>
              <a:prstGeom prst="rect">
                <a:avLst/>
              </a:prstGeom>
              <a:noFill/>
            </p:spPr>
            <p:txBody>
              <a:bodyPr wrap="square" rtlCol="0" anchor="t">
                <a:spAutoFit/>
              </a:bodyPr>
              <a:p>
                <a:pPr marL="0" lvl="0" indent="0" algn="l">
                  <a:lnSpc>
                    <a:spcPts val="3040"/>
                  </a:lnSpc>
                  <a:spcBef>
                    <a:spcPct val="0"/>
                  </a:spcBef>
                </a:pPr>
                <a:r>
                  <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保险公司缺少承保企业的安全生产数据，没有科学风险评估模型，造成想保不敢保、不知怎么保的局面；</a:t>
                </a:r>
                <a:endParaRPr lang="en-US" sz="12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grpSp>
      </p:grpSp>
      <p:sp>
        <p:nvSpPr>
          <p:cNvPr id="23" name="文本框 22"/>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3.7</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962660" y="69850"/>
            <a:ext cx="10622915"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安全风险管理师</a:t>
            </a:r>
            <a:r>
              <a:rPr lang="en-US" altLang="zh-CN" sz="2400" b="1" spc="150" dirty="0">
                <a:solidFill>
                  <a:srgbClr val="0061AE"/>
                </a:solidFill>
                <a:latin typeface="字魂手刻宋" panose="00000500000000000000" charset="-122"/>
                <a:ea typeface="字魂手刻宋" panose="00000500000000000000" charset="-122"/>
                <a:sym typeface="+mn-ea"/>
              </a:rPr>
              <a:t>-</a:t>
            </a:r>
            <a:r>
              <a:rPr lang="zh-CN" altLang="en-US" sz="2400" b="1" spc="150" dirty="0">
                <a:solidFill>
                  <a:srgbClr val="0061AE"/>
                </a:solidFill>
                <a:latin typeface="字魂手刻宋" panose="00000500000000000000" charset="-122"/>
                <a:ea typeface="字魂手刻宋" panose="00000500000000000000" charset="-122"/>
                <a:sym typeface="+mn-ea"/>
              </a:rPr>
              <a:t>解决方案</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36" name="矩形 35"/>
          <p:cNvSpPr/>
          <p:nvPr>
            <p:custDataLst>
              <p:tags r:id="rId2"/>
            </p:custDataLst>
          </p:nvPr>
        </p:nvSpPr>
        <p:spPr>
          <a:xfrm>
            <a:off x="118110" y="0"/>
            <a:ext cx="755015" cy="881380"/>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800">
              <a:latin typeface="字魂95号-手刻宋" panose="00000500000000000000" charset="-122"/>
              <a:ea typeface="字魂95号-手刻宋" panose="00000500000000000000" charset="-122"/>
              <a:sym typeface="+mn-ea"/>
            </a:endParaRPr>
          </a:p>
        </p:txBody>
      </p:sp>
      <p:cxnSp>
        <p:nvCxnSpPr>
          <p:cNvPr id="38" name="直接连接符 37"/>
          <p:cNvCxnSpPr/>
          <p:nvPr/>
        </p:nvCxnSpPr>
        <p:spPr>
          <a:xfrm>
            <a:off x="944436" y="587981"/>
            <a:ext cx="10926889" cy="0"/>
          </a:xfrm>
          <a:prstGeom prst="line">
            <a:avLst/>
          </a:prstGeom>
          <a:ln w="31750">
            <a:gradFill>
              <a:gsLst>
                <a:gs pos="44000">
                  <a:srgbClr val="0070C0"/>
                </a:gs>
                <a:gs pos="48000">
                  <a:srgbClr val="2AD3B2"/>
                </a:gs>
                <a:gs pos="68000">
                  <a:srgbClr val="0B34A0"/>
                </a:gs>
              </a:gsLst>
              <a:lin ang="1800000" scaled="0"/>
            </a:gradFill>
            <a:prstDash val="solid"/>
            <a:miter/>
          </a:ln>
        </p:spPr>
      </p:cxnSp>
      <p:sp>
        <p:nvSpPr>
          <p:cNvPr id="70" name="TextBox 49"/>
          <p:cNvSpPr txBox="1"/>
          <p:nvPr/>
        </p:nvSpPr>
        <p:spPr>
          <a:xfrm>
            <a:off x="1287046" y="7515187"/>
            <a:ext cx="7496433" cy="1169035"/>
          </a:xfrm>
          <a:prstGeom prst="rect">
            <a:avLst/>
          </a:prstGeom>
        </p:spPr>
        <p:txBody>
          <a:bodyPr lIns="0" tIns="0" rIns="0" bIns="0" rtlCol="0" anchor="t">
            <a:spAutoFit/>
          </a:bodyPr>
          <a:p>
            <a:pPr marL="0" lvl="0" indent="0" algn="l">
              <a:lnSpc>
                <a:spcPts val="3040"/>
              </a:lnSpc>
            </a:pPr>
            <a:r>
              <a:rPr lang="en-US" sz="2000" u="none">
                <a:solidFill>
                  <a:srgbClr val="F2F2F2"/>
                </a:solidFill>
                <a:ea typeface="思源黑体 Light" panose="020B0300000000000000" charset="-122"/>
              </a:rPr>
              <a:t>根据部门工作比较繁重、业务跨度较大的状况，而为了保证工作的进度和质量，我们在安排工作时，紧紧的围绕公司的经营目标和工作任务，把握工作中的轻、重、缓、急，着眼大局，亦要抓住关键。</a:t>
            </a:r>
            <a:endParaRPr lang="en-US" sz="2000" u="none">
              <a:solidFill>
                <a:srgbClr val="F2F2F2"/>
              </a:solidFill>
              <a:ea typeface="思源黑体 Light" panose="020B0300000000000000" charset="-122"/>
            </a:endParaRPr>
          </a:p>
        </p:txBody>
      </p:sp>
      <p:sp>
        <p:nvSpPr>
          <p:cNvPr id="2" name="文本框 1"/>
          <p:cNvSpPr txBox="1"/>
          <p:nvPr/>
        </p:nvSpPr>
        <p:spPr>
          <a:xfrm>
            <a:off x="886460" y="622300"/>
            <a:ext cx="10566400" cy="1060450"/>
          </a:xfrm>
          <a:prstGeom prst="rect">
            <a:avLst/>
          </a:prstGeom>
          <a:noFill/>
        </p:spPr>
        <p:txBody>
          <a:bodyPr wrap="square" rtlCol="0" anchor="t">
            <a:spAutoFit/>
          </a:bodyPr>
          <a:p>
            <a:pPr indent="0" fontAlgn="auto">
              <a:lnSpc>
                <a:spcPct val="150000"/>
              </a:lnSpc>
            </a:pPr>
            <a:r>
              <a:rPr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安全风险管理师就是安全服务社会化体系的中坚力量，它由安环家平台和中国企业联合会联合培养的复合型、创新型、应用型、技术型专业人才</a:t>
            </a: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。主要为企业提供系统的、现代的、智慧的全程风险管理服务(风险辨识、管控、转移），降低企业相关安全、环</a:t>
            </a:r>
            <a:endPar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indent="0" fontAlgn="auto">
              <a:lnSpc>
                <a:spcPct val="150000"/>
              </a:lnSpc>
            </a:pPr>
            <a:r>
              <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rPr>
              <a:t>保、职业健康、消防等风险隐患，最大限度地减少事故发生概率，从而达到全面提升企业安全管理水平的目的。</a:t>
            </a:r>
            <a:endParaRPr 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p:txBody>
      </p:sp>
      <p:grpSp>
        <p:nvGrpSpPr>
          <p:cNvPr id="5" name="组合 4"/>
          <p:cNvGrpSpPr/>
          <p:nvPr>
            <p:custDataLst>
              <p:tags r:id="rId3"/>
            </p:custDataLst>
          </p:nvPr>
        </p:nvGrpSpPr>
        <p:grpSpPr>
          <a:xfrm>
            <a:off x="694690" y="1990090"/>
            <a:ext cx="10766425" cy="4066540"/>
            <a:chOff x="1094" y="3134"/>
            <a:chExt cx="16955" cy="6404"/>
          </a:xfrm>
        </p:grpSpPr>
        <p:grpSp>
          <p:nvGrpSpPr>
            <p:cNvPr id="3" name="组合 2"/>
            <p:cNvGrpSpPr/>
            <p:nvPr>
              <p:custDataLst>
                <p:tags r:id="rId4"/>
              </p:custDataLst>
            </p:nvPr>
          </p:nvGrpSpPr>
          <p:grpSpPr>
            <a:xfrm>
              <a:off x="1094" y="3134"/>
              <a:ext cx="10303" cy="6399"/>
              <a:chOff x="1396" y="3417"/>
              <a:chExt cx="15149" cy="7260"/>
            </a:xfrm>
          </p:grpSpPr>
          <p:grpSp>
            <p:nvGrpSpPr>
              <p:cNvPr id="77" name="组合 76"/>
              <p:cNvGrpSpPr/>
              <p:nvPr/>
            </p:nvGrpSpPr>
            <p:grpSpPr>
              <a:xfrm>
                <a:off x="1487" y="3418"/>
                <a:ext cx="6493" cy="3453"/>
                <a:chOff x="1642" y="4205"/>
                <a:chExt cx="12333" cy="4765"/>
              </a:xfrm>
            </p:grpSpPr>
            <p:grpSp>
              <p:nvGrpSpPr>
                <p:cNvPr id="34" name="Group 16"/>
                <p:cNvGrpSpPr/>
                <p:nvPr/>
              </p:nvGrpSpPr>
              <p:grpSpPr>
                <a:xfrm rot="0">
                  <a:off x="1642" y="4205"/>
                  <a:ext cx="12333" cy="4765"/>
                  <a:chOff x="0" y="-131201"/>
                  <a:chExt cx="10441983" cy="4034103"/>
                </a:xfrm>
              </p:grpSpPr>
              <p:sp>
                <p:nvSpPr>
                  <p:cNvPr id="35" name="Freeform 17"/>
                  <p:cNvSpPr/>
                  <p:nvPr>
                    <p:custDataLst>
                      <p:tags r:id="rId5"/>
                    </p:custDataLst>
                  </p:nvPr>
                </p:nvSpPr>
                <p:spPr>
                  <a:xfrm>
                    <a:off x="0" y="-131201"/>
                    <a:ext cx="10441983" cy="4034103"/>
                  </a:xfrm>
                  <a:custGeom>
                    <a:avLst/>
                    <a:gdLst/>
                    <a:ahLst/>
                    <a:cxnLst/>
                    <a:rect l="l" t="t" r="r" b="b"/>
                    <a:pathLst>
                      <a:path w="10442576" h="3902964">
                        <a:moveTo>
                          <a:pt x="0" y="650494"/>
                        </a:moveTo>
                        <a:cubicBezTo>
                          <a:pt x="0" y="291211"/>
                          <a:pt x="291211" y="0"/>
                          <a:pt x="650494" y="0"/>
                        </a:cubicBezTo>
                        <a:lnTo>
                          <a:pt x="9792081" y="0"/>
                        </a:lnTo>
                        <a:cubicBezTo>
                          <a:pt x="10151364" y="0"/>
                          <a:pt x="10442576" y="291211"/>
                          <a:pt x="10442576" y="650494"/>
                        </a:cubicBezTo>
                        <a:lnTo>
                          <a:pt x="10442576" y="3252470"/>
                        </a:lnTo>
                        <a:cubicBezTo>
                          <a:pt x="10442576" y="3611753"/>
                          <a:pt x="10151364" y="3902964"/>
                          <a:pt x="9792081" y="3902964"/>
                        </a:cubicBezTo>
                        <a:lnTo>
                          <a:pt x="650494" y="3902964"/>
                        </a:lnTo>
                        <a:cubicBezTo>
                          <a:pt x="291211" y="3902964"/>
                          <a:pt x="0" y="3611626"/>
                          <a:pt x="0" y="3252470"/>
                        </a:cubicBezTo>
                        <a:close/>
                      </a:path>
                    </a:pathLst>
                  </a:custGeom>
                  <a:solidFill>
                    <a:srgbClr val="4472C4"/>
                  </a:solidFill>
                </p:spPr>
              </p:sp>
            </p:grpSp>
            <p:grpSp>
              <p:nvGrpSpPr>
                <p:cNvPr id="45" name="Group 24"/>
                <p:cNvGrpSpPr/>
                <p:nvPr/>
              </p:nvGrpSpPr>
              <p:grpSpPr>
                <a:xfrm rot="0">
                  <a:off x="1986" y="5681"/>
                  <a:ext cx="2551" cy="108"/>
                  <a:chOff x="0" y="0"/>
                  <a:chExt cx="2160000" cy="91438"/>
                </a:xfrm>
              </p:grpSpPr>
              <p:sp>
                <p:nvSpPr>
                  <p:cNvPr id="46" name="Freeform 25"/>
                  <p:cNvSpPr/>
                  <p:nvPr>
                    <p:custDataLst>
                      <p:tags r:id="rId6"/>
                    </p:custDataLst>
                  </p:nvPr>
                </p:nvSpPr>
                <p:spPr>
                  <a:xfrm>
                    <a:off x="0" y="0"/>
                    <a:ext cx="2160016" cy="91440"/>
                  </a:xfrm>
                  <a:custGeom>
                    <a:avLst/>
                    <a:gdLst/>
                    <a:ahLst/>
                    <a:cxnLst/>
                    <a:rect l="l" t="t" r="r" b="b"/>
                    <a:pathLst>
                      <a:path w="2160016" h="91440">
                        <a:moveTo>
                          <a:pt x="0" y="45720"/>
                        </a:moveTo>
                        <a:cubicBezTo>
                          <a:pt x="0" y="70993"/>
                          <a:pt x="20447" y="91440"/>
                          <a:pt x="45720" y="91440"/>
                        </a:cubicBezTo>
                        <a:lnTo>
                          <a:pt x="2114296" y="91440"/>
                        </a:lnTo>
                        <a:cubicBezTo>
                          <a:pt x="2139569" y="91440"/>
                          <a:pt x="2160016" y="70993"/>
                          <a:pt x="2160016" y="45720"/>
                        </a:cubicBezTo>
                        <a:cubicBezTo>
                          <a:pt x="2160016" y="20447"/>
                          <a:pt x="2139569" y="0"/>
                          <a:pt x="2114296" y="0"/>
                        </a:cubicBezTo>
                        <a:lnTo>
                          <a:pt x="45720" y="0"/>
                        </a:lnTo>
                        <a:cubicBezTo>
                          <a:pt x="20447" y="0"/>
                          <a:pt x="0" y="20447"/>
                          <a:pt x="0" y="45720"/>
                        </a:cubicBezTo>
                        <a:close/>
                      </a:path>
                    </a:pathLst>
                  </a:custGeom>
                  <a:solidFill>
                    <a:srgbClr val="D9D9D9"/>
                  </a:solidFill>
                </p:spPr>
              </p:sp>
            </p:grpSp>
            <p:grpSp>
              <p:nvGrpSpPr>
                <p:cNvPr id="47" name="Group 26"/>
                <p:cNvGrpSpPr/>
                <p:nvPr/>
              </p:nvGrpSpPr>
              <p:grpSpPr>
                <a:xfrm rot="0">
                  <a:off x="4833" y="5672"/>
                  <a:ext cx="340" cy="108"/>
                  <a:chOff x="0" y="0"/>
                  <a:chExt cx="288000" cy="91438"/>
                </a:xfrm>
              </p:grpSpPr>
              <p:sp>
                <p:nvSpPr>
                  <p:cNvPr id="48" name="Freeform 27"/>
                  <p:cNvSpPr/>
                  <p:nvPr>
                    <p:custDataLst>
                      <p:tags r:id="rId7"/>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grpSp>
              <p:nvGrpSpPr>
                <p:cNvPr id="49" name="Group 28"/>
                <p:cNvGrpSpPr/>
                <p:nvPr/>
              </p:nvGrpSpPr>
              <p:grpSpPr>
                <a:xfrm rot="0">
                  <a:off x="5385" y="5672"/>
                  <a:ext cx="340" cy="108"/>
                  <a:chOff x="0" y="0"/>
                  <a:chExt cx="288000" cy="91438"/>
                </a:xfrm>
              </p:grpSpPr>
              <p:sp>
                <p:nvSpPr>
                  <p:cNvPr id="50" name="Freeform 29"/>
                  <p:cNvSpPr/>
                  <p:nvPr>
                    <p:custDataLst>
                      <p:tags r:id="rId8"/>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sp>
              <p:nvSpPr>
                <p:cNvPr id="69" name="TextBox 48"/>
                <p:cNvSpPr txBox="1"/>
                <p:nvPr>
                  <p:custDataLst>
                    <p:tags r:id="rId9"/>
                  </p:custDataLst>
                </p:nvPr>
              </p:nvSpPr>
              <p:spPr>
                <a:xfrm>
                  <a:off x="2312" y="5750"/>
                  <a:ext cx="10946" cy="2490"/>
                </a:xfrm>
                <a:prstGeom prst="rect">
                  <a:avLst/>
                </a:prstGeom>
              </p:spPr>
              <p:txBody>
                <a:bodyPr lIns="0" tIns="0" rIns="0" bIns="0" rtlCol="0" anchor="t">
                  <a:noAutofit/>
                </a:bodyPr>
                <a:p>
                  <a:pPr marL="0" lvl="0" indent="0" algn="l">
                    <a:lnSpc>
                      <a:spcPts val="3040"/>
                    </a:lnSpc>
                  </a:pPr>
                  <a:r>
                    <a:rPr lang="en-US" sz="1200" u="none">
                      <a:solidFill>
                        <a:srgbClr val="F2F2F2"/>
                      </a:solidFill>
                      <a:latin typeface="字魂手刻宋" panose="00000500000000000000" charset="-122"/>
                      <a:ea typeface="字魂手刻宋" panose="00000500000000000000" charset="-122"/>
                      <a:cs typeface="字魂手刻宋" panose="00000500000000000000" charset="-122"/>
                    </a:rPr>
                    <a:t>安环家平台拥有丰富的生态合作伙伴，与127+全国性人力服务机构、300+高校职专、25+人才市场达成了人才输送战略合作协议，可快速招募大量人员；</a:t>
                  </a:r>
                  <a:endParaRPr lang="en-US" sz="1200" u="none">
                    <a:solidFill>
                      <a:srgbClr val="F2F2F2"/>
                    </a:solidFill>
                    <a:latin typeface="字魂手刻宋" panose="00000500000000000000" charset="-122"/>
                    <a:ea typeface="字魂手刻宋" panose="00000500000000000000" charset="-122"/>
                    <a:cs typeface="字魂手刻宋" panose="00000500000000000000" charset="-122"/>
                  </a:endParaRPr>
                </a:p>
              </p:txBody>
            </p:sp>
            <p:sp>
              <p:nvSpPr>
                <p:cNvPr id="73" name="TextBox 52"/>
                <p:cNvSpPr txBox="1"/>
                <p:nvPr>
                  <p:custDataLst>
                    <p:tags r:id="rId10"/>
                  </p:custDataLst>
                </p:nvPr>
              </p:nvSpPr>
              <p:spPr>
                <a:xfrm>
                  <a:off x="1749" y="4381"/>
                  <a:ext cx="12076" cy="947"/>
                </a:xfrm>
                <a:prstGeom prst="rect">
                  <a:avLst/>
                </a:prstGeom>
              </p:spPr>
              <p:txBody>
                <a:bodyPr lIns="0" tIns="0" rIns="0" bIns="0" rtlCol="0" anchor="t">
                  <a:spAutoFit/>
                </a:bodyPr>
                <a:p>
                  <a:pPr marL="0" lvl="0" indent="0" algn="l">
                    <a:lnSpc>
                      <a:spcPts val="3000"/>
                    </a:lnSpc>
                    <a:spcBef>
                      <a:spcPct val="0"/>
                    </a:spcBef>
                  </a:pPr>
                  <a:r>
                    <a:rPr lang="en-US" altLang="zh-CN" sz="1800" u="none">
                      <a:solidFill>
                        <a:srgbClr val="F2F2F2"/>
                      </a:solidFill>
                      <a:latin typeface="字魂手刻宋" panose="00000500000000000000" charset="-122"/>
                      <a:ea typeface="字魂手刻宋" panose="00000500000000000000" charset="-122"/>
                      <a:cs typeface="字魂手刻宋" panose="00000500000000000000" charset="-122"/>
                    </a:rPr>
                    <a:t>1</a:t>
                  </a:r>
                  <a:r>
                    <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rPr>
                    <a:t>、快速招募</a:t>
                  </a:r>
                  <a:endPar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endParaRPr>
                </a:p>
              </p:txBody>
            </p:sp>
          </p:grpSp>
          <p:grpSp>
            <p:nvGrpSpPr>
              <p:cNvPr id="78" name="组合 77"/>
              <p:cNvGrpSpPr/>
              <p:nvPr/>
            </p:nvGrpSpPr>
            <p:grpSpPr>
              <a:xfrm>
                <a:off x="9430" y="3417"/>
                <a:ext cx="7001" cy="3535"/>
                <a:chOff x="676" y="4360"/>
                <a:chExt cx="13300" cy="4610"/>
              </a:xfrm>
            </p:grpSpPr>
            <p:grpSp>
              <p:nvGrpSpPr>
                <p:cNvPr id="79" name="Group 16"/>
                <p:cNvGrpSpPr/>
                <p:nvPr/>
              </p:nvGrpSpPr>
              <p:grpSpPr>
                <a:xfrm rot="0">
                  <a:off x="676" y="4360"/>
                  <a:ext cx="13300" cy="4610"/>
                  <a:chOff x="-818145" y="0"/>
                  <a:chExt cx="11260128" cy="3902895"/>
                </a:xfrm>
              </p:grpSpPr>
              <p:sp>
                <p:nvSpPr>
                  <p:cNvPr id="80" name="Freeform 17"/>
                  <p:cNvSpPr/>
                  <p:nvPr>
                    <p:custDataLst>
                      <p:tags r:id="rId11"/>
                    </p:custDataLst>
                  </p:nvPr>
                </p:nvSpPr>
                <p:spPr>
                  <a:xfrm>
                    <a:off x="-818145" y="0"/>
                    <a:ext cx="11260128" cy="3902895"/>
                  </a:xfrm>
                  <a:custGeom>
                    <a:avLst/>
                    <a:gdLst/>
                    <a:ahLst/>
                    <a:cxnLst/>
                    <a:rect l="l" t="t" r="r" b="b"/>
                    <a:pathLst>
                      <a:path w="10442576" h="3902964">
                        <a:moveTo>
                          <a:pt x="0" y="650494"/>
                        </a:moveTo>
                        <a:cubicBezTo>
                          <a:pt x="0" y="291211"/>
                          <a:pt x="291211" y="0"/>
                          <a:pt x="650494" y="0"/>
                        </a:cubicBezTo>
                        <a:lnTo>
                          <a:pt x="9792081" y="0"/>
                        </a:lnTo>
                        <a:cubicBezTo>
                          <a:pt x="10151364" y="0"/>
                          <a:pt x="10442576" y="291211"/>
                          <a:pt x="10442576" y="650494"/>
                        </a:cubicBezTo>
                        <a:lnTo>
                          <a:pt x="10442576" y="3252470"/>
                        </a:lnTo>
                        <a:cubicBezTo>
                          <a:pt x="10442576" y="3611753"/>
                          <a:pt x="10151364" y="3902964"/>
                          <a:pt x="9792081" y="3902964"/>
                        </a:cubicBezTo>
                        <a:lnTo>
                          <a:pt x="650494" y="3902964"/>
                        </a:lnTo>
                        <a:cubicBezTo>
                          <a:pt x="291211" y="3902964"/>
                          <a:pt x="0" y="3611626"/>
                          <a:pt x="0" y="3252470"/>
                        </a:cubicBezTo>
                        <a:close/>
                      </a:path>
                    </a:pathLst>
                  </a:custGeom>
                  <a:solidFill>
                    <a:srgbClr val="4472C4"/>
                  </a:solidFill>
                </p:spPr>
              </p:sp>
            </p:grpSp>
            <p:grpSp>
              <p:nvGrpSpPr>
                <p:cNvPr id="81" name="Group 24"/>
                <p:cNvGrpSpPr/>
                <p:nvPr/>
              </p:nvGrpSpPr>
              <p:grpSpPr>
                <a:xfrm rot="0">
                  <a:off x="1986" y="5681"/>
                  <a:ext cx="2551" cy="108"/>
                  <a:chOff x="0" y="0"/>
                  <a:chExt cx="2160000" cy="91438"/>
                </a:xfrm>
              </p:grpSpPr>
              <p:sp>
                <p:nvSpPr>
                  <p:cNvPr id="82" name="Freeform 25"/>
                  <p:cNvSpPr/>
                  <p:nvPr>
                    <p:custDataLst>
                      <p:tags r:id="rId12"/>
                    </p:custDataLst>
                  </p:nvPr>
                </p:nvSpPr>
                <p:spPr>
                  <a:xfrm>
                    <a:off x="0" y="0"/>
                    <a:ext cx="2160016" cy="91440"/>
                  </a:xfrm>
                  <a:custGeom>
                    <a:avLst/>
                    <a:gdLst/>
                    <a:ahLst/>
                    <a:cxnLst/>
                    <a:rect l="l" t="t" r="r" b="b"/>
                    <a:pathLst>
                      <a:path w="2160016" h="91440">
                        <a:moveTo>
                          <a:pt x="0" y="45720"/>
                        </a:moveTo>
                        <a:cubicBezTo>
                          <a:pt x="0" y="70993"/>
                          <a:pt x="20447" y="91440"/>
                          <a:pt x="45720" y="91440"/>
                        </a:cubicBezTo>
                        <a:lnTo>
                          <a:pt x="2114296" y="91440"/>
                        </a:lnTo>
                        <a:cubicBezTo>
                          <a:pt x="2139569" y="91440"/>
                          <a:pt x="2160016" y="70993"/>
                          <a:pt x="2160016" y="45720"/>
                        </a:cubicBezTo>
                        <a:cubicBezTo>
                          <a:pt x="2160016" y="20447"/>
                          <a:pt x="2139569" y="0"/>
                          <a:pt x="2114296" y="0"/>
                        </a:cubicBezTo>
                        <a:lnTo>
                          <a:pt x="45720" y="0"/>
                        </a:lnTo>
                        <a:cubicBezTo>
                          <a:pt x="20447" y="0"/>
                          <a:pt x="0" y="20447"/>
                          <a:pt x="0" y="45720"/>
                        </a:cubicBezTo>
                        <a:close/>
                      </a:path>
                    </a:pathLst>
                  </a:custGeom>
                  <a:solidFill>
                    <a:srgbClr val="D9D9D9"/>
                  </a:solidFill>
                </p:spPr>
              </p:sp>
            </p:grpSp>
            <p:grpSp>
              <p:nvGrpSpPr>
                <p:cNvPr id="83" name="Group 26"/>
                <p:cNvGrpSpPr/>
                <p:nvPr/>
              </p:nvGrpSpPr>
              <p:grpSpPr>
                <a:xfrm rot="0">
                  <a:off x="4833" y="5672"/>
                  <a:ext cx="340" cy="108"/>
                  <a:chOff x="0" y="0"/>
                  <a:chExt cx="288000" cy="91438"/>
                </a:xfrm>
              </p:grpSpPr>
              <p:sp>
                <p:nvSpPr>
                  <p:cNvPr id="84" name="Freeform 27"/>
                  <p:cNvSpPr/>
                  <p:nvPr>
                    <p:custDataLst>
                      <p:tags r:id="rId13"/>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grpSp>
              <p:nvGrpSpPr>
                <p:cNvPr id="85" name="Group 28"/>
                <p:cNvGrpSpPr/>
                <p:nvPr/>
              </p:nvGrpSpPr>
              <p:grpSpPr>
                <a:xfrm rot="0">
                  <a:off x="5385" y="5672"/>
                  <a:ext cx="340" cy="108"/>
                  <a:chOff x="0" y="0"/>
                  <a:chExt cx="288000" cy="91438"/>
                </a:xfrm>
              </p:grpSpPr>
              <p:sp>
                <p:nvSpPr>
                  <p:cNvPr id="86" name="Freeform 29"/>
                  <p:cNvSpPr/>
                  <p:nvPr>
                    <p:custDataLst>
                      <p:tags r:id="rId14"/>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sp>
              <p:nvSpPr>
                <p:cNvPr id="87" name="TextBox 48"/>
                <p:cNvSpPr txBox="1"/>
                <p:nvPr>
                  <p:custDataLst>
                    <p:tags r:id="rId15"/>
                  </p:custDataLst>
                </p:nvPr>
              </p:nvSpPr>
              <p:spPr>
                <a:xfrm>
                  <a:off x="1667" y="6038"/>
                  <a:ext cx="11149" cy="2490"/>
                </a:xfrm>
                <a:prstGeom prst="rect">
                  <a:avLst/>
                </a:prstGeom>
              </p:spPr>
              <p:txBody>
                <a:bodyPr lIns="0" tIns="0" rIns="0" bIns="0" rtlCol="0" anchor="t">
                  <a:noAutofit/>
                </a:bodyPr>
                <a:p>
                  <a:pPr marL="0" lvl="0" indent="0" algn="l">
                    <a:lnSpc>
                      <a:spcPts val="3040"/>
                    </a:lnSpc>
                  </a:pPr>
                  <a:r>
                    <a:rPr sz="1200" u="none">
                      <a:solidFill>
                        <a:srgbClr val="F2F2F2"/>
                      </a:solidFill>
                      <a:latin typeface="字魂手刻宋" panose="00000500000000000000" charset="-122"/>
                      <a:ea typeface="字魂手刻宋" panose="00000500000000000000" charset="-122"/>
                      <a:cs typeface="字魂手刻宋" panose="00000500000000000000" charset="-122"/>
                    </a:rPr>
                    <a:t>安环家平台拥有成熟的安全风险管理师培训体系+先进的“安全专家在线”作业工具，可以有效的降低作业成本提高作业效率；</a:t>
                  </a:r>
                  <a:endParaRPr sz="1200" u="none">
                    <a:solidFill>
                      <a:srgbClr val="F2F2F2"/>
                    </a:solidFill>
                    <a:latin typeface="字魂手刻宋" panose="00000500000000000000" charset="-122"/>
                    <a:ea typeface="字魂手刻宋" panose="00000500000000000000" charset="-122"/>
                    <a:cs typeface="字魂手刻宋" panose="00000500000000000000" charset="-122"/>
                  </a:endParaRPr>
                </a:p>
              </p:txBody>
            </p:sp>
            <p:sp>
              <p:nvSpPr>
                <p:cNvPr id="88" name="TextBox 52"/>
                <p:cNvSpPr txBox="1"/>
                <p:nvPr>
                  <p:custDataLst>
                    <p:tags r:id="rId16"/>
                  </p:custDataLst>
                </p:nvPr>
              </p:nvSpPr>
              <p:spPr>
                <a:xfrm>
                  <a:off x="1855" y="4537"/>
                  <a:ext cx="12076" cy="895"/>
                </a:xfrm>
                <a:prstGeom prst="rect">
                  <a:avLst/>
                </a:prstGeom>
              </p:spPr>
              <p:txBody>
                <a:bodyPr lIns="0" tIns="0" rIns="0" bIns="0" rtlCol="0" anchor="t">
                  <a:spAutoFit/>
                </a:bodyPr>
                <a:p>
                  <a:pPr marL="0" lvl="0" indent="0" algn="l">
                    <a:lnSpc>
                      <a:spcPts val="3000"/>
                    </a:lnSpc>
                    <a:spcBef>
                      <a:spcPct val="0"/>
                    </a:spcBef>
                  </a:pPr>
                  <a:r>
                    <a:rPr lang="en-US" sz="1800" u="none">
                      <a:solidFill>
                        <a:srgbClr val="F2F2F2"/>
                      </a:solidFill>
                      <a:latin typeface="字魂手刻宋" panose="00000500000000000000" charset="-122"/>
                      <a:ea typeface="字魂手刻宋" panose="00000500000000000000" charset="-122"/>
                      <a:cs typeface="字魂手刻宋" panose="00000500000000000000" charset="-122"/>
                    </a:rPr>
                    <a:t>2</a:t>
                  </a:r>
                  <a:r>
                    <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rPr>
                    <a:t>、降本增效</a:t>
                  </a:r>
                  <a:endPar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endParaRPr>
                </a:p>
              </p:txBody>
            </p:sp>
          </p:grpSp>
          <p:grpSp>
            <p:nvGrpSpPr>
              <p:cNvPr id="89" name="组合 88"/>
              <p:cNvGrpSpPr/>
              <p:nvPr/>
            </p:nvGrpSpPr>
            <p:grpSpPr>
              <a:xfrm>
                <a:off x="1396" y="7293"/>
                <a:ext cx="6584" cy="3263"/>
                <a:chOff x="1642" y="4360"/>
                <a:chExt cx="12507" cy="5767"/>
              </a:xfrm>
            </p:grpSpPr>
            <p:grpSp>
              <p:nvGrpSpPr>
                <p:cNvPr id="90" name="Group 16"/>
                <p:cNvGrpSpPr/>
                <p:nvPr/>
              </p:nvGrpSpPr>
              <p:grpSpPr>
                <a:xfrm rot="0">
                  <a:off x="1642" y="4360"/>
                  <a:ext cx="12333" cy="5767"/>
                  <a:chOff x="0" y="0"/>
                  <a:chExt cx="10441983" cy="4882701"/>
                </a:xfrm>
              </p:grpSpPr>
              <p:sp>
                <p:nvSpPr>
                  <p:cNvPr id="91" name="Freeform 17"/>
                  <p:cNvSpPr/>
                  <p:nvPr>
                    <p:custDataLst>
                      <p:tags r:id="rId17"/>
                    </p:custDataLst>
                  </p:nvPr>
                </p:nvSpPr>
                <p:spPr>
                  <a:xfrm>
                    <a:off x="0" y="0"/>
                    <a:ext cx="10441983" cy="4882701"/>
                  </a:xfrm>
                  <a:custGeom>
                    <a:avLst/>
                    <a:gdLst/>
                    <a:ahLst/>
                    <a:cxnLst/>
                    <a:rect l="l" t="t" r="r" b="b"/>
                    <a:pathLst>
                      <a:path w="10442576" h="3902964">
                        <a:moveTo>
                          <a:pt x="0" y="650494"/>
                        </a:moveTo>
                        <a:cubicBezTo>
                          <a:pt x="0" y="291211"/>
                          <a:pt x="291211" y="0"/>
                          <a:pt x="650494" y="0"/>
                        </a:cubicBezTo>
                        <a:lnTo>
                          <a:pt x="9792081" y="0"/>
                        </a:lnTo>
                        <a:cubicBezTo>
                          <a:pt x="10151364" y="0"/>
                          <a:pt x="10442576" y="291211"/>
                          <a:pt x="10442576" y="650494"/>
                        </a:cubicBezTo>
                        <a:lnTo>
                          <a:pt x="10442576" y="3252470"/>
                        </a:lnTo>
                        <a:cubicBezTo>
                          <a:pt x="10442576" y="3611753"/>
                          <a:pt x="10151364" y="3902964"/>
                          <a:pt x="9792081" y="3902964"/>
                        </a:cubicBezTo>
                        <a:lnTo>
                          <a:pt x="650494" y="3902964"/>
                        </a:lnTo>
                        <a:cubicBezTo>
                          <a:pt x="291211" y="3902964"/>
                          <a:pt x="0" y="3611626"/>
                          <a:pt x="0" y="3252470"/>
                        </a:cubicBezTo>
                        <a:close/>
                      </a:path>
                    </a:pathLst>
                  </a:custGeom>
                  <a:solidFill>
                    <a:srgbClr val="4472C4"/>
                  </a:solidFill>
                </p:spPr>
              </p:sp>
            </p:grpSp>
            <p:grpSp>
              <p:nvGrpSpPr>
                <p:cNvPr id="92" name="Group 24"/>
                <p:cNvGrpSpPr/>
                <p:nvPr/>
              </p:nvGrpSpPr>
              <p:grpSpPr>
                <a:xfrm rot="0">
                  <a:off x="1986" y="5681"/>
                  <a:ext cx="2551" cy="108"/>
                  <a:chOff x="0" y="0"/>
                  <a:chExt cx="2160000" cy="91438"/>
                </a:xfrm>
              </p:grpSpPr>
              <p:sp>
                <p:nvSpPr>
                  <p:cNvPr id="93" name="Freeform 25"/>
                  <p:cNvSpPr/>
                  <p:nvPr>
                    <p:custDataLst>
                      <p:tags r:id="rId18"/>
                    </p:custDataLst>
                  </p:nvPr>
                </p:nvSpPr>
                <p:spPr>
                  <a:xfrm>
                    <a:off x="0" y="0"/>
                    <a:ext cx="2160016" cy="91440"/>
                  </a:xfrm>
                  <a:custGeom>
                    <a:avLst/>
                    <a:gdLst/>
                    <a:ahLst/>
                    <a:cxnLst/>
                    <a:rect l="l" t="t" r="r" b="b"/>
                    <a:pathLst>
                      <a:path w="2160016" h="91440">
                        <a:moveTo>
                          <a:pt x="0" y="45720"/>
                        </a:moveTo>
                        <a:cubicBezTo>
                          <a:pt x="0" y="70993"/>
                          <a:pt x="20447" y="91440"/>
                          <a:pt x="45720" y="91440"/>
                        </a:cubicBezTo>
                        <a:lnTo>
                          <a:pt x="2114296" y="91440"/>
                        </a:lnTo>
                        <a:cubicBezTo>
                          <a:pt x="2139569" y="91440"/>
                          <a:pt x="2160016" y="70993"/>
                          <a:pt x="2160016" y="45720"/>
                        </a:cubicBezTo>
                        <a:cubicBezTo>
                          <a:pt x="2160016" y="20447"/>
                          <a:pt x="2139569" y="0"/>
                          <a:pt x="2114296" y="0"/>
                        </a:cubicBezTo>
                        <a:lnTo>
                          <a:pt x="45720" y="0"/>
                        </a:lnTo>
                        <a:cubicBezTo>
                          <a:pt x="20447" y="0"/>
                          <a:pt x="0" y="20447"/>
                          <a:pt x="0" y="45720"/>
                        </a:cubicBezTo>
                        <a:close/>
                      </a:path>
                    </a:pathLst>
                  </a:custGeom>
                  <a:solidFill>
                    <a:srgbClr val="D9D9D9"/>
                  </a:solidFill>
                </p:spPr>
              </p:sp>
            </p:grpSp>
            <p:grpSp>
              <p:nvGrpSpPr>
                <p:cNvPr id="94" name="Group 26"/>
                <p:cNvGrpSpPr/>
                <p:nvPr/>
              </p:nvGrpSpPr>
              <p:grpSpPr>
                <a:xfrm rot="0">
                  <a:off x="4833" y="5672"/>
                  <a:ext cx="340" cy="108"/>
                  <a:chOff x="0" y="0"/>
                  <a:chExt cx="288000" cy="91438"/>
                </a:xfrm>
              </p:grpSpPr>
              <p:sp>
                <p:nvSpPr>
                  <p:cNvPr id="95" name="Freeform 27"/>
                  <p:cNvSpPr/>
                  <p:nvPr>
                    <p:custDataLst>
                      <p:tags r:id="rId19"/>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grpSp>
              <p:nvGrpSpPr>
                <p:cNvPr id="96" name="Group 28"/>
                <p:cNvGrpSpPr/>
                <p:nvPr/>
              </p:nvGrpSpPr>
              <p:grpSpPr>
                <a:xfrm rot="0">
                  <a:off x="5385" y="5672"/>
                  <a:ext cx="340" cy="108"/>
                  <a:chOff x="0" y="0"/>
                  <a:chExt cx="288000" cy="91438"/>
                </a:xfrm>
              </p:grpSpPr>
              <p:sp>
                <p:nvSpPr>
                  <p:cNvPr id="97" name="Freeform 29"/>
                  <p:cNvSpPr/>
                  <p:nvPr>
                    <p:custDataLst>
                      <p:tags r:id="rId20"/>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sp>
              <p:nvSpPr>
                <p:cNvPr id="98" name="TextBox 48"/>
                <p:cNvSpPr txBox="1"/>
                <p:nvPr>
                  <p:custDataLst>
                    <p:tags r:id="rId21"/>
                  </p:custDataLst>
                </p:nvPr>
              </p:nvSpPr>
              <p:spPr>
                <a:xfrm>
                  <a:off x="1899" y="6083"/>
                  <a:ext cx="11082" cy="2491"/>
                </a:xfrm>
                <a:prstGeom prst="rect">
                  <a:avLst/>
                </a:prstGeom>
              </p:spPr>
              <p:txBody>
                <a:bodyPr lIns="0" tIns="0" rIns="0" bIns="0" rtlCol="0" anchor="t">
                  <a:noAutofit/>
                </a:bodyPr>
                <a:p>
                  <a:pPr marL="0" lvl="0" indent="0" algn="l">
                    <a:lnSpc>
                      <a:spcPts val="3040"/>
                    </a:lnSpc>
                  </a:pPr>
                  <a:r>
                    <a:rPr lang="en-US" sz="1200" u="none">
                      <a:solidFill>
                        <a:srgbClr val="F2F2F2"/>
                      </a:solidFill>
                      <a:latin typeface="字魂手刻宋" panose="00000500000000000000" charset="-122"/>
                      <a:ea typeface="字魂手刻宋" panose="00000500000000000000" charset="-122"/>
                      <a:cs typeface="字魂手刻宋" panose="00000500000000000000" charset="-122"/>
                    </a:rPr>
                    <a:t>安环家平台拥有一整套成熟的培训-考试-发证-作业带教体系，可以快速的培养一批批专业人才；</a:t>
                  </a:r>
                  <a:endParaRPr lang="en-US" sz="1200" u="none">
                    <a:solidFill>
                      <a:srgbClr val="F2F2F2"/>
                    </a:solidFill>
                    <a:latin typeface="字魂手刻宋" panose="00000500000000000000" charset="-122"/>
                    <a:ea typeface="字魂手刻宋" panose="00000500000000000000" charset="-122"/>
                    <a:cs typeface="字魂手刻宋" panose="00000500000000000000" charset="-122"/>
                  </a:endParaRPr>
                </a:p>
              </p:txBody>
            </p:sp>
            <p:sp>
              <p:nvSpPr>
                <p:cNvPr id="99" name="TextBox 52"/>
                <p:cNvSpPr txBox="1"/>
                <p:nvPr>
                  <p:custDataLst>
                    <p:tags r:id="rId22"/>
                  </p:custDataLst>
                </p:nvPr>
              </p:nvSpPr>
              <p:spPr>
                <a:xfrm>
                  <a:off x="2073" y="4460"/>
                  <a:ext cx="12076" cy="1213"/>
                </a:xfrm>
                <a:prstGeom prst="rect">
                  <a:avLst/>
                </a:prstGeom>
              </p:spPr>
              <p:txBody>
                <a:bodyPr lIns="0" tIns="0" rIns="0" bIns="0" rtlCol="0" anchor="t">
                  <a:spAutoFit/>
                </a:bodyPr>
                <a:p>
                  <a:pPr marL="0" lvl="0" indent="0" algn="l">
                    <a:lnSpc>
                      <a:spcPts val="3000"/>
                    </a:lnSpc>
                    <a:spcBef>
                      <a:spcPct val="0"/>
                    </a:spcBef>
                  </a:pPr>
                  <a:r>
                    <a:rPr lang="en-US" sz="1800" u="none">
                      <a:solidFill>
                        <a:srgbClr val="F2F2F2"/>
                      </a:solidFill>
                      <a:latin typeface="字魂手刻宋" panose="00000500000000000000" charset="-122"/>
                      <a:ea typeface="字魂手刻宋" panose="00000500000000000000" charset="-122"/>
                      <a:cs typeface="字魂手刻宋" panose="00000500000000000000" charset="-122"/>
                    </a:rPr>
                    <a:t>3</a:t>
                  </a:r>
                  <a:r>
                    <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rPr>
                    <a:t>、人才培养</a:t>
                  </a:r>
                  <a:endPar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endParaRPr>
                </a:p>
              </p:txBody>
            </p:sp>
          </p:grpSp>
          <p:grpSp>
            <p:nvGrpSpPr>
              <p:cNvPr id="100" name="组合 99"/>
              <p:cNvGrpSpPr/>
              <p:nvPr/>
            </p:nvGrpSpPr>
            <p:grpSpPr>
              <a:xfrm>
                <a:off x="9161" y="7180"/>
                <a:ext cx="7384" cy="3497"/>
                <a:chOff x="-50" y="4351"/>
                <a:chExt cx="14026" cy="5854"/>
              </a:xfrm>
            </p:grpSpPr>
            <p:grpSp>
              <p:nvGrpSpPr>
                <p:cNvPr id="101" name="Group 16"/>
                <p:cNvGrpSpPr/>
                <p:nvPr/>
              </p:nvGrpSpPr>
              <p:grpSpPr>
                <a:xfrm rot="0">
                  <a:off x="-50" y="4360"/>
                  <a:ext cx="14026" cy="5845"/>
                  <a:chOff x="-1432935" y="0"/>
                  <a:chExt cx="11874918" cy="4948613"/>
                </a:xfrm>
              </p:grpSpPr>
              <p:sp>
                <p:nvSpPr>
                  <p:cNvPr id="102" name="Freeform 17"/>
                  <p:cNvSpPr/>
                  <p:nvPr>
                    <p:custDataLst>
                      <p:tags r:id="rId23"/>
                    </p:custDataLst>
                  </p:nvPr>
                </p:nvSpPr>
                <p:spPr>
                  <a:xfrm>
                    <a:off x="-1432935" y="0"/>
                    <a:ext cx="11874918" cy="4948613"/>
                  </a:xfrm>
                  <a:custGeom>
                    <a:avLst/>
                    <a:gdLst/>
                    <a:ahLst/>
                    <a:cxnLst/>
                    <a:rect l="l" t="t" r="r" b="b"/>
                    <a:pathLst>
                      <a:path w="10442576" h="3902964">
                        <a:moveTo>
                          <a:pt x="0" y="650494"/>
                        </a:moveTo>
                        <a:cubicBezTo>
                          <a:pt x="0" y="291211"/>
                          <a:pt x="291211" y="0"/>
                          <a:pt x="650494" y="0"/>
                        </a:cubicBezTo>
                        <a:lnTo>
                          <a:pt x="9792081" y="0"/>
                        </a:lnTo>
                        <a:cubicBezTo>
                          <a:pt x="10151364" y="0"/>
                          <a:pt x="10442576" y="291211"/>
                          <a:pt x="10442576" y="650494"/>
                        </a:cubicBezTo>
                        <a:lnTo>
                          <a:pt x="10442576" y="3252470"/>
                        </a:lnTo>
                        <a:cubicBezTo>
                          <a:pt x="10442576" y="3611753"/>
                          <a:pt x="10151364" y="3902964"/>
                          <a:pt x="9792081" y="3902964"/>
                        </a:cubicBezTo>
                        <a:lnTo>
                          <a:pt x="650494" y="3902964"/>
                        </a:lnTo>
                        <a:cubicBezTo>
                          <a:pt x="291211" y="3902964"/>
                          <a:pt x="0" y="3611626"/>
                          <a:pt x="0" y="3252470"/>
                        </a:cubicBezTo>
                        <a:close/>
                      </a:path>
                    </a:pathLst>
                  </a:custGeom>
                  <a:solidFill>
                    <a:srgbClr val="4472C4"/>
                  </a:solidFill>
                </p:spPr>
              </p:sp>
            </p:grpSp>
            <p:grpSp>
              <p:nvGrpSpPr>
                <p:cNvPr id="103" name="Group 24"/>
                <p:cNvGrpSpPr/>
                <p:nvPr/>
              </p:nvGrpSpPr>
              <p:grpSpPr>
                <a:xfrm rot="0">
                  <a:off x="1986" y="5681"/>
                  <a:ext cx="2551" cy="108"/>
                  <a:chOff x="0" y="0"/>
                  <a:chExt cx="2160000" cy="91438"/>
                </a:xfrm>
              </p:grpSpPr>
              <p:sp>
                <p:nvSpPr>
                  <p:cNvPr id="104" name="Freeform 25"/>
                  <p:cNvSpPr/>
                  <p:nvPr>
                    <p:custDataLst>
                      <p:tags r:id="rId24"/>
                    </p:custDataLst>
                  </p:nvPr>
                </p:nvSpPr>
                <p:spPr>
                  <a:xfrm>
                    <a:off x="0" y="0"/>
                    <a:ext cx="2160016" cy="91440"/>
                  </a:xfrm>
                  <a:custGeom>
                    <a:avLst/>
                    <a:gdLst/>
                    <a:ahLst/>
                    <a:cxnLst/>
                    <a:rect l="l" t="t" r="r" b="b"/>
                    <a:pathLst>
                      <a:path w="2160016" h="91440">
                        <a:moveTo>
                          <a:pt x="0" y="45720"/>
                        </a:moveTo>
                        <a:cubicBezTo>
                          <a:pt x="0" y="70993"/>
                          <a:pt x="20447" y="91440"/>
                          <a:pt x="45720" y="91440"/>
                        </a:cubicBezTo>
                        <a:lnTo>
                          <a:pt x="2114296" y="91440"/>
                        </a:lnTo>
                        <a:cubicBezTo>
                          <a:pt x="2139569" y="91440"/>
                          <a:pt x="2160016" y="70993"/>
                          <a:pt x="2160016" y="45720"/>
                        </a:cubicBezTo>
                        <a:cubicBezTo>
                          <a:pt x="2160016" y="20447"/>
                          <a:pt x="2139569" y="0"/>
                          <a:pt x="2114296" y="0"/>
                        </a:cubicBezTo>
                        <a:lnTo>
                          <a:pt x="45720" y="0"/>
                        </a:lnTo>
                        <a:cubicBezTo>
                          <a:pt x="20447" y="0"/>
                          <a:pt x="0" y="20447"/>
                          <a:pt x="0" y="45720"/>
                        </a:cubicBezTo>
                        <a:close/>
                      </a:path>
                    </a:pathLst>
                  </a:custGeom>
                  <a:solidFill>
                    <a:srgbClr val="D9D9D9"/>
                  </a:solidFill>
                </p:spPr>
              </p:sp>
            </p:grpSp>
            <p:grpSp>
              <p:nvGrpSpPr>
                <p:cNvPr id="105" name="Group 26"/>
                <p:cNvGrpSpPr/>
                <p:nvPr/>
              </p:nvGrpSpPr>
              <p:grpSpPr>
                <a:xfrm rot="0">
                  <a:off x="4833" y="5672"/>
                  <a:ext cx="340" cy="108"/>
                  <a:chOff x="0" y="0"/>
                  <a:chExt cx="288000" cy="91438"/>
                </a:xfrm>
              </p:grpSpPr>
              <p:sp>
                <p:nvSpPr>
                  <p:cNvPr id="106" name="Freeform 27"/>
                  <p:cNvSpPr/>
                  <p:nvPr>
                    <p:custDataLst>
                      <p:tags r:id="rId25"/>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grpSp>
              <p:nvGrpSpPr>
                <p:cNvPr id="107" name="Group 28"/>
                <p:cNvGrpSpPr/>
                <p:nvPr/>
              </p:nvGrpSpPr>
              <p:grpSpPr>
                <a:xfrm rot="0">
                  <a:off x="5385" y="5672"/>
                  <a:ext cx="340" cy="108"/>
                  <a:chOff x="0" y="0"/>
                  <a:chExt cx="288000" cy="91438"/>
                </a:xfrm>
              </p:grpSpPr>
              <p:sp>
                <p:nvSpPr>
                  <p:cNvPr id="108" name="Freeform 29"/>
                  <p:cNvSpPr/>
                  <p:nvPr>
                    <p:custDataLst>
                      <p:tags r:id="rId26"/>
                    </p:custDataLst>
                  </p:nvPr>
                </p:nvSpPr>
                <p:spPr>
                  <a:xfrm>
                    <a:off x="0" y="0"/>
                    <a:ext cx="288036" cy="91440"/>
                  </a:xfrm>
                  <a:custGeom>
                    <a:avLst/>
                    <a:gdLst/>
                    <a:ahLst/>
                    <a:cxnLst/>
                    <a:rect l="l" t="t" r="r" b="b"/>
                    <a:pathLst>
                      <a:path w="288036" h="91440">
                        <a:moveTo>
                          <a:pt x="0" y="45720"/>
                        </a:moveTo>
                        <a:cubicBezTo>
                          <a:pt x="0" y="70993"/>
                          <a:pt x="20447" y="91440"/>
                          <a:pt x="45720" y="91440"/>
                        </a:cubicBezTo>
                        <a:lnTo>
                          <a:pt x="242316" y="91440"/>
                        </a:lnTo>
                        <a:cubicBezTo>
                          <a:pt x="267589" y="91440"/>
                          <a:pt x="288036" y="70993"/>
                          <a:pt x="288036" y="45720"/>
                        </a:cubicBezTo>
                        <a:cubicBezTo>
                          <a:pt x="288036" y="20447"/>
                          <a:pt x="267589" y="0"/>
                          <a:pt x="242316" y="0"/>
                        </a:cubicBezTo>
                        <a:lnTo>
                          <a:pt x="45720" y="0"/>
                        </a:lnTo>
                        <a:cubicBezTo>
                          <a:pt x="20447" y="0"/>
                          <a:pt x="0" y="20447"/>
                          <a:pt x="0" y="45720"/>
                        </a:cubicBezTo>
                        <a:close/>
                      </a:path>
                    </a:pathLst>
                  </a:custGeom>
                  <a:solidFill>
                    <a:srgbClr val="D9D9D9"/>
                  </a:solidFill>
                </p:spPr>
              </p:sp>
            </p:grpSp>
            <p:sp>
              <p:nvSpPr>
                <p:cNvPr id="109" name="TextBox 48"/>
                <p:cNvSpPr txBox="1"/>
                <p:nvPr>
                  <p:custDataLst>
                    <p:tags r:id="rId27"/>
                  </p:custDataLst>
                </p:nvPr>
              </p:nvSpPr>
              <p:spPr>
                <a:xfrm>
                  <a:off x="558" y="5781"/>
                  <a:ext cx="13104" cy="2490"/>
                </a:xfrm>
                <a:prstGeom prst="rect">
                  <a:avLst/>
                </a:prstGeom>
              </p:spPr>
              <p:txBody>
                <a:bodyPr lIns="0" tIns="0" rIns="0" bIns="0" rtlCol="0" anchor="t">
                  <a:noAutofit/>
                </a:bodyPr>
                <a:p>
                  <a:pPr marL="0" lvl="0" indent="0" algn="l">
                    <a:lnSpc>
                      <a:spcPts val="3040"/>
                    </a:lnSpc>
                  </a:pPr>
                  <a:r>
                    <a:rPr lang="en-US" sz="1200" u="none">
                      <a:solidFill>
                        <a:srgbClr val="F2F2F2"/>
                      </a:solidFill>
                      <a:latin typeface="字魂手刻宋" panose="00000500000000000000" charset="-122"/>
                      <a:ea typeface="字魂手刻宋" panose="00000500000000000000" charset="-122"/>
                      <a:cs typeface="字魂手刻宋" panose="00000500000000000000" charset="-122"/>
                    </a:rPr>
                    <a:t>安环家平台通过先进的SaaS 科技产品“安全专家在线”，通过标准的安责险事故预防服务模板（分行业），大大降低作业难度；</a:t>
                  </a:r>
                  <a:endParaRPr lang="en-US" sz="1200" u="none">
                    <a:solidFill>
                      <a:srgbClr val="F2F2F2"/>
                    </a:solidFill>
                    <a:latin typeface="字魂手刻宋" panose="00000500000000000000" charset="-122"/>
                    <a:ea typeface="字魂手刻宋" panose="00000500000000000000" charset="-122"/>
                    <a:cs typeface="字魂手刻宋" panose="00000500000000000000" charset="-122"/>
                  </a:endParaRPr>
                </a:p>
                <a:p>
                  <a:pPr marL="0" lvl="0" indent="0" algn="l">
                    <a:lnSpc>
                      <a:spcPts val="3040"/>
                    </a:lnSpc>
                  </a:pPr>
                  <a:endParaRPr lang="en-US" sz="1200" u="none">
                    <a:solidFill>
                      <a:srgbClr val="F2F2F2"/>
                    </a:solidFill>
                    <a:latin typeface="字魂手刻宋" panose="00000500000000000000" charset="-122"/>
                    <a:ea typeface="字魂手刻宋" panose="00000500000000000000" charset="-122"/>
                    <a:cs typeface="字魂手刻宋" panose="00000500000000000000" charset="-122"/>
                  </a:endParaRPr>
                </a:p>
              </p:txBody>
            </p:sp>
            <p:sp>
              <p:nvSpPr>
                <p:cNvPr id="110" name="TextBox 52"/>
                <p:cNvSpPr txBox="1"/>
                <p:nvPr>
                  <p:custDataLst>
                    <p:tags r:id="rId28"/>
                  </p:custDataLst>
                </p:nvPr>
              </p:nvSpPr>
              <p:spPr>
                <a:xfrm>
                  <a:off x="716" y="4351"/>
                  <a:ext cx="12076" cy="1149"/>
                </a:xfrm>
                <a:prstGeom prst="rect">
                  <a:avLst/>
                </a:prstGeom>
              </p:spPr>
              <p:txBody>
                <a:bodyPr lIns="0" tIns="0" rIns="0" bIns="0" rtlCol="0" anchor="t">
                  <a:spAutoFit/>
                </a:bodyPr>
                <a:p>
                  <a:pPr marL="0" lvl="0" indent="0" algn="l">
                    <a:lnSpc>
                      <a:spcPts val="3000"/>
                    </a:lnSpc>
                    <a:spcBef>
                      <a:spcPct val="0"/>
                    </a:spcBef>
                  </a:pPr>
                  <a:r>
                    <a:rPr lang="en-US" sz="1800" u="none">
                      <a:solidFill>
                        <a:srgbClr val="F2F2F2"/>
                      </a:solidFill>
                      <a:latin typeface="字魂手刻宋" panose="00000500000000000000" charset="-122"/>
                      <a:ea typeface="字魂手刻宋" panose="00000500000000000000" charset="-122"/>
                      <a:cs typeface="字魂手刻宋" panose="00000500000000000000" charset="-122"/>
                    </a:rPr>
                    <a:t>4</a:t>
                  </a:r>
                  <a:r>
                    <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rPr>
                    <a:t>、降低门槛</a:t>
                  </a:r>
                  <a:endParaRPr lang="zh-CN" altLang="en-US" sz="1800" u="none">
                    <a:solidFill>
                      <a:srgbClr val="F2F2F2"/>
                    </a:solidFill>
                    <a:latin typeface="字魂手刻宋" panose="00000500000000000000" charset="-122"/>
                    <a:ea typeface="字魂手刻宋" panose="00000500000000000000" charset="-122"/>
                    <a:cs typeface="字魂手刻宋" panose="00000500000000000000" charset="-122"/>
                  </a:endParaRPr>
                </a:p>
              </p:txBody>
            </p:sp>
          </p:grpSp>
        </p:grpSp>
        <p:pic>
          <p:nvPicPr>
            <p:cNvPr id="4" name="图片 3"/>
            <p:cNvPicPr>
              <a:picLocks noChangeAspect="1"/>
            </p:cNvPicPr>
            <p:nvPr/>
          </p:nvPicPr>
          <p:blipFill>
            <a:blip r:embed="rId29"/>
            <a:stretch>
              <a:fillRect/>
            </a:stretch>
          </p:blipFill>
          <p:spPr>
            <a:xfrm>
              <a:off x="12291" y="3134"/>
              <a:ext cx="5758" cy="6404"/>
            </a:xfrm>
            <a:prstGeom prst="rect">
              <a:avLst/>
            </a:prstGeom>
          </p:spPr>
        </p:pic>
      </p:grpSp>
      <p:sp>
        <p:nvSpPr>
          <p:cNvPr id="15" name="文本框 14"/>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3.7</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126490" y="1053465"/>
            <a:ext cx="10422255" cy="5266690"/>
          </a:xfrm>
          <a:prstGeom prst="rect">
            <a:avLst/>
          </a:prstGeom>
        </p:spPr>
      </p:pic>
      <p:sp>
        <p:nvSpPr>
          <p:cNvPr id="14" name="文本框 13"/>
          <p:cNvSpPr txBox="1"/>
          <p:nvPr>
            <p:custDataLst>
              <p:tags r:id="rId2"/>
            </p:custDataLst>
          </p:nvPr>
        </p:nvSpPr>
        <p:spPr>
          <a:xfrm>
            <a:off x="909955" y="69850"/>
            <a:ext cx="9787890" cy="460375"/>
          </a:xfrm>
          <a:prstGeom prst="rect">
            <a:avLst/>
          </a:prstGeom>
          <a:noFill/>
        </p:spPr>
        <p:txBody>
          <a:bodyPr wrap="square">
            <a:spAutoFit/>
          </a:bodyPr>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安环家平台产品矩阵</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5" name="文本框 14"/>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3.8</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box(out)">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 name="组合 7"/>
          <p:cNvGrpSpPr/>
          <p:nvPr>
            <p:custDataLst>
              <p:tags r:id="rId1"/>
            </p:custDataLst>
          </p:nvPr>
        </p:nvGrpSpPr>
        <p:grpSpPr>
          <a:xfrm>
            <a:off x="2091055" y="2218055"/>
            <a:ext cx="2256790" cy="4170680"/>
            <a:chOff x="3293" y="3493"/>
            <a:chExt cx="3554" cy="6568"/>
          </a:xfrm>
        </p:grpSpPr>
        <p:cxnSp>
          <p:nvCxnSpPr>
            <p:cNvPr id="32" name="直接连接符 31"/>
            <p:cNvCxnSpPr/>
            <p:nvPr>
              <p:custDataLst>
                <p:tags r:id="rId2"/>
              </p:custDataLst>
            </p:nvPr>
          </p:nvCxnSpPr>
          <p:spPr>
            <a:xfrm>
              <a:off x="3609" y="6358"/>
              <a:ext cx="2486" cy="0"/>
            </a:xfrm>
            <a:prstGeom prst="line">
              <a:avLst/>
            </a:prstGeom>
            <a:ln cap="flat">
              <a:gradFill>
                <a:gsLst>
                  <a:gs pos="0">
                    <a:srgbClr val="AFC6FF">
                      <a:alpha val="0"/>
                    </a:srgbClr>
                  </a:gs>
                  <a:gs pos="100000">
                    <a:srgbClr val="376FFF">
                      <a:alpha val="0"/>
                    </a:srgbClr>
                  </a:gs>
                  <a:gs pos="0">
                    <a:schemeClr val="accent1">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grpSp>
          <p:nvGrpSpPr>
            <p:cNvPr id="2" name="组合 1"/>
            <p:cNvGrpSpPr/>
            <p:nvPr>
              <p:custDataLst>
                <p:tags r:id="rId3"/>
              </p:custDataLst>
            </p:nvPr>
          </p:nvGrpSpPr>
          <p:grpSpPr>
            <a:xfrm>
              <a:off x="3293" y="3493"/>
              <a:ext cx="3554" cy="6568"/>
              <a:chOff x="3293" y="3493"/>
              <a:chExt cx="3554" cy="6568"/>
            </a:xfrm>
          </p:grpSpPr>
          <p:sp>
            <p:nvSpPr>
              <p:cNvPr id="3" name="正文"/>
              <p:cNvSpPr txBox="1"/>
              <p:nvPr>
                <p:custDataLst>
                  <p:tags r:id="rId4"/>
                </p:custDataLst>
              </p:nvPr>
            </p:nvSpPr>
            <p:spPr>
              <a:xfrm>
                <a:off x="3365" y="6455"/>
                <a:ext cx="3343" cy="3606"/>
              </a:xfrm>
              <a:prstGeom prst="rect">
                <a:avLst/>
              </a:prstGeom>
              <a:noFill/>
            </p:spPr>
            <p:txBody>
              <a:bodyPr wrap="square" lIns="0" tIns="0" rIns="0" bIns="0" rtlCol="0" anchor="t" anchorCtr="0">
                <a:noAutofit/>
              </a:bodyPr>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安责险区域运营中心</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80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个</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专业安全服务机构</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3,000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工矿商贸企业</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320,000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安全风险管理师</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100,000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名</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安环家平台</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GMV </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1.68</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主营业务有后入</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6,200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万</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净利润</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900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万</a:t>
                </a:r>
                <a:endParaRPr lang="zh-CN" altLang="en-US" sz="1400" spc="15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7" name="标题"/>
              <p:cNvSpPr txBox="1"/>
              <p:nvPr>
                <p:custDataLst>
                  <p:tags r:id="rId5"/>
                </p:custDataLst>
              </p:nvPr>
            </p:nvSpPr>
            <p:spPr>
              <a:xfrm>
                <a:off x="3293" y="5426"/>
                <a:ext cx="3054" cy="835"/>
              </a:xfrm>
              <a:prstGeom prst="rect">
                <a:avLst/>
              </a:prstGeom>
              <a:noFill/>
            </p:spPr>
            <p:txBody>
              <a:bodyPr wrap="square" lIns="0" tIns="0" rIns="0" bIns="0" rtlCol="0" anchor="b">
                <a:noAutofit/>
              </a:bodyPr>
              <a:p>
                <a:pPr lvl="0" algn="l">
                  <a:buClrTx/>
                  <a:buSzTx/>
                  <a:buFontTx/>
                </a:pPr>
                <a:r>
                  <a:rPr lang="zh-CN" altLang="en-US" sz="2000" b="1" spc="300" dirty="0">
                    <a:solidFill>
                      <a:schemeClr val="accent1"/>
                    </a:solidFill>
                    <a:latin typeface="字魂手刻宋" panose="00000500000000000000" charset="-122"/>
                    <a:ea typeface="字魂手刻宋" panose="00000500000000000000" charset="-122"/>
                    <a:sym typeface="+mn-ea"/>
                  </a:rPr>
                  <a:t>主营业务指标</a:t>
                </a:r>
                <a:endParaRPr lang="zh-CN" altLang="en-US" sz="2000" b="1" spc="300" dirty="0">
                  <a:solidFill>
                    <a:schemeClr val="accent1"/>
                  </a:solidFill>
                  <a:latin typeface="字魂手刻宋" panose="00000500000000000000" charset="-122"/>
                  <a:ea typeface="字魂手刻宋" panose="00000500000000000000" charset="-122"/>
                  <a:sym typeface="+mn-ea"/>
                </a:endParaRPr>
              </a:p>
            </p:txBody>
          </p:sp>
          <p:sp>
            <p:nvSpPr>
              <p:cNvPr id="4" name="平行四边形 3"/>
              <p:cNvSpPr/>
              <p:nvPr>
                <p:custDataLst>
                  <p:tags r:id="rId6"/>
                </p:custDataLst>
              </p:nvPr>
            </p:nvSpPr>
            <p:spPr>
              <a:xfrm>
                <a:off x="3571" y="3493"/>
                <a:ext cx="3276" cy="1935"/>
              </a:xfrm>
              <a:prstGeom prst="parallelogram">
                <a:avLst>
                  <a:gd name="adj" fmla="val 646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sz="3200" b="1">
                    <a:solidFill>
                      <a:srgbClr val="FFFFFF"/>
                    </a:solidFill>
                    <a:latin typeface="字魂手刻宋" panose="00000500000000000000" charset="-122"/>
                    <a:ea typeface="字魂手刻宋" panose="00000500000000000000" charset="-122"/>
                    <a:sym typeface="+mn-ea"/>
                  </a:rPr>
                  <a:t>2024</a:t>
                </a:r>
                <a:endParaRPr lang="en-US" sz="3200" b="1">
                  <a:solidFill>
                    <a:srgbClr val="FFFFFF"/>
                  </a:solidFill>
                  <a:latin typeface="字魂手刻宋" panose="00000500000000000000" charset="-122"/>
                  <a:ea typeface="字魂手刻宋" panose="00000500000000000000" charset="-122"/>
                  <a:sym typeface="+mn-ea"/>
                </a:endParaRPr>
              </a:p>
            </p:txBody>
          </p:sp>
        </p:grpSp>
      </p:grpSp>
      <p:grpSp>
        <p:nvGrpSpPr>
          <p:cNvPr id="10" name="组合 9"/>
          <p:cNvGrpSpPr/>
          <p:nvPr>
            <p:custDataLst>
              <p:tags r:id="rId7"/>
            </p:custDataLst>
          </p:nvPr>
        </p:nvGrpSpPr>
        <p:grpSpPr>
          <a:xfrm>
            <a:off x="4132580" y="1930400"/>
            <a:ext cx="2854325" cy="4330065"/>
            <a:chOff x="6508" y="3040"/>
            <a:chExt cx="4495" cy="6819"/>
          </a:xfrm>
        </p:grpSpPr>
        <p:cxnSp>
          <p:nvCxnSpPr>
            <p:cNvPr id="35" name="直接连接符 34"/>
            <p:cNvCxnSpPr/>
            <p:nvPr>
              <p:custDataLst>
                <p:tags r:id="rId8"/>
              </p:custDataLst>
            </p:nvPr>
          </p:nvCxnSpPr>
          <p:spPr>
            <a:xfrm>
              <a:off x="7707" y="5886"/>
              <a:ext cx="2486" cy="0"/>
            </a:xfrm>
            <a:prstGeom prst="line">
              <a:avLst/>
            </a:prstGeom>
            <a:ln cap="flat">
              <a:gradFill>
                <a:gsLst>
                  <a:gs pos="0">
                    <a:srgbClr val="AFC6FF">
                      <a:alpha val="0"/>
                    </a:srgbClr>
                  </a:gs>
                  <a:gs pos="100000">
                    <a:schemeClr val="accent4">
                      <a:alpha val="0"/>
                    </a:schemeClr>
                  </a:gs>
                  <a:gs pos="0">
                    <a:schemeClr val="accent4"/>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5" name="平行四边形 4"/>
            <p:cNvSpPr/>
            <p:nvPr>
              <p:custDataLst>
                <p:tags r:id="rId9"/>
              </p:custDataLst>
            </p:nvPr>
          </p:nvSpPr>
          <p:spPr>
            <a:xfrm flipH="1">
              <a:off x="6508" y="3493"/>
              <a:ext cx="2455" cy="1480"/>
            </a:xfrm>
            <a:prstGeom prst="parallelogram">
              <a:avLst>
                <a:gd name="adj" fmla="val 80061"/>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latin typeface="字魂手刻宋" panose="00000500000000000000" charset="-122"/>
                <a:ea typeface="字魂手刻宋" panose="00000500000000000000" charset="-122"/>
              </a:endParaRPr>
            </a:p>
          </p:txBody>
        </p:sp>
        <p:sp>
          <p:nvSpPr>
            <p:cNvPr id="20" name="平行四边形 19"/>
            <p:cNvSpPr/>
            <p:nvPr>
              <p:custDataLst>
                <p:tags r:id="rId10"/>
              </p:custDataLst>
            </p:nvPr>
          </p:nvSpPr>
          <p:spPr>
            <a:xfrm>
              <a:off x="7727" y="3040"/>
              <a:ext cx="3276" cy="1935"/>
            </a:xfrm>
            <a:prstGeom prst="parallelogram">
              <a:avLst>
                <a:gd name="adj" fmla="val 6461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3200" b="1">
                  <a:solidFill>
                    <a:srgbClr val="FFFFFF"/>
                  </a:solidFill>
                  <a:latin typeface="字魂手刻宋" panose="00000500000000000000" charset="-122"/>
                  <a:ea typeface="字魂手刻宋" panose="00000500000000000000" charset="-122"/>
                  <a:sym typeface="+mn-ea"/>
                </a:rPr>
                <a:t>2025</a:t>
              </a:r>
              <a:endParaRPr lang="en-US" altLang="zh-CN" sz="3200" b="1">
                <a:solidFill>
                  <a:srgbClr val="FFFFFF"/>
                </a:solidFill>
                <a:latin typeface="字魂手刻宋" panose="00000500000000000000" charset="-122"/>
                <a:ea typeface="字魂手刻宋" panose="00000500000000000000" charset="-122"/>
                <a:sym typeface="+mn-ea"/>
              </a:endParaRPr>
            </a:p>
          </p:txBody>
        </p:sp>
        <p:sp>
          <p:nvSpPr>
            <p:cNvPr id="36" name="正文"/>
            <p:cNvSpPr txBox="1"/>
            <p:nvPr>
              <p:custDataLst>
                <p:tags r:id="rId11"/>
              </p:custDataLst>
            </p:nvPr>
          </p:nvSpPr>
          <p:spPr>
            <a:xfrm>
              <a:off x="7403" y="5984"/>
              <a:ext cx="3506" cy="3875"/>
            </a:xfrm>
            <a:prstGeom prst="rect">
              <a:avLst/>
            </a:prstGeom>
            <a:noFill/>
          </p:spPr>
          <p:txBody>
            <a:bodyPr wrap="square" lIns="0" tIns="0" rIns="0" bIns="0" rtlCol="0" anchor="t" anchorCtr="0">
              <a:noAutofit/>
            </a:bodyPr>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安责险区域运营中心</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200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个</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专业安全服务机构</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6,000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工矿商贸企业</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1,500,000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安全风险管理师</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500,000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名</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安环家平台</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GMV </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920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主营业务有后入</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8.6</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预计净利润</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1.7</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spc="15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37" name="标题"/>
            <p:cNvSpPr txBox="1"/>
            <p:nvPr>
              <p:custDataLst>
                <p:tags r:id="rId12"/>
              </p:custDataLst>
            </p:nvPr>
          </p:nvSpPr>
          <p:spPr>
            <a:xfrm>
              <a:off x="7429" y="4970"/>
              <a:ext cx="3066" cy="818"/>
            </a:xfrm>
            <a:prstGeom prst="rect">
              <a:avLst/>
            </a:prstGeom>
            <a:noFill/>
          </p:spPr>
          <p:txBody>
            <a:bodyPr wrap="square" lIns="0" tIns="0" rIns="0" bIns="0" rtlCol="0" anchor="b">
              <a:noAutofit/>
            </a:bodyPr>
            <a:p>
              <a:pPr lvl="0" algn="l">
                <a:buClrTx/>
                <a:buSzTx/>
                <a:buFontTx/>
              </a:pPr>
              <a:r>
                <a:rPr lang="zh-CN" altLang="en-US" b="1" spc="300" dirty="0">
                  <a:solidFill>
                    <a:srgbClr val="FFC000"/>
                  </a:solidFill>
                  <a:latin typeface="字魂手刻宋" panose="00000500000000000000" charset="-122"/>
                  <a:ea typeface="字魂手刻宋" panose="00000500000000000000" charset="-122"/>
                  <a:sym typeface="+mn-ea"/>
                </a:rPr>
                <a:t>主营业务指标</a:t>
              </a:r>
              <a:endParaRPr lang="zh-CN" altLang="en-US" b="1" spc="300" dirty="0">
                <a:solidFill>
                  <a:srgbClr val="FFC000"/>
                </a:solidFill>
                <a:latin typeface="字魂手刻宋" panose="00000500000000000000" charset="-122"/>
                <a:ea typeface="字魂手刻宋" panose="00000500000000000000" charset="-122"/>
                <a:sym typeface="+mn-ea"/>
              </a:endParaRPr>
            </a:p>
          </p:txBody>
        </p:sp>
      </p:grpSp>
      <p:grpSp>
        <p:nvGrpSpPr>
          <p:cNvPr id="9" name="组合 8"/>
          <p:cNvGrpSpPr/>
          <p:nvPr>
            <p:custDataLst>
              <p:tags r:id="rId13"/>
            </p:custDataLst>
          </p:nvPr>
        </p:nvGrpSpPr>
        <p:grpSpPr>
          <a:xfrm>
            <a:off x="6200775" y="964565"/>
            <a:ext cx="3578860" cy="5201285"/>
            <a:chOff x="9765" y="1519"/>
            <a:chExt cx="5636" cy="8191"/>
          </a:xfrm>
        </p:grpSpPr>
        <p:cxnSp>
          <p:nvCxnSpPr>
            <p:cNvPr id="56" name="直接连接符 55"/>
            <p:cNvCxnSpPr/>
            <p:nvPr>
              <p:custDataLst>
                <p:tags r:id="rId14"/>
              </p:custDataLst>
            </p:nvPr>
          </p:nvCxnSpPr>
          <p:spPr>
            <a:xfrm>
              <a:off x="11678" y="5435"/>
              <a:ext cx="2486" cy="0"/>
            </a:xfrm>
            <a:prstGeom prst="line">
              <a:avLst/>
            </a:prstGeom>
            <a:ln cap="flat">
              <a:gradFill>
                <a:gsLst>
                  <a:gs pos="0">
                    <a:srgbClr val="AFC6FF">
                      <a:alpha val="0"/>
                    </a:srgbClr>
                  </a:gs>
                  <a:gs pos="100000">
                    <a:srgbClr val="376FFF">
                      <a:alpha val="0"/>
                    </a:srgbClr>
                  </a:gs>
                  <a:gs pos="0">
                    <a:schemeClr val="accent1">
                      <a:alpha val="10000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grpSp>
          <p:nvGrpSpPr>
            <p:cNvPr id="7" name="组合 6"/>
            <p:cNvGrpSpPr/>
            <p:nvPr>
              <p:custDataLst>
                <p:tags r:id="rId15"/>
              </p:custDataLst>
            </p:nvPr>
          </p:nvGrpSpPr>
          <p:grpSpPr>
            <a:xfrm>
              <a:off x="9765" y="1519"/>
              <a:ext cx="5636" cy="8191"/>
              <a:chOff x="9765" y="1519"/>
              <a:chExt cx="5636" cy="8191"/>
            </a:xfrm>
          </p:grpSpPr>
          <p:sp>
            <p:nvSpPr>
              <p:cNvPr id="22" name="平行四边形 21"/>
              <p:cNvSpPr/>
              <p:nvPr>
                <p:custDataLst>
                  <p:tags r:id="rId16"/>
                </p:custDataLst>
              </p:nvPr>
            </p:nvSpPr>
            <p:spPr>
              <a:xfrm flipH="1">
                <a:off x="9765" y="3037"/>
                <a:ext cx="2455" cy="1480"/>
              </a:xfrm>
              <a:prstGeom prst="parallelogram">
                <a:avLst>
                  <a:gd name="adj" fmla="val 81259"/>
                </a:avLst>
              </a:prstGeom>
              <a:solidFill>
                <a:schemeClr val="tx1">
                  <a:lumMod val="65000"/>
                  <a:lumOff val="3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latin typeface="字魂手刻宋" panose="00000500000000000000" charset="-122"/>
                  <a:ea typeface="字魂手刻宋" panose="00000500000000000000" charset="-122"/>
                </a:endParaRPr>
              </a:p>
            </p:txBody>
          </p:sp>
          <p:sp>
            <p:nvSpPr>
              <p:cNvPr id="23" name="任意多边形 22"/>
              <p:cNvSpPr/>
              <p:nvPr>
                <p:custDataLst>
                  <p:tags r:id="rId17"/>
                </p:custDataLst>
              </p:nvPr>
            </p:nvSpPr>
            <p:spPr>
              <a:xfrm>
                <a:off x="11661" y="1519"/>
                <a:ext cx="3740" cy="3000"/>
              </a:xfrm>
              <a:custGeom>
                <a:avLst/>
                <a:gdLst>
                  <a:gd name="adj" fmla="val 64618"/>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3740" h="3000">
                    <a:moveTo>
                      <a:pt x="3027" y="0"/>
                    </a:moveTo>
                    <a:lnTo>
                      <a:pt x="3740" y="1091"/>
                    </a:lnTo>
                    <a:lnTo>
                      <a:pt x="3259" y="1091"/>
                    </a:lnTo>
                    <a:lnTo>
                      <a:pt x="2026" y="3000"/>
                    </a:lnTo>
                    <a:lnTo>
                      <a:pt x="0" y="3000"/>
                    </a:lnTo>
                    <a:lnTo>
                      <a:pt x="1247" y="1069"/>
                    </a:lnTo>
                    <a:lnTo>
                      <a:pt x="909" y="1062"/>
                    </a:lnTo>
                    <a:lnTo>
                      <a:pt x="3027"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51205" tIns="965835" rIns="993775" bIns="365760" numCol="1" spcCol="0" rtlCol="0" fromWordArt="0" anchor="ctr" anchorCtr="0" forceAA="0" compatLnSpc="1">
                <a:noAutofit/>
              </a:bodyPr>
              <a:p>
                <a:pPr algn="ctr"/>
                <a:r>
                  <a:rPr lang="en-US" altLang="zh-CN" sz="3200" b="1" dirty="0">
                    <a:solidFill>
                      <a:srgbClr val="FFFFFF"/>
                    </a:solidFill>
                    <a:latin typeface="字魂手刻宋" panose="00000500000000000000" charset="-122"/>
                    <a:ea typeface="字魂手刻宋" panose="00000500000000000000" charset="-122"/>
                  </a:rPr>
                  <a:t>2026</a:t>
                </a:r>
                <a:endParaRPr lang="en-US" altLang="zh-CN" sz="3200" b="1" dirty="0">
                  <a:solidFill>
                    <a:srgbClr val="FFFFFF"/>
                  </a:solidFill>
                  <a:latin typeface="字魂手刻宋" panose="00000500000000000000" charset="-122"/>
                  <a:ea typeface="字魂手刻宋" panose="00000500000000000000" charset="-122"/>
                </a:endParaRPr>
              </a:p>
            </p:txBody>
          </p:sp>
          <p:sp>
            <p:nvSpPr>
              <p:cNvPr id="57" name="正文"/>
              <p:cNvSpPr txBox="1"/>
              <p:nvPr>
                <p:custDataLst>
                  <p:tags r:id="rId18"/>
                </p:custDataLst>
              </p:nvPr>
            </p:nvSpPr>
            <p:spPr>
              <a:xfrm>
                <a:off x="11453" y="5478"/>
                <a:ext cx="3583" cy="4232"/>
              </a:xfrm>
              <a:prstGeom prst="rect">
                <a:avLst/>
              </a:prstGeom>
              <a:noFill/>
            </p:spPr>
            <p:txBody>
              <a:bodyPr wrap="square" lIns="0" tIns="0" rIns="0" bIns="0" rtlCol="0" anchor="t" anchorCtr="0">
                <a:noAutofit/>
              </a:bodyPr>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安责险区域运营中心</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220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个</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专业安全服务机构</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工矿商贸企业</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3,500,000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家</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安全风险管理师</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1,000,000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名</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安环家平台</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GMV </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10,000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主营业务有后入</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110</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a:lnSpc>
                    <a:spcPct val="150000"/>
                  </a:lnSpc>
                </a:pP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预计净利润</a:t>
                </a:r>
                <a:r>
                  <a:rPr lang="en-US" altLang="zh-CN" sz="1400" dirty="0">
                    <a:solidFill>
                      <a:srgbClr val="054487"/>
                    </a:solidFill>
                    <a:latin typeface="字魂手刻宋" panose="00000500000000000000" charset="-122"/>
                    <a:ea typeface="字魂手刻宋" panose="00000500000000000000" charset="-122"/>
                    <a:cs typeface="字魂手刻宋" panose="00000500000000000000" charset="-122"/>
                    <a:sym typeface="+mn-ea"/>
                  </a:rPr>
                  <a:t>12</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亿</a:t>
                </a:r>
                <a:endParaRPr lang="zh-CN" altLang="en-US" sz="1400" spc="15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58" name="标题"/>
              <p:cNvSpPr txBox="1"/>
              <p:nvPr>
                <p:custDataLst>
                  <p:tags r:id="rId19"/>
                </p:custDataLst>
              </p:nvPr>
            </p:nvSpPr>
            <p:spPr>
              <a:xfrm>
                <a:off x="11678" y="4519"/>
                <a:ext cx="2955" cy="818"/>
              </a:xfrm>
              <a:prstGeom prst="rect">
                <a:avLst/>
              </a:prstGeom>
              <a:noFill/>
            </p:spPr>
            <p:txBody>
              <a:bodyPr wrap="square" lIns="0" tIns="0" rIns="0" bIns="0" rtlCol="0" anchor="b">
                <a:noAutofit/>
              </a:bodyPr>
              <a:p>
                <a:pPr lvl="0" algn="l">
                  <a:buClrTx/>
                  <a:buSzTx/>
                  <a:buFontTx/>
                </a:pPr>
                <a:r>
                  <a:rPr lang="zh-CN" altLang="en-US" b="1" spc="300" dirty="0">
                    <a:solidFill>
                      <a:srgbClr val="0061AE"/>
                    </a:solidFill>
                    <a:latin typeface="字魂手刻宋" panose="00000500000000000000" charset="-122"/>
                    <a:ea typeface="字魂手刻宋" panose="00000500000000000000" charset="-122"/>
                    <a:sym typeface="+mn-ea"/>
                  </a:rPr>
                  <a:t>主营业务指标</a:t>
                </a:r>
                <a:endParaRPr lang="zh-CN" altLang="en-US" b="1" spc="300" dirty="0">
                  <a:solidFill>
                    <a:srgbClr val="0061AE"/>
                  </a:solidFill>
                  <a:latin typeface="字魂手刻宋" panose="00000500000000000000" charset="-122"/>
                  <a:ea typeface="字魂手刻宋" panose="00000500000000000000" charset="-122"/>
                  <a:sym typeface="+mn-ea"/>
                </a:endParaRPr>
              </a:p>
            </p:txBody>
          </p:sp>
        </p:grpSp>
      </p:grpSp>
      <p:sp>
        <p:nvSpPr>
          <p:cNvPr id="14" name="文本框 13"/>
          <p:cNvSpPr txBox="1"/>
          <p:nvPr>
            <p:custDataLst>
              <p:tags r:id="rId20"/>
            </p:custDataLst>
          </p:nvPr>
        </p:nvSpPr>
        <p:spPr>
          <a:xfrm>
            <a:off x="909955" y="69850"/>
            <a:ext cx="9787890" cy="460375"/>
          </a:xfrm>
          <a:prstGeom prst="rect">
            <a:avLst/>
          </a:prstGeom>
          <a:noFill/>
        </p:spPr>
        <p:txBody>
          <a:bodyPr wrap="square">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三年规划与平台预期</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
        <p:nvSpPr>
          <p:cNvPr id="15" name="文本框 14"/>
          <p:cNvSpPr txBox="1"/>
          <p:nvPr/>
        </p:nvSpPr>
        <p:spPr>
          <a:xfrm>
            <a:off x="33655" y="69850"/>
            <a:ext cx="86931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3.9</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9754" y="1283091"/>
            <a:ext cx="10765337" cy="4584282"/>
          </a:xfrm>
          <a:prstGeom prst="rect">
            <a:avLst/>
          </a:prstGeom>
          <a:solidFill>
            <a:schemeClr val="bg1">
              <a:lumMod val="95000"/>
            </a:schemeClr>
          </a:solidFill>
          <a:ln w="12700" cmpd="sng">
            <a:solidFill>
              <a:schemeClr val="accent1">
                <a:shade val="50000"/>
              </a:schemeClr>
            </a:solidFill>
            <a:prstDash val="solid"/>
            <a:miter/>
          </a:ln>
        </p:spPr>
        <p:txBody>
          <a:bodyPr anchor="ctr"/>
          <a:lstStyle/>
          <a:p>
            <a:pPr algn="ctr"/>
            <a:endParaRPr lang="zh-CN" altLang="en-US">
              <a:solidFill>
                <a:schemeClr val="lt1"/>
              </a:solidFill>
              <a:latin typeface="字魂95号-手刻宋"/>
              <a:ea typeface="字魂95号-手刻宋"/>
            </a:endParaRPr>
          </a:p>
        </p:txBody>
      </p:sp>
      <p:sp>
        <p:nvSpPr>
          <p:cNvPr id="5" name="文本框 4"/>
          <p:cNvSpPr txBox="1"/>
          <p:nvPr/>
        </p:nvSpPr>
        <p:spPr>
          <a:xfrm>
            <a:off x="1584075" y="3227070"/>
            <a:ext cx="9116695" cy="769620"/>
          </a:xfrm>
          <a:prstGeom prst="rect">
            <a:avLst/>
          </a:prstGeom>
          <a:noFill/>
        </p:spPr>
        <p:txBody>
          <a:bodyPr wrap="square" lIns="90158" tIns="46984" rIns="90158" bIns="46984" anchor="ctr" anchorCtr="0">
            <a:spAutoFit/>
          </a:bodyPr>
          <a:lstStyle/>
          <a:p>
            <a:pPr lvl="0" algn="ctr"/>
            <a:r>
              <a:rPr lang="zh-CN" altLang="en-US"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rPr>
              <a:t>科技积淀</a:t>
            </a:r>
            <a:endParaRPr lang="zh-CN" altLang="zh-CN" sz="4400" b="1" spc="600"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6" name="文本框 5"/>
          <p:cNvSpPr txBox="1"/>
          <p:nvPr/>
        </p:nvSpPr>
        <p:spPr>
          <a:xfrm>
            <a:off x="5338512" y="2057869"/>
            <a:ext cx="1607820" cy="521970"/>
          </a:xfrm>
          <a:prstGeom prst="rect">
            <a:avLst/>
          </a:prstGeom>
          <a:noFill/>
        </p:spPr>
        <p:txBody>
          <a:bodyPr wrap="none">
            <a:spAutoFit/>
          </a:bodyPr>
          <a:lstStyle/>
          <a:p>
            <a:r>
              <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rPr>
              <a:t>第四部分</a:t>
            </a:r>
            <a:endParaRPr lang="zh-CN" altLang="en-US" sz="2800" b="1" dirty="0">
              <a:gradFill>
                <a:gsLst>
                  <a:gs pos="0">
                    <a:srgbClr val="007BD3"/>
                  </a:gs>
                  <a:gs pos="100000">
                    <a:srgbClr val="034373"/>
                  </a:gs>
                </a:gsLst>
                <a:lin ang="0" scaled="0"/>
              </a:gradFill>
              <a:latin typeface="字魂手刻宋" panose="00000500000000000000" charset="-122"/>
              <a:ea typeface="字魂手刻宋" panose="00000500000000000000" charset="-122"/>
            </a:endParaRPr>
          </a:p>
        </p:txBody>
      </p:sp>
      <p:sp>
        <p:nvSpPr>
          <p:cNvPr id="4" name="矩形 3"/>
          <p:cNvSpPr/>
          <p:nvPr>
            <p:custDataLst>
              <p:tags r:id="rId1"/>
            </p:custDataLst>
          </p:nvPr>
        </p:nvSpPr>
        <p:spPr>
          <a:xfrm>
            <a:off x="982453" y="1241"/>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
        <p:nvSpPr>
          <p:cNvPr id="7" name="矩形 6"/>
          <p:cNvSpPr/>
          <p:nvPr>
            <p:custDataLst>
              <p:tags r:id="rId2"/>
            </p:custDataLst>
          </p:nvPr>
        </p:nvSpPr>
        <p:spPr>
          <a:xfrm>
            <a:off x="10271453" y="5224286"/>
            <a:ext cx="921330" cy="1635328"/>
          </a:xfrm>
          <a:prstGeom prst="rect">
            <a:avLst/>
          </a:prstGeom>
          <a:gradFill>
            <a:gsLst>
              <a:gs pos="0">
                <a:srgbClr val="0061AE"/>
              </a:gs>
              <a:gs pos="100000">
                <a:srgbClr val="0061A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dirty="0">
              <a:latin typeface="字魂95号-手刻宋" panose="00000500000000000000" charset="-122"/>
              <a:ea typeface="字魂95号-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idx="4294967295"/>
          </p:nvPr>
        </p:nvSpPr>
        <p:spPr>
          <a:xfrm>
            <a:off x="982345" y="45085"/>
            <a:ext cx="3997960" cy="460375"/>
          </a:xfrm>
          <a:prstGeom prst="rect">
            <a:avLst/>
          </a:prstGeom>
          <a:noFill/>
        </p:spPr>
        <p:txBody>
          <a:bodyPr vert="horz" wrap="square" lIns="91440" tIns="45720" rIns="91440" bIns="45720" rtlCol="0">
            <a:spAutoFit/>
          </a:bodyPr>
          <a:lstStyle/>
          <a:p>
            <a:pPr lvl="0" algn="l" defTabSz="1088390">
              <a:buClrTx/>
              <a:buSzTx/>
              <a:buFontTx/>
            </a:pPr>
            <a:r>
              <a:rPr lang="zh-CN" altLang="en-US" sz="2400" spc="150" dirty="0">
                <a:solidFill>
                  <a:srgbClr val="0061AE"/>
                </a:solidFill>
                <a:latin typeface="字魂手刻宋" panose="00000500000000000000" charset="-122"/>
                <a:ea typeface="字魂手刻宋" panose="00000500000000000000" charset="-122"/>
                <a:cs typeface="+mn-cs"/>
                <a:sym typeface="+mn-ea"/>
              </a:rPr>
              <a:t>平台</a:t>
            </a:r>
            <a:r>
              <a:rPr lang="zh-CN" altLang="en-US" sz="2400" spc="150" dirty="0">
                <a:solidFill>
                  <a:srgbClr val="0061AE"/>
                </a:solidFill>
                <a:latin typeface="字魂手刻宋" panose="00000500000000000000" charset="-122"/>
                <a:ea typeface="字魂手刻宋" panose="00000500000000000000" charset="-122"/>
                <a:cs typeface="+mn-cs"/>
                <a:sym typeface="+mn-ea"/>
              </a:rPr>
              <a:t>科技荣誉</a:t>
            </a:r>
            <a:endParaRPr lang="zh-CN" altLang="en-US" sz="2400" spc="150" dirty="0">
              <a:solidFill>
                <a:srgbClr val="0061AE"/>
              </a:solidFill>
              <a:latin typeface="字魂手刻宋" panose="00000500000000000000" charset="-122"/>
              <a:ea typeface="字魂手刻宋" panose="00000500000000000000" charset="-122"/>
              <a:cs typeface="+mn-cs"/>
              <a:sym typeface="+mn-ea"/>
            </a:endParaRPr>
          </a:p>
        </p:txBody>
      </p:sp>
      <p:sp>
        <p:nvSpPr>
          <p:cNvPr id="9" name="object 4"/>
          <p:cNvSpPr txBox="1">
            <a:spLocks noGrp="1"/>
          </p:cNvSpPr>
          <p:nvPr>
            <p:ph type="body" idx="4294967295"/>
          </p:nvPr>
        </p:nvSpPr>
        <p:spPr>
          <a:xfrm>
            <a:off x="3427095" y="3501390"/>
            <a:ext cx="8575675" cy="2995295"/>
          </a:xfrm>
          <a:prstGeom prst="rect">
            <a:avLst/>
          </a:prstGeom>
        </p:spPr>
        <p:txBody>
          <a:bodyPr vert="horz" wrap="square" lIns="0" tIns="85711" rIns="0" bIns="0" rtlCol="0">
            <a:spAutoFit/>
          </a:bodyPr>
          <a:p>
            <a:pPr marL="12065" indent="0" algn="just">
              <a:lnSpc>
                <a:spcPct val="100000"/>
              </a:lnSpc>
              <a:spcBef>
                <a:spcPts val="575"/>
              </a:spcBef>
              <a:buClrTx/>
              <a:buSzTx/>
              <a:buFont typeface="Wingdings" panose="05000000000000000000" charset="0"/>
              <a:buNone/>
              <a:tabLst>
                <a:tab pos="299085" algn="l"/>
                <a:tab pos="299720" algn="l"/>
              </a:tabLst>
            </a:pPr>
            <a:r>
              <a:rPr sz="2000" b="1" spc="190" dirty="0">
                <a:solidFill>
                  <a:srgbClr val="0070C0"/>
                </a:solidFill>
                <a:latin typeface="字魂手刻宋" panose="00000500000000000000" charset="-122"/>
                <a:ea typeface="字魂手刻宋" panose="00000500000000000000" charset="-122"/>
                <a:cs typeface="字魂手刻宋" panose="00000500000000000000" charset="-122"/>
                <a:sym typeface="+mn-ea"/>
              </a:rPr>
              <a:t>承担</a:t>
            </a:r>
            <a:r>
              <a:rPr sz="2000" b="1" spc="200" dirty="0">
                <a:solidFill>
                  <a:srgbClr val="0070C0"/>
                </a:solidFill>
                <a:latin typeface="字魂手刻宋" panose="00000500000000000000" charset="-122"/>
                <a:ea typeface="字魂手刻宋" panose="00000500000000000000" charset="-122"/>
                <a:cs typeface="字魂手刻宋" panose="00000500000000000000" charset="-122"/>
                <a:sym typeface="+mn-ea"/>
              </a:rPr>
              <a:t>国</a:t>
            </a:r>
            <a:r>
              <a:rPr sz="2000" b="1" spc="190" dirty="0">
                <a:solidFill>
                  <a:srgbClr val="0070C0"/>
                </a:solidFill>
                <a:latin typeface="字魂手刻宋" panose="00000500000000000000" charset="-122"/>
                <a:ea typeface="字魂手刻宋" panose="00000500000000000000" charset="-122"/>
                <a:cs typeface="字魂手刻宋" panose="00000500000000000000" charset="-122"/>
                <a:sym typeface="+mn-ea"/>
              </a:rPr>
              <a:t>家重</a:t>
            </a:r>
            <a:r>
              <a:rPr sz="2000" b="1" spc="200" dirty="0">
                <a:solidFill>
                  <a:srgbClr val="0070C0"/>
                </a:solidFill>
                <a:latin typeface="字魂手刻宋" panose="00000500000000000000" charset="-122"/>
                <a:ea typeface="字魂手刻宋" panose="00000500000000000000" charset="-122"/>
                <a:cs typeface="字魂手刻宋" panose="00000500000000000000" charset="-122"/>
                <a:sym typeface="+mn-ea"/>
              </a:rPr>
              <a:t>大</a:t>
            </a:r>
            <a:r>
              <a:rPr sz="2000" b="1" spc="190" dirty="0">
                <a:solidFill>
                  <a:srgbClr val="0070C0"/>
                </a:solidFill>
                <a:latin typeface="字魂手刻宋" panose="00000500000000000000" charset="-122"/>
                <a:ea typeface="字魂手刻宋" panose="00000500000000000000" charset="-122"/>
                <a:cs typeface="字魂手刻宋" panose="00000500000000000000" charset="-122"/>
                <a:sym typeface="+mn-ea"/>
              </a:rPr>
              <a:t>项</a:t>
            </a:r>
            <a:r>
              <a:rPr sz="2000" b="1" dirty="0">
                <a:solidFill>
                  <a:srgbClr val="0070C0"/>
                </a:solidFill>
                <a:latin typeface="字魂手刻宋" panose="00000500000000000000" charset="-122"/>
                <a:ea typeface="字魂手刻宋" panose="00000500000000000000" charset="-122"/>
                <a:cs typeface="字魂手刻宋" panose="00000500000000000000" charset="-122"/>
                <a:sym typeface="+mn-ea"/>
              </a:rPr>
              <a:t>目</a:t>
            </a:r>
            <a:endParaRPr sz="2000" b="1">
              <a:solidFill>
                <a:srgbClr val="0070C0"/>
              </a:solidFill>
              <a:latin typeface="字魂手刻宋" panose="00000500000000000000" charset="-122"/>
              <a:ea typeface="字魂手刻宋" panose="00000500000000000000" charset="-122"/>
              <a:cs typeface="字魂手刻宋" panose="00000500000000000000" charset="-122"/>
            </a:endParaRPr>
          </a:p>
          <a:p>
            <a:pPr marL="299085" indent="-287020" algn="just" defTabSz="914400">
              <a:lnSpc>
                <a:spcPct val="100000"/>
              </a:lnSpc>
              <a:spcBef>
                <a:spcPts val="575"/>
              </a:spcBef>
              <a:spcAft>
                <a:spcPts val="300"/>
              </a:spcAft>
              <a:buClrTx/>
              <a:buSzTx/>
              <a:buFont typeface="Wingdings" panose="05000000000000000000" charset="0"/>
              <a:buChar char="n"/>
              <a:tabLst>
                <a:tab pos="299085" algn="l"/>
                <a:tab pos="299720" algn="l"/>
              </a:tabLst>
            </a:pP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承接</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国家应急管理部</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两大科研课题</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《智慧安全示范园区建设研究》和《安全生产责任保险市场推进机制及</a:t>
            </a:r>
            <a:r>
              <a:rPr lang="zh-CN"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对策</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研究》</a:t>
            </a:r>
            <a:endPar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marL="299085" indent="-287020" algn="just" defTabSz="914400">
              <a:lnSpc>
                <a:spcPct val="100000"/>
              </a:lnSpc>
              <a:spcBef>
                <a:spcPts val="575"/>
              </a:spcBef>
              <a:spcAft>
                <a:spcPts val="300"/>
              </a:spcAft>
              <a:buClrTx/>
              <a:buSzTx/>
              <a:buFont typeface="Wingdings" panose="05000000000000000000" charset="0"/>
              <a:buChar char="n"/>
              <a:tabLst>
                <a:tab pos="299085" algn="l"/>
                <a:tab pos="299720" algn="l"/>
              </a:tabLst>
            </a:pPr>
            <a:r>
              <a:rPr 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2020</a:t>
            </a:r>
            <a:r>
              <a:rPr lang="zh-CN" alt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年</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中央引导地方科技发展专项项目</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《基于大数据的安全生产风险管控云平台关键技术研究与开发》</a:t>
            </a:r>
            <a:endParaRPr sz="140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99085" indent="-287020" algn="just" defTabSz="914400">
              <a:lnSpc>
                <a:spcPct val="100000"/>
              </a:lnSpc>
              <a:spcBef>
                <a:spcPts val="575"/>
              </a:spcBef>
              <a:spcAft>
                <a:spcPts val="300"/>
              </a:spcAft>
              <a:buClrTx/>
              <a:buSzTx/>
              <a:buFont typeface="Wingdings" panose="05000000000000000000" charset="0"/>
              <a:buChar char="n"/>
              <a:tabLst>
                <a:tab pos="299085" algn="l"/>
                <a:tab pos="299720" algn="l"/>
              </a:tabLst>
            </a:pP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2021年郑州市创新创业团队项目</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《危化品企业作业行为安全管理与风险预警云平台的开发及应用》</a:t>
            </a:r>
            <a:endPar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99085" indent="-287020" algn="just" defTabSz="914400">
              <a:lnSpc>
                <a:spcPct val="100000"/>
              </a:lnSpc>
              <a:spcBef>
                <a:spcPts val="575"/>
              </a:spcBef>
              <a:spcAft>
                <a:spcPts val="300"/>
              </a:spcAft>
              <a:buClrTx/>
              <a:buSzTx/>
              <a:buFont typeface="Wingdings" panose="05000000000000000000" charset="0"/>
              <a:buChar char="n"/>
              <a:tabLst>
                <a:tab pos="299085" algn="l"/>
                <a:tab pos="299720" algn="l"/>
              </a:tabLst>
            </a:pP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2022年郑州市科技惠民计划项目</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lt"/>
              </a:rPr>
              <a:t>重大生产事故预防智慧管理平台的推广和应用</a:t>
            </a:r>
            <a:r>
              <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a:t>
            </a:r>
            <a:endParaRPr sz="1400" b="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99085" indent="-287020" algn="just" defTabSz="914400">
              <a:lnSpc>
                <a:spcPct val="100000"/>
              </a:lnSpc>
              <a:spcBef>
                <a:spcPts val="675"/>
              </a:spcBef>
              <a:spcAft>
                <a:spcPts val="300"/>
              </a:spcAft>
              <a:buClrTx/>
              <a:buSzTx/>
              <a:buFont typeface="Wingdings" panose="05000000000000000000" charset="0"/>
              <a:buChar char="n"/>
              <a:tabLst>
                <a:tab pos="299085" algn="l"/>
                <a:tab pos="299720" algn="l"/>
              </a:tabLst>
            </a:pP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出版专著</a:t>
            </a:r>
            <a:r>
              <a:rPr 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3</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部</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获得了</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306</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项知识产权，其中商标</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33</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项、发明专利</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35</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项、实用新型专利</a:t>
            </a:r>
            <a:r>
              <a:rPr lang="en-US" altLang="zh-CN"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26</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项、软著</a:t>
            </a:r>
            <a:r>
              <a:rPr 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212</a:t>
            </a:r>
            <a:r>
              <a:rPr lang="zh-CN" altLang="en-US" sz="1400"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制定</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国标</a:t>
            </a:r>
            <a:r>
              <a:rPr lang="en-US" alt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1</a:t>
            </a:r>
            <a:r>
              <a:rPr lang="zh-CN" alt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项（已发布）和</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团标</a:t>
            </a:r>
            <a:r>
              <a:rPr 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2</a:t>
            </a:r>
            <a:r>
              <a:rPr lang="zh-CN" alt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项（已发布）</a:t>
            </a:r>
            <a:endParaRPr lang="zh-CN" alt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p:txBody>
      </p:sp>
      <p:sp>
        <p:nvSpPr>
          <p:cNvPr id="18" name="object 5"/>
          <p:cNvSpPr/>
          <p:nvPr/>
        </p:nvSpPr>
        <p:spPr>
          <a:xfrm>
            <a:off x="457129" y="3734387"/>
            <a:ext cx="2944670" cy="2732613"/>
          </a:xfrm>
          <a:prstGeom prst="rect">
            <a:avLst/>
          </a:prstGeom>
          <a:blipFill>
            <a:blip r:embed="rId1" cstate="print"/>
            <a:stretch>
              <a:fillRect/>
            </a:stretch>
          </a:blipFill>
        </p:spPr>
        <p:txBody>
          <a:bodyPr wrap="square" lIns="0" tIns="0" rIns="0" bIns="0" rtlCol="0"/>
          <a:p>
            <a:endParaRPr>
              <a:latin typeface="微软雅黑" panose="020B0503020204020204" charset="-122"/>
              <a:ea typeface="微软雅黑" panose="020B0503020204020204" charset="-122"/>
            </a:endParaRPr>
          </a:p>
        </p:txBody>
      </p:sp>
      <p:sp>
        <p:nvSpPr>
          <p:cNvPr id="19" name="object 6"/>
          <p:cNvSpPr txBox="1"/>
          <p:nvPr/>
        </p:nvSpPr>
        <p:spPr>
          <a:xfrm>
            <a:off x="533317" y="758619"/>
            <a:ext cx="6041081" cy="2367280"/>
          </a:xfrm>
          <a:prstGeom prst="rect">
            <a:avLst/>
          </a:prstGeom>
        </p:spPr>
        <p:txBody>
          <a:bodyPr vert="horz" wrap="square" lIns="0" tIns="106028" rIns="0" bIns="0" rtlCol="0">
            <a:spAutoFit/>
          </a:bodyPr>
          <a:p>
            <a:pPr marL="285750" indent="-285750" algn="l" fontAlgn="base">
              <a:lnSpc>
                <a:spcPct val="150000"/>
              </a:lnSpc>
              <a:buClrTx/>
              <a:buSzTx/>
              <a:buFont typeface="Wingdings" panose="05000000000000000000" charset="0"/>
              <a:buChar char="u"/>
              <a:defRPr/>
            </a:pP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国家专精特新</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“小巨人”企业</a:t>
            </a:r>
            <a:endPar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85750" indent="-285750" algn="l" fontAlgn="base">
              <a:lnSpc>
                <a:spcPct val="150000"/>
              </a:lnSpc>
              <a:buClrTx/>
              <a:buSzTx/>
              <a:buFont typeface="Wingdings" panose="05000000000000000000" charset="0"/>
              <a:buChar char="u"/>
              <a:defRPr/>
            </a:pPr>
            <a:r>
              <a:rPr lang="en-US" alt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国家工业互联网平台+安全生产试点示范</a:t>
            </a:r>
            <a:endParaRPr lang="zh-CN" sz="1400" spc="195"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a:p>
            <a:pPr marL="285750" indent="-285750" algn="l" fontAlgn="base">
              <a:lnSpc>
                <a:spcPct val="150000"/>
              </a:lnSpc>
              <a:buClrTx/>
              <a:buSzTx/>
              <a:buFont typeface="Wingdings" panose="05000000000000000000" charset="0"/>
              <a:buChar char="u"/>
              <a:defRPr/>
            </a:pP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国家新型信息消费示范</a:t>
            </a:r>
            <a:endPar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a:p>
            <a:pPr marL="285750" indent="-285750" algn="l" fontAlgn="base">
              <a:lnSpc>
                <a:spcPct val="150000"/>
              </a:lnSpc>
              <a:buClrTx/>
              <a:buSzTx/>
              <a:buFont typeface="Wingdings" panose="05000000000000000000" charset="0"/>
              <a:buChar char="u"/>
              <a:defRPr/>
            </a:pPr>
            <a:r>
              <a:rPr lang="en-US" altLang="zh-CN" sz="1400" b="1"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国家工业互联网APP</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优秀解决方案</a:t>
            </a:r>
            <a:endPar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85750" indent="-285750" algn="l" fontAlgn="base">
              <a:lnSpc>
                <a:spcPct val="150000"/>
              </a:lnSpc>
              <a:buClrTx/>
              <a:buSzTx/>
              <a:buFont typeface="Wingdings" panose="05000000000000000000" charset="0"/>
              <a:buChar char="u"/>
              <a:defRPr/>
            </a:pPr>
            <a:r>
              <a:rPr 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国家知识产权优势企业</a:t>
            </a:r>
            <a:endPar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endParaRPr>
          </a:p>
          <a:p>
            <a:pPr marL="285750" indent="-285750" algn="l" fontAlgn="base">
              <a:lnSpc>
                <a:spcPct val="150000"/>
              </a:lnSpc>
              <a:buClrTx/>
              <a:buSzTx/>
              <a:buFont typeface="Wingdings" panose="05000000000000000000" charset="0"/>
              <a:buChar char="u"/>
              <a:defRPr/>
            </a:pPr>
            <a:r>
              <a:rPr lang="en-US"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 </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等保三级</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资质认证、</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两化融合</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认证、</a:t>
            </a:r>
            <a:r>
              <a:rPr lang="zh-CN"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mn-ea"/>
              </a:rPr>
              <a:t>知识产权贯标</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mn-ea"/>
              </a:rPr>
              <a:t>认证</a:t>
            </a:r>
            <a:endPar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endParaRPr>
          </a:p>
          <a:p>
            <a:pPr marL="285750" marR="0" lvl="0" indent="-285750" algn="l" defTabSz="914400" rtl="0" fontAlgn="base">
              <a:lnSpc>
                <a:spcPct val="150000"/>
              </a:lnSpc>
              <a:spcBef>
                <a:spcPct val="0"/>
              </a:spcBef>
              <a:spcAft>
                <a:spcPts val="500"/>
              </a:spcAft>
              <a:buClrTx/>
              <a:buSzTx/>
              <a:buFont typeface="Wingdings" panose="05000000000000000000" charset="0"/>
              <a:buChar char="u"/>
              <a:defRPr/>
            </a:pPr>
            <a:r>
              <a:rPr lang="en-US" sz="1400" kern="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 2022</a:t>
            </a:r>
            <a:r>
              <a:rPr lang="zh-CN" altLang="en-US" sz="1400" kern="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年通过</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科技成果鉴定</a:t>
            </a:r>
            <a:r>
              <a:rPr lang="zh-CN"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a:t>
            </a:r>
            <a:r>
              <a:rPr sz="1400" spc="195" dirty="0">
                <a:solidFill>
                  <a:schemeClr val="tx1">
                    <a:lumMod val="75000"/>
                    <a:lumOff val="25000"/>
                  </a:schemeClr>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研究成果达到</a:t>
            </a:r>
            <a:r>
              <a:rPr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rPr>
              <a:t>国际先进水平</a:t>
            </a:r>
            <a:endParaRPr sz="1400" b="1" spc="195" dirty="0">
              <a:solidFill>
                <a:srgbClr val="0061AE"/>
              </a:solidFill>
              <a:latin typeface="字魂手刻宋" panose="00000500000000000000" charset="-122"/>
              <a:ea typeface="字魂手刻宋" panose="00000500000000000000" charset="-122"/>
              <a:cs typeface="字魂手刻宋" panose="00000500000000000000" charset="-122"/>
              <a:sym typeface="Arial" panose="020B0604020202020204" pitchFamily="34" charset="0"/>
            </a:endParaRPr>
          </a:p>
        </p:txBody>
      </p:sp>
      <p:grpSp>
        <p:nvGrpSpPr>
          <p:cNvPr id="20" name="组合 19"/>
          <p:cNvGrpSpPr/>
          <p:nvPr/>
        </p:nvGrpSpPr>
        <p:grpSpPr>
          <a:xfrm>
            <a:off x="6721060" y="797336"/>
            <a:ext cx="4996034" cy="2792294"/>
            <a:chOff x="10586" y="1254"/>
            <a:chExt cx="7869" cy="4398"/>
          </a:xfrm>
        </p:grpSpPr>
        <p:sp>
          <p:nvSpPr>
            <p:cNvPr id="21" name="Freeform 5"/>
            <p:cNvSpPr>
              <a:spLocks noEditPoints="1"/>
            </p:cNvSpPr>
            <p:nvPr/>
          </p:nvSpPr>
          <p:spPr bwMode="auto">
            <a:xfrm>
              <a:off x="12447" y="5117"/>
              <a:ext cx="368" cy="500"/>
            </a:xfrm>
            <a:custGeom>
              <a:avLst/>
              <a:gdLst>
                <a:gd name="T0" fmla="*/ 192 w 209"/>
                <a:gd name="T1" fmla="*/ 18 h 280"/>
                <a:gd name="T2" fmla="*/ 209 w 209"/>
                <a:gd name="T3" fmla="*/ 18 h 280"/>
                <a:gd name="T4" fmla="*/ 209 w 209"/>
                <a:gd name="T5" fmla="*/ 0 h 280"/>
                <a:gd name="T6" fmla="*/ 0 w 209"/>
                <a:gd name="T7" fmla="*/ 0 h 280"/>
                <a:gd name="T8" fmla="*/ 0 w 209"/>
                <a:gd name="T9" fmla="*/ 18 h 280"/>
                <a:gd name="T10" fmla="*/ 17 w 209"/>
                <a:gd name="T11" fmla="*/ 18 h 280"/>
                <a:gd name="T12" fmla="*/ 17 w 209"/>
                <a:gd name="T13" fmla="*/ 35 h 280"/>
                <a:gd name="T14" fmla="*/ 25 w 209"/>
                <a:gd name="T15" fmla="*/ 35 h 280"/>
                <a:gd name="T16" fmla="*/ 53 w 209"/>
                <a:gd name="T17" fmla="*/ 131 h 280"/>
                <a:gd name="T18" fmla="*/ 67 w 209"/>
                <a:gd name="T19" fmla="*/ 140 h 280"/>
                <a:gd name="T20" fmla="*/ 53 w 209"/>
                <a:gd name="T21" fmla="*/ 149 h 280"/>
                <a:gd name="T22" fmla="*/ 25 w 209"/>
                <a:gd name="T23" fmla="*/ 245 h 280"/>
                <a:gd name="T24" fmla="*/ 17 w 209"/>
                <a:gd name="T25" fmla="*/ 245 h 280"/>
                <a:gd name="T26" fmla="*/ 17 w 209"/>
                <a:gd name="T27" fmla="*/ 263 h 280"/>
                <a:gd name="T28" fmla="*/ 0 w 209"/>
                <a:gd name="T29" fmla="*/ 263 h 280"/>
                <a:gd name="T30" fmla="*/ 0 w 209"/>
                <a:gd name="T31" fmla="*/ 280 h 280"/>
                <a:gd name="T32" fmla="*/ 209 w 209"/>
                <a:gd name="T33" fmla="*/ 280 h 280"/>
                <a:gd name="T34" fmla="*/ 209 w 209"/>
                <a:gd name="T35" fmla="*/ 263 h 280"/>
                <a:gd name="T36" fmla="*/ 192 w 209"/>
                <a:gd name="T37" fmla="*/ 263 h 280"/>
                <a:gd name="T38" fmla="*/ 192 w 209"/>
                <a:gd name="T39" fmla="*/ 245 h 280"/>
                <a:gd name="T40" fmla="*/ 184 w 209"/>
                <a:gd name="T41" fmla="*/ 245 h 280"/>
                <a:gd name="T42" fmla="*/ 156 w 209"/>
                <a:gd name="T43" fmla="*/ 149 h 280"/>
                <a:gd name="T44" fmla="*/ 141 w 209"/>
                <a:gd name="T45" fmla="*/ 140 h 280"/>
                <a:gd name="T46" fmla="*/ 156 w 209"/>
                <a:gd name="T47" fmla="*/ 131 h 280"/>
                <a:gd name="T48" fmla="*/ 184 w 209"/>
                <a:gd name="T49" fmla="*/ 35 h 280"/>
                <a:gd name="T50" fmla="*/ 192 w 209"/>
                <a:gd name="T51" fmla="*/ 35 h 280"/>
                <a:gd name="T52" fmla="*/ 192 w 209"/>
                <a:gd name="T53" fmla="*/ 18 h 280"/>
                <a:gd name="T54" fmla="*/ 145 w 209"/>
                <a:gd name="T55" fmla="*/ 117 h 280"/>
                <a:gd name="T56" fmla="*/ 122 w 209"/>
                <a:gd name="T57" fmla="*/ 129 h 280"/>
                <a:gd name="T58" fmla="*/ 122 w 209"/>
                <a:gd name="T59" fmla="*/ 151 h 280"/>
                <a:gd name="T60" fmla="*/ 145 w 209"/>
                <a:gd name="T61" fmla="*/ 163 h 280"/>
                <a:gd name="T62" fmla="*/ 166 w 209"/>
                <a:gd name="T63" fmla="*/ 242 h 280"/>
                <a:gd name="T64" fmla="*/ 165 w 209"/>
                <a:gd name="T65" fmla="*/ 245 h 280"/>
                <a:gd name="T66" fmla="*/ 147 w 209"/>
                <a:gd name="T67" fmla="*/ 245 h 280"/>
                <a:gd name="T68" fmla="*/ 134 w 209"/>
                <a:gd name="T69" fmla="*/ 204 h 280"/>
                <a:gd name="T70" fmla="*/ 113 w 209"/>
                <a:gd name="T71" fmla="*/ 194 h 280"/>
                <a:gd name="T72" fmla="*/ 113 w 209"/>
                <a:gd name="T73" fmla="*/ 122 h 280"/>
                <a:gd name="T74" fmla="*/ 142 w 209"/>
                <a:gd name="T75" fmla="*/ 109 h 280"/>
                <a:gd name="T76" fmla="*/ 158 w 209"/>
                <a:gd name="T77" fmla="*/ 88 h 280"/>
                <a:gd name="T78" fmla="*/ 51 w 209"/>
                <a:gd name="T79" fmla="*/ 88 h 280"/>
                <a:gd name="T80" fmla="*/ 67 w 209"/>
                <a:gd name="T81" fmla="*/ 109 h 280"/>
                <a:gd name="T82" fmla="*/ 96 w 209"/>
                <a:gd name="T83" fmla="*/ 122 h 280"/>
                <a:gd name="T84" fmla="*/ 96 w 209"/>
                <a:gd name="T85" fmla="*/ 194 h 280"/>
                <a:gd name="T86" fmla="*/ 75 w 209"/>
                <a:gd name="T87" fmla="*/ 204 h 280"/>
                <a:gd name="T88" fmla="*/ 62 w 209"/>
                <a:gd name="T89" fmla="*/ 245 h 280"/>
                <a:gd name="T90" fmla="*/ 44 w 209"/>
                <a:gd name="T91" fmla="*/ 245 h 280"/>
                <a:gd name="T92" fmla="*/ 43 w 209"/>
                <a:gd name="T93" fmla="*/ 242 h 280"/>
                <a:gd name="T94" fmla="*/ 64 w 209"/>
                <a:gd name="T95" fmla="*/ 163 h 280"/>
                <a:gd name="T96" fmla="*/ 87 w 209"/>
                <a:gd name="T97" fmla="*/ 151 h 280"/>
                <a:gd name="T98" fmla="*/ 87 w 209"/>
                <a:gd name="T99" fmla="*/ 129 h 280"/>
                <a:gd name="T100" fmla="*/ 64 w 209"/>
                <a:gd name="T101" fmla="*/ 117 h 280"/>
                <a:gd name="T102" fmla="*/ 43 w 209"/>
                <a:gd name="T103" fmla="*/ 39 h 280"/>
                <a:gd name="T104" fmla="*/ 44 w 209"/>
                <a:gd name="T105" fmla="*/ 35 h 280"/>
                <a:gd name="T106" fmla="*/ 165 w 209"/>
                <a:gd name="T107" fmla="*/ 35 h 280"/>
                <a:gd name="T108" fmla="*/ 166 w 209"/>
                <a:gd name="T109" fmla="*/ 39 h 280"/>
                <a:gd name="T110" fmla="*/ 145 w 209"/>
                <a:gd name="T111" fmla="*/ 11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9" h="280">
                  <a:moveTo>
                    <a:pt x="192" y="18"/>
                  </a:moveTo>
                  <a:cubicBezTo>
                    <a:pt x="209" y="18"/>
                    <a:pt x="209" y="18"/>
                    <a:pt x="209" y="18"/>
                  </a:cubicBezTo>
                  <a:cubicBezTo>
                    <a:pt x="209" y="0"/>
                    <a:pt x="209" y="0"/>
                    <a:pt x="209" y="0"/>
                  </a:cubicBezTo>
                  <a:cubicBezTo>
                    <a:pt x="0" y="0"/>
                    <a:pt x="0" y="0"/>
                    <a:pt x="0" y="0"/>
                  </a:cubicBezTo>
                  <a:cubicBezTo>
                    <a:pt x="0" y="18"/>
                    <a:pt x="0" y="18"/>
                    <a:pt x="0" y="18"/>
                  </a:cubicBezTo>
                  <a:cubicBezTo>
                    <a:pt x="17" y="18"/>
                    <a:pt x="17" y="18"/>
                    <a:pt x="17" y="18"/>
                  </a:cubicBezTo>
                  <a:cubicBezTo>
                    <a:pt x="17" y="35"/>
                    <a:pt x="17" y="35"/>
                    <a:pt x="17" y="35"/>
                  </a:cubicBezTo>
                  <a:cubicBezTo>
                    <a:pt x="25" y="35"/>
                    <a:pt x="25" y="35"/>
                    <a:pt x="25" y="35"/>
                  </a:cubicBezTo>
                  <a:cubicBezTo>
                    <a:pt x="13" y="70"/>
                    <a:pt x="24" y="109"/>
                    <a:pt x="53" y="131"/>
                  </a:cubicBezTo>
                  <a:cubicBezTo>
                    <a:pt x="58" y="135"/>
                    <a:pt x="62" y="138"/>
                    <a:pt x="67" y="140"/>
                  </a:cubicBezTo>
                  <a:cubicBezTo>
                    <a:pt x="62" y="143"/>
                    <a:pt x="58" y="145"/>
                    <a:pt x="53" y="149"/>
                  </a:cubicBezTo>
                  <a:cubicBezTo>
                    <a:pt x="24" y="171"/>
                    <a:pt x="13" y="211"/>
                    <a:pt x="25" y="245"/>
                  </a:cubicBezTo>
                  <a:cubicBezTo>
                    <a:pt x="17" y="245"/>
                    <a:pt x="17" y="245"/>
                    <a:pt x="17" y="245"/>
                  </a:cubicBezTo>
                  <a:cubicBezTo>
                    <a:pt x="17" y="263"/>
                    <a:pt x="17" y="263"/>
                    <a:pt x="17" y="263"/>
                  </a:cubicBezTo>
                  <a:cubicBezTo>
                    <a:pt x="0" y="263"/>
                    <a:pt x="0" y="263"/>
                    <a:pt x="0" y="263"/>
                  </a:cubicBezTo>
                  <a:cubicBezTo>
                    <a:pt x="0" y="280"/>
                    <a:pt x="0" y="280"/>
                    <a:pt x="0" y="280"/>
                  </a:cubicBezTo>
                  <a:cubicBezTo>
                    <a:pt x="209" y="280"/>
                    <a:pt x="209" y="280"/>
                    <a:pt x="209" y="280"/>
                  </a:cubicBezTo>
                  <a:cubicBezTo>
                    <a:pt x="209" y="263"/>
                    <a:pt x="209" y="263"/>
                    <a:pt x="209" y="263"/>
                  </a:cubicBezTo>
                  <a:cubicBezTo>
                    <a:pt x="192" y="263"/>
                    <a:pt x="192" y="263"/>
                    <a:pt x="192" y="263"/>
                  </a:cubicBezTo>
                  <a:cubicBezTo>
                    <a:pt x="192" y="245"/>
                    <a:pt x="192" y="245"/>
                    <a:pt x="192" y="245"/>
                  </a:cubicBezTo>
                  <a:cubicBezTo>
                    <a:pt x="184" y="245"/>
                    <a:pt x="184" y="245"/>
                    <a:pt x="184" y="245"/>
                  </a:cubicBezTo>
                  <a:cubicBezTo>
                    <a:pt x="196" y="211"/>
                    <a:pt x="185" y="171"/>
                    <a:pt x="156" y="149"/>
                  </a:cubicBezTo>
                  <a:cubicBezTo>
                    <a:pt x="151" y="145"/>
                    <a:pt x="147" y="143"/>
                    <a:pt x="141" y="140"/>
                  </a:cubicBezTo>
                  <a:cubicBezTo>
                    <a:pt x="147" y="138"/>
                    <a:pt x="151" y="135"/>
                    <a:pt x="156" y="131"/>
                  </a:cubicBezTo>
                  <a:cubicBezTo>
                    <a:pt x="185" y="109"/>
                    <a:pt x="196" y="70"/>
                    <a:pt x="184" y="35"/>
                  </a:cubicBezTo>
                  <a:cubicBezTo>
                    <a:pt x="192" y="35"/>
                    <a:pt x="192" y="35"/>
                    <a:pt x="192" y="35"/>
                  </a:cubicBezTo>
                  <a:lnTo>
                    <a:pt x="192" y="18"/>
                  </a:lnTo>
                  <a:close/>
                  <a:moveTo>
                    <a:pt x="145" y="117"/>
                  </a:moveTo>
                  <a:cubicBezTo>
                    <a:pt x="138" y="123"/>
                    <a:pt x="130" y="127"/>
                    <a:pt x="122" y="129"/>
                  </a:cubicBezTo>
                  <a:cubicBezTo>
                    <a:pt x="122" y="151"/>
                    <a:pt x="122" y="151"/>
                    <a:pt x="122" y="151"/>
                  </a:cubicBezTo>
                  <a:cubicBezTo>
                    <a:pt x="130" y="154"/>
                    <a:pt x="138" y="157"/>
                    <a:pt x="145" y="163"/>
                  </a:cubicBezTo>
                  <a:cubicBezTo>
                    <a:pt x="169" y="181"/>
                    <a:pt x="178" y="214"/>
                    <a:pt x="166" y="242"/>
                  </a:cubicBezTo>
                  <a:cubicBezTo>
                    <a:pt x="165" y="245"/>
                    <a:pt x="165" y="245"/>
                    <a:pt x="165" y="245"/>
                  </a:cubicBezTo>
                  <a:cubicBezTo>
                    <a:pt x="147" y="245"/>
                    <a:pt x="147" y="245"/>
                    <a:pt x="147" y="245"/>
                  </a:cubicBezTo>
                  <a:cubicBezTo>
                    <a:pt x="150" y="230"/>
                    <a:pt x="146" y="215"/>
                    <a:pt x="134" y="204"/>
                  </a:cubicBezTo>
                  <a:cubicBezTo>
                    <a:pt x="128" y="198"/>
                    <a:pt x="121" y="195"/>
                    <a:pt x="113" y="194"/>
                  </a:cubicBezTo>
                  <a:cubicBezTo>
                    <a:pt x="113" y="122"/>
                    <a:pt x="113" y="122"/>
                    <a:pt x="113" y="122"/>
                  </a:cubicBezTo>
                  <a:cubicBezTo>
                    <a:pt x="124" y="120"/>
                    <a:pt x="134" y="116"/>
                    <a:pt x="142" y="109"/>
                  </a:cubicBezTo>
                  <a:cubicBezTo>
                    <a:pt x="149" y="103"/>
                    <a:pt x="155" y="96"/>
                    <a:pt x="158" y="88"/>
                  </a:cubicBezTo>
                  <a:cubicBezTo>
                    <a:pt x="51" y="88"/>
                    <a:pt x="51" y="88"/>
                    <a:pt x="51" y="88"/>
                  </a:cubicBezTo>
                  <a:cubicBezTo>
                    <a:pt x="54" y="96"/>
                    <a:pt x="60" y="103"/>
                    <a:pt x="67" y="109"/>
                  </a:cubicBezTo>
                  <a:cubicBezTo>
                    <a:pt x="75" y="116"/>
                    <a:pt x="85" y="120"/>
                    <a:pt x="96" y="122"/>
                  </a:cubicBezTo>
                  <a:cubicBezTo>
                    <a:pt x="96" y="194"/>
                    <a:pt x="96" y="194"/>
                    <a:pt x="96" y="194"/>
                  </a:cubicBezTo>
                  <a:cubicBezTo>
                    <a:pt x="88" y="195"/>
                    <a:pt x="81" y="198"/>
                    <a:pt x="75" y="204"/>
                  </a:cubicBezTo>
                  <a:cubicBezTo>
                    <a:pt x="63" y="215"/>
                    <a:pt x="59" y="230"/>
                    <a:pt x="62" y="245"/>
                  </a:cubicBezTo>
                  <a:cubicBezTo>
                    <a:pt x="44" y="245"/>
                    <a:pt x="44" y="245"/>
                    <a:pt x="44" y="245"/>
                  </a:cubicBezTo>
                  <a:cubicBezTo>
                    <a:pt x="43" y="242"/>
                    <a:pt x="43" y="242"/>
                    <a:pt x="43" y="242"/>
                  </a:cubicBezTo>
                  <a:cubicBezTo>
                    <a:pt x="31" y="214"/>
                    <a:pt x="40" y="181"/>
                    <a:pt x="64" y="163"/>
                  </a:cubicBezTo>
                  <a:cubicBezTo>
                    <a:pt x="71" y="157"/>
                    <a:pt x="79" y="154"/>
                    <a:pt x="87" y="151"/>
                  </a:cubicBezTo>
                  <a:cubicBezTo>
                    <a:pt x="87" y="129"/>
                    <a:pt x="87" y="129"/>
                    <a:pt x="87" y="129"/>
                  </a:cubicBezTo>
                  <a:cubicBezTo>
                    <a:pt x="79" y="127"/>
                    <a:pt x="71" y="123"/>
                    <a:pt x="64" y="117"/>
                  </a:cubicBezTo>
                  <a:cubicBezTo>
                    <a:pt x="40" y="99"/>
                    <a:pt x="31" y="67"/>
                    <a:pt x="43" y="39"/>
                  </a:cubicBezTo>
                  <a:cubicBezTo>
                    <a:pt x="44" y="35"/>
                    <a:pt x="44" y="35"/>
                    <a:pt x="44" y="35"/>
                  </a:cubicBezTo>
                  <a:cubicBezTo>
                    <a:pt x="165" y="35"/>
                    <a:pt x="165" y="35"/>
                    <a:pt x="165" y="35"/>
                  </a:cubicBezTo>
                  <a:cubicBezTo>
                    <a:pt x="166" y="39"/>
                    <a:pt x="166" y="39"/>
                    <a:pt x="166" y="39"/>
                  </a:cubicBezTo>
                  <a:cubicBezTo>
                    <a:pt x="178" y="67"/>
                    <a:pt x="169" y="99"/>
                    <a:pt x="145" y="117"/>
                  </a:cubicBezTo>
                  <a:close/>
                </a:path>
              </a:pathLst>
            </a:custGeom>
            <a:solidFill>
              <a:srgbClr val="FFFFFF"/>
            </a:solidFill>
            <a:ln>
              <a:noFill/>
            </a:ln>
          </p:spPr>
          <p:txBody>
            <a:bodyPr vert="horz" wrap="square" lIns="91425" tIns="45712" rIns="91425" bIns="45712" numCol="1" anchor="t" anchorCtr="0" compatLnSpc="1"/>
            <a:p>
              <a:endParaRPr lang="zh-CN" altLang="en-US" dirty="0">
                <a:cs typeface="+mn-ea"/>
                <a:sym typeface="+mn-lt"/>
              </a:endParaRPr>
            </a:p>
          </p:txBody>
        </p:sp>
        <p:sp>
          <p:nvSpPr>
            <p:cNvPr id="22" name="Freeform 6"/>
            <p:cNvSpPr>
              <a:spLocks noEditPoints="1"/>
            </p:cNvSpPr>
            <p:nvPr/>
          </p:nvSpPr>
          <p:spPr bwMode="auto">
            <a:xfrm>
              <a:off x="12399" y="3768"/>
              <a:ext cx="464" cy="500"/>
            </a:xfrm>
            <a:custGeom>
              <a:avLst/>
              <a:gdLst>
                <a:gd name="T0" fmla="*/ 205 w 263"/>
                <a:gd name="T1" fmla="*/ 70 h 280"/>
                <a:gd name="T2" fmla="*/ 117 w 263"/>
                <a:gd name="T3" fmla="*/ 70 h 280"/>
                <a:gd name="T4" fmla="*/ 119 w 263"/>
                <a:gd name="T5" fmla="*/ 53 h 280"/>
                <a:gd name="T6" fmla="*/ 207 w 263"/>
                <a:gd name="T7" fmla="*/ 53 h 280"/>
                <a:gd name="T8" fmla="*/ 205 w 263"/>
                <a:gd name="T9" fmla="*/ 70 h 280"/>
                <a:gd name="T10" fmla="*/ 146 w 263"/>
                <a:gd name="T11" fmla="*/ 140 h 280"/>
                <a:gd name="T12" fmla="*/ 182 w 263"/>
                <a:gd name="T13" fmla="*/ 140 h 280"/>
                <a:gd name="T14" fmla="*/ 184 w 263"/>
                <a:gd name="T15" fmla="*/ 123 h 280"/>
                <a:gd name="T16" fmla="*/ 148 w 263"/>
                <a:gd name="T17" fmla="*/ 123 h 280"/>
                <a:gd name="T18" fmla="*/ 146 w 263"/>
                <a:gd name="T19" fmla="*/ 140 h 280"/>
                <a:gd name="T20" fmla="*/ 263 w 263"/>
                <a:gd name="T21" fmla="*/ 0 h 280"/>
                <a:gd name="T22" fmla="*/ 245 w 263"/>
                <a:gd name="T23" fmla="*/ 237 h 280"/>
                <a:gd name="T24" fmla="*/ 201 w 263"/>
                <a:gd name="T25" fmla="*/ 280 h 280"/>
                <a:gd name="T26" fmla="*/ 44 w 263"/>
                <a:gd name="T27" fmla="*/ 280 h 280"/>
                <a:gd name="T28" fmla="*/ 0 w 263"/>
                <a:gd name="T29" fmla="*/ 236 h 280"/>
                <a:gd name="T30" fmla="*/ 0 w 263"/>
                <a:gd name="T31" fmla="*/ 193 h 280"/>
                <a:gd name="T32" fmla="*/ 54 w 263"/>
                <a:gd name="T33" fmla="*/ 193 h 280"/>
                <a:gd name="T34" fmla="*/ 71 w 263"/>
                <a:gd name="T35" fmla="*/ 0 h 280"/>
                <a:gd name="T36" fmla="*/ 263 w 263"/>
                <a:gd name="T37" fmla="*/ 0 h 280"/>
                <a:gd name="T38" fmla="*/ 166 w 263"/>
                <a:gd name="T39" fmla="*/ 263 h 280"/>
                <a:gd name="T40" fmla="*/ 158 w 263"/>
                <a:gd name="T41" fmla="*/ 236 h 280"/>
                <a:gd name="T42" fmla="*/ 158 w 263"/>
                <a:gd name="T43" fmla="*/ 210 h 280"/>
                <a:gd name="T44" fmla="*/ 18 w 263"/>
                <a:gd name="T45" fmla="*/ 210 h 280"/>
                <a:gd name="T46" fmla="*/ 18 w 263"/>
                <a:gd name="T47" fmla="*/ 236 h 280"/>
                <a:gd name="T48" fmla="*/ 44 w 263"/>
                <a:gd name="T49" fmla="*/ 263 h 280"/>
                <a:gd name="T50" fmla="*/ 166 w 263"/>
                <a:gd name="T51" fmla="*/ 263 h 280"/>
                <a:gd name="T52" fmla="*/ 244 w 263"/>
                <a:gd name="T53" fmla="*/ 18 h 280"/>
                <a:gd name="T54" fmla="*/ 87 w 263"/>
                <a:gd name="T55" fmla="*/ 18 h 280"/>
                <a:gd name="T56" fmla="*/ 71 w 263"/>
                <a:gd name="T57" fmla="*/ 193 h 280"/>
                <a:gd name="T58" fmla="*/ 175 w 263"/>
                <a:gd name="T59" fmla="*/ 193 h 280"/>
                <a:gd name="T60" fmla="*/ 175 w 263"/>
                <a:gd name="T61" fmla="*/ 236 h 280"/>
                <a:gd name="T62" fmla="*/ 201 w 263"/>
                <a:gd name="T63" fmla="*/ 263 h 280"/>
                <a:gd name="T64" fmla="*/ 228 w 263"/>
                <a:gd name="T65" fmla="*/ 236 h 280"/>
                <a:gd name="T66" fmla="*/ 244 w 263"/>
                <a:gd name="T67" fmla="*/ 18 h 280"/>
                <a:gd name="T68" fmla="*/ 131 w 263"/>
                <a:gd name="T69" fmla="*/ 123 h 280"/>
                <a:gd name="T70" fmla="*/ 113 w 263"/>
                <a:gd name="T71" fmla="*/ 123 h 280"/>
                <a:gd name="T72" fmla="*/ 111 w 263"/>
                <a:gd name="T73" fmla="*/ 140 h 280"/>
                <a:gd name="T74" fmla="*/ 130 w 263"/>
                <a:gd name="T75" fmla="*/ 140 h 280"/>
                <a:gd name="T76" fmla="*/ 131 w 263"/>
                <a:gd name="T77" fmla="*/ 123 h 280"/>
                <a:gd name="T78" fmla="*/ 203 w 263"/>
                <a:gd name="T79" fmla="*/ 105 h 280"/>
                <a:gd name="T80" fmla="*/ 204 w 263"/>
                <a:gd name="T81" fmla="*/ 88 h 280"/>
                <a:gd name="T82" fmla="*/ 116 w 263"/>
                <a:gd name="T83" fmla="*/ 88 h 280"/>
                <a:gd name="T84" fmla="*/ 114 w 263"/>
                <a:gd name="T85" fmla="*/ 105 h 280"/>
                <a:gd name="T86" fmla="*/ 203 w 263"/>
                <a:gd name="T87" fmla="*/ 10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3" h="280">
                  <a:moveTo>
                    <a:pt x="205" y="70"/>
                  </a:moveTo>
                  <a:cubicBezTo>
                    <a:pt x="117" y="70"/>
                    <a:pt x="117" y="70"/>
                    <a:pt x="117" y="70"/>
                  </a:cubicBezTo>
                  <a:cubicBezTo>
                    <a:pt x="119" y="53"/>
                    <a:pt x="119" y="53"/>
                    <a:pt x="119" y="53"/>
                  </a:cubicBezTo>
                  <a:cubicBezTo>
                    <a:pt x="207" y="53"/>
                    <a:pt x="207" y="53"/>
                    <a:pt x="207" y="53"/>
                  </a:cubicBezTo>
                  <a:lnTo>
                    <a:pt x="205" y="70"/>
                  </a:lnTo>
                  <a:close/>
                  <a:moveTo>
                    <a:pt x="146" y="140"/>
                  </a:moveTo>
                  <a:cubicBezTo>
                    <a:pt x="182" y="140"/>
                    <a:pt x="182" y="140"/>
                    <a:pt x="182" y="140"/>
                  </a:cubicBezTo>
                  <a:cubicBezTo>
                    <a:pt x="184" y="123"/>
                    <a:pt x="184" y="123"/>
                    <a:pt x="184" y="123"/>
                  </a:cubicBezTo>
                  <a:cubicBezTo>
                    <a:pt x="148" y="123"/>
                    <a:pt x="148" y="123"/>
                    <a:pt x="148" y="123"/>
                  </a:cubicBezTo>
                  <a:lnTo>
                    <a:pt x="146" y="140"/>
                  </a:lnTo>
                  <a:close/>
                  <a:moveTo>
                    <a:pt x="263" y="0"/>
                  </a:moveTo>
                  <a:cubicBezTo>
                    <a:pt x="245" y="237"/>
                    <a:pt x="245" y="237"/>
                    <a:pt x="245" y="237"/>
                  </a:cubicBezTo>
                  <a:cubicBezTo>
                    <a:pt x="245" y="261"/>
                    <a:pt x="226" y="280"/>
                    <a:pt x="201" y="280"/>
                  </a:cubicBezTo>
                  <a:cubicBezTo>
                    <a:pt x="44" y="280"/>
                    <a:pt x="44" y="280"/>
                    <a:pt x="44" y="280"/>
                  </a:cubicBezTo>
                  <a:cubicBezTo>
                    <a:pt x="20" y="280"/>
                    <a:pt x="0" y="261"/>
                    <a:pt x="0" y="236"/>
                  </a:cubicBezTo>
                  <a:cubicBezTo>
                    <a:pt x="0" y="193"/>
                    <a:pt x="0" y="193"/>
                    <a:pt x="0" y="193"/>
                  </a:cubicBezTo>
                  <a:cubicBezTo>
                    <a:pt x="54" y="193"/>
                    <a:pt x="54" y="193"/>
                    <a:pt x="54" y="193"/>
                  </a:cubicBezTo>
                  <a:cubicBezTo>
                    <a:pt x="71" y="0"/>
                    <a:pt x="71" y="0"/>
                    <a:pt x="71" y="0"/>
                  </a:cubicBezTo>
                  <a:lnTo>
                    <a:pt x="263" y="0"/>
                  </a:lnTo>
                  <a:close/>
                  <a:moveTo>
                    <a:pt x="166" y="263"/>
                  </a:moveTo>
                  <a:cubicBezTo>
                    <a:pt x="161" y="255"/>
                    <a:pt x="158" y="246"/>
                    <a:pt x="158" y="236"/>
                  </a:cubicBezTo>
                  <a:cubicBezTo>
                    <a:pt x="158" y="210"/>
                    <a:pt x="158" y="210"/>
                    <a:pt x="158" y="210"/>
                  </a:cubicBezTo>
                  <a:cubicBezTo>
                    <a:pt x="18" y="210"/>
                    <a:pt x="18" y="210"/>
                    <a:pt x="18" y="210"/>
                  </a:cubicBezTo>
                  <a:cubicBezTo>
                    <a:pt x="18" y="236"/>
                    <a:pt x="18" y="236"/>
                    <a:pt x="18" y="236"/>
                  </a:cubicBezTo>
                  <a:cubicBezTo>
                    <a:pt x="18" y="251"/>
                    <a:pt x="30" y="263"/>
                    <a:pt x="44" y="263"/>
                  </a:cubicBezTo>
                  <a:lnTo>
                    <a:pt x="166" y="263"/>
                  </a:lnTo>
                  <a:close/>
                  <a:moveTo>
                    <a:pt x="244" y="18"/>
                  </a:moveTo>
                  <a:cubicBezTo>
                    <a:pt x="87" y="18"/>
                    <a:pt x="87" y="18"/>
                    <a:pt x="87" y="18"/>
                  </a:cubicBezTo>
                  <a:cubicBezTo>
                    <a:pt x="71" y="193"/>
                    <a:pt x="71" y="193"/>
                    <a:pt x="71" y="193"/>
                  </a:cubicBezTo>
                  <a:cubicBezTo>
                    <a:pt x="175" y="193"/>
                    <a:pt x="175" y="193"/>
                    <a:pt x="175" y="193"/>
                  </a:cubicBezTo>
                  <a:cubicBezTo>
                    <a:pt x="175" y="236"/>
                    <a:pt x="175" y="236"/>
                    <a:pt x="175" y="236"/>
                  </a:cubicBezTo>
                  <a:cubicBezTo>
                    <a:pt x="175" y="251"/>
                    <a:pt x="187" y="263"/>
                    <a:pt x="201" y="263"/>
                  </a:cubicBezTo>
                  <a:cubicBezTo>
                    <a:pt x="216" y="263"/>
                    <a:pt x="228" y="251"/>
                    <a:pt x="228" y="236"/>
                  </a:cubicBezTo>
                  <a:lnTo>
                    <a:pt x="244" y="18"/>
                  </a:lnTo>
                  <a:close/>
                  <a:moveTo>
                    <a:pt x="131" y="123"/>
                  </a:moveTo>
                  <a:cubicBezTo>
                    <a:pt x="113" y="123"/>
                    <a:pt x="113" y="123"/>
                    <a:pt x="113" y="123"/>
                  </a:cubicBezTo>
                  <a:cubicBezTo>
                    <a:pt x="111" y="140"/>
                    <a:pt x="111" y="140"/>
                    <a:pt x="111" y="140"/>
                  </a:cubicBezTo>
                  <a:cubicBezTo>
                    <a:pt x="130" y="140"/>
                    <a:pt x="130" y="140"/>
                    <a:pt x="130" y="140"/>
                  </a:cubicBezTo>
                  <a:lnTo>
                    <a:pt x="131" y="123"/>
                  </a:lnTo>
                  <a:close/>
                  <a:moveTo>
                    <a:pt x="203" y="105"/>
                  </a:moveTo>
                  <a:cubicBezTo>
                    <a:pt x="204" y="88"/>
                    <a:pt x="204" y="88"/>
                    <a:pt x="204" y="88"/>
                  </a:cubicBezTo>
                  <a:cubicBezTo>
                    <a:pt x="116" y="88"/>
                    <a:pt x="116" y="88"/>
                    <a:pt x="116" y="88"/>
                  </a:cubicBezTo>
                  <a:cubicBezTo>
                    <a:pt x="114" y="105"/>
                    <a:pt x="114" y="105"/>
                    <a:pt x="114" y="105"/>
                  </a:cubicBezTo>
                  <a:cubicBezTo>
                    <a:pt x="203" y="105"/>
                    <a:pt x="203" y="105"/>
                    <a:pt x="203" y="105"/>
                  </a:cubicBezTo>
                  <a:close/>
                </a:path>
              </a:pathLst>
            </a:custGeom>
            <a:solidFill>
              <a:srgbClr val="FFFFFF"/>
            </a:solidFill>
            <a:ln>
              <a:noFill/>
            </a:ln>
          </p:spPr>
          <p:txBody>
            <a:bodyPr vert="horz" wrap="square" lIns="91425" tIns="45712" rIns="91425" bIns="45712" numCol="1" anchor="t" anchorCtr="0" compatLnSpc="1"/>
            <a:p>
              <a:endParaRPr lang="zh-CN" altLang="en-US" dirty="0">
                <a:cs typeface="+mn-ea"/>
                <a:sym typeface="+mn-lt"/>
              </a:endParaRPr>
            </a:p>
          </p:txBody>
        </p:sp>
        <p:sp>
          <p:nvSpPr>
            <p:cNvPr id="23" name="Freeform 7"/>
            <p:cNvSpPr>
              <a:spLocks noEditPoints="1"/>
            </p:cNvSpPr>
            <p:nvPr/>
          </p:nvSpPr>
          <p:spPr bwMode="auto">
            <a:xfrm>
              <a:off x="12446" y="2421"/>
              <a:ext cx="370" cy="500"/>
            </a:xfrm>
            <a:custGeom>
              <a:avLst/>
              <a:gdLst>
                <a:gd name="T0" fmla="*/ 105 w 210"/>
                <a:gd name="T1" fmla="*/ 0 h 280"/>
                <a:gd name="T2" fmla="*/ 0 w 210"/>
                <a:gd name="T3" fmla="*/ 105 h 280"/>
                <a:gd name="T4" fmla="*/ 105 w 210"/>
                <a:gd name="T5" fmla="*/ 280 h 280"/>
                <a:gd name="T6" fmla="*/ 210 w 210"/>
                <a:gd name="T7" fmla="*/ 105 h 280"/>
                <a:gd name="T8" fmla="*/ 105 w 210"/>
                <a:gd name="T9" fmla="*/ 0 h 280"/>
                <a:gd name="T10" fmla="*/ 105 w 210"/>
                <a:gd name="T11" fmla="*/ 175 h 280"/>
                <a:gd name="T12" fmla="*/ 35 w 210"/>
                <a:gd name="T13" fmla="*/ 105 h 280"/>
                <a:gd name="T14" fmla="*/ 105 w 210"/>
                <a:gd name="T15" fmla="*/ 35 h 280"/>
                <a:gd name="T16" fmla="*/ 175 w 210"/>
                <a:gd name="T17" fmla="*/ 105 h 280"/>
                <a:gd name="T18" fmla="*/ 105 w 210"/>
                <a:gd name="T19" fmla="*/ 17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0" h="280">
                  <a:moveTo>
                    <a:pt x="105" y="0"/>
                  </a:moveTo>
                  <a:cubicBezTo>
                    <a:pt x="47" y="0"/>
                    <a:pt x="0" y="47"/>
                    <a:pt x="0" y="105"/>
                  </a:cubicBezTo>
                  <a:cubicBezTo>
                    <a:pt x="0" y="163"/>
                    <a:pt x="88" y="280"/>
                    <a:pt x="105" y="280"/>
                  </a:cubicBezTo>
                  <a:cubicBezTo>
                    <a:pt x="123" y="280"/>
                    <a:pt x="210" y="163"/>
                    <a:pt x="210" y="105"/>
                  </a:cubicBezTo>
                  <a:cubicBezTo>
                    <a:pt x="210" y="47"/>
                    <a:pt x="163" y="0"/>
                    <a:pt x="105" y="0"/>
                  </a:cubicBezTo>
                  <a:close/>
                  <a:moveTo>
                    <a:pt x="105" y="175"/>
                  </a:moveTo>
                  <a:cubicBezTo>
                    <a:pt x="67" y="175"/>
                    <a:pt x="35" y="143"/>
                    <a:pt x="35" y="105"/>
                  </a:cubicBezTo>
                  <a:cubicBezTo>
                    <a:pt x="35" y="66"/>
                    <a:pt x="67" y="35"/>
                    <a:pt x="105" y="35"/>
                  </a:cubicBezTo>
                  <a:cubicBezTo>
                    <a:pt x="144" y="35"/>
                    <a:pt x="175" y="66"/>
                    <a:pt x="175" y="105"/>
                  </a:cubicBezTo>
                  <a:cubicBezTo>
                    <a:pt x="175" y="143"/>
                    <a:pt x="144" y="175"/>
                    <a:pt x="105" y="175"/>
                  </a:cubicBezTo>
                  <a:close/>
                </a:path>
              </a:pathLst>
            </a:custGeom>
            <a:solidFill>
              <a:srgbClr val="FFFFFF"/>
            </a:solidFill>
            <a:ln>
              <a:noFill/>
            </a:ln>
          </p:spPr>
          <p:txBody>
            <a:bodyPr vert="horz" wrap="square" lIns="91425" tIns="45712" rIns="91425" bIns="45712" numCol="1" anchor="t" anchorCtr="0" compatLnSpc="1"/>
            <a:p>
              <a:endParaRPr lang="zh-CN" altLang="en-US" dirty="0">
                <a:cs typeface="+mn-ea"/>
                <a:sym typeface="+mn-lt"/>
              </a:endParaRPr>
            </a:p>
          </p:txBody>
        </p:sp>
        <p:pic>
          <p:nvPicPr>
            <p:cNvPr id="24" name="图片 23"/>
            <p:cNvPicPr>
              <a:picLocks noChangeAspect="1"/>
            </p:cNvPicPr>
            <p:nvPr/>
          </p:nvPicPr>
          <p:blipFill>
            <a:blip r:embed="rId2"/>
            <a:stretch>
              <a:fillRect/>
            </a:stretch>
          </p:blipFill>
          <p:spPr>
            <a:xfrm>
              <a:off x="14647" y="1255"/>
              <a:ext cx="1867" cy="2620"/>
            </a:xfrm>
            <a:prstGeom prst="rect">
              <a:avLst/>
            </a:prstGeom>
            <a:ln>
              <a:solidFill>
                <a:schemeClr val="accent1"/>
              </a:solidFill>
            </a:ln>
          </p:spPr>
        </p:pic>
        <p:pic>
          <p:nvPicPr>
            <p:cNvPr id="25" name="图片 24"/>
            <p:cNvPicPr>
              <a:picLocks noChangeAspect="1"/>
            </p:cNvPicPr>
            <p:nvPr/>
          </p:nvPicPr>
          <p:blipFill>
            <a:blip r:embed="rId3"/>
            <a:srcRect l="2837" t="2554" r="3090" b="2129"/>
            <a:stretch>
              <a:fillRect/>
            </a:stretch>
          </p:blipFill>
          <p:spPr>
            <a:xfrm>
              <a:off x="16593" y="1254"/>
              <a:ext cx="1774" cy="2623"/>
            </a:xfrm>
            <a:prstGeom prst="rect">
              <a:avLst/>
            </a:prstGeom>
            <a:ln>
              <a:solidFill>
                <a:schemeClr val="accent1"/>
              </a:solidFill>
            </a:ln>
          </p:spPr>
        </p:pic>
        <p:pic>
          <p:nvPicPr>
            <p:cNvPr id="26" name="图片 -2147482231"/>
            <p:cNvPicPr>
              <a:picLocks noChangeAspect="1"/>
            </p:cNvPicPr>
            <p:nvPr/>
          </p:nvPicPr>
          <p:blipFill>
            <a:blip r:embed="rId4"/>
            <a:stretch>
              <a:fillRect/>
            </a:stretch>
          </p:blipFill>
          <p:spPr>
            <a:xfrm>
              <a:off x="12600" y="4207"/>
              <a:ext cx="1883" cy="1443"/>
            </a:xfrm>
            <a:prstGeom prst="rect">
              <a:avLst/>
            </a:prstGeom>
            <a:noFill/>
            <a:ln w="9525">
              <a:solidFill>
                <a:schemeClr val="accent1"/>
              </a:solidFill>
            </a:ln>
          </p:spPr>
        </p:pic>
        <p:pic>
          <p:nvPicPr>
            <p:cNvPr id="27" name="图片 -2147482228"/>
            <p:cNvPicPr>
              <a:picLocks noChangeAspect="1"/>
            </p:cNvPicPr>
            <p:nvPr/>
          </p:nvPicPr>
          <p:blipFill>
            <a:blip r:embed="rId5"/>
            <a:stretch>
              <a:fillRect/>
            </a:stretch>
          </p:blipFill>
          <p:spPr>
            <a:xfrm>
              <a:off x="10586" y="4200"/>
              <a:ext cx="2014" cy="1449"/>
            </a:xfrm>
            <a:prstGeom prst="rect">
              <a:avLst/>
            </a:prstGeom>
            <a:noFill/>
            <a:ln w="9525">
              <a:solidFill>
                <a:schemeClr val="accent1"/>
              </a:solidFill>
            </a:ln>
          </p:spPr>
        </p:pic>
        <p:pic>
          <p:nvPicPr>
            <p:cNvPr id="28" name="图片 -2147482229"/>
            <p:cNvPicPr>
              <a:picLocks noChangeAspect="1"/>
            </p:cNvPicPr>
            <p:nvPr/>
          </p:nvPicPr>
          <p:blipFill>
            <a:blip r:embed="rId6"/>
            <a:stretch>
              <a:fillRect/>
            </a:stretch>
          </p:blipFill>
          <p:spPr>
            <a:xfrm>
              <a:off x="16488" y="4200"/>
              <a:ext cx="1967" cy="1452"/>
            </a:xfrm>
            <a:prstGeom prst="rect">
              <a:avLst/>
            </a:prstGeom>
            <a:noFill/>
            <a:ln w="9525">
              <a:solidFill>
                <a:schemeClr val="accent1"/>
              </a:solidFill>
            </a:ln>
          </p:spPr>
        </p:pic>
        <p:pic>
          <p:nvPicPr>
            <p:cNvPr id="29" name="图片 28" descr="两化融合证书"/>
            <p:cNvPicPr>
              <a:picLocks noChangeAspect="1"/>
            </p:cNvPicPr>
            <p:nvPr/>
          </p:nvPicPr>
          <p:blipFill>
            <a:blip r:embed="rId7"/>
            <a:stretch>
              <a:fillRect/>
            </a:stretch>
          </p:blipFill>
          <p:spPr>
            <a:xfrm>
              <a:off x="12619" y="1254"/>
              <a:ext cx="1929" cy="2621"/>
            </a:xfrm>
            <a:prstGeom prst="rect">
              <a:avLst/>
            </a:prstGeom>
            <a:ln>
              <a:solidFill>
                <a:schemeClr val="accent1"/>
              </a:solidFill>
            </a:ln>
          </p:spPr>
        </p:pic>
        <p:pic>
          <p:nvPicPr>
            <p:cNvPr id="30" name="图片 29" descr="信息系统安全等级保护备案证明（等保三级）2023-2024_00"/>
            <p:cNvPicPr>
              <a:picLocks noChangeAspect="1"/>
            </p:cNvPicPr>
            <p:nvPr/>
          </p:nvPicPr>
          <p:blipFill>
            <a:blip r:embed="rId8"/>
            <a:srcRect l="9862" t="3275" r="14178" b="5310"/>
            <a:stretch>
              <a:fillRect/>
            </a:stretch>
          </p:blipFill>
          <p:spPr>
            <a:xfrm rot="5400000">
              <a:off x="14753" y="3921"/>
              <a:ext cx="1457" cy="1998"/>
            </a:xfrm>
            <a:prstGeom prst="rect">
              <a:avLst/>
            </a:prstGeom>
            <a:ln>
              <a:solidFill>
                <a:schemeClr val="accent1"/>
              </a:solidFill>
            </a:ln>
          </p:spPr>
        </p:pic>
        <p:pic>
          <p:nvPicPr>
            <p:cNvPr id="31" name="图片 30" descr="河南鑫安利安全科技股份有限公司IPMS(1)-知识产权_00"/>
            <p:cNvPicPr>
              <a:picLocks noChangeAspect="1"/>
            </p:cNvPicPr>
            <p:nvPr/>
          </p:nvPicPr>
          <p:blipFill>
            <a:blip r:embed="rId9"/>
            <a:stretch>
              <a:fillRect/>
            </a:stretch>
          </p:blipFill>
          <p:spPr>
            <a:xfrm>
              <a:off x="10703" y="1255"/>
              <a:ext cx="1828" cy="2621"/>
            </a:xfrm>
            <a:prstGeom prst="rect">
              <a:avLst/>
            </a:prstGeom>
            <a:ln>
              <a:solidFill>
                <a:schemeClr val="accent1"/>
              </a:solidFill>
            </a:ln>
          </p:spPr>
        </p:pic>
      </p:grpSp>
      <p:sp>
        <p:nvSpPr>
          <p:cNvPr id="2" name="文本框 1"/>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4</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right)">
                                      <p:cBhvr>
                                        <p:cTn id="11" dur="500"/>
                                        <p:tgtEl>
                                          <p:spTgt spid="20"/>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up)">
                                      <p:cBhvr>
                                        <p:cTn id="14" dur="500"/>
                                        <p:tgtEl>
                                          <p:spTgt spid="9">
                                            <p:txEl>
                                              <p:pRg st="0" end="0"/>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wipe(up)">
                                      <p:cBhvr>
                                        <p:cTn id="17" dur="500"/>
                                        <p:tgtEl>
                                          <p:spTgt spid="9">
                                            <p:txEl>
                                              <p:pRg st="1" end="1"/>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wipe(up)">
                                      <p:cBhvr>
                                        <p:cTn id="20" dur="500"/>
                                        <p:tgtEl>
                                          <p:spTgt spid="9">
                                            <p:txEl>
                                              <p:pRg st="2" end="2"/>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wipe(up)">
                                      <p:cBhvr>
                                        <p:cTn id="23" dur="500"/>
                                        <p:tgtEl>
                                          <p:spTgt spid="9">
                                            <p:txEl>
                                              <p:pRg st="3" end="3"/>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wipe(up)">
                                      <p:cBhvr>
                                        <p:cTn id="26" dur="500"/>
                                        <p:tgtEl>
                                          <p:spTgt spid="9">
                                            <p:txEl>
                                              <p:pRg st="4" end="4"/>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wipe(up)">
                                      <p:cBhvr>
                                        <p:cTn id="29" dur="500"/>
                                        <p:tgtEl>
                                          <p:spTgt spid="9">
                                            <p:txEl>
                                              <p:pRg st="5" end="5"/>
                                            </p:txEl>
                                          </p:spTgt>
                                        </p:tgtEl>
                                      </p:cBhvr>
                                    </p:animEffect>
                                  </p:childTnLst>
                                </p:cTn>
                              </p:par>
                              <p:par>
                                <p:cTn id="30" presetID="2" presetClass="entr" presetSubtype="8"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fill="hold"/>
                                        <p:tgtEl>
                                          <p:spTgt spid="18"/>
                                        </p:tgtEl>
                                        <p:attrNameLst>
                                          <p:attrName>ppt_x</p:attrName>
                                        </p:attrNameLst>
                                      </p:cBhvr>
                                      <p:tavLst>
                                        <p:tav tm="0">
                                          <p:val>
                                            <p:strVal val="0-#ppt_w/2"/>
                                          </p:val>
                                        </p:tav>
                                        <p:tav tm="100000">
                                          <p:val>
                                            <p:strVal val="#ppt_x"/>
                                          </p:val>
                                        </p:tav>
                                      </p:tavLst>
                                    </p:anim>
                                    <p:anim calcmode="lin" valueType="num">
                                      <p:cBhvr additive="base">
                                        <p:cTn id="33"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9" grpId="0" build="p"/>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793750" y="66040"/>
            <a:ext cx="3524250" cy="460375"/>
          </a:xfrm>
          <a:prstGeom prst="rect">
            <a:avLst/>
          </a:prstGeom>
          <a:noFill/>
        </p:spPr>
        <p:txBody>
          <a:bodyPr wrap="square" rtlCol="0">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 </a:t>
            </a:r>
            <a:r>
              <a:rPr lang="zh-CN" altLang="en-US" sz="2400" b="1" spc="150" dirty="0">
                <a:solidFill>
                  <a:srgbClr val="0061AE"/>
                </a:solidFill>
                <a:latin typeface="字魂手刻宋" panose="00000500000000000000" charset="-122"/>
                <a:ea typeface="字魂手刻宋" panose="00000500000000000000" charset="-122"/>
                <a:sym typeface="+mn-ea"/>
              </a:rPr>
              <a:t>平台</a:t>
            </a:r>
            <a:r>
              <a:rPr lang="zh-CN" altLang="en-US" sz="2400" b="1" spc="150" dirty="0">
                <a:solidFill>
                  <a:srgbClr val="0061AE"/>
                </a:solidFill>
                <a:latin typeface="字魂手刻宋" panose="00000500000000000000" charset="-122"/>
                <a:ea typeface="字魂手刻宋" panose="00000500000000000000" charset="-122"/>
                <a:sym typeface="+mn-ea"/>
              </a:rPr>
              <a:t>大数据相关荣誉</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grpSp>
        <p:nvGrpSpPr>
          <p:cNvPr id="16" name="组合 15"/>
          <p:cNvGrpSpPr/>
          <p:nvPr/>
        </p:nvGrpSpPr>
        <p:grpSpPr>
          <a:xfrm>
            <a:off x="228600" y="610870"/>
            <a:ext cx="11775440" cy="5749925"/>
            <a:chOff x="360" y="962"/>
            <a:chExt cx="18544" cy="9055"/>
          </a:xfrm>
        </p:grpSpPr>
        <p:pic>
          <p:nvPicPr>
            <p:cNvPr id="3" name="图片 2"/>
            <p:cNvPicPr>
              <a:picLocks noChangeAspect="1"/>
            </p:cNvPicPr>
            <p:nvPr/>
          </p:nvPicPr>
          <p:blipFill>
            <a:blip r:embed="rId2"/>
            <a:stretch>
              <a:fillRect/>
            </a:stretch>
          </p:blipFill>
          <p:spPr>
            <a:xfrm>
              <a:off x="1080" y="1082"/>
              <a:ext cx="5932" cy="4443"/>
            </a:xfrm>
            <a:prstGeom prst="rect">
              <a:avLst/>
            </a:prstGeom>
            <a:ln>
              <a:solidFill>
                <a:schemeClr val="accent1"/>
              </a:solidFill>
            </a:ln>
          </p:spPr>
        </p:pic>
        <p:pic>
          <p:nvPicPr>
            <p:cNvPr id="4" name="图片 3"/>
            <p:cNvPicPr>
              <a:picLocks noChangeAspect="1"/>
            </p:cNvPicPr>
            <p:nvPr/>
          </p:nvPicPr>
          <p:blipFill>
            <a:blip r:embed="rId3"/>
            <a:stretch>
              <a:fillRect/>
            </a:stretch>
          </p:blipFill>
          <p:spPr>
            <a:xfrm>
              <a:off x="7319" y="962"/>
              <a:ext cx="5836" cy="3966"/>
            </a:xfrm>
            <a:prstGeom prst="rect">
              <a:avLst/>
            </a:prstGeom>
            <a:ln>
              <a:solidFill>
                <a:schemeClr val="accent1"/>
              </a:solidFill>
            </a:ln>
          </p:spPr>
        </p:pic>
        <p:pic>
          <p:nvPicPr>
            <p:cNvPr id="5" name="图片 4"/>
            <p:cNvPicPr>
              <a:picLocks noChangeAspect="1"/>
            </p:cNvPicPr>
            <p:nvPr/>
          </p:nvPicPr>
          <p:blipFill>
            <a:blip r:embed="rId4"/>
            <a:stretch>
              <a:fillRect/>
            </a:stretch>
          </p:blipFill>
          <p:spPr>
            <a:xfrm>
              <a:off x="7199" y="5041"/>
              <a:ext cx="6074" cy="585"/>
            </a:xfrm>
            <a:prstGeom prst="rect">
              <a:avLst/>
            </a:prstGeom>
          </p:spPr>
        </p:pic>
        <p:pic>
          <p:nvPicPr>
            <p:cNvPr id="6" name="图片 5"/>
            <p:cNvPicPr>
              <a:picLocks noChangeAspect="1"/>
            </p:cNvPicPr>
            <p:nvPr/>
          </p:nvPicPr>
          <p:blipFill>
            <a:blip r:embed="rId5"/>
            <a:stretch>
              <a:fillRect/>
            </a:stretch>
          </p:blipFill>
          <p:spPr>
            <a:xfrm>
              <a:off x="13558" y="962"/>
              <a:ext cx="5316" cy="3539"/>
            </a:xfrm>
            <a:prstGeom prst="rect">
              <a:avLst/>
            </a:prstGeom>
            <a:ln>
              <a:solidFill>
                <a:schemeClr val="accent1"/>
              </a:solidFill>
            </a:ln>
          </p:spPr>
        </p:pic>
        <p:pic>
          <p:nvPicPr>
            <p:cNvPr id="7" name="图片 6"/>
            <p:cNvPicPr>
              <a:picLocks noChangeAspect="1"/>
            </p:cNvPicPr>
            <p:nvPr/>
          </p:nvPicPr>
          <p:blipFill>
            <a:blip r:embed="rId6"/>
            <a:stretch>
              <a:fillRect/>
            </a:stretch>
          </p:blipFill>
          <p:spPr>
            <a:xfrm>
              <a:off x="13558" y="4637"/>
              <a:ext cx="5317" cy="573"/>
            </a:xfrm>
            <a:prstGeom prst="rect">
              <a:avLst/>
            </a:prstGeom>
          </p:spPr>
        </p:pic>
        <p:pic>
          <p:nvPicPr>
            <p:cNvPr id="8" name="图片 7"/>
            <p:cNvPicPr>
              <a:picLocks noChangeAspect="1"/>
            </p:cNvPicPr>
            <p:nvPr/>
          </p:nvPicPr>
          <p:blipFill>
            <a:blip r:embed="rId7"/>
            <a:stretch>
              <a:fillRect/>
            </a:stretch>
          </p:blipFill>
          <p:spPr>
            <a:xfrm>
              <a:off x="13558" y="5161"/>
              <a:ext cx="5315" cy="466"/>
            </a:xfrm>
            <a:prstGeom prst="rect">
              <a:avLst/>
            </a:prstGeom>
          </p:spPr>
        </p:pic>
        <p:pic>
          <p:nvPicPr>
            <p:cNvPr id="9" name="图片 8"/>
            <p:cNvPicPr>
              <a:picLocks noChangeAspect="1"/>
            </p:cNvPicPr>
            <p:nvPr/>
          </p:nvPicPr>
          <p:blipFill>
            <a:blip r:embed="rId8"/>
            <a:stretch>
              <a:fillRect/>
            </a:stretch>
          </p:blipFill>
          <p:spPr>
            <a:xfrm>
              <a:off x="361" y="5761"/>
              <a:ext cx="5262" cy="3627"/>
            </a:xfrm>
            <a:prstGeom prst="rect">
              <a:avLst/>
            </a:prstGeom>
            <a:ln>
              <a:solidFill>
                <a:schemeClr val="accent1"/>
              </a:solidFill>
            </a:ln>
          </p:spPr>
        </p:pic>
        <p:pic>
          <p:nvPicPr>
            <p:cNvPr id="10" name="图片 9"/>
            <p:cNvPicPr>
              <a:picLocks noChangeAspect="1"/>
            </p:cNvPicPr>
            <p:nvPr/>
          </p:nvPicPr>
          <p:blipFill>
            <a:blip r:embed="rId9"/>
            <a:stretch>
              <a:fillRect/>
            </a:stretch>
          </p:blipFill>
          <p:spPr>
            <a:xfrm>
              <a:off x="360" y="9388"/>
              <a:ext cx="5306" cy="575"/>
            </a:xfrm>
            <a:prstGeom prst="rect">
              <a:avLst/>
            </a:prstGeom>
          </p:spPr>
        </p:pic>
        <p:pic>
          <p:nvPicPr>
            <p:cNvPr id="11" name="图片 10" descr="53.工业互联网APP优秀解决方案"/>
            <p:cNvPicPr>
              <a:picLocks noChangeAspect="1"/>
            </p:cNvPicPr>
            <p:nvPr/>
          </p:nvPicPr>
          <p:blipFill>
            <a:blip r:embed="rId10"/>
            <a:stretch>
              <a:fillRect/>
            </a:stretch>
          </p:blipFill>
          <p:spPr>
            <a:xfrm>
              <a:off x="5624" y="5778"/>
              <a:ext cx="4851" cy="4157"/>
            </a:xfrm>
            <a:prstGeom prst="rect">
              <a:avLst/>
            </a:prstGeom>
            <a:ln>
              <a:solidFill>
                <a:schemeClr val="accent1"/>
              </a:solidFill>
            </a:ln>
          </p:spPr>
        </p:pic>
        <p:pic>
          <p:nvPicPr>
            <p:cNvPr id="12" name="图片 11" descr="工业和信息化部办公厅关于公布2022年工业互联网试点示范项目名单的通知_00"/>
            <p:cNvPicPr>
              <a:picLocks noChangeAspect="1"/>
            </p:cNvPicPr>
            <p:nvPr/>
          </p:nvPicPr>
          <p:blipFill>
            <a:blip r:embed="rId11"/>
            <a:srcRect l="7669" r="7733"/>
            <a:stretch>
              <a:fillRect/>
            </a:stretch>
          </p:blipFill>
          <p:spPr>
            <a:xfrm>
              <a:off x="10476" y="5794"/>
              <a:ext cx="4386" cy="3444"/>
            </a:xfrm>
            <a:prstGeom prst="rect">
              <a:avLst/>
            </a:prstGeom>
            <a:ln>
              <a:solidFill>
                <a:schemeClr val="accent1"/>
              </a:solidFill>
            </a:ln>
          </p:spPr>
        </p:pic>
        <p:pic>
          <p:nvPicPr>
            <p:cNvPr id="13" name="图片 12"/>
            <p:cNvPicPr>
              <a:picLocks noChangeAspect="1"/>
            </p:cNvPicPr>
            <p:nvPr/>
          </p:nvPicPr>
          <p:blipFill>
            <a:blip r:embed="rId12"/>
            <a:stretch>
              <a:fillRect/>
            </a:stretch>
          </p:blipFill>
          <p:spPr>
            <a:xfrm>
              <a:off x="10475" y="9240"/>
              <a:ext cx="4312" cy="751"/>
            </a:xfrm>
            <a:prstGeom prst="rect">
              <a:avLst/>
            </a:prstGeom>
          </p:spPr>
        </p:pic>
        <p:pic>
          <p:nvPicPr>
            <p:cNvPr id="110" name="图片 109"/>
            <p:cNvPicPr/>
            <p:nvPr/>
          </p:nvPicPr>
          <p:blipFill>
            <a:blip r:embed="rId13"/>
            <a:stretch>
              <a:fillRect/>
            </a:stretch>
          </p:blipFill>
          <p:spPr>
            <a:xfrm>
              <a:off x="14879" y="5776"/>
              <a:ext cx="3955" cy="3468"/>
            </a:xfrm>
            <a:prstGeom prst="rect">
              <a:avLst/>
            </a:prstGeom>
            <a:noFill/>
            <a:ln w="9525">
              <a:solidFill>
                <a:schemeClr val="accent1"/>
              </a:solidFill>
            </a:ln>
          </p:spPr>
        </p:pic>
        <p:pic>
          <p:nvPicPr>
            <p:cNvPr id="111" name="图片 110"/>
            <p:cNvPicPr/>
            <p:nvPr/>
          </p:nvPicPr>
          <p:blipFill>
            <a:blip r:embed="rId14"/>
            <a:stretch>
              <a:fillRect/>
            </a:stretch>
          </p:blipFill>
          <p:spPr>
            <a:xfrm>
              <a:off x="14788" y="9255"/>
              <a:ext cx="4116" cy="763"/>
            </a:xfrm>
            <a:prstGeom prst="rect">
              <a:avLst/>
            </a:prstGeom>
            <a:noFill/>
            <a:ln w="9525">
              <a:noFill/>
            </a:ln>
          </p:spPr>
        </p:pic>
      </p:grpSp>
      <p:sp>
        <p:nvSpPr>
          <p:cNvPr id="15" name="文本框 14"/>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4</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000" fill="hold">
                                          <p:stCondLst>
                                            <p:cond delay="0"/>
                                          </p:stCondLst>
                                        </p:cTn>
                                        <p:tgtEl>
                                          <p:spTgt spid="16"/>
                                        </p:tgtEl>
                                        <p:attrNameLst>
                                          <p:attrName>style.visibility</p:attrName>
                                        </p:attrNameLst>
                                      </p:cBhvr>
                                      <p:to>
                                        <p:strVal val="visible"/>
                                      </p:to>
                                    </p:set>
                                    <p:animEffect transition="in" filter="box(out)">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2351072" y="6172406"/>
            <a:ext cx="6984543" cy="398780"/>
          </a:xfrm>
          <a:prstGeom prst="rect">
            <a:avLst/>
          </a:prstGeom>
          <a:noFill/>
        </p:spPr>
        <p:txBody>
          <a:bodyPr wrap="square" rtlCol="0" anchor="t">
            <a:spAutoFit/>
          </a:bodyPr>
          <a:p>
            <a:pPr algn="ctr"/>
            <a:r>
              <a:rPr lang="zh-CN" alt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发明专利</a:t>
            </a:r>
            <a:r>
              <a:rPr lang="en-US" altLang="zh-CN"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35</a:t>
            </a:r>
            <a:r>
              <a:rPr lang="zh-CN" alt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项、实用新型专利</a:t>
            </a:r>
            <a:r>
              <a:rPr lang="en-US" altLang="zh-CN"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26</a:t>
            </a:r>
            <a:r>
              <a:rPr lang="zh-CN" alt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项、软著</a:t>
            </a:r>
            <a:r>
              <a:rPr 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212</a:t>
            </a:r>
            <a:r>
              <a:rPr lang="zh-CN" alt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项</a:t>
            </a:r>
            <a:endParaRPr lang="zh-CN" altLang="en-US" sz="2000" b="1" dirty="0">
              <a:solidFill>
                <a:srgbClr val="0061AE"/>
              </a:solidFill>
              <a:latin typeface="字魂手刻宋" panose="00000500000000000000" charset="-122"/>
              <a:ea typeface="字魂手刻宋" panose="00000500000000000000" charset="-122"/>
              <a:cs typeface="字魂手刻宋" panose="00000500000000000000" charset="-122"/>
              <a:sym typeface="+mn-ea"/>
            </a:endParaRPr>
          </a:p>
        </p:txBody>
      </p:sp>
      <p:grpSp>
        <p:nvGrpSpPr>
          <p:cNvPr id="26" name="组合 25"/>
          <p:cNvGrpSpPr/>
          <p:nvPr/>
        </p:nvGrpSpPr>
        <p:grpSpPr>
          <a:xfrm>
            <a:off x="3885593" y="2970602"/>
            <a:ext cx="7797851" cy="2963717"/>
            <a:chOff x="6240" y="5280"/>
            <a:chExt cx="12282" cy="4668"/>
          </a:xfrm>
        </p:grpSpPr>
        <p:pic>
          <p:nvPicPr>
            <p:cNvPr id="15" name="图片 14" descr="50、危化品企业作业行为安全管理与风险预警云平台V1.0"/>
            <p:cNvPicPr>
              <a:picLocks noChangeAspect="1"/>
            </p:cNvPicPr>
            <p:nvPr/>
          </p:nvPicPr>
          <p:blipFill>
            <a:blip r:embed="rId1"/>
            <a:stretch>
              <a:fillRect/>
            </a:stretch>
          </p:blipFill>
          <p:spPr>
            <a:xfrm>
              <a:off x="6240" y="5280"/>
              <a:ext cx="3402" cy="4611"/>
            </a:xfrm>
            <a:prstGeom prst="rect">
              <a:avLst/>
            </a:prstGeom>
            <a:ln>
              <a:solidFill>
                <a:schemeClr val="accent1"/>
              </a:solidFill>
            </a:ln>
          </p:spPr>
        </p:pic>
        <p:pic>
          <p:nvPicPr>
            <p:cNvPr id="16" name="图片 15" descr="51、安责险事故预防管理系统（机构端）V2.0"/>
            <p:cNvPicPr>
              <a:picLocks noChangeAspect="1"/>
            </p:cNvPicPr>
            <p:nvPr/>
          </p:nvPicPr>
          <p:blipFill>
            <a:blip r:embed="rId2"/>
            <a:stretch>
              <a:fillRect/>
            </a:stretch>
          </p:blipFill>
          <p:spPr>
            <a:xfrm>
              <a:off x="7200" y="5281"/>
              <a:ext cx="3402" cy="4610"/>
            </a:xfrm>
            <a:prstGeom prst="rect">
              <a:avLst/>
            </a:prstGeom>
            <a:ln>
              <a:solidFill>
                <a:schemeClr val="accent1"/>
              </a:solidFill>
            </a:ln>
          </p:spPr>
        </p:pic>
        <p:pic>
          <p:nvPicPr>
            <p:cNvPr id="17" name="图片 16" descr="52、安全专家在线服务系统[简称：安全专家在线]V1.0"/>
            <p:cNvPicPr>
              <a:picLocks noChangeAspect="1"/>
            </p:cNvPicPr>
            <p:nvPr/>
          </p:nvPicPr>
          <p:blipFill>
            <a:blip r:embed="rId3"/>
            <a:stretch>
              <a:fillRect/>
            </a:stretch>
          </p:blipFill>
          <p:spPr>
            <a:xfrm>
              <a:off x="8280" y="5280"/>
              <a:ext cx="3402" cy="4609"/>
            </a:xfrm>
            <a:prstGeom prst="rect">
              <a:avLst/>
            </a:prstGeom>
            <a:ln>
              <a:solidFill>
                <a:schemeClr val="accent1"/>
              </a:solidFill>
            </a:ln>
          </p:spPr>
        </p:pic>
        <p:pic>
          <p:nvPicPr>
            <p:cNvPr id="18" name="图片 17"/>
            <p:cNvPicPr>
              <a:picLocks noChangeAspect="1"/>
            </p:cNvPicPr>
            <p:nvPr>
              <p:custDataLst>
                <p:tags r:id="rId4"/>
              </p:custDataLst>
            </p:nvPr>
          </p:nvPicPr>
          <p:blipFill>
            <a:blip r:embed="rId5"/>
            <a:stretch>
              <a:fillRect/>
            </a:stretch>
          </p:blipFill>
          <p:spPr>
            <a:xfrm>
              <a:off x="9240" y="5281"/>
              <a:ext cx="3402" cy="4635"/>
            </a:xfrm>
            <a:prstGeom prst="rect">
              <a:avLst/>
            </a:prstGeom>
            <a:ln>
              <a:solidFill>
                <a:schemeClr val="accent1"/>
              </a:solidFill>
            </a:ln>
          </p:spPr>
        </p:pic>
        <p:pic>
          <p:nvPicPr>
            <p:cNvPr id="19" name="图片 18"/>
            <p:cNvPicPr>
              <a:picLocks noChangeAspect="1"/>
            </p:cNvPicPr>
            <p:nvPr>
              <p:custDataLst>
                <p:tags r:id="rId6"/>
              </p:custDataLst>
            </p:nvPr>
          </p:nvPicPr>
          <p:blipFill>
            <a:blip r:embed="rId7"/>
            <a:stretch>
              <a:fillRect/>
            </a:stretch>
          </p:blipFill>
          <p:spPr>
            <a:xfrm>
              <a:off x="10080" y="5316"/>
              <a:ext cx="3402" cy="4600"/>
            </a:xfrm>
            <a:prstGeom prst="rect">
              <a:avLst/>
            </a:prstGeom>
            <a:ln>
              <a:solidFill>
                <a:schemeClr val="accent1"/>
              </a:solidFill>
            </a:ln>
          </p:spPr>
        </p:pic>
        <p:pic>
          <p:nvPicPr>
            <p:cNvPr id="20" name="图片 19"/>
            <p:cNvPicPr>
              <a:picLocks noChangeAspect="1"/>
            </p:cNvPicPr>
            <p:nvPr>
              <p:custDataLst>
                <p:tags r:id="rId8"/>
              </p:custDataLst>
            </p:nvPr>
          </p:nvPicPr>
          <p:blipFill>
            <a:blip r:embed="rId9"/>
            <a:stretch>
              <a:fillRect/>
            </a:stretch>
          </p:blipFill>
          <p:spPr>
            <a:xfrm>
              <a:off x="11160" y="5316"/>
              <a:ext cx="3402" cy="4633"/>
            </a:xfrm>
            <a:prstGeom prst="rect">
              <a:avLst/>
            </a:prstGeom>
            <a:ln>
              <a:solidFill>
                <a:schemeClr val="accent1"/>
              </a:solidFill>
            </a:ln>
          </p:spPr>
        </p:pic>
        <p:pic>
          <p:nvPicPr>
            <p:cNvPr id="21" name="图片 20"/>
            <p:cNvPicPr>
              <a:picLocks noChangeAspect="1"/>
            </p:cNvPicPr>
            <p:nvPr>
              <p:custDataLst>
                <p:tags r:id="rId10"/>
              </p:custDataLst>
            </p:nvPr>
          </p:nvPicPr>
          <p:blipFill>
            <a:blip r:embed="rId11"/>
            <a:stretch>
              <a:fillRect/>
            </a:stretch>
          </p:blipFill>
          <p:spPr>
            <a:xfrm>
              <a:off x="12240" y="5316"/>
              <a:ext cx="3402" cy="4616"/>
            </a:xfrm>
            <a:prstGeom prst="rect">
              <a:avLst/>
            </a:prstGeom>
            <a:ln>
              <a:solidFill>
                <a:schemeClr val="accent1"/>
              </a:solidFill>
            </a:ln>
          </p:spPr>
        </p:pic>
        <p:pic>
          <p:nvPicPr>
            <p:cNvPr id="22" name="图片 21"/>
            <p:cNvPicPr>
              <a:picLocks noChangeAspect="1"/>
            </p:cNvPicPr>
            <p:nvPr>
              <p:custDataLst>
                <p:tags r:id="rId12"/>
              </p:custDataLst>
            </p:nvPr>
          </p:nvPicPr>
          <p:blipFill>
            <a:blip r:embed="rId13"/>
            <a:stretch>
              <a:fillRect/>
            </a:stretch>
          </p:blipFill>
          <p:spPr>
            <a:xfrm>
              <a:off x="13194" y="5323"/>
              <a:ext cx="3402" cy="4609"/>
            </a:xfrm>
            <a:prstGeom prst="rect">
              <a:avLst/>
            </a:prstGeom>
            <a:ln>
              <a:solidFill>
                <a:schemeClr val="accent1"/>
              </a:solidFill>
            </a:ln>
          </p:spPr>
        </p:pic>
        <p:pic>
          <p:nvPicPr>
            <p:cNvPr id="24" name="图片 23"/>
            <p:cNvPicPr>
              <a:picLocks noChangeAspect="1"/>
            </p:cNvPicPr>
            <p:nvPr>
              <p:custDataLst>
                <p:tags r:id="rId14"/>
              </p:custDataLst>
            </p:nvPr>
          </p:nvPicPr>
          <p:blipFill>
            <a:blip r:embed="rId9"/>
            <a:stretch>
              <a:fillRect/>
            </a:stretch>
          </p:blipFill>
          <p:spPr>
            <a:xfrm>
              <a:off x="14160" y="5283"/>
              <a:ext cx="3402" cy="4633"/>
            </a:xfrm>
            <a:prstGeom prst="rect">
              <a:avLst/>
            </a:prstGeom>
            <a:ln>
              <a:solidFill>
                <a:schemeClr val="accent1"/>
              </a:solidFill>
            </a:ln>
          </p:spPr>
        </p:pic>
        <p:pic>
          <p:nvPicPr>
            <p:cNvPr id="25" name="图片 24" descr="51、安责险事故预防管理系统（机构端）V2.0"/>
            <p:cNvPicPr>
              <a:picLocks noChangeAspect="1"/>
            </p:cNvPicPr>
            <p:nvPr>
              <p:custDataLst>
                <p:tags r:id="rId15"/>
              </p:custDataLst>
            </p:nvPr>
          </p:nvPicPr>
          <p:blipFill>
            <a:blip r:embed="rId2"/>
            <a:stretch>
              <a:fillRect/>
            </a:stretch>
          </p:blipFill>
          <p:spPr>
            <a:xfrm>
              <a:off x="15120" y="5306"/>
              <a:ext cx="3402" cy="4610"/>
            </a:xfrm>
            <a:prstGeom prst="rect">
              <a:avLst/>
            </a:prstGeom>
            <a:ln>
              <a:solidFill>
                <a:schemeClr val="accent1"/>
              </a:solidFill>
            </a:ln>
          </p:spPr>
        </p:pic>
      </p:grpSp>
      <p:grpSp>
        <p:nvGrpSpPr>
          <p:cNvPr id="27" name="组合 26"/>
          <p:cNvGrpSpPr/>
          <p:nvPr/>
        </p:nvGrpSpPr>
        <p:grpSpPr>
          <a:xfrm>
            <a:off x="761881" y="1142087"/>
            <a:ext cx="6824548" cy="2900227"/>
            <a:chOff x="1320" y="2040"/>
            <a:chExt cx="10749" cy="4568"/>
          </a:xfrm>
        </p:grpSpPr>
        <p:grpSp>
          <p:nvGrpSpPr>
            <p:cNvPr id="9" name="组合 8"/>
            <p:cNvGrpSpPr/>
            <p:nvPr/>
          </p:nvGrpSpPr>
          <p:grpSpPr>
            <a:xfrm>
              <a:off x="1320" y="2040"/>
              <a:ext cx="9298" cy="4569"/>
              <a:chOff x="3240" y="2757"/>
              <a:chExt cx="9298" cy="4569"/>
            </a:xfrm>
          </p:grpSpPr>
          <p:grpSp>
            <p:nvGrpSpPr>
              <p:cNvPr id="39" name="组合 38"/>
              <p:cNvGrpSpPr/>
              <p:nvPr/>
            </p:nvGrpSpPr>
            <p:grpSpPr>
              <a:xfrm>
                <a:off x="3240" y="2760"/>
                <a:ext cx="6379" cy="4562"/>
                <a:chOff x="10137" y="3800"/>
                <a:chExt cx="6500" cy="4744"/>
              </a:xfrm>
            </p:grpSpPr>
            <p:pic>
              <p:nvPicPr>
                <p:cNvPr id="34" name="图片 33"/>
                <p:cNvPicPr>
                  <a:picLocks noChangeAspect="1"/>
                </p:cNvPicPr>
                <p:nvPr>
                  <p:custDataLst>
                    <p:tags r:id="rId16"/>
                  </p:custDataLst>
                </p:nvPr>
              </p:nvPicPr>
              <p:blipFill>
                <a:blip r:embed="rId17"/>
                <a:stretch>
                  <a:fillRect/>
                </a:stretch>
              </p:blipFill>
              <p:spPr>
                <a:xfrm>
                  <a:off x="10137" y="3801"/>
                  <a:ext cx="3317" cy="4734"/>
                </a:xfrm>
                <a:prstGeom prst="rect">
                  <a:avLst/>
                </a:prstGeom>
                <a:ln>
                  <a:solidFill>
                    <a:srgbClr val="00B0F0"/>
                  </a:solidFill>
                </a:ln>
              </p:spPr>
            </p:pic>
            <p:pic>
              <p:nvPicPr>
                <p:cNvPr id="35" name="图片 34"/>
                <p:cNvPicPr>
                  <a:picLocks noChangeAspect="1"/>
                </p:cNvPicPr>
                <p:nvPr>
                  <p:custDataLst>
                    <p:tags r:id="rId18"/>
                  </p:custDataLst>
                </p:nvPr>
              </p:nvPicPr>
              <p:blipFill>
                <a:blip r:embed="rId19"/>
                <a:stretch>
                  <a:fillRect/>
                </a:stretch>
              </p:blipFill>
              <p:spPr>
                <a:xfrm>
                  <a:off x="10973" y="3815"/>
                  <a:ext cx="3299" cy="4711"/>
                </a:xfrm>
                <a:prstGeom prst="rect">
                  <a:avLst/>
                </a:prstGeom>
                <a:ln>
                  <a:solidFill>
                    <a:srgbClr val="00B0F0"/>
                  </a:solidFill>
                </a:ln>
              </p:spPr>
            </p:pic>
            <p:pic>
              <p:nvPicPr>
                <p:cNvPr id="36" name="图片 35"/>
                <p:cNvPicPr>
                  <a:picLocks noChangeAspect="1"/>
                </p:cNvPicPr>
                <p:nvPr>
                  <p:custDataLst>
                    <p:tags r:id="rId20"/>
                  </p:custDataLst>
                </p:nvPr>
              </p:nvPicPr>
              <p:blipFill>
                <a:blip r:embed="rId21"/>
                <a:stretch>
                  <a:fillRect/>
                </a:stretch>
              </p:blipFill>
              <p:spPr>
                <a:xfrm>
                  <a:off x="11695" y="3800"/>
                  <a:ext cx="3382" cy="4744"/>
                </a:xfrm>
                <a:prstGeom prst="rect">
                  <a:avLst/>
                </a:prstGeom>
                <a:ln>
                  <a:solidFill>
                    <a:srgbClr val="00B0F0"/>
                  </a:solidFill>
                </a:ln>
              </p:spPr>
            </p:pic>
            <p:pic>
              <p:nvPicPr>
                <p:cNvPr id="38" name="图片 37"/>
                <p:cNvPicPr>
                  <a:picLocks noChangeAspect="1"/>
                </p:cNvPicPr>
                <p:nvPr>
                  <p:custDataLst>
                    <p:tags r:id="rId22"/>
                  </p:custDataLst>
                </p:nvPr>
              </p:nvPicPr>
              <p:blipFill>
                <a:blip r:embed="rId23"/>
                <a:stretch>
                  <a:fillRect/>
                </a:stretch>
              </p:blipFill>
              <p:spPr>
                <a:xfrm>
                  <a:off x="12488" y="3810"/>
                  <a:ext cx="3362" cy="4717"/>
                </a:xfrm>
                <a:prstGeom prst="rect">
                  <a:avLst/>
                </a:prstGeom>
                <a:ln>
                  <a:solidFill>
                    <a:srgbClr val="00B0F0"/>
                  </a:solidFill>
                </a:ln>
              </p:spPr>
            </p:pic>
            <p:pic>
              <p:nvPicPr>
                <p:cNvPr id="3" name="图片 2"/>
                <p:cNvPicPr>
                  <a:picLocks noChangeAspect="1"/>
                </p:cNvPicPr>
                <p:nvPr>
                  <p:custDataLst>
                    <p:tags r:id="rId24"/>
                  </p:custDataLst>
                </p:nvPr>
              </p:nvPicPr>
              <p:blipFill>
                <a:blip r:embed="rId25"/>
                <a:stretch>
                  <a:fillRect/>
                </a:stretch>
              </p:blipFill>
              <p:spPr>
                <a:xfrm>
                  <a:off x="13293" y="3810"/>
                  <a:ext cx="3344" cy="4708"/>
                </a:xfrm>
                <a:prstGeom prst="rect">
                  <a:avLst/>
                </a:prstGeom>
                <a:ln>
                  <a:solidFill>
                    <a:srgbClr val="00B0F0"/>
                  </a:solidFill>
                </a:ln>
              </p:spPr>
            </p:pic>
          </p:grpSp>
          <p:pic>
            <p:nvPicPr>
              <p:cNvPr id="37" name="图片 36"/>
              <p:cNvPicPr>
                <a:picLocks noChangeAspect="1"/>
              </p:cNvPicPr>
              <p:nvPr>
                <p:custDataLst>
                  <p:tags r:id="rId26"/>
                </p:custDataLst>
              </p:nvPr>
            </p:nvPicPr>
            <p:blipFill>
              <a:blip r:embed="rId25"/>
              <a:stretch>
                <a:fillRect/>
              </a:stretch>
            </p:blipFill>
            <p:spPr>
              <a:xfrm>
                <a:off x="6960" y="2799"/>
                <a:ext cx="3282" cy="4527"/>
              </a:xfrm>
              <a:prstGeom prst="rect">
                <a:avLst/>
              </a:prstGeom>
              <a:ln>
                <a:solidFill>
                  <a:srgbClr val="00B0F0"/>
                </a:solidFill>
              </a:ln>
            </p:spPr>
          </p:pic>
          <p:pic>
            <p:nvPicPr>
              <p:cNvPr id="5" name="图片 4"/>
              <p:cNvPicPr>
                <a:picLocks noChangeAspect="1"/>
              </p:cNvPicPr>
              <p:nvPr>
                <p:custDataLst>
                  <p:tags r:id="rId27"/>
                </p:custDataLst>
              </p:nvPr>
            </p:nvPicPr>
            <p:blipFill>
              <a:blip r:embed="rId19"/>
              <a:stretch>
                <a:fillRect/>
              </a:stretch>
            </p:blipFill>
            <p:spPr>
              <a:xfrm>
                <a:off x="7680" y="2757"/>
                <a:ext cx="3238" cy="4530"/>
              </a:xfrm>
              <a:prstGeom prst="rect">
                <a:avLst/>
              </a:prstGeom>
              <a:ln>
                <a:solidFill>
                  <a:srgbClr val="00B0F0"/>
                </a:solidFill>
              </a:ln>
            </p:spPr>
          </p:pic>
          <p:pic>
            <p:nvPicPr>
              <p:cNvPr id="6" name="图片 5"/>
              <p:cNvPicPr>
                <a:picLocks noChangeAspect="1"/>
              </p:cNvPicPr>
              <p:nvPr>
                <p:custDataLst>
                  <p:tags r:id="rId28"/>
                </p:custDataLst>
              </p:nvPr>
            </p:nvPicPr>
            <p:blipFill>
              <a:blip r:embed="rId17"/>
              <a:stretch>
                <a:fillRect/>
              </a:stretch>
            </p:blipFill>
            <p:spPr>
              <a:xfrm>
                <a:off x="8400" y="2774"/>
                <a:ext cx="3255" cy="4552"/>
              </a:xfrm>
              <a:prstGeom prst="rect">
                <a:avLst/>
              </a:prstGeom>
              <a:ln>
                <a:solidFill>
                  <a:srgbClr val="00B0F0"/>
                </a:solidFill>
              </a:ln>
            </p:spPr>
          </p:pic>
          <p:pic>
            <p:nvPicPr>
              <p:cNvPr id="8" name="图片 7"/>
              <p:cNvPicPr>
                <a:picLocks noChangeAspect="1"/>
              </p:cNvPicPr>
              <p:nvPr>
                <p:custDataLst>
                  <p:tags r:id="rId29"/>
                </p:custDataLst>
              </p:nvPr>
            </p:nvPicPr>
            <p:blipFill>
              <a:blip r:embed="rId23"/>
              <a:stretch>
                <a:fillRect/>
              </a:stretch>
            </p:blipFill>
            <p:spPr>
              <a:xfrm>
                <a:off x="9240" y="2760"/>
                <a:ext cx="3299" cy="4536"/>
              </a:xfrm>
              <a:prstGeom prst="rect">
                <a:avLst/>
              </a:prstGeom>
              <a:ln>
                <a:solidFill>
                  <a:srgbClr val="00B0F0"/>
                </a:solidFill>
              </a:ln>
            </p:spPr>
          </p:pic>
        </p:grpSp>
        <p:pic>
          <p:nvPicPr>
            <p:cNvPr id="13" name="图片 12"/>
            <p:cNvPicPr>
              <a:picLocks noChangeAspect="1"/>
            </p:cNvPicPr>
            <p:nvPr>
              <p:custDataLst>
                <p:tags r:id="rId30"/>
              </p:custDataLst>
            </p:nvPr>
          </p:nvPicPr>
          <p:blipFill>
            <a:blip r:embed="rId25"/>
            <a:stretch>
              <a:fillRect/>
            </a:stretch>
          </p:blipFill>
          <p:spPr>
            <a:xfrm>
              <a:off x="8040" y="2043"/>
              <a:ext cx="3282" cy="4527"/>
            </a:xfrm>
            <a:prstGeom prst="rect">
              <a:avLst/>
            </a:prstGeom>
            <a:ln>
              <a:solidFill>
                <a:srgbClr val="00B0F0"/>
              </a:solidFill>
            </a:ln>
          </p:spPr>
        </p:pic>
        <p:pic>
          <p:nvPicPr>
            <p:cNvPr id="14" name="图片 13"/>
            <p:cNvPicPr>
              <a:picLocks noChangeAspect="1"/>
            </p:cNvPicPr>
            <p:nvPr>
              <p:custDataLst>
                <p:tags r:id="rId31"/>
              </p:custDataLst>
            </p:nvPr>
          </p:nvPicPr>
          <p:blipFill>
            <a:blip r:embed="rId25"/>
            <a:stretch>
              <a:fillRect/>
            </a:stretch>
          </p:blipFill>
          <p:spPr>
            <a:xfrm>
              <a:off x="8787" y="2040"/>
              <a:ext cx="3282" cy="4527"/>
            </a:xfrm>
            <a:prstGeom prst="rect">
              <a:avLst/>
            </a:prstGeom>
            <a:ln>
              <a:solidFill>
                <a:srgbClr val="00B0F0"/>
              </a:solidFill>
            </a:ln>
          </p:spPr>
        </p:pic>
      </p:grpSp>
      <p:sp>
        <p:nvSpPr>
          <p:cNvPr id="10" name="文本框 9"/>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4</a:t>
            </a:r>
            <a:endParaRPr lang="en-US" altLang="zh-CN" sz="3200" b="1" spc="150">
              <a:solidFill>
                <a:schemeClr val="bg1"/>
              </a:solidFill>
              <a:latin typeface="字魂手刻宋" panose="00000500000000000000" charset="-122"/>
              <a:ea typeface="字魂手刻宋" panose="00000500000000000000" charset="-122"/>
            </a:endParaRPr>
          </a:p>
        </p:txBody>
      </p:sp>
      <p:sp>
        <p:nvSpPr>
          <p:cNvPr id="11" name="文本框 10"/>
          <p:cNvSpPr txBox="1"/>
          <p:nvPr>
            <p:custDataLst>
              <p:tags r:id="rId32"/>
            </p:custDataLst>
          </p:nvPr>
        </p:nvSpPr>
        <p:spPr>
          <a:xfrm>
            <a:off x="793750" y="66040"/>
            <a:ext cx="3524250" cy="460375"/>
          </a:xfrm>
          <a:prstGeom prst="rect">
            <a:avLst/>
          </a:prstGeom>
          <a:noFill/>
        </p:spPr>
        <p:txBody>
          <a:bodyPr wrap="square" rtlCol="0">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 平台知识产权</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1"/>
          <p:cNvGrpSpPr/>
          <p:nvPr/>
        </p:nvGrpSpPr>
        <p:grpSpPr>
          <a:xfrm>
            <a:off x="921241" y="879873"/>
            <a:ext cx="9912095" cy="3045619"/>
            <a:chOff x="1879" y="5478"/>
            <a:chExt cx="15544" cy="4797"/>
          </a:xfrm>
        </p:grpSpPr>
        <p:pic>
          <p:nvPicPr>
            <p:cNvPr id="3" name="图片 2" descr="E:/项目申报基础材料/河南鑫安利安全科技股份有限公司/9.标准/2.团标-智慧化工园区设计、建设、验收规范（T／HNPCIA 27-2022）（付印版）/智慧化工园区设计、建设、验收规范（T／HNPCIA 27-2022）（付印版）_04.jpg智慧化工园区设计、建设、验收规范（T／HNPCIA 27-2022）（付印版）_04"/>
            <p:cNvPicPr>
              <a:picLocks noChangeAspect="1"/>
            </p:cNvPicPr>
            <p:nvPr/>
          </p:nvPicPr>
          <p:blipFill>
            <a:blip r:embed="rId1"/>
            <a:srcRect t="266" b="266"/>
            <a:stretch>
              <a:fillRect/>
            </a:stretch>
          </p:blipFill>
          <p:spPr>
            <a:xfrm>
              <a:off x="13806" y="5494"/>
              <a:ext cx="3617" cy="4781"/>
            </a:xfrm>
            <a:prstGeom prst="rect">
              <a:avLst/>
            </a:prstGeom>
            <a:effectLst>
              <a:glow rad="63500">
                <a:srgbClr val="048F9C">
                  <a:alpha val="40000"/>
                </a:srgbClr>
              </a:glow>
              <a:outerShdw blurRad="50800" dist="38100" dir="2700000" algn="tl" rotWithShape="0">
                <a:prstClr val="black">
                  <a:alpha val="40000"/>
                </a:prstClr>
              </a:outerShdw>
            </a:effectLst>
          </p:spPr>
        </p:pic>
        <p:pic>
          <p:nvPicPr>
            <p:cNvPr id="4" name="图片 3" descr="E:/项目申报基础材料/河南鑫安利安全科技股份有限公司/9.标准/2.团标-智慧化工园区设计、建设、验收规范（T／HNPCIA 27-2022）（付印版）/智慧化工园区设计、建设、验收规范（T／HNPCIA 27-2022）（付印版）_03.jpg智慧化工园区设计、建设、验收规范（T／HNPCIA 27-2022）（付印版）_03"/>
            <p:cNvPicPr>
              <a:picLocks noChangeAspect="1"/>
            </p:cNvPicPr>
            <p:nvPr/>
          </p:nvPicPr>
          <p:blipFill>
            <a:blip r:embed="rId2"/>
            <a:srcRect t="266" b="266"/>
            <a:stretch>
              <a:fillRect/>
            </a:stretch>
          </p:blipFill>
          <p:spPr>
            <a:xfrm>
              <a:off x="11025" y="5494"/>
              <a:ext cx="3381" cy="4781"/>
            </a:xfrm>
            <a:prstGeom prst="rect">
              <a:avLst/>
            </a:prstGeom>
            <a:effectLst>
              <a:glow rad="63500">
                <a:srgbClr val="048F9C">
                  <a:alpha val="40000"/>
                </a:srgbClr>
              </a:glow>
              <a:outerShdw blurRad="50800" dist="38100" dir="2700000" algn="tl" rotWithShape="0">
                <a:prstClr val="black">
                  <a:alpha val="40000"/>
                </a:prstClr>
              </a:outerShdw>
            </a:effectLst>
          </p:spPr>
        </p:pic>
        <p:pic>
          <p:nvPicPr>
            <p:cNvPr id="5" name="图片 4" descr="E:/项目申报基础材料/河南鑫安利安全科技股份有限公司/9.标准/2.团标-智慧化工园区设计、建设、验收规范（T／HNPCIA 27-2022）（付印版）/智慧化工园区设计、建设、验收规范（T／HNPCIA 27-2022）（付印版）_02.jpg智慧化工园区设计、建设、验收规范（T／HNPCIA 27-2022）（付印版）_02"/>
            <p:cNvPicPr>
              <a:picLocks noChangeAspect="1"/>
            </p:cNvPicPr>
            <p:nvPr/>
          </p:nvPicPr>
          <p:blipFill>
            <a:blip r:embed="rId3"/>
            <a:srcRect t="266" b="266"/>
            <a:stretch>
              <a:fillRect/>
            </a:stretch>
          </p:blipFill>
          <p:spPr>
            <a:xfrm>
              <a:off x="7910" y="5478"/>
              <a:ext cx="3381" cy="4781"/>
            </a:xfrm>
            <a:prstGeom prst="rect">
              <a:avLst/>
            </a:prstGeom>
            <a:effectLst>
              <a:glow rad="63500">
                <a:srgbClr val="048F9C">
                  <a:alpha val="40000"/>
                </a:srgbClr>
              </a:glow>
              <a:outerShdw blurRad="50800" dist="38100" dir="2700000" algn="tl" rotWithShape="0">
                <a:prstClr val="black">
                  <a:alpha val="40000"/>
                </a:prstClr>
              </a:outerShdw>
            </a:effectLst>
          </p:spPr>
        </p:pic>
        <p:pic>
          <p:nvPicPr>
            <p:cNvPr id="6" name="图片 5" descr="E:/项目申报基础材料/河南鑫安利安全科技股份有限公司/9.标准/2.团标-智慧化工园区设计、建设、验收规范（T／HNPCIA 27-2022）（付印版）/智慧化工园区设计、建设、验收规范（T／HNPCIA 27-2022）（付印版）_01.jpg智慧化工园区设计、建设、验收规范（T／HNPCIA 27-2022）（付印版）_01"/>
            <p:cNvPicPr>
              <a:picLocks noChangeAspect="1"/>
            </p:cNvPicPr>
            <p:nvPr/>
          </p:nvPicPr>
          <p:blipFill>
            <a:blip r:embed="rId4"/>
            <a:srcRect t="266" b="266"/>
            <a:stretch>
              <a:fillRect/>
            </a:stretch>
          </p:blipFill>
          <p:spPr>
            <a:xfrm>
              <a:off x="4862" y="5478"/>
              <a:ext cx="3381" cy="4781"/>
            </a:xfrm>
            <a:prstGeom prst="rect">
              <a:avLst/>
            </a:prstGeom>
            <a:effectLst>
              <a:glow rad="63500">
                <a:srgbClr val="048F9C">
                  <a:alpha val="40000"/>
                </a:srgbClr>
              </a:glow>
              <a:outerShdw blurRad="50800" dist="38100" dir="2700000" algn="tl" rotWithShape="0">
                <a:prstClr val="black">
                  <a:alpha val="40000"/>
                </a:prstClr>
              </a:outerShdw>
            </a:effectLst>
          </p:spPr>
        </p:pic>
        <p:pic>
          <p:nvPicPr>
            <p:cNvPr id="7" name="图片 6" descr="E:/项目申报基础材料/河南鑫安利安全科技股份有限公司/9.标准/2.团标-智慧化工园区设计、建设、验收规范（T／HNPCIA 27-2022）（付印版）/智慧化工园区设计、建设、验收规范（T／HNPCIA 27-2022）（付印版）_00.jpg智慧化工园区设计、建设、验收规范（T／HNPCIA 27-2022）（付印版）_00"/>
            <p:cNvPicPr>
              <a:picLocks noChangeAspect="1"/>
            </p:cNvPicPr>
            <p:nvPr/>
          </p:nvPicPr>
          <p:blipFill>
            <a:blip r:embed="rId5"/>
            <a:srcRect t="266" b="266"/>
            <a:stretch>
              <a:fillRect/>
            </a:stretch>
          </p:blipFill>
          <p:spPr>
            <a:xfrm>
              <a:off x="1879" y="5494"/>
              <a:ext cx="3381" cy="4781"/>
            </a:xfrm>
            <a:prstGeom prst="rect">
              <a:avLst/>
            </a:prstGeom>
            <a:effectLst>
              <a:glow rad="63500">
                <a:srgbClr val="048F9C">
                  <a:alpha val="40000"/>
                </a:srgbClr>
              </a:glow>
              <a:outerShdw blurRad="50800" dist="38100" dir="2700000" algn="tl" rotWithShape="0">
                <a:prstClr val="black">
                  <a:alpha val="40000"/>
                </a:prstClr>
              </a:outerShdw>
            </a:effectLst>
          </p:spPr>
        </p:pic>
      </p:grpSp>
      <p:grpSp>
        <p:nvGrpSpPr>
          <p:cNvPr id="12" name="组合 1"/>
          <p:cNvGrpSpPr/>
          <p:nvPr/>
        </p:nvGrpSpPr>
        <p:grpSpPr>
          <a:xfrm>
            <a:off x="921764" y="2018885"/>
            <a:ext cx="9910166" cy="3505922"/>
            <a:chOff x="1828" y="4618"/>
            <a:chExt cx="15609" cy="5522"/>
          </a:xfrm>
        </p:grpSpPr>
        <p:pic>
          <p:nvPicPr>
            <p:cNvPr id="13" name="图片 12"/>
            <p:cNvPicPr>
              <a:picLocks noChangeAspect="1"/>
            </p:cNvPicPr>
            <p:nvPr/>
          </p:nvPicPr>
          <p:blipFill rotWithShape="1">
            <a:blip r:embed="rId6"/>
            <a:srcRect r="1902"/>
            <a:stretch>
              <a:fillRect/>
            </a:stretch>
          </p:blipFill>
          <p:spPr>
            <a:xfrm>
              <a:off x="13529" y="4618"/>
              <a:ext cx="3909" cy="5523"/>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4" name="图片 13"/>
            <p:cNvPicPr>
              <a:picLocks noChangeAspect="1"/>
            </p:cNvPicPr>
            <p:nvPr/>
          </p:nvPicPr>
          <p:blipFill rotWithShape="1">
            <a:blip r:embed="rId7"/>
            <a:srcRect l="2118"/>
            <a:stretch>
              <a:fillRect/>
            </a:stretch>
          </p:blipFill>
          <p:spPr>
            <a:xfrm>
              <a:off x="11874" y="4618"/>
              <a:ext cx="3900" cy="5523"/>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5" name="图片 14"/>
            <p:cNvPicPr>
              <a:picLocks noChangeAspect="1"/>
            </p:cNvPicPr>
            <p:nvPr/>
          </p:nvPicPr>
          <p:blipFill rotWithShape="1">
            <a:blip r:embed="rId8"/>
            <a:srcRect t="483"/>
            <a:stretch>
              <a:fillRect/>
            </a:stretch>
          </p:blipFill>
          <p:spPr>
            <a:xfrm>
              <a:off x="9914" y="4618"/>
              <a:ext cx="3984" cy="5496"/>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6" name="图片 15"/>
            <p:cNvPicPr>
              <a:picLocks noChangeAspect="1"/>
            </p:cNvPicPr>
            <p:nvPr/>
          </p:nvPicPr>
          <p:blipFill>
            <a:blip r:embed="rId9"/>
            <a:stretch>
              <a:fillRect/>
            </a:stretch>
          </p:blipFill>
          <p:spPr>
            <a:xfrm>
              <a:off x="7890" y="4618"/>
              <a:ext cx="3984" cy="5502"/>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7" name="图片 16"/>
            <p:cNvPicPr>
              <a:picLocks noChangeAspect="1"/>
            </p:cNvPicPr>
            <p:nvPr/>
          </p:nvPicPr>
          <p:blipFill rotWithShape="1">
            <a:blip r:embed="rId10"/>
            <a:srcRect r="1771"/>
            <a:stretch>
              <a:fillRect/>
            </a:stretch>
          </p:blipFill>
          <p:spPr>
            <a:xfrm>
              <a:off x="5926" y="4618"/>
              <a:ext cx="3898" cy="5496"/>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8" name="图片 17"/>
            <p:cNvPicPr>
              <a:picLocks noChangeAspect="1"/>
            </p:cNvPicPr>
            <p:nvPr/>
          </p:nvPicPr>
          <p:blipFill rotWithShape="1">
            <a:blip r:embed="rId11"/>
            <a:srcRect l="2139"/>
            <a:stretch>
              <a:fillRect/>
            </a:stretch>
          </p:blipFill>
          <p:spPr>
            <a:xfrm>
              <a:off x="3821" y="4618"/>
              <a:ext cx="3898" cy="5480"/>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9" name="图片 18"/>
            <p:cNvPicPr>
              <a:picLocks noChangeAspect="1"/>
            </p:cNvPicPr>
            <p:nvPr/>
          </p:nvPicPr>
          <p:blipFill rotWithShape="1">
            <a:blip r:embed="rId12"/>
            <a:srcRect l="1772" r="-1"/>
            <a:stretch>
              <a:fillRect/>
            </a:stretch>
          </p:blipFill>
          <p:spPr>
            <a:xfrm>
              <a:off x="1828" y="4618"/>
              <a:ext cx="3898" cy="5480"/>
            </a:xfrm>
            <a:prstGeom prst="rect">
              <a:avLst/>
            </a:prstGeom>
            <a:effectLst>
              <a:glow rad="63500">
                <a:srgbClr val="089CA3">
                  <a:alpha val="40000"/>
                </a:srgbClr>
              </a:glow>
              <a:outerShdw blurRad="50800" dist="38100" dir="2700000" algn="tl" rotWithShape="0">
                <a:prstClr val="black">
                  <a:alpha val="40000"/>
                </a:prstClr>
              </a:outerShdw>
            </a:effectLst>
          </p:spPr>
        </p:pic>
      </p:grpSp>
      <p:sp>
        <p:nvSpPr>
          <p:cNvPr id="8" name="文本框 7"/>
          <p:cNvSpPr txBox="1"/>
          <p:nvPr>
            <p:custDataLst>
              <p:tags r:id="rId13"/>
            </p:custDataLst>
          </p:nvPr>
        </p:nvSpPr>
        <p:spPr>
          <a:xfrm>
            <a:off x="1054100" y="-248"/>
            <a:ext cx="3027680" cy="460375"/>
          </a:xfrm>
          <a:prstGeom prst="rect">
            <a:avLst/>
          </a:prstGeom>
          <a:noFill/>
        </p:spPr>
        <p:txBody>
          <a:bodyPr wrap="square" rtlCol="0">
            <a:spAutoFit/>
          </a:bodyPr>
          <a:lstStyle/>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沉淀多类通用标准</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grpSp>
        <p:nvGrpSpPr>
          <p:cNvPr id="9" name="组合 1"/>
          <p:cNvGrpSpPr/>
          <p:nvPr/>
        </p:nvGrpSpPr>
        <p:grpSpPr>
          <a:xfrm>
            <a:off x="896480" y="3060123"/>
            <a:ext cx="9937467" cy="3506557"/>
            <a:chOff x="1828" y="4618"/>
            <a:chExt cx="15610" cy="5523"/>
          </a:xfrm>
        </p:grpSpPr>
        <p:pic>
          <p:nvPicPr>
            <p:cNvPr id="10" name="图片 9"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6.jpg3.国标-数据质量 第62部分：数据质量管理：组织过程成熟度评估：过程评估相关标准的应用_06"/>
            <p:cNvPicPr>
              <a:picLocks noChangeAspect="1"/>
            </p:cNvPicPr>
            <p:nvPr/>
          </p:nvPicPr>
          <p:blipFill rotWithShape="1">
            <a:blip r:embed="rId14"/>
            <a:srcRect l="-13" t="38" r="13" b="38"/>
            <a:stretch>
              <a:fillRect/>
            </a:stretch>
          </p:blipFill>
          <p:spPr>
            <a:xfrm>
              <a:off x="13529" y="4618"/>
              <a:ext cx="3909" cy="5523"/>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11" name="图片 10"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5.jpg3.国标-数据质量 第62部分：数据质量管理：组织过程成熟度评估：过程评估相关标准的应用_05"/>
            <p:cNvPicPr>
              <a:picLocks noChangeAspect="1"/>
            </p:cNvPicPr>
            <p:nvPr/>
          </p:nvPicPr>
          <p:blipFill rotWithShape="1">
            <a:blip r:embed="rId15"/>
            <a:srcRect l="91" r="91"/>
            <a:stretch>
              <a:fillRect/>
            </a:stretch>
          </p:blipFill>
          <p:spPr>
            <a:xfrm>
              <a:off x="11874" y="4618"/>
              <a:ext cx="3900" cy="5523"/>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20" name="图片 19"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4.jpg3.国标-数据质量 第62部分：数据质量管理：组织过程成熟度评估：过程评估相关标准的应用_04"/>
            <p:cNvPicPr>
              <a:picLocks noChangeAspect="1"/>
            </p:cNvPicPr>
            <p:nvPr/>
          </p:nvPicPr>
          <p:blipFill rotWithShape="1">
            <a:blip r:embed="rId16"/>
            <a:srcRect l="-13" t="1217" r="13" b="1217"/>
            <a:stretch>
              <a:fillRect/>
            </a:stretch>
          </p:blipFill>
          <p:spPr>
            <a:xfrm>
              <a:off x="9914" y="4618"/>
              <a:ext cx="3984" cy="5496"/>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21" name="图片 20"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3.jpg3.国标-数据质量 第62部分：数据质量管理：组织过程成熟度评估：过程评估相关标准的应用_03"/>
            <p:cNvPicPr>
              <a:picLocks noChangeAspect="1"/>
            </p:cNvPicPr>
            <p:nvPr/>
          </p:nvPicPr>
          <p:blipFill>
            <a:blip r:embed="rId17"/>
            <a:srcRect l="-13" t="1167" r="13" b="1167"/>
            <a:stretch>
              <a:fillRect/>
            </a:stretch>
          </p:blipFill>
          <p:spPr>
            <a:xfrm>
              <a:off x="7890" y="4618"/>
              <a:ext cx="3984" cy="5502"/>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22" name="图片 21"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2.jpg3.国标-数据质量 第62部分：数据质量管理：组织过程成熟度评估：过程评估相关标准的应用_02"/>
            <p:cNvPicPr>
              <a:picLocks noChangeAspect="1"/>
            </p:cNvPicPr>
            <p:nvPr/>
          </p:nvPicPr>
          <p:blipFill rotWithShape="1">
            <a:blip r:embed="rId18"/>
            <a:srcRect l="-13" t="141" r="13" b="141"/>
            <a:stretch>
              <a:fillRect/>
            </a:stretch>
          </p:blipFill>
          <p:spPr>
            <a:xfrm>
              <a:off x="5926" y="4618"/>
              <a:ext cx="3898" cy="5496"/>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23" name="图片 22"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1.jpg3.国标-数据质量 第62部分：数据质量管理：组织过程成熟度评估：过程评估相关标准的应用_01"/>
            <p:cNvPicPr>
              <a:picLocks noChangeAspect="1"/>
            </p:cNvPicPr>
            <p:nvPr/>
          </p:nvPicPr>
          <p:blipFill rotWithShape="1">
            <a:blip r:embed="rId19"/>
            <a:srcRect t="282" b="282"/>
            <a:stretch>
              <a:fillRect/>
            </a:stretch>
          </p:blipFill>
          <p:spPr>
            <a:xfrm>
              <a:off x="3821" y="4618"/>
              <a:ext cx="3898" cy="5480"/>
            </a:xfrm>
            <a:prstGeom prst="rect">
              <a:avLst/>
            </a:prstGeom>
            <a:effectLst>
              <a:glow rad="63500">
                <a:srgbClr val="089CA3">
                  <a:alpha val="40000"/>
                </a:srgbClr>
              </a:glow>
              <a:outerShdw blurRad="50800" dist="38100" dir="2700000" algn="tl" rotWithShape="0">
                <a:prstClr val="black">
                  <a:alpha val="40000"/>
                </a:prstClr>
              </a:outerShdw>
            </a:effectLst>
          </p:spPr>
        </p:pic>
        <p:pic>
          <p:nvPicPr>
            <p:cNvPr id="24" name="图片 23" descr="E:/项目申报基础材料/河南鑫安利安全科技股份有限公司/9.标准/3.国标-数据质量 第62部分：数据质量管理：组织过程成熟度评估：过程评估相关标准的应用/3.国标-数据质量 第62部分：数据质量管理：组织过程成熟度评估：过程评估相关标准的应用_00.jpg3.国标-数据质量 第62部分：数据质量管理：组织过程成熟度评估：过程评估相关标准的应用_00"/>
            <p:cNvPicPr>
              <a:picLocks noChangeAspect="1"/>
            </p:cNvPicPr>
            <p:nvPr/>
          </p:nvPicPr>
          <p:blipFill rotWithShape="1">
            <a:blip r:embed="rId20"/>
            <a:srcRect t="282" b="282"/>
            <a:stretch>
              <a:fillRect/>
            </a:stretch>
          </p:blipFill>
          <p:spPr>
            <a:xfrm>
              <a:off x="1828" y="4618"/>
              <a:ext cx="3898" cy="5480"/>
            </a:xfrm>
            <a:prstGeom prst="rect">
              <a:avLst/>
            </a:prstGeom>
            <a:effectLst>
              <a:glow rad="63500">
                <a:srgbClr val="089CA3">
                  <a:alpha val="40000"/>
                </a:srgbClr>
              </a:glow>
              <a:outerShdw blurRad="50800" dist="38100" dir="2700000" algn="tl" rotWithShape="0">
                <a:prstClr val="black">
                  <a:alpha val="40000"/>
                </a:prstClr>
              </a:outerShdw>
            </a:effectLst>
          </p:spPr>
        </p:pic>
      </p:grpSp>
      <p:sp>
        <p:nvSpPr>
          <p:cNvPr id="25" name="文本框 24"/>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4</a:t>
            </a:r>
            <a:endParaRPr lang="en-US" altLang="zh-CN" sz="3200" b="1" spc="150">
              <a:solidFill>
                <a:schemeClr val="bg1"/>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5"/>
          <p:cNvSpPr>
            <a:spLocks noGrp="1"/>
          </p:cNvSpPr>
          <p:nvPr>
            <p:custDataLst>
              <p:tags r:id="rId1"/>
            </p:custDataLst>
          </p:nvPr>
        </p:nvSpPr>
        <p:spPr>
          <a:xfrm>
            <a:off x="516492" y="1876350"/>
            <a:ext cx="11155207" cy="4478345"/>
          </a:xfrm>
          <a:prstGeom prst="rect">
            <a:avLst/>
          </a:prstGeom>
        </p:spPr>
        <p:txBody>
          <a:bodyPr lIns="91391" tIns="45695" rIns="91391" bIns="45695"/>
          <a:lstStyle>
            <a:lvl1pPr marL="455930" indent="-45593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sym typeface="Arial" panose="020B0604020202020204" pitchFamily="34" charset="0"/>
              </a:defRPr>
            </a:lvl1pPr>
            <a:lvl2pPr marL="989330" lvl="1" indent="-37973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sym typeface="Arial" panose="020B0604020202020204" pitchFamily="34" charset="0"/>
              </a:defRPr>
            </a:lvl2pPr>
            <a:lvl3pPr marL="1522730" lvl="2" indent="-30353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sym typeface="Arial" panose="020B0604020202020204" pitchFamily="34" charset="0"/>
              </a:defRPr>
            </a:lvl3pPr>
            <a:lvl4pPr marL="2132330" lvl="3" indent="-30353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sym typeface="Arial" panose="020B0604020202020204" pitchFamily="34" charset="0"/>
              </a:defRPr>
            </a:lvl4pPr>
            <a:lvl5pPr marL="2741930" lvl="4" indent="-303530" algn="l" rtl="0" eaLnBrk="0" fontAlgn="base" hangingPunct="0">
              <a:spcBef>
                <a:spcPct val="200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sym typeface="Arial" panose="020B0604020202020204" pitchFamily="34" charset="0"/>
              </a:defRPr>
            </a:lvl5pPr>
            <a:lvl6pPr marL="3352800" lvl="5" indent="-304800" algn="l" defTabSz="1219200" eaLnBrk="1" fontAlgn="base" latinLnBrk="0" hangingPunct="1">
              <a:spcBef>
                <a:spcPct val="20000"/>
              </a:spcBef>
              <a:buFont typeface="Arial" panose="020B0604020202020204" pitchFamily="34" charset="0"/>
              <a:buChar char="»"/>
              <a:defRPr sz="2700" kern="1200">
                <a:solidFill>
                  <a:schemeClr val="tx1"/>
                </a:solidFill>
                <a:latin typeface="+mn-lt"/>
                <a:ea typeface="+mn-ea"/>
                <a:cs typeface="+mn-cs"/>
                <a:sym typeface="Arial" panose="020B0604020202020204" pitchFamily="34" charset="0"/>
              </a:defRPr>
            </a:lvl6pPr>
            <a:lvl7pPr marL="3962400" lvl="6" indent="-304800" algn="l" defTabSz="1219200" eaLnBrk="1" fontAlgn="base" latinLnBrk="0" hangingPunct="1">
              <a:spcBef>
                <a:spcPct val="20000"/>
              </a:spcBef>
              <a:buFont typeface="Arial" panose="020B0604020202020204" pitchFamily="34" charset="0"/>
              <a:buChar char="»"/>
              <a:defRPr sz="2700" kern="1200">
                <a:solidFill>
                  <a:schemeClr val="tx1"/>
                </a:solidFill>
                <a:latin typeface="+mn-lt"/>
                <a:ea typeface="+mn-ea"/>
                <a:cs typeface="+mn-cs"/>
                <a:sym typeface="Arial" panose="020B0604020202020204" pitchFamily="34" charset="0"/>
              </a:defRPr>
            </a:lvl7pPr>
            <a:lvl8pPr marL="4572000" lvl="7" indent="-304800" algn="l" defTabSz="1219200" eaLnBrk="1" fontAlgn="base" latinLnBrk="0" hangingPunct="1">
              <a:spcBef>
                <a:spcPct val="20000"/>
              </a:spcBef>
              <a:buFont typeface="Arial" panose="020B0604020202020204" pitchFamily="34" charset="0"/>
              <a:buChar char="»"/>
              <a:defRPr sz="2700" kern="1200">
                <a:solidFill>
                  <a:schemeClr val="tx1"/>
                </a:solidFill>
                <a:latin typeface="+mn-lt"/>
                <a:ea typeface="+mn-ea"/>
                <a:cs typeface="+mn-cs"/>
                <a:sym typeface="Arial" panose="020B0604020202020204" pitchFamily="34" charset="0"/>
              </a:defRPr>
            </a:lvl8pPr>
            <a:lvl9pPr marL="5181600" lvl="8" indent="-304800" algn="l" defTabSz="1219200" eaLnBrk="1" fontAlgn="base" latinLnBrk="0" hangingPunct="1">
              <a:spcBef>
                <a:spcPct val="20000"/>
              </a:spcBef>
              <a:buFont typeface="Arial" panose="020B0604020202020204" pitchFamily="34" charset="0"/>
              <a:buChar char="»"/>
              <a:defRPr sz="2700" kern="1200">
                <a:solidFill>
                  <a:schemeClr val="tx1"/>
                </a:solidFill>
                <a:latin typeface="+mn-lt"/>
                <a:ea typeface="+mn-ea"/>
                <a:cs typeface="+mn-cs"/>
                <a:sym typeface="Arial" panose="020B0604020202020204" pitchFamily="34" charset="0"/>
              </a:defRPr>
            </a:lvl9pPr>
          </a:lstStyle>
          <a:p>
            <a:pPr eaLnBrk="1" hangingPunct="1">
              <a:lnSpc>
                <a:spcPct val="150000"/>
              </a:lnSpc>
              <a:buFont typeface="Arial" panose="020B0604020202020204" pitchFamily="34" charset="0"/>
              <a:buNone/>
            </a:pPr>
            <a:endParaRPr lang="en-US" altLang="zh-CN" sz="2900" dirty="0" smtClean="0"/>
          </a:p>
          <a:p>
            <a:pPr eaLnBrk="1" hangingPunct="1">
              <a:lnSpc>
                <a:spcPct val="150000"/>
              </a:lnSpc>
              <a:buFont typeface="Arial" panose="020B0604020202020204" pitchFamily="34" charset="0"/>
              <a:buNone/>
            </a:pPr>
            <a:endParaRPr lang="en-US" altLang="zh-CN" sz="3600" b="1" dirty="0" smtClean="0">
              <a:solidFill>
                <a:schemeClr val="accent1"/>
              </a:solidFill>
              <a:effectLst>
                <a:outerShdw blurRad="38100" dist="25400" dir="5400000" algn="ctr" rotWithShape="0">
                  <a:srgbClr val="6E747A">
                    <a:alpha val="43000"/>
                  </a:srgbClr>
                </a:outerShdw>
              </a:effectLst>
            </a:endParaRPr>
          </a:p>
        </p:txBody>
      </p:sp>
      <p:pic>
        <p:nvPicPr>
          <p:cNvPr id="5" name="图片 4"/>
          <p:cNvPicPr/>
          <p:nvPr/>
        </p:nvPicPr>
        <p:blipFill>
          <a:blip r:embed="rId2"/>
          <a:srcRect l="9667" t="4633" r="14899" b="4385"/>
          <a:stretch>
            <a:fillRect/>
          </a:stretch>
        </p:blipFill>
        <p:spPr>
          <a:xfrm rot="5400000">
            <a:off x="1108537" y="722418"/>
            <a:ext cx="1598680" cy="3204979"/>
          </a:xfrm>
          <a:prstGeom prst="rect">
            <a:avLst/>
          </a:prstGeom>
          <a:noFill/>
          <a:ln w="9525">
            <a:noFill/>
          </a:ln>
        </p:spPr>
      </p:pic>
      <p:sp>
        <p:nvSpPr>
          <p:cNvPr id="12" name="文本框 11"/>
          <p:cNvSpPr txBox="1"/>
          <p:nvPr/>
        </p:nvSpPr>
        <p:spPr>
          <a:xfrm>
            <a:off x="380940" y="769378"/>
            <a:ext cx="11209808" cy="783590"/>
          </a:xfrm>
          <a:prstGeom prst="rect">
            <a:avLst/>
          </a:prstGeom>
          <a:noFill/>
        </p:spPr>
        <p:txBody>
          <a:bodyPr wrap="square" rtlCol="0" anchor="t">
            <a:spAutoFit/>
          </a:bodyPr>
          <a:p>
            <a:pPr indent="0" fontAlgn="auto">
              <a:lnSpc>
                <a:spcPct val="150000"/>
              </a:lnSpc>
            </a:pPr>
            <a:r>
              <a:rPr lang="zh-CN" altLang="en-US" sz="16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已经获得资质：</a:t>
            </a:r>
            <a:r>
              <a:rPr lang="zh-CN" altLang="en-US" sz="1400" dirty="0">
                <a:latin typeface="字魂手刻宋" panose="00000500000000000000" charset="-122"/>
                <a:ea typeface="字魂手刻宋" panose="00000500000000000000" charset="-122"/>
                <a:cs typeface="字魂手刻宋" panose="00000500000000000000" charset="-122"/>
                <a:sym typeface="+mn-ea"/>
              </a:rPr>
              <a:t>信息系统安全等级保护、ISO27001信息安全管理体系认证、ISO20000信息技术服务管理体系认证、信息化和工业化融合管理体系认证、知识产权管理体系认证、ISO9001质量管理体系认证、ISO14001环境管理体系认证、ISO45001职业健康安全管理体系认证。</a:t>
            </a:r>
            <a:endParaRPr lang="zh-CN" altLang="en-US" sz="1400" dirty="0">
              <a:latin typeface="字魂手刻宋" panose="00000500000000000000" charset="-122"/>
              <a:ea typeface="字魂手刻宋" panose="00000500000000000000" charset="-122"/>
              <a:cs typeface="字魂手刻宋" panose="00000500000000000000" charset="-122"/>
              <a:sym typeface="+mn-ea"/>
            </a:endParaRPr>
          </a:p>
        </p:txBody>
      </p:sp>
      <p:grpSp>
        <p:nvGrpSpPr>
          <p:cNvPr id="8" name="组合 7"/>
          <p:cNvGrpSpPr/>
          <p:nvPr/>
        </p:nvGrpSpPr>
        <p:grpSpPr>
          <a:xfrm>
            <a:off x="381000" y="3124835"/>
            <a:ext cx="11369040" cy="2901950"/>
            <a:chOff x="600" y="4921"/>
            <a:chExt cx="17904" cy="4570"/>
          </a:xfrm>
        </p:grpSpPr>
        <p:pic>
          <p:nvPicPr>
            <p:cNvPr id="101" name="图片 100"/>
            <p:cNvPicPr/>
            <p:nvPr/>
          </p:nvPicPr>
          <p:blipFill>
            <a:blip r:embed="rId3"/>
            <a:stretch>
              <a:fillRect/>
            </a:stretch>
          </p:blipFill>
          <p:spPr>
            <a:xfrm>
              <a:off x="600" y="4921"/>
              <a:ext cx="3147" cy="4568"/>
            </a:xfrm>
            <a:prstGeom prst="rect">
              <a:avLst/>
            </a:prstGeom>
            <a:noFill/>
            <a:ln w="9525">
              <a:solidFill>
                <a:schemeClr val="accent1"/>
              </a:solidFill>
            </a:ln>
          </p:spPr>
        </p:pic>
        <p:pic>
          <p:nvPicPr>
            <p:cNvPr id="102" name="图片 101"/>
            <p:cNvPicPr/>
            <p:nvPr/>
          </p:nvPicPr>
          <p:blipFill>
            <a:blip r:embed="rId4"/>
            <a:stretch>
              <a:fillRect/>
            </a:stretch>
          </p:blipFill>
          <p:spPr>
            <a:xfrm>
              <a:off x="3000" y="4922"/>
              <a:ext cx="3146" cy="4569"/>
            </a:xfrm>
            <a:prstGeom prst="rect">
              <a:avLst/>
            </a:prstGeom>
            <a:noFill/>
            <a:ln w="9525">
              <a:solidFill>
                <a:schemeClr val="accent1"/>
              </a:solidFill>
            </a:ln>
          </p:spPr>
        </p:pic>
        <p:pic>
          <p:nvPicPr>
            <p:cNvPr id="103" name="图片 102"/>
            <p:cNvPicPr/>
            <p:nvPr/>
          </p:nvPicPr>
          <p:blipFill>
            <a:blip r:embed="rId5"/>
            <a:stretch>
              <a:fillRect/>
            </a:stretch>
          </p:blipFill>
          <p:spPr>
            <a:xfrm>
              <a:off x="5759" y="4923"/>
              <a:ext cx="3146" cy="4569"/>
            </a:xfrm>
            <a:prstGeom prst="rect">
              <a:avLst/>
            </a:prstGeom>
            <a:noFill/>
            <a:ln w="9525">
              <a:solidFill>
                <a:schemeClr val="accent1"/>
              </a:solidFill>
            </a:ln>
          </p:spPr>
        </p:pic>
        <p:pic>
          <p:nvPicPr>
            <p:cNvPr id="23" name="图片 22"/>
            <p:cNvPicPr>
              <a:picLocks noChangeAspect="1"/>
            </p:cNvPicPr>
            <p:nvPr/>
          </p:nvPicPr>
          <p:blipFill>
            <a:blip r:embed="rId6"/>
            <a:stretch>
              <a:fillRect/>
            </a:stretch>
          </p:blipFill>
          <p:spPr>
            <a:xfrm>
              <a:off x="8162" y="4923"/>
              <a:ext cx="3318" cy="4569"/>
            </a:xfrm>
            <a:prstGeom prst="rect">
              <a:avLst/>
            </a:prstGeom>
            <a:ln>
              <a:solidFill>
                <a:schemeClr val="accent1"/>
              </a:solidFill>
            </a:ln>
          </p:spPr>
        </p:pic>
        <p:pic>
          <p:nvPicPr>
            <p:cNvPr id="107" name="图片 106"/>
            <p:cNvPicPr/>
            <p:nvPr/>
          </p:nvPicPr>
          <p:blipFill>
            <a:blip r:embed="rId7"/>
            <a:stretch>
              <a:fillRect/>
            </a:stretch>
          </p:blipFill>
          <p:spPr>
            <a:xfrm>
              <a:off x="10198" y="4923"/>
              <a:ext cx="3146" cy="4569"/>
            </a:xfrm>
            <a:prstGeom prst="rect">
              <a:avLst/>
            </a:prstGeom>
            <a:noFill/>
            <a:ln w="9525">
              <a:solidFill>
                <a:schemeClr val="accent1"/>
              </a:solidFill>
            </a:ln>
          </p:spPr>
        </p:pic>
        <p:pic>
          <p:nvPicPr>
            <p:cNvPr id="108" name="图片 107"/>
            <p:cNvPicPr/>
            <p:nvPr/>
          </p:nvPicPr>
          <p:blipFill>
            <a:blip r:embed="rId8"/>
            <a:stretch>
              <a:fillRect/>
            </a:stretch>
          </p:blipFill>
          <p:spPr>
            <a:xfrm>
              <a:off x="12598" y="4923"/>
              <a:ext cx="3146" cy="4569"/>
            </a:xfrm>
            <a:prstGeom prst="rect">
              <a:avLst/>
            </a:prstGeom>
            <a:noFill/>
            <a:ln w="9525">
              <a:solidFill>
                <a:schemeClr val="accent1"/>
              </a:solidFill>
            </a:ln>
          </p:spPr>
        </p:pic>
        <p:pic>
          <p:nvPicPr>
            <p:cNvPr id="109" name="图片 108"/>
            <p:cNvPicPr/>
            <p:nvPr/>
          </p:nvPicPr>
          <p:blipFill>
            <a:blip r:embed="rId9"/>
            <a:stretch>
              <a:fillRect/>
            </a:stretch>
          </p:blipFill>
          <p:spPr>
            <a:xfrm>
              <a:off x="15358" y="4923"/>
              <a:ext cx="3146" cy="4569"/>
            </a:xfrm>
            <a:prstGeom prst="rect">
              <a:avLst/>
            </a:prstGeom>
            <a:noFill/>
            <a:ln w="9525">
              <a:solidFill>
                <a:schemeClr val="accent1"/>
              </a:solidFill>
            </a:ln>
          </p:spPr>
        </p:pic>
      </p:grpSp>
      <p:sp>
        <p:nvSpPr>
          <p:cNvPr id="24" name="文本框 23"/>
          <p:cNvSpPr txBox="1"/>
          <p:nvPr/>
        </p:nvSpPr>
        <p:spPr>
          <a:xfrm>
            <a:off x="3656965" y="1485265"/>
            <a:ext cx="7835265" cy="460375"/>
          </a:xfrm>
          <a:prstGeom prst="rect">
            <a:avLst/>
          </a:prstGeom>
          <a:noFill/>
        </p:spPr>
        <p:txBody>
          <a:bodyPr wrap="square" rtlCol="0" anchor="t">
            <a:spAutoFit/>
          </a:bodyPr>
          <a:p>
            <a:pPr indent="0" fontAlgn="auto">
              <a:lnSpc>
                <a:spcPct val="150000"/>
              </a:lnSpc>
            </a:pPr>
            <a:r>
              <a:rPr lang="zh-CN" altLang="en-US" sz="16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正在进行的资质认证：</a:t>
            </a:r>
            <a:r>
              <a:rPr sz="1400" dirty="0">
                <a:latin typeface="字魂手刻宋" panose="00000500000000000000" charset="-122"/>
                <a:ea typeface="字魂手刻宋" panose="00000500000000000000" charset="-122"/>
                <a:cs typeface="字魂手刻宋" panose="00000500000000000000" charset="-122"/>
                <a:sym typeface="+mn-ea"/>
              </a:rPr>
              <a:t>软件能力成熟度模型集成评估(CMMI)（三级）</a:t>
            </a:r>
            <a:r>
              <a:rPr lang="zh-CN" sz="1400" dirty="0">
                <a:latin typeface="字魂手刻宋" panose="00000500000000000000" charset="-122"/>
                <a:ea typeface="字魂手刻宋" panose="00000500000000000000" charset="-122"/>
                <a:cs typeface="字魂手刻宋" panose="00000500000000000000" charset="-122"/>
                <a:sym typeface="+mn-ea"/>
              </a:rPr>
              <a:t>。</a:t>
            </a:r>
            <a:endParaRPr lang="zh-CN" sz="1400" dirty="0">
              <a:latin typeface="字魂手刻宋" panose="00000500000000000000" charset="-122"/>
              <a:ea typeface="字魂手刻宋" panose="00000500000000000000" charset="-122"/>
              <a:cs typeface="字魂手刻宋" panose="00000500000000000000" charset="-122"/>
              <a:sym typeface="+mn-ea"/>
            </a:endParaRPr>
          </a:p>
        </p:txBody>
      </p:sp>
      <p:sp>
        <p:nvSpPr>
          <p:cNvPr id="25" name="文本框 24"/>
          <p:cNvSpPr txBox="1"/>
          <p:nvPr/>
        </p:nvSpPr>
        <p:spPr>
          <a:xfrm>
            <a:off x="3646881" y="1835991"/>
            <a:ext cx="8151491" cy="1106805"/>
          </a:xfrm>
          <a:prstGeom prst="rect">
            <a:avLst/>
          </a:prstGeom>
          <a:noFill/>
        </p:spPr>
        <p:txBody>
          <a:bodyPr wrap="square" rtlCol="0" anchor="t">
            <a:spAutoFit/>
          </a:bodyPr>
          <a:p>
            <a:pPr indent="0" fontAlgn="auto">
              <a:lnSpc>
                <a:spcPct val="150000"/>
              </a:lnSpc>
            </a:pPr>
            <a:r>
              <a:rPr lang="zh-CN" altLang="en-US" sz="1600" b="1" dirty="0">
                <a:solidFill>
                  <a:srgbClr val="0061AE"/>
                </a:solidFill>
                <a:latin typeface="字魂手刻宋" panose="00000500000000000000" charset="-122"/>
                <a:ea typeface="字魂手刻宋" panose="00000500000000000000" charset="-122"/>
                <a:cs typeface="字魂手刻宋" panose="00000500000000000000" charset="-122"/>
                <a:sym typeface="+mn-ea"/>
              </a:rPr>
              <a:t>规划中的资质认证：</a:t>
            </a:r>
            <a:r>
              <a:rPr sz="1400" dirty="0">
                <a:latin typeface="字魂手刻宋" panose="00000500000000000000" charset="-122"/>
                <a:ea typeface="字魂手刻宋" panose="00000500000000000000" charset="-122"/>
                <a:cs typeface="字魂手刻宋" panose="00000500000000000000" charset="-122"/>
                <a:sym typeface="+mn-ea"/>
              </a:rPr>
              <a:t>ITSS信息技术服务标准体系认证（三级）</a:t>
            </a:r>
            <a:r>
              <a:rPr lang="zh-CN" sz="1400" dirty="0">
                <a:latin typeface="字魂手刻宋" panose="00000500000000000000" charset="-122"/>
                <a:ea typeface="字魂手刻宋" panose="00000500000000000000" charset="-122"/>
                <a:cs typeface="字魂手刻宋" panose="00000500000000000000" charset="-122"/>
                <a:sym typeface="+mn-ea"/>
              </a:rPr>
              <a:t>、</a:t>
            </a:r>
            <a:r>
              <a:rPr sz="1400" dirty="0">
                <a:latin typeface="字魂手刻宋" panose="00000500000000000000" charset="-122"/>
                <a:ea typeface="字魂手刻宋" panose="00000500000000000000" charset="-122"/>
                <a:cs typeface="字魂手刻宋" panose="00000500000000000000" charset="-122"/>
                <a:sym typeface="+mn-ea"/>
              </a:rPr>
              <a:t>CS信息系统建设和服务能力评估体系认证（CS2级）</a:t>
            </a:r>
            <a:r>
              <a:rPr lang="zh-CN" sz="1400" dirty="0">
                <a:latin typeface="字魂手刻宋" panose="00000500000000000000" charset="-122"/>
                <a:ea typeface="字魂手刻宋" panose="00000500000000000000" charset="-122"/>
                <a:cs typeface="字魂手刻宋" panose="00000500000000000000" charset="-122"/>
                <a:sym typeface="+mn-ea"/>
              </a:rPr>
              <a:t>、涉密信息系统集成资质认证（乙级）、数据管理能力成熟度评估DCMM（三级）、DSMM数据安全能力成熟度模型、SPCA软件能力评估和软件能力成熟度评估。</a:t>
            </a:r>
            <a:endParaRPr lang="zh-CN" sz="1400" dirty="0">
              <a:latin typeface="字魂手刻宋" panose="00000500000000000000" charset="-122"/>
              <a:ea typeface="字魂手刻宋" panose="00000500000000000000" charset="-122"/>
              <a:cs typeface="字魂手刻宋" panose="00000500000000000000" charset="-122"/>
              <a:sym typeface="+mn-ea"/>
            </a:endParaRPr>
          </a:p>
        </p:txBody>
      </p:sp>
      <p:sp>
        <p:nvSpPr>
          <p:cNvPr id="9" name="文本框 8"/>
          <p:cNvSpPr txBox="1"/>
          <p:nvPr/>
        </p:nvSpPr>
        <p:spPr>
          <a:xfrm>
            <a:off x="114935" y="69850"/>
            <a:ext cx="788035" cy="883285"/>
          </a:xfrm>
          <a:prstGeom prst="rect">
            <a:avLst/>
          </a:prstGeom>
          <a:noFill/>
        </p:spPr>
        <p:txBody>
          <a:bodyPr wrap="square">
            <a:noAutofit/>
          </a:bodyPr>
          <a:p>
            <a:pPr indent="0" algn="ctr" fontAlgn="auto">
              <a:lnSpc>
                <a:spcPct val="100000"/>
              </a:lnSpc>
              <a:spcBef>
                <a:spcPts val="1000"/>
              </a:spcBef>
            </a:pPr>
            <a:r>
              <a:rPr lang="en-US" altLang="zh-CN" sz="3200" b="1" spc="150">
                <a:solidFill>
                  <a:schemeClr val="bg1"/>
                </a:solidFill>
                <a:latin typeface="字魂手刻宋" panose="00000500000000000000" charset="-122"/>
                <a:ea typeface="字魂手刻宋" panose="00000500000000000000" charset="-122"/>
              </a:rPr>
              <a:t>4</a:t>
            </a:r>
            <a:endParaRPr lang="en-US" altLang="zh-CN" sz="3200" b="1" spc="150">
              <a:solidFill>
                <a:schemeClr val="bg1"/>
              </a:solidFill>
              <a:latin typeface="字魂手刻宋" panose="00000500000000000000" charset="-122"/>
              <a:ea typeface="字魂手刻宋" panose="00000500000000000000" charset="-122"/>
            </a:endParaRPr>
          </a:p>
        </p:txBody>
      </p:sp>
      <p:sp>
        <p:nvSpPr>
          <p:cNvPr id="10" name="文本框 9"/>
          <p:cNvSpPr txBox="1"/>
          <p:nvPr>
            <p:custDataLst>
              <p:tags r:id="rId10"/>
            </p:custDataLst>
          </p:nvPr>
        </p:nvSpPr>
        <p:spPr>
          <a:xfrm>
            <a:off x="1054100" y="-248"/>
            <a:ext cx="3027680" cy="460375"/>
          </a:xfrm>
          <a:prstGeom prst="rect">
            <a:avLst/>
          </a:prstGeom>
          <a:noFill/>
        </p:spPr>
        <p:txBody>
          <a:bodyPr wrap="square" rtlCol="0">
            <a:spAutoFit/>
          </a:bodyPr>
          <a:p>
            <a:pPr lvl="0" algn="l">
              <a:buClrTx/>
              <a:buSzTx/>
              <a:buFontTx/>
            </a:pPr>
            <a:r>
              <a:rPr lang="zh-CN" altLang="en-US" sz="2400" b="1" spc="150" dirty="0">
                <a:solidFill>
                  <a:srgbClr val="0061AE"/>
                </a:solidFill>
                <a:latin typeface="字魂手刻宋" panose="00000500000000000000" charset="-122"/>
                <a:ea typeface="字魂手刻宋" panose="00000500000000000000" charset="-122"/>
                <a:sym typeface="+mn-ea"/>
              </a:rPr>
              <a:t>平台认证资质</a:t>
            </a:r>
            <a:endParaRPr lang="zh-CN" altLang="en-US" sz="2400" b="1" spc="150" dirty="0">
              <a:solidFill>
                <a:srgbClr val="0061AE"/>
              </a:solidFill>
              <a:latin typeface="字魂手刻宋" panose="00000500000000000000" charset="-122"/>
              <a:ea typeface="字魂手刻宋" panose="00000500000000000000" charset="-122"/>
              <a:sym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left)">
                                      <p:cBhvr>
                                        <p:cTn id="14" dur="500"/>
                                        <p:tgtEl>
                                          <p:spTgt spid="24"/>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par>
                                <p:cTn id="19" presetID="22" presetClass="entr" presetSubtype="8"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P spid="24"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3" name="组合 18"/>
          <p:cNvGrpSpPr/>
          <p:nvPr/>
        </p:nvGrpSpPr>
        <p:grpSpPr>
          <a:xfrm>
            <a:off x="3155950" y="3178175"/>
            <a:ext cx="5675313" cy="90488"/>
            <a:chOff x="0" y="0"/>
            <a:chExt cx="2340260" cy="164545"/>
          </a:xfrm>
          <a:solidFill>
            <a:srgbClr val="025B9C"/>
          </a:solidFill>
        </p:grpSpPr>
        <p:sp>
          <p:nvSpPr>
            <p:cNvPr id="4" name="矩形 19"/>
            <p:cNvSpPr>
              <a:spLocks noChangeArrowheads="1"/>
            </p:cNvSpPr>
            <p:nvPr/>
          </p:nvSpPr>
          <p:spPr>
            <a:xfrm>
              <a:off x="0" y="0"/>
              <a:ext cx="585065" cy="164545"/>
            </a:xfrm>
            <a:prstGeom prst="rect">
              <a:avLst/>
            </a:prstGeom>
            <a:grpFill/>
            <a:ln>
              <a:noFill/>
            </a:ln>
          </p:spPr>
          <p:txBody>
            <a:bodyPr anchor="ctr"/>
            <a:lstStyle/>
            <a:p>
              <a:pPr algn="ctr"/>
              <a:endParaRPr lang="zh-CN" altLang="zh-CN">
                <a:solidFill>
                  <a:srgbClr val="FFFFFF"/>
                </a:solidFill>
                <a:latin typeface="字魂95号-手刻宋"/>
                <a:ea typeface="字魂95号-手刻宋"/>
              </a:endParaRPr>
            </a:p>
          </p:txBody>
        </p:sp>
        <p:sp>
          <p:nvSpPr>
            <p:cNvPr id="5" name="矩形 20"/>
            <p:cNvSpPr>
              <a:spLocks noChangeArrowheads="1"/>
            </p:cNvSpPr>
            <p:nvPr/>
          </p:nvSpPr>
          <p:spPr>
            <a:xfrm>
              <a:off x="585065" y="0"/>
              <a:ext cx="585065" cy="164545"/>
            </a:xfrm>
            <a:prstGeom prst="rect">
              <a:avLst/>
            </a:prstGeom>
            <a:grpFill/>
            <a:ln>
              <a:noFill/>
            </a:ln>
          </p:spPr>
          <p:txBody>
            <a:bodyPr anchor="ctr"/>
            <a:lstStyle/>
            <a:p>
              <a:pPr algn="ctr"/>
              <a:endParaRPr lang="zh-CN" altLang="zh-CN">
                <a:solidFill>
                  <a:srgbClr val="FFFFFF"/>
                </a:solidFill>
                <a:latin typeface="字魂95号-手刻宋"/>
                <a:ea typeface="字魂95号-手刻宋"/>
              </a:endParaRPr>
            </a:p>
          </p:txBody>
        </p:sp>
        <p:sp>
          <p:nvSpPr>
            <p:cNvPr id="6" name="矩形 21"/>
            <p:cNvSpPr>
              <a:spLocks noChangeArrowheads="1"/>
            </p:cNvSpPr>
            <p:nvPr/>
          </p:nvSpPr>
          <p:spPr>
            <a:xfrm>
              <a:off x="1170130" y="0"/>
              <a:ext cx="585065" cy="164545"/>
            </a:xfrm>
            <a:prstGeom prst="rect">
              <a:avLst/>
            </a:prstGeom>
            <a:grpFill/>
            <a:ln>
              <a:noFill/>
            </a:ln>
          </p:spPr>
          <p:txBody>
            <a:bodyPr anchor="ctr"/>
            <a:lstStyle/>
            <a:p>
              <a:pPr algn="ctr"/>
              <a:endParaRPr lang="zh-CN" altLang="zh-CN">
                <a:solidFill>
                  <a:srgbClr val="FFFFFF"/>
                </a:solidFill>
                <a:latin typeface="字魂95号-手刻宋"/>
                <a:ea typeface="字魂95号-手刻宋"/>
              </a:endParaRPr>
            </a:p>
          </p:txBody>
        </p:sp>
        <p:sp>
          <p:nvSpPr>
            <p:cNvPr id="7" name="矩形 22"/>
            <p:cNvSpPr>
              <a:spLocks noChangeArrowheads="1"/>
            </p:cNvSpPr>
            <p:nvPr/>
          </p:nvSpPr>
          <p:spPr>
            <a:xfrm>
              <a:off x="1755195" y="0"/>
              <a:ext cx="585065" cy="164545"/>
            </a:xfrm>
            <a:prstGeom prst="rect">
              <a:avLst/>
            </a:prstGeom>
            <a:grpFill/>
            <a:ln>
              <a:noFill/>
            </a:ln>
          </p:spPr>
          <p:txBody>
            <a:bodyPr anchor="ctr"/>
            <a:lstStyle/>
            <a:p>
              <a:pPr algn="ctr"/>
              <a:endParaRPr lang="zh-CN" altLang="zh-CN">
                <a:solidFill>
                  <a:srgbClr val="FFFFFF"/>
                </a:solidFill>
                <a:latin typeface="字魂95号-手刻宋"/>
                <a:ea typeface="字魂95号-手刻宋"/>
              </a:endParaRPr>
            </a:p>
          </p:txBody>
        </p:sp>
      </p:grpSp>
      <p:sp>
        <p:nvSpPr>
          <p:cNvPr id="8" name="TextBox 27"/>
          <p:cNvSpPr txBox="1">
            <a:spLocks noChangeArrowheads="1"/>
          </p:cNvSpPr>
          <p:nvPr/>
        </p:nvSpPr>
        <p:spPr>
          <a:xfrm>
            <a:off x="3227705" y="2565083"/>
            <a:ext cx="7861300" cy="460375"/>
          </a:xfrm>
          <a:prstGeom prst="rect">
            <a:avLst/>
          </a:prstGeom>
          <a:noFill/>
        </p:spPr>
        <p:txBody>
          <a:bodyPr wrap="square" lIns="91440" tIns="45720" rIns="91440" bIns="45720">
            <a:spAutoFit/>
          </a:bodyPr>
          <a:lstStyle>
            <a:lvl1pPr marL="0" lvl="0" algn="l" defTabSz="1088390">
              <a:defRPr sz="2100" kern="1200">
                <a:solidFill>
                  <a:schemeClr val="tx1"/>
                </a:solidFill>
                <a:latin typeface="Calibri" panose="020F0502020204030204"/>
                <a:ea typeface="宋体" panose="02010600030101010101" pitchFamily="2" charset="-122"/>
              </a:defRPr>
            </a:lvl1pPr>
            <a:lvl2pPr marL="544195" lvl="1" algn="l" defTabSz="1088390">
              <a:defRPr sz="2100" kern="1200">
                <a:solidFill>
                  <a:schemeClr val="tx1"/>
                </a:solidFill>
                <a:latin typeface="Calibri" panose="020F0502020204030204"/>
                <a:ea typeface="宋体" panose="02010600030101010101" pitchFamily="2" charset="-122"/>
              </a:defRPr>
            </a:lvl2pPr>
            <a:lvl3pPr marL="1088390" lvl="2" algn="l" defTabSz="1088390">
              <a:defRPr sz="2100" kern="1200">
                <a:solidFill>
                  <a:schemeClr val="tx1"/>
                </a:solidFill>
                <a:latin typeface="Calibri" panose="020F0502020204030204"/>
                <a:ea typeface="宋体" panose="02010600030101010101" pitchFamily="2" charset="-122"/>
              </a:defRPr>
            </a:lvl3pPr>
            <a:lvl4pPr marL="1632585" lvl="3" algn="l" defTabSz="1088390">
              <a:defRPr sz="2100" kern="1200">
                <a:solidFill>
                  <a:schemeClr val="tx1"/>
                </a:solidFill>
                <a:latin typeface="Calibri" panose="020F0502020204030204"/>
                <a:ea typeface="宋体" panose="02010600030101010101" pitchFamily="2" charset="-122"/>
              </a:defRPr>
            </a:lvl4pPr>
            <a:lvl5pPr marL="2176780" lvl="4" algn="l" defTabSz="1088390">
              <a:defRPr sz="2100" kern="1200">
                <a:solidFill>
                  <a:schemeClr val="tx1"/>
                </a:solidFill>
                <a:latin typeface="Calibri" panose="020F0502020204030204"/>
                <a:ea typeface="宋体" panose="02010600030101010101" pitchFamily="2" charset="-122"/>
              </a:defRPr>
            </a:lvl5pPr>
            <a:lvl6pPr marL="2720975" lvl="5" algn="l" defTabSz="1088390">
              <a:defRPr sz="2100" kern="1200">
                <a:solidFill>
                  <a:schemeClr val="tx1"/>
                </a:solidFill>
                <a:latin typeface="Calibri" panose="020F0502020204030204"/>
                <a:ea typeface="宋体" panose="02010600030101010101" pitchFamily="2" charset="-122"/>
              </a:defRPr>
            </a:lvl6pPr>
            <a:lvl7pPr marL="3265805" lvl="6" algn="l" defTabSz="1088390">
              <a:defRPr sz="2100" kern="1200">
                <a:solidFill>
                  <a:schemeClr val="tx1"/>
                </a:solidFill>
                <a:latin typeface="Calibri" panose="020F0502020204030204"/>
                <a:ea typeface="宋体" panose="02010600030101010101" pitchFamily="2" charset="-122"/>
              </a:defRPr>
            </a:lvl7pPr>
            <a:lvl8pPr marL="3810000" lvl="7" algn="l" defTabSz="1088390">
              <a:defRPr sz="2100" kern="1200">
                <a:solidFill>
                  <a:schemeClr val="tx1"/>
                </a:solidFill>
                <a:latin typeface="Calibri" panose="020F0502020204030204"/>
                <a:ea typeface="宋体" panose="02010600030101010101" pitchFamily="2" charset="-122"/>
              </a:defRPr>
            </a:lvl8pPr>
            <a:lvl9pPr marL="4354195" lvl="8" algn="l" defTabSz="1088390">
              <a:defRPr sz="2100" kern="1200">
                <a:solidFill>
                  <a:schemeClr val="tx1"/>
                </a:solidFill>
                <a:latin typeface="Calibri" panose="020F0502020204030204"/>
                <a:ea typeface="宋体" panose="02010600030101010101" pitchFamily="2" charset="-122"/>
              </a:defRPr>
            </a:lvl9pPr>
          </a:lstStyle>
          <a:p>
            <a:pPr lvl="0" algn="l">
              <a:buClrTx/>
              <a:buSzTx/>
              <a:buFontTx/>
            </a:pPr>
            <a:r>
              <a:rPr lang="zh-CN" altLang="zh-CN" sz="2400" b="1" spc="600">
                <a:solidFill>
                  <a:srgbClr val="054487"/>
                </a:solidFill>
                <a:latin typeface="字魂手刻宋" panose="00000500000000000000" charset="-122"/>
                <a:ea typeface="字魂手刻宋" panose="00000500000000000000" charset="-122"/>
                <a:sym typeface="+mn-ea"/>
              </a:rPr>
              <a:t>鑫于诚    </a:t>
            </a:r>
            <a:r>
              <a:rPr lang="en-US" altLang="zh-CN" sz="2400" b="1" spc="600">
                <a:solidFill>
                  <a:srgbClr val="054487"/>
                </a:solidFill>
                <a:latin typeface="字魂手刻宋" panose="00000500000000000000" charset="-122"/>
                <a:ea typeface="字魂手刻宋" panose="00000500000000000000" charset="-122"/>
                <a:sym typeface="+mn-ea"/>
              </a:rPr>
              <a:t> </a:t>
            </a:r>
            <a:r>
              <a:rPr lang="zh-CN" altLang="zh-CN" sz="2400" b="1" spc="600">
                <a:solidFill>
                  <a:srgbClr val="054487"/>
                </a:solidFill>
                <a:latin typeface="字魂手刻宋" panose="00000500000000000000" charset="-122"/>
                <a:ea typeface="字魂手刻宋" panose="00000500000000000000" charset="-122"/>
                <a:sym typeface="+mn-ea"/>
              </a:rPr>
              <a:t>安以和   </a:t>
            </a:r>
            <a:r>
              <a:rPr lang="en-US" altLang="zh-CN" sz="2400" b="1" spc="600">
                <a:solidFill>
                  <a:srgbClr val="054487"/>
                </a:solidFill>
                <a:latin typeface="字魂手刻宋" panose="00000500000000000000" charset="-122"/>
                <a:ea typeface="字魂手刻宋" panose="00000500000000000000" charset="-122"/>
                <a:sym typeface="+mn-ea"/>
              </a:rPr>
              <a:t> </a:t>
            </a:r>
            <a:r>
              <a:rPr lang="zh-CN" altLang="zh-CN" sz="2400" b="1" spc="600">
                <a:solidFill>
                  <a:srgbClr val="054487"/>
                </a:solidFill>
                <a:latin typeface="字魂手刻宋" panose="00000500000000000000" charset="-122"/>
                <a:ea typeface="字魂手刻宋" panose="00000500000000000000" charset="-122"/>
                <a:sym typeface="+mn-ea"/>
              </a:rPr>
              <a:t> 利致远</a:t>
            </a:r>
            <a:endParaRPr lang="zh-CN" altLang="zh-CN" sz="2400" b="1" spc="600">
              <a:solidFill>
                <a:srgbClr val="054487"/>
              </a:solidFill>
              <a:latin typeface="字魂手刻宋" panose="00000500000000000000" charset="-122"/>
              <a:ea typeface="字魂手刻宋" panose="00000500000000000000" charset="-122"/>
              <a:sym typeface="+mn-ea"/>
            </a:endParaRPr>
          </a:p>
        </p:txBody>
      </p:sp>
      <p:sp>
        <p:nvSpPr>
          <p:cNvPr id="9" name="矩形 28"/>
          <p:cNvSpPr>
            <a:spLocks noChangeArrowheads="1"/>
          </p:cNvSpPr>
          <p:nvPr/>
        </p:nvSpPr>
        <p:spPr>
          <a:xfrm>
            <a:off x="2603500" y="3292475"/>
            <a:ext cx="6780213" cy="582295"/>
          </a:xfrm>
          <a:prstGeom prst="rect">
            <a:avLst/>
          </a:prstGeom>
          <a:noFill/>
          <a:ln>
            <a:noFill/>
          </a:ln>
        </p:spPr>
        <p:txBody>
          <a:bodyPr wrap="square" lIns="121917" tIns="60958" rIns="121917" bIns="60958">
            <a:spAutoFit/>
          </a:bodyPr>
          <a:lstStyle/>
          <a:p>
            <a:pPr algn="ctr">
              <a:lnSpc>
                <a:spcPct val="150000"/>
              </a:lnSpc>
            </a:pPr>
            <a:r>
              <a:rPr lang="zh-CN" altLang="en-US" sz="2000">
                <a:solidFill>
                  <a:schemeClr val="tx1">
                    <a:lumMod val="75000"/>
                    <a:lumOff val="25000"/>
                  </a:schemeClr>
                </a:solidFill>
                <a:latin typeface="字魂手刻宋" panose="00000500000000000000" charset="-122"/>
                <a:ea typeface="字魂手刻宋" panose="00000500000000000000" charset="-122"/>
              </a:rPr>
              <a:t>鑫安利的明天因为有你而更加精彩</a:t>
            </a:r>
            <a:endParaRPr lang="zh-CN" altLang="en-US" sz="2000">
              <a:solidFill>
                <a:schemeClr val="tx1">
                  <a:lumMod val="75000"/>
                  <a:lumOff val="25000"/>
                </a:schemeClr>
              </a:solidFill>
              <a:latin typeface="字魂手刻宋" panose="00000500000000000000" charset="-122"/>
              <a:ea typeface="字魂手刻宋"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2.xml><?xml version="1.0" encoding="utf-8"?>
<p:tagLst xmlns:p="http://schemas.openxmlformats.org/presentationml/2006/main">
  <p:tag name="KSO_WM_SLIDE_MODEL_TYPE" val="cover"/>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TAG_VERSION" val="1.0"/>
  <p:tag name="KSO_WM_UNIT_ID" val="diagram431_4*i*1"/>
  <p:tag name="KSO_WM_TEMPLATE_CATEGORY" val="diagram"/>
  <p:tag name="KSO_WM_TEMPLATE_INDEX" val="431"/>
</p:tagLst>
</file>

<file path=ppt/tags/tag25.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
  <p:tag name="KSO_WM_UNIT_ID" val="diagram431_4*m_i*1_1"/>
  <p:tag name="KSO_WM_UNIT_CLEAR" val="1"/>
  <p:tag name="KSO_WM_UNIT_LAYERLEVEL" val="1_1"/>
  <p:tag name="KSO_WM_DIAGRAM_GROUP_CODE" val="m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26.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2"/>
  <p:tag name="KSO_WM_UNIT_ID" val="diagram431_4*m_i*1_2"/>
  <p:tag name="KSO_WM_UNIT_CLEAR" val="1"/>
  <p:tag name="KSO_WM_UNIT_LAYERLEVEL" val="1_1"/>
  <p:tag name="KSO_WM_DIAGRAM_GROUP_CODE" val="m1-1"/>
  <p:tag name="KSO_WM_UNIT_LINE_FORE_SCHEMECOLOR_INDEX_BRIGHTNESS" val="0.8"/>
  <p:tag name="KSO_WM_UNIT_LINE_FORE_SCHEMECOLOR_INDEX" val="5"/>
  <p:tag name="KSO_WM_UNIT_LINE_FILL_TYPE" val="2"/>
  <p:tag name="KSO_WM_UNIT_USESOURCEFORMAT_APPLY" val="1"/>
</p:tagLst>
</file>

<file path=ppt/tags/tag27.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3"/>
  <p:tag name="KSO_WM_UNIT_ID" val="diagram431_4*m_i*1_3"/>
  <p:tag name="KSO_WM_UNIT_CLEAR" val="1"/>
  <p:tag name="KSO_WM_UNIT_LAYERLEVEL" val="1_1"/>
  <p:tag name="KSO_WM_DIAGRAM_GROUP_CODE" val="m1-1"/>
  <p:tag name="KSO_WM_UNIT_LINE_FORE_SCHEMECOLOR_INDEX_BRIGHTNESS" val="0.8"/>
  <p:tag name="KSO_WM_UNIT_LINE_FORE_SCHEMECOLOR_INDEX" val="5"/>
  <p:tag name="KSO_WM_UNIT_LINE_FILL_TYPE" val="2"/>
  <p:tag name="KSO_WM_UNIT_USESOURCEFORMAT_APPLY" val="1"/>
</p:tagLst>
</file>

<file path=ppt/tags/tag28.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4"/>
  <p:tag name="KSO_WM_UNIT_ID" val="diagram431_4*m_i*1_4"/>
  <p:tag name="KSO_WM_UNIT_CLEAR" val="1"/>
  <p:tag name="KSO_WM_UNIT_LAYERLEVEL" val="1_1"/>
  <p:tag name="KSO_WM_DIAGRAM_GROUP_CODE" val="m1-1"/>
  <p:tag name="KSO_WM_UNIT_LINE_FORE_SCHEMECOLOR_INDEX_BRIGHTNESS" val="0.8"/>
  <p:tag name="KSO_WM_UNIT_LINE_FORE_SCHEMECOLOR_INDEX" val="5"/>
  <p:tag name="KSO_WM_UNIT_LINE_FILL_TYPE" val="2"/>
  <p:tag name="KSO_WM_UNIT_USESOURCEFORMAT_APPLY" val="1"/>
</p:tagLst>
</file>

<file path=ppt/tags/tag29.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5"/>
  <p:tag name="KSO_WM_UNIT_ID" val="diagram431_4*m_i*1_5"/>
  <p:tag name="KSO_WM_UNIT_CLEAR" val="1"/>
  <p:tag name="KSO_WM_UNIT_LAYERLEVEL" val="1_1"/>
  <p:tag name="KSO_WM_DIAGRAM_GROUP_CODE" val="m1-1"/>
  <p:tag name="KSO_WM_UNIT_LINE_FORE_SCHEMECOLOR_INDEX_BRIGHTNESS" val="0.8"/>
  <p:tag name="KSO_WM_UNIT_LINE_FORE_SCHEMECOLOR_INDEX" val="5"/>
  <p:tag name="KSO_WM_UNIT_LINE_FILL_TYPE" val="2"/>
  <p:tag name="KSO_WM_UNIT_USESOURCEFORMAT_APPLY" val="1"/>
</p:tagLst>
</file>

<file path=ppt/tags/tag30.xml><?xml version="1.0" encoding="utf-8"?>
<p:tagLst xmlns:p="http://schemas.openxmlformats.org/presentationml/2006/main">
  <p:tag name="KSO_WM_TEMPLATE_CATEGORY" val="diagram"/>
  <p:tag name="KSO_WM_TEMPLATE_INDEX" val="431"/>
  <p:tag name="KSO_WM_TAG_VERSION" val="1.0"/>
  <p:tag name="KSO_WM_UNIT_ID" val="diagram431_4*m_h_f*1_1_1"/>
  <p:tag name="KSO_WM_UNIT_CLEAR" val="1"/>
  <p:tag name="KSO_WM_UNIT_LAYERLEVEL" val="1_1_1"/>
  <p:tag name="KSO_WM_UNIT_VALUE" val="42"/>
  <p:tag name="KSO_WM_UNIT_HIGHLIGHT" val="0"/>
  <p:tag name="KSO_WM_UNIT_COMPATIBLE" val="0"/>
  <p:tag name="KSO_WM_DIAGRAM_GROUP_CODE" val="m1-1"/>
  <p:tag name="KSO_WM_UNIT_PRESET_TEXT" val="LOREM IPSUM DOLOR SIT AMET, CONSECTETUR ADIPISICING ELIT, SED"/>
  <p:tag name="KSO_WM_UNIT_TEXT_FILL_FORE_SCHEMECOLOR_INDEX_BRIGHTNESS" val="0"/>
  <p:tag name="KSO_WM_UNIT_TEXT_FILL_FORE_SCHEMECOLOR_INDEX" val="13"/>
  <p:tag name="KSO_WM_UNIT_TEXT_FILL_TYPE" val="1"/>
  <p:tag name="KSO_WM_UNIT_USESOURCEFORMAT_APPLY" val="1"/>
  <p:tag name="KSO_WM_UNIT_PLACING_PICTURE_USER_VIEWPORT" val="{&quot;height&quot;:1144,&quot;width&quot;:3071}"/>
</p:tagLst>
</file>

<file path=ppt/tags/tag31.xml><?xml version="1.0" encoding="utf-8"?>
<p:tagLst xmlns:p="http://schemas.openxmlformats.org/presentationml/2006/main">
  <p:tag name="KSO_WM_TAG_VERSION" val="1.0"/>
  <p:tag name="KSO_WM_UNIT_ID" val="diagram431_4*i*13"/>
  <p:tag name="KSO_WM_TEMPLATE_CATEGORY" val="diagram"/>
  <p:tag name="KSO_WM_TEMPLATE_INDEX" val="431"/>
</p:tagLst>
</file>

<file path=ppt/tags/tag32.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6"/>
  <p:tag name="KSO_WM_UNIT_ID" val="diagram431_4*m_i*1_6"/>
  <p:tag name="KSO_WM_UNIT_CLEAR" val="1"/>
  <p:tag name="KSO_WM_UNIT_LAYERLEVEL" val="1_1"/>
  <p:tag name="KSO_WM_DIAGRAM_GROUP_CODE" val="m1-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33.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7"/>
  <p:tag name="KSO_WM_UNIT_ID" val="diagram431_4*m_i*1_7"/>
  <p:tag name="KSO_WM_UNIT_CLEAR" val="1"/>
  <p:tag name="KSO_WM_UNIT_LAYERLEVEL" val="1_1"/>
  <p:tag name="KSO_WM_DIAGRAM_GROUP_CODE" val="m1-1"/>
  <p:tag name="KSO_WM_UNIT_LINE_FORE_SCHEMECOLOR_INDEX_BRIGHTNESS" val="0.8"/>
  <p:tag name="KSO_WM_UNIT_LINE_FORE_SCHEMECOLOR_INDEX" val="6"/>
  <p:tag name="KSO_WM_UNIT_LINE_FILL_TYPE" val="2"/>
  <p:tag name="KSO_WM_UNIT_USESOURCEFORMAT_APPLY" val="1"/>
</p:tagLst>
</file>

<file path=ppt/tags/tag34.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8"/>
  <p:tag name="KSO_WM_UNIT_ID" val="diagram431_4*m_i*1_8"/>
  <p:tag name="KSO_WM_UNIT_CLEAR" val="1"/>
  <p:tag name="KSO_WM_UNIT_LAYERLEVEL" val="1_1"/>
  <p:tag name="KSO_WM_DIAGRAM_GROUP_CODE" val="m1-1"/>
  <p:tag name="KSO_WM_UNIT_LINE_FORE_SCHEMECOLOR_INDEX_BRIGHTNESS" val="0.8"/>
  <p:tag name="KSO_WM_UNIT_LINE_FORE_SCHEMECOLOR_INDEX" val="6"/>
  <p:tag name="KSO_WM_UNIT_LINE_FILL_TYPE" val="2"/>
  <p:tag name="KSO_WM_UNIT_USESOURCEFORMAT_APPLY" val="1"/>
</p:tagLst>
</file>

<file path=ppt/tags/tag35.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9"/>
  <p:tag name="KSO_WM_UNIT_ID" val="diagram431_4*m_i*1_9"/>
  <p:tag name="KSO_WM_UNIT_CLEAR" val="1"/>
  <p:tag name="KSO_WM_UNIT_LAYERLEVEL" val="1_1"/>
  <p:tag name="KSO_WM_DIAGRAM_GROUP_CODE" val="m1-1"/>
  <p:tag name="KSO_WM_UNIT_LINE_FORE_SCHEMECOLOR_INDEX_BRIGHTNESS" val="0.8"/>
  <p:tag name="KSO_WM_UNIT_LINE_FORE_SCHEMECOLOR_INDEX" val="6"/>
  <p:tag name="KSO_WM_UNIT_LINE_FILL_TYPE" val="2"/>
  <p:tag name="KSO_WM_UNIT_USESOURCEFORMAT_APPLY" val="1"/>
</p:tagLst>
</file>

<file path=ppt/tags/tag36.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0"/>
  <p:tag name="KSO_WM_UNIT_ID" val="diagram431_4*m_i*1_10"/>
  <p:tag name="KSO_WM_UNIT_CLEAR" val="1"/>
  <p:tag name="KSO_WM_UNIT_LAYERLEVEL" val="1_1"/>
  <p:tag name="KSO_WM_DIAGRAM_GROUP_CODE" val="m1-1"/>
  <p:tag name="KSO_WM_UNIT_LINE_FORE_SCHEMECOLOR_INDEX_BRIGHTNESS" val="0.8"/>
  <p:tag name="KSO_WM_UNIT_LINE_FORE_SCHEMECOLOR_INDEX" val="6"/>
  <p:tag name="KSO_WM_UNIT_LINE_FILL_TYPE" val="2"/>
  <p:tag name="KSO_WM_UNIT_USESOURCEFORMAT_APPLY" val="1"/>
</p:tagLst>
</file>

<file path=ppt/tags/tag37.xml><?xml version="1.0" encoding="utf-8"?>
<p:tagLst xmlns:p="http://schemas.openxmlformats.org/presentationml/2006/main">
  <p:tag name="KSO_WM_TEMPLATE_CATEGORY" val="diagram"/>
  <p:tag name="KSO_WM_TEMPLATE_INDEX" val="431"/>
  <p:tag name="KSO_WM_TAG_VERSION" val="1.0"/>
  <p:tag name="KSO_WM_UNIT_ID" val="diagram431_4*m_h_f*1_2_1"/>
  <p:tag name="KSO_WM_UNIT_CLEAR" val="1"/>
  <p:tag name="KSO_WM_UNIT_LAYERLEVEL" val="1_1_1"/>
  <p:tag name="KSO_WM_UNIT_VALUE" val="42"/>
  <p:tag name="KSO_WM_UNIT_HIGHLIGHT" val="0"/>
  <p:tag name="KSO_WM_UNIT_COMPATIBLE" val="0"/>
  <p:tag name="KSO_WM_DIAGRAM_GROUP_CODE" val="m1-1"/>
  <p:tag name="KSO_WM_UNIT_PRESET_TEXT" val="LOREM IPSUM DOLOR SIT AMET, CONSECTETUR ADIPISICING ELIT, SED"/>
  <p:tag name="KSO_WM_UNIT_TEXT_FILL_FORE_SCHEMECOLOR_INDEX_BRIGHTNESS" val="0"/>
  <p:tag name="KSO_WM_UNIT_TEXT_FILL_FORE_SCHEMECOLOR_INDEX" val="13"/>
  <p:tag name="KSO_WM_UNIT_TEXT_FILL_TYPE" val="1"/>
  <p:tag name="KSO_WM_UNIT_USESOURCEFORMAT_APPLY" val="1"/>
  <p:tag name="KSO_WM_UNIT_PLACING_PICTURE_USER_VIEWPORT" val="{&quot;height&quot;:1144,&quot;width&quot;:3054}"/>
</p:tagLst>
</file>

<file path=ppt/tags/tag38.xml><?xml version="1.0" encoding="utf-8"?>
<p:tagLst xmlns:p="http://schemas.openxmlformats.org/presentationml/2006/main">
  <p:tag name="KSO_WM_TAG_VERSION" val="1.0"/>
  <p:tag name="KSO_WM_UNIT_ID" val="diagram431_4*i*25"/>
  <p:tag name="KSO_WM_TEMPLATE_CATEGORY" val="diagram"/>
  <p:tag name="KSO_WM_TEMPLATE_INDEX" val="431"/>
</p:tagLst>
</file>

<file path=ppt/tags/tag39.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1"/>
  <p:tag name="KSO_WM_UNIT_ID" val="diagram431_4*m_i*1_11"/>
  <p:tag name="KSO_WM_UNIT_CLEAR" val="1"/>
  <p:tag name="KSO_WM_UNIT_LAYERLEVEL" val="1_1"/>
  <p:tag name="KSO_WM_DIAGRAM_GROUP_CODE" val="m1-1"/>
  <p:tag name="KSO_WM_UNIT_FILL_FORE_SCHEMECOLOR_INDEX_BRIGHTNESS" val="0"/>
  <p:tag name="KSO_WM_UNIT_FILL_FORE_SCHEMECOLOR_INDEX" val="7"/>
  <p:tag name="KSO_WM_UNIT_FILL_TYPE" val="1"/>
  <p:tag name="KSO_WM_UNIT_LINE_FORE_SCHEMECOLOR_INDEX_BRIGHTNESS" val="0.8"/>
  <p:tag name="KSO_WM_UNIT_LINE_FORE_SCHEMECOLOR_INDEX" val="7"/>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40.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2"/>
  <p:tag name="KSO_WM_UNIT_ID" val="diagram431_4*m_i*1_12"/>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1.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3"/>
  <p:tag name="KSO_WM_UNIT_ID" val="diagram431_4*m_i*1_13"/>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2.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4"/>
  <p:tag name="KSO_WM_UNIT_ID" val="diagram431_4*m_i*1_14"/>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3.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5"/>
  <p:tag name="KSO_WM_UNIT_ID" val="diagram431_4*m_i*1_15"/>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4.xml><?xml version="1.0" encoding="utf-8"?>
<p:tagLst xmlns:p="http://schemas.openxmlformats.org/presentationml/2006/main">
  <p:tag name="KSO_WM_TEMPLATE_CATEGORY" val="diagram"/>
  <p:tag name="KSO_WM_TEMPLATE_INDEX" val="431"/>
  <p:tag name="KSO_WM_TAG_VERSION" val="1.0"/>
  <p:tag name="KSO_WM_UNIT_ID" val="diagram431_4*m_h_f*1_3_1"/>
  <p:tag name="KSO_WM_UNIT_CLEAR" val="1"/>
  <p:tag name="KSO_WM_UNIT_LAYERLEVEL" val="1_1_1"/>
  <p:tag name="KSO_WM_UNIT_VALUE" val="42"/>
  <p:tag name="KSO_WM_UNIT_HIGHLIGHT" val="0"/>
  <p:tag name="KSO_WM_UNIT_COMPATIBLE" val="0"/>
  <p:tag name="KSO_WM_DIAGRAM_GROUP_CODE" val="m1-1"/>
  <p:tag name="KSO_WM_UNIT_PRESET_TEXT" val="LOREM IPSUM DOLOR SIT AMET, CONSECTETUR ADIPISICING ELIT, SED"/>
  <p:tag name="KSO_WM_UNIT_TEXT_FILL_FORE_SCHEMECOLOR_INDEX_BRIGHTNESS" val="0"/>
  <p:tag name="KSO_WM_UNIT_TEXT_FILL_FORE_SCHEMECOLOR_INDEX" val="13"/>
  <p:tag name="KSO_WM_UNIT_TEXT_FILL_TYPE" val="1"/>
  <p:tag name="KSO_WM_UNIT_USESOURCEFORMAT_APPLY" val="1"/>
  <p:tag name="KSO_WM_UNIT_PLACING_PICTURE_USER_VIEWPORT" val="{&quot;height&quot;:1144,&quot;width&quot;:3685}"/>
</p:tagLst>
</file>

<file path=ppt/tags/tag45.xml><?xml version="1.0" encoding="utf-8"?>
<p:tagLst xmlns:p="http://schemas.openxmlformats.org/presentationml/2006/main">
  <p:tag name="KSO_WM_TAG_VERSION" val="1.0"/>
  <p:tag name="KSO_WM_UNIT_ID" val="diagram431_4*i*25"/>
  <p:tag name="KSO_WM_TEMPLATE_CATEGORY" val="diagram"/>
  <p:tag name="KSO_WM_TEMPLATE_INDEX" val="431"/>
</p:tagLst>
</file>

<file path=ppt/tags/tag46.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1"/>
  <p:tag name="KSO_WM_UNIT_ID" val="diagram431_4*m_i*1_11"/>
  <p:tag name="KSO_WM_UNIT_CLEAR" val="1"/>
  <p:tag name="KSO_WM_UNIT_LAYERLEVEL" val="1_1"/>
  <p:tag name="KSO_WM_DIAGRAM_GROUP_CODE" val="m1-1"/>
  <p:tag name="KSO_WM_UNIT_FILL_FORE_SCHEMECOLOR_INDEX_BRIGHTNESS" val="0"/>
  <p:tag name="KSO_WM_UNIT_FILL_FORE_SCHEMECOLOR_INDEX" val="7"/>
  <p:tag name="KSO_WM_UNIT_FILL_TYPE" val="1"/>
  <p:tag name="KSO_WM_UNIT_LINE_FORE_SCHEMECOLOR_INDEX_BRIGHTNESS" val="0.8"/>
  <p:tag name="KSO_WM_UNIT_LINE_FORE_SCHEMECOLOR_INDEX" val="7"/>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47.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2"/>
  <p:tag name="KSO_WM_UNIT_ID" val="diagram431_4*m_i*1_12"/>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8.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3"/>
  <p:tag name="KSO_WM_UNIT_ID" val="diagram431_4*m_i*1_13"/>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49.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4"/>
  <p:tag name="KSO_WM_UNIT_ID" val="diagram431_4*m_i*1_14"/>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50.xml><?xml version="1.0" encoding="utf-8"?>
<p:tagLst xmlns:p="http://schemas.openxmlformats.org/presentationml/2006/main">
  <p:tag name="KSO_WM_TEMPLATE_CATEGORY" val="diagram"/>
  <p:tag name="KSO_WM_TEMPLATE_INDEX" val="431"/>
  <p:tag name="KSO_WM_TAG_VERSION" val="1.0"/>
  <p:tag name="KSO_WM_BEAUTIFY_FLAG" val="#wm#"/>
  <p:tag name="KSO_WM_UNIT_TYPE" val="m_i"/>
  <p:tag name="KSO_WM_UNIT_INDEX" val="1_15"/>
  <p:tag name="KSO_WM_UNIT_ID" val="diagram431_4*m_i*1_15"/>
  <p:tag name="KSO_WM_UNIT_CLEAR" val="1"/>
  <p:tag name="KSO_WM_UNIT_LAYERLEVEL" val="1_1"/>
  <p:tag name="KSO_WM_DIAGRAM_GROUP_CODE" val="m1-1"/>
  <p:tag name="KSO_WM_UNIT_LINE_FORE_SCHEMECOLOR_INDEX_BRIGHTNESS" val="0.8"/>
  <p:tag name="KSO_WM_UNIT_LINE_FORE_SCHEMECOLOR_INDEX" val="7"/>
  <p:tag name="KSO_WM_UNIT_LINE_FILL_TYPE" val="2"/>
  <p:tag name="KSO_WM_UNIT_USESOURCEFORMAT_APPLY" val="1"/>
</p:tagLst>
</file>

<file path=ppt/tags/tag51.xml><?xml version="1.0" encoding="utf-8"?>
<p:tagLst xmlns:p="http://schemas.openxmlformats.org/presentationml/2006/main">
  <p:tag name="KSO_WM_TEMPLATE_CATEGORY" val="diagram"/>
  <p:tag name="KSO_WM_TEMPLATE_INDEX" val="431"/>
  <p:tag name="KSO_WM_TAG_VERSION" val="1.0"/>
  <p:tag name="KSO_WM_UNIT_ID" val="diagram431_4*m_h_f*1_3_1"/>
  <p:tag name="KSO_WM_UNIT_CLEAR" val="1"/>
  <p:tag name="KSO_WM_UNIT_LAYERLEVEL" val="1_1_1"/>
  <p:tag name="KSO_WM_UNIT_VALUE" val="42"/>
  <p:tag name="KSO_WM_UNIT_HIGHLIGHT" val="0"/>
  <p:tag name="KSO_WM_UNIT_COMPATIBLE" val="0"/>
  <p:tag name="KSO_WM_DIAGRAM_GROUP_CODE" val="m1-1"/>
  <p:tag name="KSO_WM_UNIT_PRESET_TEXT" val="LOREM IPSUM DOLOR SIT AMET, CONSECTETUR ADIPISICING ELIT, SED"/>
  <p:tag name="KSO_WM_UNIT_TEXT_FILL_FORE_SCHEMECOLOR_INDEX_BRIGHTNESS" val="0"/>
  <p:tag name="KSO_WM_UNIT_TEXT_FILL_FORE_SCHEMECOLOR_INDEX" val="13"/>
  <p:tag name="KSO_WM_UNIT_TEXT_FILL_TYPE" val="1"/>
  <p:tag name="KSO_WM_UNIT_USESOURCEFORMAT_APPLY" val="1"/>
  <p:tag name="KSO_WM_UNIT_PLACING_PICTURE_USER_VIEWPORT" val="{&quot;height&quot;:1144,&quot;width&quot;:3685}"/>
</p:tagLst>
</file>

<file path=ppt/tags/tag52.xml><?xml version="1.0" encoding="utf-8"?>
<p:tagLst xmlns:p="http://schemas.openxmlformats.org/presentationml/2006/main">
  <p:tag name="KSO_WM_SLIDE_ITEM_CNT" val="4"/>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DIAGRAM_VIRTUALLY_FRAME" val="{&quot;height&quot;:387.85,&quot;left&quot;:52.7,&quot;top&quot;:132.55,&quot;width&quot;:850.35}"/>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1"/>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5199999809265137,&quot;transparency&quot;:1},{&quot;brightness&quot;:0,&quot;colorType&quot;:1,&quot;foreColorIndex&quot;:5,&quot;pos&quot;:0,&quot;transparency&quot;:0.8500000238418579},{&quot;brightness&quot;:0,&quot;colorType&quot;:1,&quot;foreColorIndex&quot;:5,&quot;pos&quot;:1,&quot;transparency&quot;:0.8999999761581421}],&quot;type&quot;:3},&quot;glow&quot;:{&quot;colorType&quot;:0},&quot;line&quot;:{&quot;gradient&quot;:[{&quot;brightness&quot;:0,&quot;colorType&quot;:1,&quot;foreColorIndex&quot;:5,&quot;pos&quot;:0.23999999463558197,&quot;transparency&quot;:1},{&quot;brightness&quot;:0,&quot;colorType&quot;:1,&quot;foreColorIndex&quot;:5,&quot;pos&quot;: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2"/>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3"/>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4"/>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4"/>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5"/>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5"/>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6"/>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6"/>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7"/>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7"/>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8"/>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8"/>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9"/>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9"/>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10"/>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1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i*1_11"/>
  <p:tag name="KSO_WM_TEMPLATE_CATEGORY" val="diagram"/>
  <p:tag name="KSO_WM_TEMPLATE_INDEX" val="20234824"/>
  <p:tag name="KSO_WM_UNIT_LAYERLEVEL" val="1_1"/>
  <p:tag name="KSO_WM_TAG_VERSION" val="3.0"/>
  <p:tag name="KSO_WM_BEAUTIFY_FLAG" val="#wm#"/>
  <p:tag name="KSO_WM_DIAGRAM_GROUP_CODE" val="l1-1"/>
  <p:tag name="KSO_WM_UNIT_TYPE" val="l_i"/>
  <p:tag name="KSO_WM_UNIT_INDEX" val="1_11"/>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3_1"/>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UNIT_FILL_TYPE" val="3"/>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699999988079071}],&quot;type&quot;:3},&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05000000074505806},&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3_2"/>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3_3"/>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3_3"/>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2_1"/>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UNIT_FILL_TYPE" val="3"/>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699999988079071}],&quot;type&quot;:3},&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05000000074505806},&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2_2"/>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2_3"/>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2_3"/>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1_1"/>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UNIT_FILL_TYPE" val="3"/>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699999988079071}],&quot;type&quot;:3},&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05000000074505806},&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1_2"/>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LINE_FORE_SCHEMECOLOR_INDEX" val="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1_3"/>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1_3"/>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7.85,&quot;left&quot;:52.7,&quot;top&quot;:132.55,&quot;width&quot;:850.35}"/>
  <p:tag name="KSO_WM_DIAGRAM_COLOR_MATCH_VALUE" val="{&quot;shape&quot;:{&quot;fill&quot;:{&quot;gradient&quot;:[{&quot;brightness&quot;:0,&quot;colorType&quot;:1,&quot;foreColorIndex&quot;:5,&quot;pos&quot;:0,&quot;transparency&quot;:1},{&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24_2*l_h_f*1_1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5"/>
  <p:tag name="KSO_WM_BEAUTIFY_FLAG" val="#wm#"/>
  <p:tag name="KSO_WM_DIAGRAM_GROUP_CODE" val="l1-1"/>
  <p:tag name="KSO_WM_DIAGRAM_VERSION" val="3"/>
  <p:tag name="KSO_WM_DIAGRAM_COLOR_TRICK" val="1"/>
  <p:tag name="KSO_WM_DIAGRAM_COLOR_TEXT_CAN_REMOVE" val="n"/>
  <p:tag name="KSO_WM_UNIT_PRESET_TEXT" val="单击此处添加文本内容，简明扼要地阐述。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8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24_2*l_h_f*1_2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VALUE" val="65"/>
  <p:tag name="KSO_WM_DIAGRAM_VERSION" val="3"/>
  <p:tag name="KSO_WM_DIAGRAM_COLOR_TRICK" val="1"/>
  <p:tag name="KSO_WM_DIAGRAM_COLOR_TEXT_CAN_REMOVE" val="n"/>
  <p:tag name="KSO_WM_UNIT_PRESET_TEXT" val="单击此处添加文本内容，简明扼要地阐述。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8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4824_2*l_h_f*1_3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VALUE" val="65"/>
  <p:tag name="KSO_WM_DIAGRAM_VERSION" val="3"/>
  <p:tag name="KSO_WM_DIAGRAM_COLOR_TRICK" val="1"/>
  <p:tag name="KSO_WM_DIAGRAM_COLOR_TEXT_CAN_REMOVE" val="n"/>
  <p:tag name="KSO_WM_UNIT_PRESET_TEXT" val="单击此处添加文本内容，简明扼要地阐述。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8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4824_2*l_h_a*1_1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BEAUTIFY_FLAG" val="#wm#"/>
  <p:tag name="KSO_WM_DIAGRAM_GROUP_CODE" val="l1-1"/>
  <p:tag name="KSO_WM_DIAGRAM_VERSION" val="3"/>
  <p:tag name="KSO_WM_DIAGRAM_COLOR_TRICK" val="1"/>
  <p:tag name="KSO_WM_DIAGRAM_COLOR_TEXT_CAN_REMOVE" val="n"/>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8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4824_2*l_h_a*1_2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VALUE" val="10"/>
  <p:tag name="KSO_WM_DIAGRAM_VERSION" val="3"/>
  <p:tag name="KSO_WM_DIAGRAM_COLOR_TRICK" val="1"/>
  <p:tag name="KSO_WM_DIAGRAM_COLOR_TEXT_CAN_REMOVE" val="n"/>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4824_2*l_h_a*1_3_1"/>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UNIT_VALUE" val="10"/>
  <p:tag name="KSO_WM_DIAGRAM_VERSION" val="3"/>
  <p:tag name="KSO_WM_DIAGRAM_COLOR_TRICK" val="1"/>
  <p:tag name="KSO_WM_DIAGRAM_COLOR_TEXT_CAN_REMOVE" val="n"/>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5"/>
  <p:tag name="KSO_WM_UNIT_ID" val="diagram20234824_2*l_h_i*1_2_5"/>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gradient&quot;:[{&quot;brightness&quot;:0,&quot;colorType&quot;:1,&quot;foreColorIndex&quot;:5,&quot;pos&quot;:0.25999999046325684,&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BRIGHTNESS" val="0"/>
  <p:tag name="KSO_WM_UNIT_LINE_FILL_TYPE" val="2"/>
  <p:tag name="KSO_WM_UNIT_USESOURCEFORMAT_APPLY" val="1"/>
  <p:tag name="KSO_WM_DIAGRAM_USE_COLOR_VALUE" val="{&quot;color_scheme&quot;:1,&quot;color_type&quot;:1,&quot;theme_color_indexes&quot;:[]}"/>
  <p:tag name="KSO_WM_BEAUTIFY_FLAG" val="#wm#"/>
  <p:tag name="KSO_WM_DIAGRAM_GROUP_CODE" val="l1-1"/>
  <p:tag name="KSO_WM_DIAGRAM_VERSION" val="3"/>
  <p:tag name="KSO_WM_DIAGRAM_COLOR_TRICK" val="1"/>
  <p:tag name="KSO_WM_DIAGRAM_COLOR_TEXT_CAN_REMOVE" val="n"/>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5"/>
  <p:tag name="KSO_WM_UNIT_ID" val="diagram20234824_2*l_h_i*1_3_5"/>
  <p:tag name="KSO_WM_TEMPLATE_CATEGORY" val="diagram"/>
  <p:tag name="KSO_WM_TEMPLATE_INDEX" val="20234824"/>
  <p:tag name="KSO_WM_UNIT_LAYERLEVEL" val="1_1_1"/>
  <p:tag name="KSO_WM_TAG_VERSION" val="3.0"/>
  <p:tag name="KSO_WM_DIAGRAM_MAX_ITEMCNT" val="4"/>
  <p:tag name="KSO_WM_DIAGRAM_MIN_ITEMCNT" val="2"/>
  <p:tag name="KSO_WM_DIAGRAM_VIRTUALLY_FRAME" val="{&quot;height&quot;:387.85,&quot;left&quot;:52.7,&quot;top&quot;:132.55,&quot;width&quot;:850.35}"/>
  <p:tag name="KSO_WM_DIAGRAM_COLOR_MATCH_VALUE" val="{&quot;shape&quot;:{&quot;fill&quot;:{&quot;type&quot;:0},&quot;glow&quot;:{&quot;colorType&quot;:0},&quot;line&quot;:{&quot;gradient&quot;:[{&quot;brightness&quot;:0,&quot;colorType&quot;:1,&quot;foreColorIndex&quot;:5,&quot;pos&quot;:0.25999999046325684,&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BRIGHTNESS" val="0"/>
  <p:tag name="KSO_WM_UNIT_LINE_FILL_TYPE" val="2"/>
  <p:tag name="KSO_WM_UNIT_USESOURCEFORMAT_APPLY" val="1"/>
  <p:tag name="KSO_WM_DIAGRAM_USE_COLOR_VALUE" val="{&quot;color_scheme&quot;:1,&quot;color_type&quot;:1,&quot;theme_color_indexes&quot;:[]}"/>
  <p:tag name="KSO_WM_BEAUTIFY_FLAG" val="#wm#"/>
  <p:tag name="KSO_WM_DIAGRAM_GROUP_CODE" val="l1-1"/>
  <p:tag name="KSO_WM_DIAGRAM_VERSION" val="3"/>
  <p:tag name="KSO_WM_DIAGRAM_COLOR_TRICK" val="1"/>
  <p:tag name="KSO_WM_DIAGRAM_COLOR_TEXT_CAN_REMOVE" val="n"/>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1_4"/>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1_4"/>
  <p:tag name="KSO_WM_DIAGRAM_VERSION" val="3"/>
  <p:tag name="KSO_WM_DIAGRAM_COLOR_TRICK" val="1"/>
  <p:tag name="KSO_WM_DIAGRAM_COLOR_TEXT_CAN_REMOVE" val="n"/>
  <p:tag name="KSO_WM_UNIT_FILL_TYPE" val="1"/>
  <p:tag name="KSO_WM_UNIT_FILL_FORE_SCHEMECOLOR_INDEX" val="13"/>
  <p:tag name="KSO_WM_UNIT_FILL_FORE_SCHEMECOLOR_INDEX_BRIGHTNESS" val="0.1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2_4"/>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2_4"/>
  <p:tag name="KSO_WM_DIAGRAM_VERSION" val="3"/>
  <p:tag name="KSO_WM_DIAGRAM_COLOR_TRICK" val="1"/>
  <p:tag name="KSO_WM_DIAGRAM_COLOR_TEXT_CAN_REMOVE" val="n"/>
  <p:tag name="KSO_WM_UNIT_FILL_TYPE" val="1"/>
  <p:tag name="KSO_WM_UNIT_FILL_FORE_SCHEMECOLOR_INDEX" val="13"/>
  <p:tag name="KSO_WM_UNIT_FILL_FORE_SCHEMECOLOR_INDEX_BRIGHTNESS" val="0.1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24_2*l_h_i*1_3_4"/>
  <p:tag name="KSO_WM_TEMPLATE_CATEGORY" val="diagram"/>
  <p:tag name="KSO_WM_TEMPLATE_INDEX" val="20234824"/>
  <p:tag name="KSO_WM_UNIT_LAYERLEVEL" val="1_1_1"/>
  <p:tag name="KSO_WM_TAG_VERSION" val="3.0"/>
  <p:tag name="KSO_WM_BEAUTIFY_FLAG" val="#wm#"/>
  <p:tag name="KSO_WM_DIAGRAM_GROUP_CODE" val="l1-1"/>
  <p:tag name="KSO_WM_UNIT_TYPE" val="l_h_i"/>
  <p:tag name="KSO_WM_UNIT_INDEX" val="1_3_4"/>
  <p:tag name="KSO_WM_DIAGRAM_VERSION" val="3"/>
  <p:tag name="KSO_WM_DIAGRAM_COLOR_TRICK" val="1"/>
  <p:tag name="KSO_WM_DIAGRAM_COLOR_TEXT_CAN_REMOVE" val="n"/>
  <p:tag name="KSO_WM_UNIT_FILL_TYPE" val="1"/>
  <p:tag name="KSO_WM_UNIT_FILL_FORE_SCHEMECOLOR_INDEX" val="13"/>
  <p:tag name="KSO_WM_UNIT_FILL_FORE_SCHEMECOLOR_INDEX_BRIGHTNESS" val="0.15"/>
  <p:tag name="KSO_WM_DIAGRAM_MAX_ITEMCNT" val="4"/>
  <p:tag name="KSO_WM_DIAGRAM_MIN_ITEMCNT" val="2"/>
  <p:tag name="KSO_WM_DIAGRAM_VIRTUALLY_FRAME" val="{&quot;height&quot;:387.85,&quot;left&quot;:52.7,&quot;top&quot;:132.55,&quot;width&quot;:850.35}"/>
  <p:tag name="KSO_WM_DIAGRAM_COLOR_MATCH_VALUE" val="{&quot;shape&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DIAGRAM_VIRTUALLY_FRAME" val="{&quot;height&quot;:384.45,&quot;left&quot;:2.1,&quot;top&quot;:115.3,&quot;width&quot;:888.8}"/>
</p:tagLst>
</file>

<file path=ppt/tags/tag95.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i*1_2_1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1_1"/>
  <p:tag name="KSO_WM_DIAGRAM_VERSION" val="3"/>
  <p:tag name="KSO_WM_DIAGRAM_COLOR_TRICK" val="1"/>
  <p:tag name="KSO_WM_DIAGRAM_COLOR_TEXT_CAN_REMOVE" val="n"/>
  <p:tag name="KSO_WM_UNIT_FILL_TYPE" val="1"/>
  <p:tag name="KSO_WM_UNIT_FILL_FORE_SCHEMECOLOR_INDEX" val="16"/>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6.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i*1_2_4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4_1"/>
  <p:tag name="KSO_WM_DIAGRAM_VERSION" val="3"/>
  <p:tag name="KSO_WM_DIAGRAM_COLOR_TRICK" val="1"/>
  <p:tag name="KSO_WM_DIAGRAM_COLOR_TEXT_CAN_REMOVE" val="n"/>
  <p:tag name="KSO_WM_UNIT_FILL_TYPE" val="1"/>
  <p:tag name="KSO_WM_UNIT_FILL_FORE_SCHEMECOLOR_INDEX" val="16"/>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7.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i*1_2_3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3_1"/>
  <p:tag name="KSO_WM_DIAGRAM_VERSION" val="3"/>
  <p:tag name="KSO_WM_DIAGRAM_COLOR_TRICK" val="1"/>
  <p:tag name="KSO_WM_DIAGRAM_COLOR_TEXT_CAN_REMOVE" val="n"/>
  <p:tag name="KSO_WM_UNIT_FILL_TYPE" val="1"/>
  <p:tag name="KSO_WM_UNIT_FILL_FORE_SCHEMECOLOR_INDEX" val="16"/>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8.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i*1_2_2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2_1"/>
  <p:tag name="KSO_WM_DIAGRAM_VERSION" val="3"/>
  <p:tag name="KSO_WM_DIAGRAM_COLOR_TRICK" val="1"/>
  <p:tag name="KSO_WM_DIAGRAM_COLOR_TEXT_CAN_REMOVE" val="n"/>
  <p:tag name="KSO_WM_UNIT_FILL_TYPE" val="1"/>
  <p:tag name="KSO_WM_UNIT_FILL_FORE_SCHEMECOLOR_INDEX" val="16"/>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9.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i*1_2_5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5_1"/>
  <p:tag name="KSO_WM_DIAGRAM_VERSION" val="3"/>
  <p:tag name="KSO_WM_DIAGRAM_COLOR_TRICK" val="1"/>
  <p:tag name="KSO_WM_DIAGRAM_COLOR_TEXT_CAN_REMOVE" val="n"/>
  <p:tag name="KSO_WM_UNIT_FILL_TYPE" val="1"/>
  <p:tag name="KSO_WM_UNIT_FILL_FORE_SCHEMECOLOR_INDEX" val="16"/>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0.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x*1_2_1_1"/>
  <p:tag name="KSO_WM_TEMPLATE_CATEGORY" val="diagram"/>
  <p:tag name="KSO_WM_TEMPLATE_INDEX" val="20236924"/>
  <p:tag name="KSO_WM_UNIT_LAYERLEVEL" val="1_1_1_1"/>
  <p:tag name="KSO_WM_TAG_VERSION" val="3.0"/>
  <p:tag name="KSO_WM_BEAUTIFY_FLAG" val="#wm#"/>
  <p:tag name="KSO_WM_UNIT_VALUE" val="82*88"/>
  <p:tag name="KSO_WM_DIAGRAM_GROUP_CODE" val="n1-1"/>
  <p:tag name="KSO_WM_UNIT_TYPE" val="n_h_h_x"/>
  <p:tag name="KSO_WM_UNIT_INDEX" val="1_2_1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1.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x*1_2_2_1"/>
  <p:tag name="KSO_WM_TEMPLATE_CATEGORY" val="diagram"/>
  <p:tag name="KSO_WM_TEMPLATE_INDEX" val="20236924"/>
  <p:tag name="KSO_WM_UNIT_LAYERLEVEL" val="1_1_1_1"/>
  <p:tag name="KSO_WM_TAG_VERSION" val="3.0"/>
  <p:tag name="KSO_WM_BEAUTIFY_FLAG" val="#wm#"/>
  <p:tag name="KSO_WM_UNIT_VALUE" val="88*82"/>
  <p:tag name="KSO_WM_DIAGRAM_GROUP_CODE" val="n1-1"/>
  <p:tag name="KSO_WM_UNIT_TYPE" val="n_h_h_x"/>
  <p:tag name="KSO_WM_UNIT_INDEX" val="1_2_2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2.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x*1_2_3_1"/>
  <p:tag name="KSO_WM_TEMPLATE_CATEGORY" val="diagram"/>
  <p:tag name="KSO_WM_TEMPLATE_INDEX" val="20236924"/>
  <p:tag name="KSO_WM_UNIT_LAYERLEVEL" val="1_1_1_1"/>
  <p:tag name="KSO_WM_TAG_VERSION" val="3.0"/>
  <p:tag name="KSO_WM_BEAUTIFY_FLAG" val="#wm#"/>
  <p:tag name="KSO_WM_UNIT_VALUE" val="88*88"/>
  <p:tag name="KSO_WM_DIAGRAM_GROUP_CODE" val="n1-1"/>
  <p:tag name="KSO_WM_UNIT_TYPE" val="n_h_h_x"/>
  <p:tag name="KSO_WM_UNIT_INDEX" val="1_2_3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3.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x*1_2_4_1"/>
  <p:tag name="KSO_WM_TEMPLATE_CATEGORY" val="diagram"/>
  <p:tag name="KSO_WM_TEMPLATE_INDEX" val="20236924"/>
  <p:tag name="KSO_WM_UNIT_LAYERLEVEL" val="1_1_1_1"/>
  <p:tag name="KSO_WM_TAG_VERSION" val="3.0"/>
  <p:tag name="KSO_WM_BEAUTIFY_FLAG" val="#wm#"/>
  <p:tag name="KSO_WM_UNIT_VALUE" val="82*88"/>
  <p:tag name="KSO_WM_DIAGRAM_GROUP_CODE" val="n1-1"/>
  <p:tag name="KSO_WM_UNIT_TYPE" val="n_h_h_x"/>
  <p:tag name="KSO_WM_UNIT_INDEX" val="1_2_4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4.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x*1_2_5_1"/>
  <p:tag name="KSO_WM_TEMPLATE_CATEGORY" val="diagram"/>
  <p:tag name="KSO_WM_TEMPLATE_INDEX" val="20236924"/>
  <p:tag name="KSO_WM_UNIT_LAYERLEVEL" val="1_1_1_1"/>
  <p:tag name="KSO_WM_TAG_VERSION" val="3.0"/>
  <p:tag name="KSO_WM_BEAUTIFY_FLAG" val="#wm#"/>
  <p:tag name="KSO_WM_UNIT_VALUE" val="78*84"/>
  <p:tag name="KSO_WM_DIAGRAM_GROUP_CODE" val="n1-1"/>
  <p:tag name="KSO_WM_UNIT_TYPE" val="n_h_h_x"/>
  <p:tag name="KSO_WM_UNIT_INDEX" val="1_2_5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5.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a*1_2_2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2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6.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f*1_2_2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2_1"/>
  <p:tag name="KSO_WM_DIAGRAM_VERSION" val="3"/>
  <p:tag name="KSO_WM_DIAGRAM_COLOR_TRICK" val="1"/>
  <p:tag name="KSO_WM_DIAGRAM_COLOR_TEXT_CAN_REMOVE" val="n"/>
  <p:tag name="KSO_WM_UNIT_PRESET_TEXT" val="单击此处添加文本内容，简明扼要地阐述观点。根据需要可酌增减文字"/>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7.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a*1_2_1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5"/>
  <p:tag name="KSO_WM_DIAGRAM_GROUP_CODE" val="n1-1"/>
  <p:tag name="KSO_WM_UNIT_TYPE" val="n_h_h_a"/>
  <p:tag name="KSO_WM_UNIT_INDEX" val="1_2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8.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f*1_2_1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1_1"/>
  <p:tag name="KSO_WM_DIAGRAM_VERSION" val="3"/>
  <p:tag name="KSO_WM_DIAGRAM_COLOR_TRICK" val="1"/>
  <p:tag name="KSO_WM_DIAGRAM_COLOR_TEXT_CAN_REMOVE" val="n"/>
  <p:tag name="KSO_WM_UNIT_PRESET_TEXT" val="单击此处添加文本内容，简明扼要地阐述观点。根据需要可酌增减文字"/>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9.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a*1_2_3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3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0.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f*1_2_3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3_1"/>
  <p:tag name="KSO_WM_DIAGRAM_VERSION" val="3"/>
  <p:tag name="KSO_WM_DIAGRAM_COLOR_TRICK" val="1"/>
  <p:tag name="KSO_WM_DIAGRAM_COLOR_TEXT_CAN_REMOVE" val="n"/>
  <p:tag name="KSO_WM_UNIT_PRESET_TEXT" val="单击此处添加文本内容，简明扼要地阐述观点。根据需要可酌增减文字"/>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1.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a*1_2_4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4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2.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f*1_2_4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4_1"/>
  <p:tag name="KSO_WM_DIAGRAM_VERSION" val="3"/>
  <p:tag name="KSO_WM_DIAGRAM_COLOR_TRICK" val="1"/>
  <p:tag name="KSO_WM_DIAGRAM_COLOR_TEXT_CAN_REMOVE" val="n"/>
  <p:tag name="KSO_WM_UNIT_PRESET_TEXT" val="单击此处添加文本内容，简明扼要地阐述观点。根据需要可酌增减文字"/>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3.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a*1_2_5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5"/>
  <p:tag name="KSO_WM_DIAGRAM_GROUP_CODE" val="n1-1"/>
  <p:tag name="KSO_WM_UNIT_TYPE" val="n_h_h_a"/>
  <p:tag name="KSO_WM_UNIT_INDEX" val="1_2_5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4.xml><?xml version="1.0" encoding="utf-8"?>
<p:tagLst xmlns:p="http://schemas.openxmlformats.org/presentationml/2006/main">
  <p:tag name="KSO_WM_DIAGRAM_VIRTUALLY_FRAME" val="{&quot;height&quot;:384.45,&quot;left&quot;:2.1,&quot;top&quot;:115.3,&quot;width&quot;:888.8}"/>
  <p:tag name="KSO_WM_UNIT_HIGHLIGHT" val="0"/>
  <p:tag name="KSO_WM_UNIT_COMPATIBLE" val="0"/>
  <p:tag name="KSO_WM_UNIT_DIAGRAM_ISNUMVISUAL" val="0"/>
  <p:tag name="KSO_WM_UNIT_DIAGRAM_ISREFERUNIT" val="0"/>
  <p:tag name="KSO_WM_UNIT_ID" val="diagram20236924_3*n_h_h_f*1_2_5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5_1"/>
  <p:tag name="KSO_WM_DIAGRAM_VERSION" val="3"/>
  <p:tag name="KSO_WM_DIAGRAM_COLOR_TRICK" val="1"/>
  <p:tag name="KSO_WM_DIAGRAM_COLOR_TEXT_CAN_REMOVE" val="n"/>
  <p:tag name="KSO_WM_UNIT_PRESET_TEXT" val="单击此处添加文本内容，简明扼要地阐述观点。根据需要可酌增减文字"/>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i*1_1_1"/>
  <p:tag name="KSO_WM_TEMPLATE_CATEGORY" val="diagram"/>
  <p:tag name="KSO_WM_TEMPLATE_INDEX" val="20236924"/>
  <p:tag name="KSO_WM_UNIT_LAYERLEVEL" val="1_1_1"/>
  <p:tag name="KSO_WM_TAG_VERSION" val="3.0"/>
  <p:tag name="KSO_WM_BEAUTIFY_FLAG" val="#wm#"/>
  <p:tag name="KSO_WM_DIAGRAM_GROUP_CODE" val="n1-1"/>
  <p:tag name="KSO_WM_UNIT_TYPE" val="n_h_i"/>
  <p:tag name="KSO_WM_UNIT_INDEX" val="1_1_1"/>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4.45,&quot;left&quot;:2.1,&quot;top&quot;:115.3,&quot;width&quot;:888.8}"/>
  <p:tag name="KSO_WM_DIAGRAM_COLOR_MATCH_VALUE" val="{&quot;shape&quot;:{&quot;fill&quot;:{&quot;gradient&quot;:[{&quot;brightness&quot;:0,&quot;colorType&quot;:1,&quot;foreColorIndex&quot;:5,&quot;pos&quot;:0,&quot;transparency&quot;:0.949999988079071},{&quot;brightness&quot;:0,&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i*1_1_2"/>
  <p:tag name="KSO_WM_TEMPLATE_CATEGORY" val="diagram"/>
  <p:tag name="KSO_WM_TEMPLATE_INDEX" val="20236924"/>
  <p:tag name="KSO_WM_UNIT_LAYERLEVEL" val="1_1_1"/>
  <p:tag name="KSO_WM_TAG_VERSION" val="3.0"/>
  <p:tag name="KSO_WM_BEAUTIFY_FLAG" val="#wm#"/>
  <p:tag name="KSO_WM_DIAGRAM_GROUP_CODE" val="n1-1"/>
  <p:tag name="KSO_WM_UNIT_TYPE" val="n_h_i"/>
  <p:tag name="KSO_WM_UNIT_INDEX" val="1_1_2"/>
  <p:tag name="KSO_WM_DIAGRAM_VERSION" val="3"/>
  <p:tag name="KSO_WM_DIAGRAM_COLOR_TRICK" val="1"/>
  <p:tag name="KSO_WM_DIAGRAM_COLOR_TEXT_CAN_REMOVE" val="n"/>
  <p:tag name="KSO_WM_UNIT_FILL_TYPE" val="3"/>
  <p:tag name="KSO_WM_DIAGRAM_MAX_ITEMCNT" val="5"/>
  <p:tag name="KSO_WM_DIAGRAM_MIN_ITEMCNT" val="3"/>
  <p:tag name="KSO_WM_DIAGRAM_VIRTUALLY_FRAME" val="{&quot;height&quot;:384.45,&quot;left&quot;:2.1,&quot;top&quot;:115.3,&quot;width&quot;:888.8}"/>
  <p:tag name="KSO_WM_DIAGRAM_COLOR_MATCH_VALUE" val="{&quot;shape&quot;:{&quot;fill&quot;:{&quot;gradient&quot;:[{&quot;brightness&quot;:0,&quot;colorType&quot;:1,&quot;foreColorIndex&quot;:5,&quot;pos&quot;:0,&quot;transparency&quot;:0.949999988079071},{&quot;brightness&quot;:0,&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a*1_1_1"/>
  <p:tag name="KSO_WM_TEMPLATE_CATEGORY" val="diagram"/>
  <p:tag name="KSO_WM_TEMPLATE_INDEX" val="20236924"/>
  <p:tag name="KSO_WM_UNIT_LAYERLEVEL" val="1_1_1"/>
  <p:tag name="KSO_WM_TAG_VERSION" val="3.0"/>
  <p:tag name="KSO_WM_BEAUTIFY_FLAG" val="#wm#"/>
  <p:tag name="KSO_WM_UNIT_ISCONTENTSTITLE" val="0"/>
  <p:tag name="KSO_WM_UNIT_ISNUMDGMTITLE" val="0"/>
  <p:tag name="KSO_WM_UNIT_NOCLEAR" val="0"/>
  <p:tag name="KSO_WM_UNIT_VALUE" val="20"/>
  <p:tag name="KSO_WM_DIAGRAM_GROUP_CODE" val="n1-1"/>
  <p:tag name="KSO_WM_UNIT_TYPE" val="n_h_a"/>
  <p:tag name="KSO_WM_UNIT_INDEX" val="1_1_1"/>
  <p:tag name="KSO_WM_DIAGRAM_VERSION" val="3"/>
  <p:tag name="KSO_WM_DIAGRAM_COLOR_TRICK" val="1"/>
  <p:tag name="KSO_WM_DIAGRAM_COLOR_TEXT_CAN_REMOVE" val="n"/>
  <p:tag name="KSO_WM_UNIT_PRESET_TEXT" val="添加标题"/>
  <p:tag name="KSO_WM_UNIT_FILL_TYPE" val="3"/>
  <p:tag name="KSO_WM_DIAGRAM_MAX_ITEMCNT" val="5"/>
  <p:tag name="KSO_WM_DIAGRAM_MIN_ITEMCNT" val="3"/>
  <p:tag name="KSO_WM_DIAGRAM_VIRTUALLY_FRAME" val="{&quot;height&quot;:384.45,&quot;left&quot;:2.1,&quot;top&quot;:115.3,&quot;width&quot;:888.8}"/>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UNIT_FLASH_PICTURE_TYPE" val="1"/>
  <p:tag name="KSO_WM_SLIDE_ITEM_CNT" val="3"/>
</p:tagLst>
</file>

<file path=ppt/tags/tag121.xml><?xml version="1.0" encoding="utf-8"?>
<p:tagLst xmlns:p="http://schemas.openxmlformats.org/presentationml/2006/main">
  <p:tag name="KSO_WM_DIAGRAM_VIRTUALLY_FRAME" val="{&quot;height&quot;:341,&quot;left&quot;:34.1,&quot;top&quot;:196.35,&quot;width&quot;:900.65}"/>
</p:tagLst>
</file>

<file path=ppt/tags/tag122.xml><?xml version="1.0" encoding="utf-8"?>
<p:tagLst xmlns:p="http://schemas.openxmlformats.org/presentationml/2006/main">
  <p:tag name="KSO_WM_DIAGRAM_VIRTUALLY_FRAME" val="{&quot;height&quot;:341,&quot;left&quot;:34.1,&quot;top&quot;:196.35,&quot;width&quot;:900.65}"/>
</p:tagLst>
</file>

<file path=ppt/tags/tag123.xml><?xml version="1.0" encoding="utf-8"?>
<p:tagLst xmlns:p="http://schemas.openxmlformats.org/presentationml/2006/main">
  <p:tag name="KSO_WM_DIAGRAM_VIRTUALLY_FRAME" val="{&quot;height&quot;:341,&quot;left&quot;:34.1,&quot;top&quot;:196.35,&quot;width&quot;:900.65}"/>
</p:tagLst>
</file>

<file path=ppt/tags/tag124.xml><?xml version="1.0" encoding="utf-8"?>
<p:tagLst xmlns:p="http://schemas.openxmlformats.org/presentationml/2006/main">
  <p:tag name="KSO_WM_DIAGRAM_VIRTUALLY_FRAME" val="{&quot;height&quot;:341,&quot;left&quot;:34.1,&quot;top&quot;:196.35,&quot;width&quot;:900.65}"/>
</p:tagLst>
</file>

<file path=ppt/tags/tag125.xml><?xml version="1.0" encoding="utf-8"?>
<p:tagLst xmlns:p="http://schemas.openxmlformats.org/presentationml/2006/main">
  <p:tag name="KSO_WM_DIAGRAM_VIRTUALLY_FRAME" val="{&quot;height&quot;:341,&quot;left&quot;:34.1,&quot;top&quot;:196.35,&quot;width&quot;:900.65}"/>
</p:tagLst>
</file>

<file path=ppt/tags/tag126.xml><?xml version="1.0" encoding="utf-8"?>
<p:tagLst xmlns:p="http://schemas.openxmlformats.org/presentationml/2006/main">
  <p:tag name="KSO_WM_DIAGRAM_VIRTUALLY_FRAME" val="{&quot;height&quot;:274.9799999999999,&quot;left&quot;:34.07669291338583,&quot;top&quot;:196.35346456692915,&quot;width&quot;:900.6733070866142}"/>
</p:tagLst>
</file>

<file path=ppt/tags/tag127.xml><?xml version="1.0" encoding="utf-8"?>
<p:tagLst xmlns:p="http://schemas.openxmlformats.org/presentationml/2006/main">
  <p:tag name="KSO_WM_DIAGRAM_VIRTUALLY_FRAME" val="{&quot;height&quot;:341,&quot;left&quot;:34.1,&quot;top&quot;:196.35,&quot;width&quot;:900.65}"/>
</p:tagLst>
</file>

<file path=ppt/tags/tag128.xml><?xml version="1.0" encoding="utf-8"?>
<p:tagLst xmlns:p="http://schemas.openxmlformats.org/presentationml/2006/main">
  <p:tag name="KSO_WM_DIAGRAM_VIRTUALLY_FRAME" val="{&quot;height&quot;:341,&quot;left&quot;:34.1,&quot;top&quot;:196.35,&quot;width&quot;:900.65}"/>
</p:tagLst>
</file>

<file path=ppt/tags/tag129.xml><?xml version="1.0" encoding="utf-8"?>
<p:tagLst xmlns:p="http://schemas.openxmlformats.org/presentationml/2006/main">
  <p:tag name="KSO_WM_DIAGRAM_VIRTUALLY_FRAME" val="{&quot;height&quot;:341,&quot;left&quot;:34.1,&quot;top&quot;:196.35,&quot;width&quot;:900.65}"/>
</p:tagLst>
</file>

<file path=ppt/tags/tag130.xml><?xml version="1.0" encoding="utf-8"?>
<p:tagLst xmlns:p="http://schemas.openxmlformats.org/presentationml/2006/main">
  <p:tag name="KSO_WM_DIAGRAM_VIRTUALLY_FRAME" val="{&quot;height&quot;:341,&quot;left&quot;:34.1,&quot;top&quot;:196.35,&quot;width&quot;:900.65}"/>
</p:tagLst>
</file>

<file path=ppt/tags/tag131.xml><?xml version="1.0" encoding="utf-8"?>
<p:tagLst xmlns:p="http://schemas.openxmlformats.org/presentationml/2006/main">
  <p:tag name="KSO_WM_DIAGRAM_VIRTUALLY_FRAME" val="{&quot;height&quot;:341,&quot;left&quot;:34.1,&quot;top&quot;:196.35,&quot;width&quot;:900.65}"/>
</p:tagLst>
</file>

<file path=ppt/tags/tag132.xml><?xml version="1.0" encoding="utf-8"?>
<p:tagLst xmlns:p="http://schemas.openxmlformats.org/presentationml/2006/main">
  <p:tag name="KSO_WM_DIAGRAM_VIRTUALLY_FRAME" val="{&quot;height&quot;:341,&quot;left&quot;:34.1,&quot;top&quot;:196.35,&quot;width&quot;:900.65}"/>
</p:tagLst>
</file>

<file path=ppt/tags/tag133.xml><?xml version="1.0" encoding="utf-8"?>
<p:tagLst xmlns:p="http://schemas.openxmlformats.org/presentationml/2006/main">
  <p:tag name="KSO_WM_DIAGRAM_VIRTUALLY_FRAME" val="{&quot;height&quot;:341,&quot;left&quot;:34.1,&quot;top&quot;:196.35,&quot;width&quot;:900.65}"/>
</p:tagLst>
</file>

<file path=ppt/tags/tag134.xml><?xml version="1.0" encoding="utf-8"?>
<p:tagLst xmlns:p="http://schemas.openxmlformats.org/presentationml/2006/main">
  <p:tag name="KSO_WM_DIAGRAM_VIRTUALLY_FRAME" val="{&quot;height&quot;:274.9799999999999,&quot;left&quot;:34.07669291338583,&quot;top&quot;:196.35346456692915,&quot;width&quot;:900.6733070866142}"/>
</p:tagLst>
</file>

<file path=ppt/tags/tag135.xml><?xml version="1.0" encoding="utf-8"?>
<p:tagLst xmlns:p="http://schemas.openxmlformats.org/presentationml/2006/main">
  <p:tag name="KSO_WM_DIAGRAM_VIRTUALLY_FRAME" val="{&quot;height&quot;:341,&quot;left&quot;:34.1,&quot;top&quot;:196.35,&quot;width&quot;:900.65}"/>
</p:tagLst>
</file>

<file path=ppt/tags/tag136.xml><?xml version="1.0" encoding="utf-8"?>
<p:tagLst xmlns:p="http://schemas.openxmlformats.org/presentationml/2006/main">
  <p:tag name="KSO_WM_DIAGRAM_VIRTUALLY_FRAME" val="{&quot;height&quot;:341,&quot;left&quot;:34.1,&quot;top&quot;:196.35,&quot;width&quot;:900.65}"/>
</p:tagLst>
</file>

<file path=ppt/tags/tag137.xml><?xml version="1.0" encoding="utf-8"?>
<p:tagLst xmlns:p="http://schemas.openxmlformats.org/presentationml/2006/main">
  <p:tag name="KSO_WM_DIAGRAM_VIRTUALLY_FRAME" val="{&quot;height&quot;:341,&quot;left&quot;:34.1,&quot;top&quot;:196.35,&quot;width&quot;:900.65}"/>
</p:tagLst>
</file>

<file path=ppt/tags/tag138.xml><?xml version="1.0" encoding="utf-8"?>
<p:tagLst xmlns:p="http://schemas.openxmlformats.org/presentationml/2006/main">
  <p:tag name="KSO_WM_DIAGRAM_VIRTUALLY_FRAME" val="{&quot;height&quot;:341,&quot;left&quot;:34.1,&quot;top&quot;:196.35,&quot;width&quot;:900.65}"/>
</p:tagLst>
</file>

<file path=ppt/tags/tag139.xml><?xml version="1.0" encoding="utf-8"?>
<p:tagLst xmlns:p="http://schemas.openxmlformats.org/presentationml/2006/main">
  <p:tag name="KSO_WM_DIAGRAM_VIRTUALLY_FRAME" val="{&quot;height&quot;:341,&quot;left&quot;:34.1,&quot;top&quot;:196.35,&quot;width&quot;:900.65}"/>
</p:tagLst>
</file>

<file path=ppt/tags/tag140.xml><?xml version="1.0" encoding="utf-8"?>
<p:tagLst xmlns:p="http://schemas.openxmlformats.org/presentationml/2006/main">
  <p:tag name="KSO_WM_DIAGRAM_VIRTUALLY_FRAME" val="{&quot;height&quot;:341,&quot;left&quot;:34.1,&quot;top&quot;:196.35,&quot;width&quot;:900.65}"/>
</p:tagLst>
</file>

<file path=ppt/tags/tag141.xml><?xml version="1.0" encoding="utf-8"?>
<p:tagLst xmlns:p="http://schemas.openxmlformats.org/presentationml/2006/main">
  <p:tag name="KSO_WM_DIAGRAM_VIRTUALLY_FRAME" val="{&quot;height&quot;:274.9799999999999,&quot;left&quot;:34.07669291338583,&quot;top&quot;:196.35346456692915,&quot;width&quot;:900.6733070866142}"/>
</p:tagLst>
</file>

<file path=ppt/tags/tag142.xml><?xml version="1.0" encoding="utf-8"?>
<p:tagLst xmlns:p="http://schemas.openxmlformats.org/presentationml/2006/main">
  <p:tag name="KSO_WM_DIAGRAM_VIRTUALLY_FRAME" val="{&quot;height&quot;:341,&quot;left&quot;:34.1,&quot;top&quot;:196.35,&quot;width&quot;:900.65}"/>
</p:tagLst>
</file>

<file path=ppt/tags/tag143.xml><?xml version="1.0" encoding="utf-8"?>
<p:tagLst xmlns:p="http://schemas.openxmlformats.org/presentationml/2006/main">
  <p:tag name="KSO_WM_DIAGRAM_VIRTUALLY_FRAME" val="{&quot;height&quot;:341,&quot;left&quot;:34.1,&quot;top&quot;:196.35,&quot;width&quot;:900.65}"/>
</p:tagLst>
</file>

<file path=ppt/tags/tag144.xml><?xml version="1.0" encoding="utf-8"?>
<p:tagLst xmlns:p="http://schemas.openxmlformats.org/presentationml/2006/main">
  <p:tag name="KSO_WM_DIAGRAM_VIRTUALLY_FRAME" val="{&quot;height&quot;:341,&quot;left&quot;:34.1,&quot;top&quot;:196.35,&quot;width&quot;:900.65}"/>
</p:tagLst>
</file>

<file path=ppt/tags/tag145.xml><?xml version="1.0" encoding="utf-8"?>
<p:tagLst xmlns:p="http://schemas.openxmlformats.org/presentationml/2006/main">
  <p:tag name="KSO_WM_DIAGRAM_VIRTUALLY_FRAME" val="{&quot;height&quot;:341,&quot;left&quot;:34.1,&quot;top&quot;:196.35,&quot;width&quot;:900.65}"/>
</p:tagLst>
</file>

<file path=ppt/tags/tag146.xml><?xml version="1.0" encoding="utf-8"?>
<p:tagLst xmlns:p="http://schemas.openxmlformats.org/presentationml/2006/main">
  <p:tag name="KSO_WM_DIAGRAM_VIRTUALLY_FRAME" val="{&quot;height&quot;:341,&quot;left&quot;:34.1,&quot;top&quot;:196.35,&quot;width&quot;:900.65}"/>
</p:tagLst>
</file>

<file path=ppt/tags/tag147.xml><?xml version="1.0" encoding="utf-8"?>
<p:tagLst xmlns:p="http://schemas.openxmlformats.org/presentationml/2006/main">
  <p:tag name="KSO_WM_DIAGRAM_VIRTUALLY_FRAME" val="{&quot;height&quot;:341,&quot;left&quot;:34.1,&quot;top&quot;:196.35,&quot;width&quot;:900.65}"/>
</p:tagLst>
</file>

<file path=ppt/tags/tag148.xml><?xml version="1.0" encoding="utf-8"?>
<p:tagLst xmlns:p="http://schemas.openxmlformats.org/presentationml/2006/main">
  <p:tag name="KSO_WM_DIAGRAM_VIRTUALLY_FRAME" val="{&quot;height&quot;:274.9799999999999,&quot;left&quot;:34.07669291338583,&quot;top&quot;:196.35346456692915,&quot;width&quot;:900.6733070866142}"/>
</p:tagLst>
</file>

<file path=ppt/tags/tag149.xml><?xml version="1.0" encoding="utf-8"?>
<p:tagLst xmlns:p="http://schemas.openxmlformats.org/presentationml/2006/main">
  <p:tag name="KSO_WM_DIAGRAM_VIRTUALLY_FRAME" val="{&quot;height&quot;:341,&quot;left&quot;:34.1,&quot;top&quot;:196.35,&quot;width&quot;:900.65}"/>
</p:tagLst>
</file>

<file path=ppt/tags/tag150.xml><?xml version="1.0" encoding="utf-8"?>
<p:tagLst xmlns:p="http://schemas.openxmlformats.org/presentationml/2006/main">
  <p:tag name="KSO_WM_DIAGRAM_VIRTUALLY_FRAME" val="{&quot;height&quot;:341,&quot;left&quot;:34.1,&quot;top&quot;:196.35,&quot;width&quot;:900.65}"/>
</p:tagLst>
</file>

<file path=ppt/tags/tag151.xml><?xml version="1.0" encoding="utf-8"?>
<p:tagLst xmlns:p="http://schemas.openxmlformats.org/presentationml/2006/main">
  <p:tag name="KSO_WM_DIAGRAM_VIRTUALLY_FRAME" val="{&quot;height&quot;:341,&quot;left&quot;:34.1,&quot;top&quot;:196.35,&quot;width&quot;:900.65}"/>
</p:tagLst>
</file>

<file path=ppt/tags/tag152.xml><?xml version="1.0" encoding="utf-8"?>
<p:tagLst xmlns:p="http://schemas.openxmlformats.org/presentationml/2006/main">
  <p:tag name="KSO_WM_DIAGRAM_VIRTUALLY_FRAME" val="{&quot;height&quot;:341,&quot;left&quot;:34.1,&quot;top&quot;:196.35,&quot;width&quot;:900.65}"/>
</p:tagLst>
</file>

<file path=ppt/tags/tag153.xml><?xml version="1.0" encoding="utf-8"?>
<p:tagLst xmlns:p="http://schemas.openxmlformats.org/presentationml/2006/main">
  <p:tag name="KSO_WM_DIAGRAM_VIRTUALLY_FRAME" val="{&quot;height&quot;:341,&quot;left&quot;:34.1,&quot;top&quot;:196.35,&quot;width&quot;:900.65}"/>
</p:tagLst>
</file>

<file path=ppt/tags/tag154.xml><?xml version="1.0" encoding="utf-8"?>
<p:tagLst xmlns:p="http://schemas.openxmlformats.org/presentationml/2006/main">
  <p:tag name="KSO_WM_UNIT_FLASH_PICTURE_TYPE" val="1"/>
  <p:tag name="KSO_WM_SLIDE_ITEM_CNT" val="3"/>
</p:tagLst>
</file>

<file path=ppt/tags/tag155.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56.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57.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58.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59.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0.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1.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2.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3.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4.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5.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6.xml><?xml version="1.0" encoding="utf-8"?>
<p:tagLst xmlns:p="http://schemas.openxmlformats.org/presentationml/2006/main">
  <p:tag name="KSO_WM_DIAGRAM_VIRTUALLY_FRAME" val="{&quot;height&quot;:255.90518884028415,&quot;left&quot;:31.79976377952756,&quot;top&quot;:257.1807874015748,&quot;width&quot;:399.22929133858264}"/>
</p:tagLst>
</file>

<file path=ppt/tags/tag167.xml><?xml version="1.0" encoding="utf-8"?>
<p:tagLst xmlns:p="http://schemas.openxmlformats.org/presentationml/2006/main">
  <p:tag name="KSO_WM_UNIT_FLASH_PICTURE_TYPE" val="1"/>
  <p:tag name="KSO_WM_SLIDE_ITEM_CNT" val="3"/>
</p:tagLst>
</file>

<file path=ppt/tags/tag168.xml><?xml version="1.0" encoding="utf-8"?>
<p:tagLst xmlns:p="http://schemas.openxmlformats.org/presentationml/2006/main">
  <p:tag name="KSO_WM_UNIT_FLASH_PICTURE_TYPE" val="1"/>
  <p:tag name="KSO_WM_SLIDE_ITEM_CNT" val="3"/>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UNIT_PLACING_PICTURE_USER_VIEWPORT" val="{&quot;height&quot;:5127.174803149606,&quot;width&quot;:18935.43307086614}"/>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1_1"/>
  <p:tag name="KSO_WM_TEMPLATE_CATEGORY" val="diagram"/>
  <p:tag name="KSO_WM_TEMPLATE_INDEX" val="20227670"/>
  <p:tag name="KSO_WM_UNIT_LAYERLEVEL" val="1_1_1"/>
  <p:tag name="KSO_WM_TAG_VERSION" val="1.0"/>
  <p:tag name="KSO_WM_UNIT_FILL_FORE_SCHEMECOLOR_INDEX" val="14"/>
  <p:tag name="KSO_WM_UNIT_FILL_TYPE" val="1"/>
  <p:tag name="KSO_WM_UNIT_SHADOW_SCHEMECOLOR_INDEX" val="14"/>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1_2"/>
  <p:tag name="KSO_WM_TEMPLATE_CATEGORY" val="diagram"/>
  <p:tag name="KSO_WM_TEMPLATE_INDEX" val="20227670"/>
  <p:tag name="KSO_WM_UNIT_LAYERLEVEL" val="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1_3"/>
  <p:tag name="KSO_WM_TEMPLATE_CATEGORY" val="diagram"/>
  <p:tag name="KSO_WM_TEMPLATE_INDEX" val="20227670"/>
  <p:tag name="KSO_WM_UNIT_LAYERLEVEL" val="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79.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7670_6*l_h_a*1_1_1"/>
  <p:tag name="KSO_WM_TEMPLATE_CATEGORY" val="diagram"/>
  <p:tag name="KSO_WM_TEMPLATE_INDEX" val="20227670"/>
  <p:tag name="KSO_WM_UNIT_LAYERLEVEL" val="1_1_1"/>
  <p:tag name="KSO_WM_TAG_VERSION" val="1.0"/>
  <p:tag name="KSO_WM_UNIT_TEXT_FILL_FORE_SCHEMECOLOR_INDEX" val="13"/>
  <p:tag name="KSO_WM_UNIT_TEXT_FILL_TYPE" val="1"/>
  <p:tag name="KSO_WM_DIAGRAM_VIRTUALLY_FRAME" val="{&quot;height&quot;:205.35795275590553,&quot;left&quot;:54.24295275590557,&quot;top&quot;:87.04488188976377,&quot;width&quot;:857.0111417322836}"/>
</p:tagLst>
</file>

<file path=ppt/tags/tag180.xml><?xml version="1.0" encoding="utf-8"?>
<p:tagLst xmlns:p="http://schemas.openxmlformats.org/presentationml/2006/main">
  <p:tag name="KSO_WM_UNIT_VALUE" val="123*123"/>
  <p:tag name="KSO_WM_UNIT_HIGHLIGHT" val="0"/>
  <p:tag name="KSO_WM_UNIT_COMPATIBLE" val="0"/>
  <p:tag name="KSO_WM_UNIT_DIAGRAM_ISNUMVISUAL" val="0"/>
  <p:tag name="KSO_WM_UNIT_DIAGRAM_ISREFERUNIT" val="0"/>
  <p:tag name="KSO_WM_DIAGRAM_GROUP_CODE" val="l1-1"/>
  <p:tag name="KSO_WM_UNIT_ID" val="diagram20227670_6*l_h_x*1_1_1"/>
  <p:tag name="KSO_WM_TEMPLATE_CATEGORY" val="diagram"/>
  <p:tag name="KSO_WM_TEMPLATE_INDEX" val="20227670"/>
  <p:tag name="KSO_WM_UNIT_LAYERLEVEL" val="1_1_1"/>
  <p:tag name="KSO_WM_TAG_VERSION" val="1.0"/>
  <p:tag name="KSO_WM_UNIT_FILL_FORE_SCHEMECOLOR_INDEX" val="5"/>
  <p:tag name="KSO_WM_UNIT_FILL_TYPE" val="1"/>
  <p:tag name="KSO_WM_DIAGRAM_VIRTUALLY_FRAME" val="{&quot;height&quot;:205.35795275590553,&quot;left&quot;:54.24295275590557,&quot;top&quot;:87.04488188976377,&quot;width&quot;:857.0111417322836}"/>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2_1"/>
  <p:tag name="KSO_WM_TEMPLATE_CATEGORY" val="diagram"/>
  <p:tag name="KSO_WM_TEMPLATE_INDEX" val="20227670"/>
  <p:tag name="KSO_WM_UNIT_LAYERLEVEL" val="1_1_1"/>
  <p:tag name="KSO_WM_TAG_VERSION" val="1.0"/>
  <p:tag name="KSO_WM_UNIT_FILL_FORE_SCHEMECOLOR_INDEX" val="14"/>
  <p:tag name="KSO_WM_UNIT_FILL_TYPE" val="1"/>
  <p:tag name="KSO_WM_UNIT_SHADOW_SCHEMECOLOR_INDEX" val="14"/>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2_2"/>
  <p:tag name="KSO_WM_TEMPLATE_CATEGORY" val="diagram"/>
  <p:tag name="KSO_WM_TEMPLATE_INDEX" val="20227670"/>
  <p:tag name="KSO_WM_UNIT_LAYERLEVEL" val="1_1_1"/>
  <p:tag name="KSO_WM_TAG_VERSION" val="1.0"/>
  <p:tag name="KSO_WM_UNIT_FILL_FORE_SCHEMECOLOR_INDEX" val="8"/>
  <p:tag name="KSO_WM_UNIT_FILL_TYPE" val="1"/>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h_i*1_2_3"/>
  <p:tag name="KSO_WM_TEMPLATE_CATEGORY" val="diagram"/>
  <p:tag name="KSO_WM_TEMPLATE_INDEX" val="20227670"/>
  <p:tag name="KSO_WM_UNIT_LAYERLEVEL" val="1_1_1"/>
  <p:tag name="KSO_WM_TAG_VERSION" val="1.0"/>
  <p:tag name="KSO_WM_UNIT_FILL_FORE_SCHEMECOLOR_INDEX" val="8"/>
  <p:tag name="KSO_WM_UNIT_FILL_TYPE" val="1"/>
  <p:tag name="KSO_WM_UNIT_TEXT_FILL_FORE_SCHEMECOLOR_INDEX" val="2"/>
  <p:tag name="KSO_WM_UNIT_TEXT_FILL_TYPE" val="1"/>
  <p:tag name="KSO_WM_DIAGRAM_VIRTUALLY_FRAME" val="{&quot;height&quot;:205.35795275590553,&quot;left&quot;:54.24295275590557,&quot;top&quot;:87.04488188976377,&quot;width&quot;:857.0111417322836}"/>
</p:tagLst>
</file>

<file path=ppt/tags/tag184.xml><?xml version="1.0" encoding="utf-8"?>
<p:tagLst xmlns:p="http://schemas.openxmlformats.org/presentationml/2006/main">
  <p:tag name="KSO_WM_UNIT_SUBTYPE" val="a"/>
  <p:tag name="KSO_WM_UNIT_PRESET_TEXT" val="单击此处输入你的正文，文字是您思想的提炼，为了最终演示发布的良好效果。"/>
  <p:tag name="KSO_WM_UNIT_NOCLEAR" val="0"/>
  <p:tag name="KSO_WM_UNIT_HIGHLIGHT" val="0"/>
  <p:tag name="KSO_WM_UNIT_COMPATIBLE" val="0"/>
  <p:tag name="KSO_WM_UNIT_DIAGRAM_ISNUMVISUAL" val="0"/>
  <p:tag name="KSO_WM_UNIT_DIAGRAM_ISREFERUNIT" val="0"/>
  <p:tag name="KSO_WM_DIAGRAM_GROUP_CODE" val="l1-1"/>
  <p:tag name="KSO_WM_UNIT_ID" val="diagram20227670_6*l_h_f*1_2_1"/>
  <p:tag name="KSO_WM_TEMPLATE_CATEGORY" val="diagram"/>
  <p:tag name="KSO_WM_TEMPLATE_INDEX" val="20227670"/>
  <p:tag name="KSO_WM_UNIT_LAYERLEVEL" val="1_1_1"/>
  <p:tag name="KSO_WM_TAG_VERSION" val="1.0"/>
  <p:tag name="KSO_WM_UNIT_TEXT_FILL_FORE_SCHEMECOLOR_INDEX" val="13"/>
  <p:tag name="KSO_WM_UNIT_TEXT_FILL_TYPE" val="1"/>
  <p:tag name="KSO_WM_DIAGRAM_VIRTUALLY_FRAME" val="{&quot;height&quot;:205.35795275590553,&quot;left&quot;:54.24295275590557,&quot;top&quot;:87.04488188976377,&quot;width&quot;:857.0111417322836}"/>
</p:tagLst>
</file>

<file path=ppt/tags/tag185.xml><?xml version="1.0" encoding="utf-8"?>
<p:tagLst xmlns:p="http://schemas.openxmlformats.org/presentationml/2006/main">
  <p:tag name="KSO_WM_UNIT_VALUE" val="123*123"/>
  <p:tag name="KSO_WM_UNIT_HIGHLIGHT" val="0"/>
  <p:tag name="KSO_WM_UNIT_COMPATIBLE" val="0"/>
  <p:tag name="KSO_WM_UNIT_DIAGRAM_ISNUMVISUAL" val="0"/>
  <p:tag name="KSO_WM_UNIT_DIAGRAM_ISREFERUNIT" val="0"/>
  <p:tag name="KSO_WM_DIAGRAM_GROUP_CODE" val="l1-1"/>
  <p:tag name="KSO_WM_UNIT_ID" val="diagram20227670_6*l_h_x*1_2_1"/>
  <p:tag name="KSO_WM_TEMPLATE_CATEGORY" val="diagram"/>
  <p:tag name="KSO_WM_TEMPLATE_INDEX" val="20227670"/>
  <p:tag name="KSO_WM_UNIT_LAYERLEVEL" val="1_1_1"/>
  <p:tag name="KSO_WM_TAG_VERSION" val="1.0"/>
  <p:tag name="KSO_WM_UNIT_FILL_FORE_SCHEMECOLOR_INDEX" val="8"/>
  <p:tag name="KSO_WM_UNIT_FILL_TYPE" val="1"/>
  <p:tag name="KSO_WM_DIAGRAM_VIRTUALLY_FRAME" val="{&quot;height&quot;:205.35795275590553,&quot;left&quot;:54.24295275590557,&quot;top&quot;:87.04488188976377,&quot;width&quot;:857.0111417322836}"/>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27670_6*l_i*1_1"/>
  <p:tag name="KSO_WM_TEMPLATE_CATEGORY" val="diagram"/>
  <p:tag name="KSO_WM_TEMPLATE_INDEX" val="20227670"/>
  <p:tag name="KSO_WM_UNIT_LAYERLEVEL" val="1_1"/>
  <p:tag name="KSO_WM_TAG_VERSION" val="1.0"/>
  <p:tag name="KSO_WM_UNIT_LINE_FORE_SCHEMECOLOR_INDEX" val="5"/>
  <p:tag name="KSO_WM_UNIT_LINE_FILL_TYPE" val="2"/>
  <p:tag name="KSO_WM_DIAGRAM_VIRTUALLY_FRAME" val="{&quot;height&quot;:205.35795275590553,&quot;left&quot;:54.24295275590557,&quot;top&quot;:87.04488188976377,&quot;width&quot;:857.0111417322836}"/>
</p:tagLst>
</file>

<file path=ppt/tags/tag187.xml><?xml version="1.0" encoding="utf-8"?>
<p:tagLst xmlns:p="http://schemas.openxmlformats.org/presentationml/2006/main">
  <p:tag name="KSO_WM_TEMPLATE_CATEGORY" val="diagram"/>
  <p:tag name="KSO_WM_TEMPLATE_INDEX" val="20185719"/>
  <p:tag name="KSO_WM_UNIT_ID" val="diagram20185719_2*n_h_i*1_2_2"/>
  <p:tag name="KSO_WM_UNIT_LAYERLEVEL" val="1_1_1"/>
  <p:tag name="KSO_WM_TAG_VERSION" val="1.0"/>
  <p:tag name="KSO_WM_DIAGRAM_GROUP_CODE" val="n1-1"/>
  <p:tag name="KSO_WM_UNIT_FILL_FORE_SCHEMECOLOR_INDEX" val="5"/>
  <p:tag name="KSO_WM_UNIT_FILL_TYPE" val="1"/>
</p:tagLst>
</file>

<file path=ppt/tags/tag188.xml><?xml version="1.0" encoding="utf-8"?>
<p:tagLst xmlns:p="http://schemas.openxmlformats.org/presentationml/2006/main">
  <p:tag name="KSO_WM_TEMPLATE_CATEGORY" val="diagram"/>
  <p:tag name="KSO_WM_TEMPLATE_INDEX" val="20185719"/>
  <p:tag name="KSO_WM_UNIT_ID" val="diagram20185719_2*n_h_i*1_2_1"/>
  <p:tag name="KSO_WM_UNIT_LAYERLEVEL" val="1_1_1"/>
  <p:tag name="KSO_WM_TAG_VERSION" val="1.0"/>
  <p:tag name="KSO_WM_DIAGRAM_GROUP_CODE" val="n1-1"/>
  <p:tag name="KSO_WM_UNIT_FILL_FORE_SCHEMECOLOR_INDEX" val="5"/>
  <p:tag name="KSO_WM_UNIT_FILL_TYPE" val="1"/>
</p:tagLst>
</file>

<file path=ppt/tags/tag189.xml><?xml version="1.0" encoding="utf-8"?>
<p:tagLst xmlns:p="http://schemas.openxmlformats.org/presentationml/2006/main">
  <p:tag name="KSO_WM_TEMPLATE_CATEGORY" val="diagram"/>
  <p:tag name="KSO_WM_TEMPLATE_INDEX" val="20185719"/>
  <p:tag name="KSO_WM_UNIT_ID" val="diagram20185719_2*n_h_i*1_1_1"/>
  <p:tag name="KSO_WM_UNIT_LAYERLEVEL" val="1_1_1"/>
  <p:tag name="KSO_WM_TAG_VERSION" val="1.0"/>
  <p:tag name="KSO_WM_DIAGRAM_GROUP_CODE" val="n1-1"/>
</p:tagLst>
</file>

<file path=ppt/tags/tag190.xml><?xml version="1.0" encoding="utf-8"?>
<p:tagLst xmlns:p="http://schemas.openxmlformats.org/presentationml/2006/main">
  <p:tag name="KSO_WM_TAG_VERSION" val="1.0"/>
  <p:tag name="KSO_WM_UNIT_ID" val="diagram20185719_2*i*4"/>
  <p:tag name="KSO_WM_TEMPLATE_CATEGORY" val="diagram"/>
  <p:tag name="KSO_WM_TEMPLATE_INDEX" val="20185719"/>
  <p:tag name="KSO_WM_DIAGRAM_VIRTUALLY_FRAME" val="{&quot;height&quot;:154.57984251968506,&quot;left&quot;:158.08141732283462,&quot;top&quot;:231.3523622047244,&quot;width&quot;:661.0193700787402}"/>
</p:tagLst>
</file>

<file path=ppt/tags/tag191.xml><?xml version="1.0" encoding="utf-8"?>
<p:tagLst xmlns:p="http://schemas.openxmlformats.org/presentationml/2006/main">
  <p:tag name="KSO_WM_TEMPLATE_CATEGORY" val="diagram"/>
  <p:tag name="KSO_WM_TEMPLATE_INDEX" val="20185719"/>
  <p:tag name="KSO_WM_UNIT_TYPE" val="n_h_a"/>
  <p:tag name="KSO_WM_UNIT_INDEX" val="1_2_1"/>
  <p:tag name="KSO_WM_UNIT_ID" val="diagram20185719_2*n_h_a*1_2_1"/>
  <p:tag name="KSO_WM_UNIT_LAYERLEVEL" val="1_1_1"/>
  <p:tag name="KSO_WM_UNIT_VALUE" val="12"/>
  <p:tag name="KSO_WM_UNIT_HIGHLIGHT" val="0"/>
  <p:tag name="KSO_WM_UNIT_COMPATIBLE" val="0"/>
  <p:tag name="KSO_WM_UNIT_CLEAR" val="0"/>
  <p:tag name="KSO_WM_BEAUTIFY_FLAG" val="#wm#"/>
  <p:tag name="KSO_WM_TAG_VERSION" val="1.0"/>
  <p:tag name="KSO_WM_DIAGRAM_GROUP_CODE" val="n1-1"/>
  <p:tag name="KSO_WM_UNIT_PRESET_TEXT" val="LOREM IPSUM"/>
  <p:tag name="KSO_WM_UNIT_TEXT_FILL_FORE_SCHEMECOLOR_INDEX" val="13"/>
  <p:tag name="KSO_WM_UNIT_TEXT_FILL_TYPE" val="1"/>
  <p:tag name="KSO_WM_DIAGRAM_VIRTUALLY_FRAME" val="{&quot;height&quot;:154.57984251968506,&quot;left&quot;:158.08141732283462,&quot;top&quot;:231.3523622047244,&quot;width&quot;:661.0193700787402}"/>
</p:tagLst>
</file>

<file path=ppt/tags/tag192.xml><?xml version="1.0" encoding="utf-8"?>
<p:tagLst xmlns:p="http://schemas.openxmlformats.org/presentationml/2006/main">
  <p:tag name="KSO_WM_TEMPLATE_CATEGORY" val="diagram"/>
  <p:tag name="KSO_WM_TEMPLATE_INDEX" val="20185719"/>
  <p:tag name="KSO_WM_UNIT_TYPE" val="n_h_f"/>
  <p:tag name="KSO_WM_UNIT_INDEX" val="1_2_1"/>
  <p:tag name="KSO_WM_UNIT_ID" val="diagram20185719_2*n_h_f*1_2_1"/>
  <p:tag name="KSO_WM_UNIT_LAYERLEVEL" val="1_1_1"/>
  <p:tag name="KSO_WM_UNIT_VALUE" val="28"/>
  <p:tag name="KSO_WM_UNIT_HIGHLIGHT" val="0"/>
  <p:tag name="KSO_WM_UNIT_COMPATIBLE" val="0"/>
  <p:tag name="KSO_WM_UNIT_CLEAR" val="0"/>
  <p:tag name="KSO_WM_BEAUTIFY_FLAG" val="#wm#"/>
  <p:tag name="KSO_WM_TAG_VERSION" val="1.0"/>
  <p:tag name="KSO_WM_DIAGRAM_GROUP_CODE" val="n1-1"/>
  <p:tag name="KSO_WM_UNIT_PRESET_TEXT" val="Lorem ipsum dolor sit amet, consectetur adipisicing elit."/>
  <p:tag name="KSO_WM_UNIT_TEXT_FILL_FORE_SCHEMECOLOR_INDEX" val="13"/>
  <p:tag name="KSO_WM_UNIT_TEXT_FILL_TYPE" val="1"/>
  <p:tag name="KSO_WM_DIAGRAM_VIRTUALLY_FRAME" val="{&quot;height&quot;:154.57984251968506,&quot;left&quot;:158.08141732283462,&quot;top&quot;:231.3523622047244,&quot;width&quot;:661.0193700787402}"/>
</p:tagLst>
</file>

<file path=ppt/tags/tag193.xml><?xml version="1.0" encoding="utf-8"?>
<p:tagLst xmlns:p="http://schemas.openxmlformats.org/presentationml/2006/main">
  <p:tag name="KSO_WM_TAG_VERSION" val="1.0"/>
  <p:tag name="KSO_WM_UNIT_ID" val="diagram20185719_2*i*9"/>
  <p:tag name="KSO_WM_TEMPLATE_CATEGORY" val="diagram"/>
  <p:tag name="KSO_WM_TEMPLATE_INDEX" val="20185719"/>
  <p:tag name="KSO_WM_DIAGRAM_VIRTUALLY_FRAME" val="{&quot;height&quot;:154.57984251968506,&quot;left&quot;:158.08141732283462,&quot;top&quot;:231.3523622047244,&quot;width&quot;:661.0193700787402}"/>
</p:tagLst>
</file>

<file path=ppt/tags/tag194.xml><?xml version="1.0" encoding="utf-8"?>
<p:tagLst xmlns:p="http://schemas.openxmlformats.org/presentationml/2006/main">
  <p:tag name="KSO_WM_TEMPLATE_CATEGORY" val="diagram"/>
  <p:tag name="KSO_WM_TEMPLATE_INDEX" val="20185719"/>
  <p:tag name="KSO_WM_UNIT_TYPE" val="n_h_a"/>
  <p:tag name="KSO_WM_UNIT_INDEX" val="1_2_2"/>
  <p:tag name="KSO_WM_UNIT_ID" val="diagram20185719_2*n_h_a*1_2_2"/>
  <p:tag name="KSO_WM_UNIT_LAYERLEVEL" val="1_1_1"/>
  <p:tag name="KSO_WM_UNIT_VALUE" val="12"/>
  <p:tag name="KSO_WM_UNIT_HIGHLIGHT" val="0"/>
  <p:tag name="KSO_WM_UNIT_COMPATIBLE" val="0"/>
  <p:tag name="KSO_WM_UNIT_CLEAR" val="0"/>
  <p:tag name="KSO_WM_BEAUTIFY_FLAG" val="#wm#"/>
  <p:tag name="KSO_WM_TAG_VERSION" val="1.0"/>
  <p:tag name="KSO_WM_DIAGRAM_GROUP_CODE" val="n1-1"/>
  <p:tag name="KSO_WM_UNIT_PRESET_TEXT" val="LOREM IPSUM"/>
  <p:tag name="KSO_WM_UNIT_TEXT_FILL_FORE_SCHEMECOLOR_INDEX" val="13"/>
  <p:tag name="KSO_WM_UNIT_TEXT_FILL_TYPE" val="1"/>
  <p:tag name="KSO_WM_DIAGRAM_VIRTUALLY_FRAME" val="{&quot;height&quot;:154.57984251968506,&quot;left&quot;:158.08141732283462,&quot;top&quot;:231.3523622047244,&quot;width&quot;:661.0193700787402}"/>
</p:tagLst>
</file>

<file path=ppt/tags/tag195.xml><?xml version="1.0" encoding="utf-8"?>
<p:tagLst xmlns:p="http://schemas.openxmlformats.org/presentationml/2006/main">
  <p:tag name="KSO_WM_TEMPLATE_CATEGORY" val="diagram"/>
  <p:tag name="KSO_WM_TEMPLATE_INDEX" val="20185719"/>
  <p:tag name="KSO_WM_UNIT_TYPE" val="n_h_f"/>
  <p:tag name="KSO_WM_UNIT_INDEX" val="1_2_2"/>
  <p:tag name="KSO_WM_UNIT_ID" val="diagram20185719_2*n_h_f*1_2_2"/>
  <p:tag name="KSO_WM_UNIT_LAYERLEVEL" val="1_1_1"/>
  <p:tag name="KSO_WM_UNIT_VALUE" val="28"/>
  <p:tag name="KSO_WM_UNIT_HIGHLIGHT" val="0"/>
  <p:tag name="KSO_WM_UNIT_COMPATIBLE" val="0"/>
  <p:tag name="KSO_WM_UNIT_CLEAR" val="0"/>
  <p:tag name="KSO_WM_BEAUTIFY_FLAG" val="#wm#"/>
  <p:tag name="KSO_WM_TAG_VERSION" val="1.0"/>
  <p:tag name="KSO_WM_DIAGRAM_GROUP_CODE" val="n1-1"/>
  <p:tag name="KSO_WM_UNIT_PRESET_TEXT" val="Lorem ipsum dolor sit amet, consectetur adipisicing elit."/>
  <p:tag name="KSO_WM_UNIT_TEXT_FILL_FORE_SCHEMECOLOR_INDEX" val="13"/>
  <p:tag name="KSO_WM_UNIT_TEXT_FILL_TYPE" val="1"/>
  <p:tag name="KSO_WM_DIAGRAM_VIRTUALLY_FRAME" val="{&quot;height&quot;:154.57984251968506,&quot;left&quot;:158.08141732283462,&quot;top&quot;:231.3523622047244,&quot;width&quot;:661.0193700787402}"/>
</p:tagLst>
</file>

<file path=ppt/tags/tag196.xml><?xml version="1.0" encoding="utf-8"?>
<p:tagLst xmlns:p="http://schemas.openxmlformats.org/presentationml/2006/main">
  <p:tag name="KSO_WM_TEMPLATE_CATEGORY" val="diagram"/>
  <p:tag name="KSO_WM_TEMPLATE_INDEX" val="20185719"/>
  <p:tag name="KSO_WM_UNIT_ID" val="diagram20185719_2*n_h_i*1_1_2"/>
  <p:tag name="KSO_WM_UNIT_LAYERLEVEL" val="1_1_1"/>
  <p:tag name="KSO_WM_TAG_VERSION" val="1.0"/>
  <p:tag name="KSO_WM_DIAGRAM_GROUP_CODE" val="n1-1"/>
  <p:tag name="KSO_WM_UNIT_FILL_FORE_SCHEMECOLOR_INDEX" val="5"/>
  <p:tag name="KSO_WM_UNIT_FILL_TYPE" val="1"/>
  <p:tag name="KSO_WM_UNIT_TEXT_FILL_FORE_SCHEMECOLOR_INDEX" val="2"/>
  <p:tag name="KSO_WM_UNIT_TEXT_FILL_TYPE" val="1"/>
</p:tagLst>
</file>

<file path=ppt/tags/tag197.xml><?xml version="1.0" encoding="utf-8"?>
<p:tagLst xmlns:p="http://schemas.openxmlformats.org/presentationml/2006/main">
  <p:tag name="KSO_WM_TEMPLATE_CATEGORY" val="diagram"/>
  <p:tag name="KSO_WM_TEMPLATE_INDEX" val="20185719"/>
  <p:tag name="KSO_WM_UNIT_ID" val="diagram20185719_2*n_h_a*1_1_1"/>
  <p:tag name="KSO_WM_UNIT_LAYERLEVEL" val="1_1_1"/>
  <p:tag name="KSO_WM_UNIT_VALUE" val="8"/>
  <p:tag name="KSO_WM_UNIT_HIGHLIGHT" val="0"/>
  <p:tag name="KSO_WM_UNIT_COMPATIBLE" val="0"/>
  <p:tag name="KSO_WM_UNIT_CLEAR" val="0"/>
  <p:tag name="KSO_WM_TAG_VERSION" val="1.0"/>
  <p:tag name="KSO_WM_DIAGRAM_GROUP_CODE" val="n1-1"/>
  <p:tag name="KSO_WM_UNIT_PRESET_TEXT" val="LOREM IPSUM"/>
  <p:tag name="KSO_WM_UNIT_TEXT_FILL_FORE_SCHEMECOLOR_INDEX" val="13"/>
  <p:tag name="KSO_WM_UNIT_TEXT_FILL_TYPE" val="1"/>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MEDIACOVER_FLAG" val="1"/>
  <p:tag name="KSO_WM_UNIT_MEDIACOVER_BTN_STATE" val="1"/>
  <p:tag name="KSO_WM_UNIT_MEDIACOVER_BTNRECT" val="8946*4285*0*0"/>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2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3*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3*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TYPE" val="1"/>
  <p:tag name="KSO_WM_UNIT_PRESET_TEXT" val="单击此处输入(你的)智能图形项正文，文字是您思想的提炼，请尽量言简意赅"/>
  <p:tag name="KSO_WM_DIAGRAM_USE_COLOR_VALUE" val="{&quot;color_scheme&quot;:1,&quot;color_type&quot;:1,&quot;theme_color_indexes&quot;:[]}"/>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DIAGRAM_USE_COLOR_VALUE" val="{&quot;color_scheme&quot;:1,&quot;color_type&quot;:1,&quot;theme_color_indexes&quot;:[]}"/>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2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3*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6_3*l_h_f*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TYPE" val="1"/>
  <p:tag name="KSO_WM_UNIT_PRESET_TEXT" val="单击此处输入(你的)智能图形项正文，文字是您思想的提炼，请尽量言简意赅"/>
  <p:tag name="KSO_WM_DIAGRAM_USE_COLOR_VALUE" val="{&quot;color_scheme&quot;:1,&quot;color_type&quot;:1,&quot;theme_color_indexes&quot;:[]}"/>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DIAGRAM_USE_COLOR_VALUE" val="{&quot;color_scheme&quot;:1,&quot;color_type&quot;:1,&quot;theme_color_indexes&quot;:[]}"/>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2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3*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3*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TYPE" val="1"/>
  <p:tag name="KSO_WM_UNIT_PRESET_TEXT" val="单击此处输入(你的)智能图形项正文，文字是您思想的提炼，请尽量言简意赅"/>
  <p:tag name="KSO_WM_DIAGRAM_USE_COLOR_VALUE" val="{&quot;color_scheme&quot;:1,&quot;color_type&quot;:1,&quot;theme_color_indexes&quot;:[]}"/>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DIAGRAM_USE_COLOR_VALUE" val="{&quot;color_scheme&quot;:1,&quot;color_type&quot;:1,&quot;theme_color_indexes&quot;:[]}"/>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2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6_3*l_h_a*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6_3*l_h_f*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TYPE" val="1"/>
  <p:tag name="KSO_WM_UNIT_PRESET_TEXT" val="单击此处输入(你的)智能图形项正文，文字是您思想的提炼，请尽量言简意赅"/>
  <p:tag name="KSO_WM_DIAGRAM_USE_COLOR_VALUE" val="{&quot;color_scheme&quot;:1,&quot;color_type&quot;:1,&quot;theme_color_indexes&quot;:[]}"/>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4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3*l_h_i*1_4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2"/>
  <p:tag name="KSO_WM_DIAGRAM_VIRTUALLY_FRAME" val="{&quot;height&quot;:387.25,&quot;left&quot;:49.75,&quot;top&quot;:137.57503937007877,&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FORE_SCHEMECOLOR_INDEX" val="14"/>
  <p:tag name="KSO_WM_UNIT_FILL_FORE_SCHEMECOLOR_INDEX_BRIGHTNESS" val="0"/>
  <p:tag name="KSO_WM_DIAGRAM_USE_COLOR_VALUE" val="{&quot;color_scheme&quot;:1,&quot;color_type&quot;:1,&quot;theme_color_indexes&quot;:[]}"/>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DIAGRAM_VIRTUALLY_FRAME" val="{&quot;height&quot;:295.85,&quot;left&quot;:49,&quot;top&quot;:142.95,&quot;width&quot;:857.85}"/>
</p:tagLst>
</file>

<file path=ppt/tags/tag231.xml><?xml version="1.0" encoding="utf-8"?>
<p:tagLst xmlns:p="http://schemas.openxmlformats.org/presentationml/2006/main">
  <p:tag name="KSO_WM_BEAUTIFY_FLAG" val=""/>
  <p:tag name="KSO_WM_DIAGRAM_VIRTUALLY_FRAME" val="{&quot;height&quot;:295.85,&quot;left&quot;:49,&quot;top&quot;:142.95,&quot;width&quot;:857.85}"/>
</p:tagLst>
</file>

<file path=ppt/tags/tag232.xml><?xml version="1.0" encoding="utf-8"?>
<p:tagLst xmlns:p="http://schemas.openxmlformats.org/presentationml/2006/main">
  <p:tag name="KSO_WM_BEAUTIFY_FLAG" val=""/>
  <p:tag name="KSO_WM_DIAGRAM_VIRTUALLY_FRAME" val="{&quot;height&quot;:295.85,&quot;left&quot;:49,&quot;top&quot;:142.95,&quot;width&quot;:857.85}"/>
</p:tagLst>
</file>

<file path=ppt/tags/tag233.xml><?xml version="1.0" encoding="utf-8"?>
<p:tagLst xmlns:p="http://schemas.openxmlformats.org/presentationml/2006/main">
  <p:tag name="KSO_WM_BEAUTIFY_FLAG" val=""/>
  <p:tag name="KSO_WM_DIAGRAM_VIRTUALLY_FRAME" val="{&quot;height&quot;:295.85,&quot;left&quot;:49,&quot;top&quot;:142.95,&quot;width&quot;:857.85}"/>
</p:tagLst>
</file>

<file path=ppt/tags/tag234.xml><?xml version="1.0" encoding="utf-8"?>
<p:tagLst xmlns:p="http://schemas.openxmlformats.org/presentationml/2006/main">
  <p:tag name="KSO_WM_BEAUTIFY_FLAG" val=""/>
  <p:tag name="KSO_WM_DIAGRAM_VIRTUALLY_FRAME" val="{&quot;height&quot;:295.85,&quot;left&quot;:49,&quot;top&quot;:142.95,&quot;width&quot;:857.85}"/>
</p:tagLst>
</file>

<file path=ppt/tags/tag235.xml><?xml version="1.0" encoding="utf-8"?>
<p:tagLst xmlns:p="http://schemas.openxmlformats.org/presentationml/2006/main">
  <p:tag name="KSO_WM_BEAUTIFY_FLAG" val=""/>
  <p:tag name="KSO_WM_DIAGRAM_VIRTUALLY_FRAME" val="{&quot;height&quot;:295.85,&quot;left&quot;:49,&quot;top&quot;:142.95,&quot;width&quot;:857.85}"/>
</p:tagLst>
</file>

<file path=ppt/tags/tag236.xml><?xml version="1.0" encoding="utf-8"?>
<p:tagLst xmlns:p="http://schemas.openxmlformats.org/presentationml/2006/main">
  <p:tag name="KSO_WM_BEAUTIFY_FLAG" val=""/>
  <p:tag name="KSO_WM_DIAGRAM_VIRTUALLY_FRAME" val="{&quot;height&quot;:295.85,&quot;left&quot;:49,&quot;top&quot;:142.95,&quot;width&quot;:857.85}"/>
</p:tagLst>
</file>

<file path=ppt/tags/tag237.xml><?xml version="1.0" encoding="utf-8"?>
<p:tagLst xmlns:p="http://schemas.openxmlformats.org/presentationml/2006/main">
  <p:tag name="KSO_WM_BEAUTIFY_FLAG" val=""/>
  <p:tag name="KSO_WM_DIAGRAM_VIRTUALLY_FRAME" val="{&quot;height&quot;:295.85,&quot;left&quot;:49,&quot;top&quot;:142.95,&quot;width&quot;:857.85}"/>
</p:tagLst>
</file>

<file path=ppt/tags/tag238.xml><?xml version="1.0" encoding="utf-8"?>
<p:tagLst xmlns:p="http://schemas.openxmlformats.org/presentationml/2006/main">
  <p:tag name="KSO_WM_BEAUTIFY_FLAG" val=""/>
  <p:tag name="KSO_WM_DIAGRAM_VIRTUALLY_FRAME" val="{&quot;height&quot;:295.85,&quot;left&quot;:49,&quot;top&quot;:142.95,&quot;width&quot;:857.85}"/>
</p:tagLst>
</file>

<file path=ppt/tags/tag239.xml><?xml version="1.0" encoding="utf-8"?>
<p:tagLst xmlns:p="http://schemas.openxmlformats.org/presentationml/2006/main">
  <p:tag name="KSO_WM_BEAUTIFY_FLAG" val=""/>
  <p:tag name="KSO_WM_DIAGRAM_VIRTUALLY_FRAME" val="{&quot;height&quot;:295.85,&quot;left&quot;:49,&quot;top&quot;:142.95,&quot;width&quot;:857.85}"/>
</p:tagLst>
</file>

<file path=ppt/tags/tag240.xml><?xml version="1.0" encoding="utf-8"?>
<p:tagLst xmlns:p="http://schemas.openxmlformats.org/presentationml/2006/main">
  <p:tag name="KSO_WM_BEAUTIFY_FLAG" val=""/>
  <p:tag name="KSO_WM_DIAGRAM_VIRTUALLY_FRAME" val="{&quot;height&quot;:295.85,&quot;left&quot;:49,&quot;top&quot;:142.95,&quot;width&quot;:857.85}"/>
</p:tagLst>
</file>

<file path=ppt/tags/tag241.xml><?xml version="1.0" encoding="utf-8"?>
<p:tagLst xmlns:p="http://schemas.openxmlformats.org/presentationml/2006/main">
  <p:tag name="KSO_WM_BEAUTIFY_FLAG" val=""/>
  <p:tag name="KSO_WM_DIAGRAM_VIRTUALLY_FRAME" val="{&quot;height&quot;:295.85,&quot;left&quot;:49,&quot;top&quot;:142.95,&quot;width&quot;:857.85}"/>
</p:tagLst>
</file>

<file path=ppt/tags/tag242.xml><?xml version="1.0" encoding="utf-8"?>
<p:tagLst xmlns:p="http://schemas.openxmlformats.org/presentationml/2006/main">
  <p:tag name="KSO_WM_BEAUTIFY_FLAG" val=""/>
  <p:tag name="KSO_WM_DIAGRAM_VIRTUALLY_FRAME" val="{&quot;height&quot;:295.85,&quot;left&quot;:49,&quot;top&quot;:142.95,&quot;width&quot;:857.85}"/>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DIAGRAM_VIRTUALLY_FRAME" val="{&quot;height&quot;:423.65,&quot;left&quot;:15.3,&quot;top&quot;:123.75,&quot;width&quot;:919.6}"/>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1"/>
  <p:tag name="KSO_WM_TEMPLATE_CATEGORY" val="diagram"/>
  <p:tag name="KSO_WM_TEMPLATE_INDEX" val="20231113"/>
  <p:tag name="KSO_WM_UNIT_LAYERLEVEL" val="1_1_1"/>
  <p:tag name="KSO_WM_TAG_VERSION" val="3.0"/>
  <p:tag name="KSO_WM_BEAUTIFY_FLAG" val="#wm#"/>
  <p:tag name="KSO_WM_UNIT_TYPE" val="n_h_i"/>
  <p:tag name="KSO_WM_UNIT_INDEX" val="1_1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09000000357627869,&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43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2"/>
  <p:tag name="KSO_WM_TEMPLATE_CATEGORY" val="diagram"/>
  <p:tag name="KSO_WM_TEMPLATE_INDEX" val="20231113"/>
  <p:tag name="KSO_WM_UNIT_LAYERLEVEL" val="1_1_1"/>
  <p:tag name="KSO_WM_TAG_VERSION" val="3.0"/>
  <p:tag name="KSO_WM_BEAUTIFY_FLAG" val="#wm#"/>
  <p:tag name="KSO_WM_UNIT_TYPE" val="n_h_i"/>
  <p:tag name="KSO_WM_UNIT_INDEX" val="1_1_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540000021457672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8"/>
  <p:tag name="KSO_WM_TEMPLATE_CATEGORY" val="diagram"/>
  <p:tag name="KSO_WM_TEMPLATE_INDEX" val="20231113"/>
  <p:tag name="KSO_WM_UNIT_LAYERLEVEL" val="1_1_1"/>
  <p:tag name="KSO_WM_TAG_VERSION" val="3.0"/>
  <p:tag name="KSO_WM_BEAUTIFY_FLAG" val="#wm#"/>
  <p:tag name="KSO_WM_UNIT_TYPE" val="n_h_i"/>
  <p:tag name="KSO_WM_UNIT_INDEX" val="1_1_8"/>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05000000074505806,&quot;colorType&quot;:1,&quot;foreColorIndex&quot;:5,&quot;pos&quot;:0.09000000357627869,&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3"/>
  <p:tag name="KSO_WM_TEMPLATE_CATEGORY" val="diagram"/>
  <p:tag name="KSO_WM_TEMPLATE_INDEX" val="20231113"/>
  <p:tag name="KSO_WM_UNIT_LAYERLEVEL" val="1_1_1"/>
  <p:tag name="KSO_WM_TAG_VERSION" val="3.0"/>
  <p:tag name="KSO_WM_BEAUTIFY_FLAG" val="#wm#"/>
  <p:tag name="KSO_WM_UNIT_TYPE" val="n_h_i"/>
  <p:tag name="KSO_WM_UNIT_INDEX" val="1_1_3"/>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09000000357627869,&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43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4"/>
  <p:tag name="KSO_WM_TEMPLATE_CATEGORY" val="diagram"/>
  <p:tag name="KSO_WM_TEMPLATE_INDEX" val="20231113"/>
  <p:tag name="KSO_WM_UNIT_LAYERLEVEL" val="1_1_1"/>
  <p:tag name="KSO_WM_TAG_VERSION" val="3.0"/>
  <p:tag name="KSO_WM_BEAUTIFY_FLAG" val="#wm#"/>
  <p:tag name="KSO_WM_UNIT_TYPE" val="n_h_i"/>
  <p:tag name="KSO_WM_UNIT_INDEX" val="1_1_4"/>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quot;colorType&quot;:1,&quot;foreColorIndex&quot;:5,&quot;pos&quot;:0.07000000029802322,&quot;transparency&quot;:0},{&quot;brightness&quot;:0.6000000238418579,&quot;colorType&quot;:1,&quot;foreColorIndex&quot;:5,&quot;pos&quot;:1,&quot;transparency&quot;:1}],&quot;type&quot;:3},&quot;glow&quot;:{&quot;colorType&quot;:0},&quot;line&quot;:{&quot;gradient&quot;:[{&quot;brightness&quot;:0,&quot;colorType&quot;:1,&quot;foreColorIndex&quot;:14,&quot;pos&quot;:0,&quot;transparency&quot;:0},{&quot;brightness&quot;:0,&quot;colorType&quot;:1,&quot;foreColorIndex&quot;:14,&quot;pos&quot;:0.540000021457672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f*1_2_4_1"/>
  <p:tag name="KSO_WM_TEMPLATE_CATEGORY" val="diagram"/>
  <p:tag name="KSO_WM_TEMPLATE_INDEX" val="20231113"/>
  <p:tag name="KSO_WM_UNIT_LAYERLEVEL" val="1_1_1_1"/>
  <p:tag name="KSO_WM_TAG_VERSION" val="3.0"/>
  <p:tag name="KSO_WM_UNIT_SUBTYPE" val="a"/>
  <p:tag name="KSO_WM_UNIT_NOCLEAR" val="0"/>
  <p:tag name="KSO_WM_UNIT_VALUE" val="5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10.3250393700788,&quot;left&quot;:65.97503937007873,&quot;top&quot;:61.25,&quot;width&quot;:851.9499999999998}"/>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i*1_2_4_1"/>
  <p:tag name="KSO_WM_TEMPLATE_CATEGORY" val="diagram"/>
  <p:tag name="KSO_WM_TEMPLATE_INDEX" val="20231113"/>
  <p:tag name="KSO_WM_UNIT_LAYERLEVEL" val="1_1_1_1"/>
  <p:tag name="KSO_WM_TAG_VERSION" val="3.0"/>
  <p:tag name="KSO_WM_BEAUTIFY_FLAG" val="#wm#"/>
  <p:tag name="KSO_WM_UNIT_TYPE" val="n_h_h_i"/>
  <p:tag name="KSO_WM_UNIT_INDEX" val="1_2_4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f*1_2_2_1"/>
  <p:tag name="KSO_WM_TEMPLATE_CATEGORY" val="diagram"/>
  <p:tag name="KSO_WM_TEMPLATE_INDEX" val="20231113"/>
  <p:tag name="KSO_WM_UNIT_LAYERLEVEL" val="1_1_1_1"/>
  <p:tag name="KSO_WM_TAG_VERSION" val="3.0"/>
  <p:tag name="KSO_WM_UNIT_SUBTYPE" val="a"/>
  <p:tag name="KSO_WM_UNIT_NOCLEAR" val="0"/>
  <p:tag name="KSO_WM_UNIT_VALUE" val="5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10.3250393700788,&quot;left&quot;:65.97503937007873,&quot;top&quot;:61.25,&quot;width&quot;:851.9499999999998}"/>
  <p:tag name="KSO_WM_DIAGRAM_COLOR_MATCH_VALUE" val="{&quot;shape&quot;:{&quot;fill&quot;:{&quot;gradient&quot;:[{&quot;brightness&quot;:0,&quot;colorType&quot;:1,&quot;foreColorIndex&quot;:5,&quot;pos&quot;:1,&quot;transparency&quot;:0.800000011920929},{&quot;brightness&quot;:0,&quot;colorType&quot;:1,&quot;foreColorIndex&quot;:5,&quot;pos&quot;:0,&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i*1_2_2_1"/>
  <p:tag name="KSO_WM_TEMPLATE_CATEGORY" val="diagram"/>
  <p:tag name="KSO_WM_TEMPLATE_INDEX" val="20231113"/>
  <p:tag name="KSO_WM_UNIT_LAYERLEVEL" val="1_1_1_1"/>
  <p:tag name="KSO_WM_TAG_VERSION" val="3.0"/>
  <p:tag name="KSO_WM_BEAUTIFY_FLAG" val="#wm#"/>
  <p:tag name="KSO_WM_UNIT_TYPE" val="n_h_h_i"/>
  <p:tag name="KSO_WM_UNIT_INDEX" val="1_2_2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3_4*n_h_i*1_1_5"/>
  <p:tag name="KSO_WM_TEMPLATE_CATEGORY" val="diagram"/>
  <p:tag name="KSO_WM_TEMPLATE_INDEX" val="20231113"/>
  <p:tag name="KSO_WM_UNIT_LAYERLEVEL" val="1_1_1"/>
  <p:tag name="KSO_WM_TAG_VERSION" val="3.0"/>
  <p:tag name="KSO_WM_UNIT_TYPE" val="n_h_i"/>
  <p:tag name="KSO_WM_UNIT_INDEX" val="1_1_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4000000059604645,&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6"/>
  <p:tag name="KSO_WM_TEMPLATE_CATEGORY" val="diagram"/>
  <p:tag name="KSO_WM_TEMPLATE_INDEX" val="20231113"/>
  <p:tag name="KSO_WM_UNIT_LAYERLEVEL" val="1_1_1"/>
  <p:tag name="KSO_WM_TAG_VERSION" val="3.0"/>
  <p:tag name="KSO_WM_BEAUTIFY_FLAG" val="#wm#"/>
  <p:tag name="KSO_WM_UNIT_TYPE" val="n_h_i"/>
  <p:tag name="KSO_WM_UNIT_INDEX" val="1_1_6"/>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gradient&quot;:[{&quot;brightness&quot;:-0.05000000074505806,&quot;colorType&quot;:1,&quot;foreColorIndex&quot;:5,&quot;pos&quot;:0.09000000357627869,&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7"/>
  <p:tag name="KSO_WM_TEMPLATE_CATEGORY" val="diagram"/>
  <p:tag name="KSO_WM_TEMPLATE_INDEX" val="20231113"/>
  <p:tag name="KSO_WM_UNIT_LAYERLEVEL" val="1_1_1"/>
  <p:tag name="KSO_WM_TAG_VERSION" val="3.0"/>
  <p:tag name="KSO_WM_BEAUTIFY_FLAG" val="#wm#"/>
  <p:tag name="KSO_WM_UNIT_TYPE" val="n_h_i"/>
  <p:tag name="KSO_WM_UNIT_INDEX" val="1_1_7"/>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type&quot;:0},&quot;glow&quot;:{&quot;colorType&quot;:0},&quot;line&quot;:{&quot;gradient&quot;:[{&quot;brightness&quot;:0,&quot;colorType&quot;:1,&quot;foreColorIndex&quot;:5,&quot;pos&quot;:0.8100000023841858,&quot;transparency&quot;:1},{&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9"/>
  <p:tag name="KSO_WM_TEMPLATE_CATEGORY" val="diagram"/>
  <p:tag name="KSO_WM_TEMPLATE_INDEX" val="20231113"/>
  <p:tag name="KSO_WM_UNIT_LAYERLEVEL" val="1_1_1"/>
  <p:tag name="KSO_WM_TAG_VERSION" val="3.0"/>
  <p:tag name="KSO_WM_BEAUTIFY_FLAG" val="#wm#"/>
  <p:tag name="KSO_WM_UNIT_TYPE" val="n_h_i"/>
  <p:tag name="KSO_WM_UNIT_INDEX" val="1_1_9"/>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type&quot;:0},&quot;glow&quot;:{&quot;colorType&quot;:0},&quot;line&quot;:{&quot;gradient&quot;:[{&quot;brightness&quot;:0,&quot;colorType&quot;:1,&quot;foreColorIndex&quot;:5,&quot;pos&quot;:0.1899999976158142,&quot;transparency&quot;:1},{&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i*1_1_10"/>
  <p:tag name="KSO_WM_TEMPLATE_CATEGORY" val="diagram"/>
  <p:tag name="KSO_WM_TEMPLATE_INDEX" val="20231113"/>
  <p:tag name="KSO_WM_UNIT_LAYERLEVEL" val="1_1_1"/>
  <p:tag name="KSO_WM_TAG_VERSION" val="3.0"/>
  <p:tag name="KSO_WM_BEAUTIFY_FLAG" val="#wm#"/>
  <p:tag name="KSO_WM_UNIT_TYPE" val="n_h_i"/>
  <p:tag name="KSO_WM_UNIT_INDEX" val="1_1_1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5,&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f*1_2_5_1"/>
  <p:tag name="KSO_WM_TEMPLATE_CATEGORY" val="diagram"/>
  <p:tag name="KSO_WM_TEMPLATE_INDEX" val="20231113"/>
  <p:tag name="KSO_WM_UNIT_LAYERLEVEL" val="1_1_1_1"/>
  <p:tag name="KSO_WM_TAG_VERSION" val="3.0"/>
  <p:tag name="KSO_WM_UNIT_SUBTYPE" val="a"/>
  <p:tag name="KSO_WM_UNIT_NOCLEAR" val="0"/>
  <p:tag name="KSO_WM_UNIT_VALUE" val="5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10.3250393700788,&quot;left&quot;:65.97503937007873,&quot;top&quot;:61.25,&quot;width&quot;:851.9499999999998}"/>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i*1_2_5_1"/>
  <p:tag name="KSO_WM_TEMPLATE_CATEGORY" val="diagram"/>
  <p:tag name="KSO_WM_TEMPLATE_INDEX" val="20231113"/>
  <p:tag name="KSO_WM_UNIT_LAYERLEVEL" val="1_1_1_1"/>
  <p:tag name="KSO_WM_TAG_VERSION" val="3.0"/>
  <p:tag name="KSO_WM_BEAUTIFY_FLAG" val="#wm#"/>
  <p:tag name="KSO_WM_UNIT_TYPE" val="n_h_h_i"/>
  <p:tag name="KSO_WM_UNIT_INDEX" val="1_2_5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f*1_2_3_1"/>
  <p:tag name="KSO_WM_TEMPLATE_CATEGORY" val="diagram"/>
  <p:tag name="KSO_WM_TEMPLATE_INDEX" val="20231113"/>
  <p:tag name="KSO_WM_UNIT_LAYERLEVEL" val="1_1_1_1"/>
  <p:tag name="KSO_WM_TAG_VERSION" val="3.0"/>
  <p:tag name="KSO_WM_UNIT_SUBTYPE" val="a"/>
  <p:tag name="KSO_WM_UNIT_NOCLEAR" val="0"/>
  <p:tag name="KSO_WM_UNIT_VALUE" val="5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10.3250393700788,&quot;left&quot;:65.97503937007873,&quot;top&quot;:61.25,&quot;width&quot;:851.9499999999998}"/>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i*1_2_3_1"/>
  <p:tag name="KSO_WM_TEMPLATE_CATEGORY" val="diagram"/>
  <p:tag name="KSO_WM_TEMPLATE_INDEX" val="20231113"/>
  <p:tag name="KSO_WM_UNIT_LAYERLEVEL" val="1_1_1_1"/>
  <p:tag name="KSO_WM_TAG_VERSION" val="3.0"/>
  <p:tag name="KSO_WM_BEAUTIFY_FLAG" val="#wm#"/>
  <p:tag name="KSO_WM_UNIT_TYPE" val="n_h_h_i"/>
  <p:tag name="KSO_WM_UNIT_INDEX" val="1_2_3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f*1_2_1_1"/>
  <p:tag name="KSO_WM_TEMPLATE_CATEGORY" val="diagram"/>
  <p:tag name="KSO_WM_TEMPLATE_INDEX" val="20231113"/>
  <p:tag name="KSO_WM_UNIT_LAYERLEVEL" val="1_1_1_1"/>
  <p:tag name="KSO_WM_TAG_VERSION" val="3.0"/>
  <p:tag name="KSO_WM_UNIT_SUBTYPE" val="a"/>
  <p:tag name="KSO_WM_UNIT_NOCLEAR" val="0"/>
  <p:tag name="KSO_WM_UNIT_VALUE" val="52"/>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10.3250393700788,&quot;left&quot;:65.97503937007873,&quot;top&quot;:61.25,&quot;width&quot;:851.9499999999998}"/>
  <p:tag name="KSO_WM_DIAGRAM_COLOR_MATCH_VALUE" val="{&quot;shape&quot;:{&quot;fill&quot;:{&quot;gradient&quot;:[{&quot;brightness&quot;:0,&quot;colorType&quot;:1,&quot;foreColorIndex&quot;:5,&quot;pos&quot;:1,&quot;transparency&quot;:1},{&quot;brightness&quot;:0,&quot;colorType&quot;:1,&quot;foreColorIndex&quot;:5,&quot;pos&quot;:0,&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13_4*n_h_h_i*1_2_1_1"/>
  <p:tag name="KSO_WM_TEMPLATE_CATEGORY" val="diagram"/>
  <p:tag name="KSO_WM_TEMPLATE_INDEX" val="20231113"/>
  <p:tag name="KSO_WM_UNIT_LAYERLEVEL" val="1_1_1_1"/>
  <p:tag name="KSO_WM_TAG_VERSION" val="3.0"/>
  <p:tag name="KSO_WM_BEAUTIFY_FLAG" val="#wm#"/>
  <p:tag name="KSO_WM_UNIT_TYPE" val="n_h_h_i"/>
  <p:tag name="KSO_WM_UNIT_INDEX" val="1_2_1_1"/>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3_4*n_h_a*1_1_1"/>
  <p:tag name="KSO_WM_TEMPLATE_CATEGORY" val="diagram"/>
  <p:tag name="KSO_WM_TEMPLATE_INDEX" val="20231113"/>
  <p:tag name="KSO_WM_UNIT_LAYERLEVEL" val="1_1_1"/>
  <p:tag name="KSO_WM_TAG_VERSION" val="3.0"/>
  <p:tag name="KSO_WM_UNIT_ISCONTENTSTITLE" val="0"/>
  <p:tag name="KSO_WM_UNIT_ISNUMDGMTITLE" val="0"/>
  <p:tag name="KSO_WM_UNIT_NOCLEAR" val="0"/>
  <p:tag name="KSO_WM_UNIT_TYPE" val="n_h_a"/>
  <p:tag name="KSO_WM_UNIT_INDEX" val="1_1_1"/>
  <p:tag name="KSO_WM_UNIT_VALUE" val="16"/>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3.65,&quot;left&quot;:15.3,&quot;top&quot;:123.75,&quot;width&quot;:91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10;处添加项标题"/>
  <p:tag name="KSO_WM_UNIT_TEXT_FILL_FORE_SCHEMECOLOR_INDEX" val="1"/>
  <p:tag name="KSO_WM_UNIT_TEXT_FILL_TYPE" val="1"/>
  <p:tag name="KSO_WM_DIAGRAM_USE_COLOR_VALUE" val="{&quot;color_scheme&quot;:1,&quot;color_type&quot;:1,&quot;theme_color_indexes&quot;:[]}"/>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DIAGRAM_VIRTUALLY_FRAME" val="{&quot;height&quot;:368.45,&quot;left&quot;:-2,&quot;top&quot;:175.2,&quot;width&quot;:1061.8}"/>
</p:tagLst>
</file>

<file path=ppt/tags/tag268.xml><?xml version="1.0" encoding="utf-8"?>
<p:tagLst xmlns:p="http://schemas.openxmlformats.org/presentationml/2006/main">
  <p:tag name="KSO_WM_DIAGRAM_VIRTUALLY_FRAME" val="{&quot;height&quot;:368.45,&quot;left&quot;:-2,&quot;top&quot;:175.2,&quot;width&quot;:1061.8}"/>
</p:tagLst>
</file>

<file path=ppt/tags/tag269.xml><?xml version="1.0" encoding="utf-8"?>
<p:tagLst xmlns:p="http://schemas.openxmlformats.org/presentationml/2006/main">
  <p:tag name="KSO_WM_DIAGRAM_VIRTUALLY_FRAME" val="{&quot;height&quot;:368.45,&quot;left&quot;:-2,&quot;top&quot;:175.2,&quot;width&quot;:1061.8}"/>
</p:tagLst>
</file>

<file path=ppt/tags/tag270.xml><?xml version="1.0" encoding="utf-8"?>
<p:tagLst xmlns:p="http://schemas.openxmlformats.org/presentationml/2006/main">
  <p:tag name="KSO_WM_DIAGRAM_VIRTUALLY_FRAME" val="{&quot;height&quot;:368.45,&quot;left&quot;:-2,&quot;top&quot;:175.2,&quot;width&quot;:1061.8}"/>
</p:tagLst>
</file>

<file path=ppt/tags/tag271.xml><?xml version="1.0" encoding="utf-8"?>
<p:tagLst xmlns:p="http://schemas.openxmlformats.org/presentationml/2006/main">
  <p:tag name="KSO_WM_DIAGRAM_VIRTUALLY_FRAME" val="{&quot;height&quot;:368.45,&quot;left&quot;:-2,&quot;top&quot;:175.2,&quot;width&quot;:1061.8}"/>
</p:tagLst>
</file>

<file path=ppt/tags/tag272.xml><?xml version="1.0" encoding="utf-8"?>
<p:tagLst xmlns:p="http://schemas.openxmlformats.org/presentationml/2006/main">
  <p:tag name="KSO_WM_DIAGRAM_VIRTUALLY_FRAME" val="{&quot;height&quot;:368.45,&quot;left&quot;:-2,&quot;top&quot;:175.2,&quot;width&quot;:1061.8}"/>
</p:tagLst>
</file>

<file path=ppt/tags/tag273.xml><?xml version="1.0" encoding="utf-8"?>
<p:tagLst xmlns:p="http://schemas.openxmlformats.org/presentationml/2006/main">
  <p:tag name="KSO_WM_DIAGRAM_VIRTUALLY_FRAME" val="{&quot;height&quot;:368.45,&quot;left&quot;:-2,&quot;top&quot;:175.2,&quot;width&quot;:1061.8}"/>
</p:tagLst>
</file>

<file path=ppt/tags/tag274.xml><?xml version="1.0" encoding="utf-8"?>
<p:tagLst xmlns:p="http://schemas.openxmlformats.org/presentationml/2006/main">
  <p:tag name="KSO_WM_DIAGRAM_VIRTUALLY_FRAME" val="{&quot;height&quot;:368.45,&quot;left&quot;:-2,&quot;top&quot;:175.2,&quot;width&quot;:1061.8}"/>
</p:tagLst>
</file>

<file path=ppt/tags/tag275.xml><?xml version="1.0" encoding="utf-8"?>
<p:tagLst xmlns:p="http://schemas.openxmlformats.org/presentationml/2006/main">
  <p:tag name="KSO_WM_DIAGRAM_VIRTUALLY_FRAME" val="{&quot;height&quot;:368.45,&quot;left&quot;:-2,&quot;top&quot;:175.2,&quot;width&quot;:1061.8}"/>
</p:tagLst>
</file>

<file path=ppt/tags/tag276.xml><?xml version="1.0" encoding="utf-8"?>
<p:tagLst xmlns:p="http://schemas.openxmlformats.org/presentationml/2006/main">
  <p:tag name="KSO_WM_DIAGRAM_VIRTUALLY_FRAME" val="{&quot;height&quot;:368.45,&quot;left&quot;:-2,&quot;top&quot;:175.2,&quot;width&quot;:1061.8}"/>
</p:tagLst>
</file>

<file path=ppt/tags/tag277.xml><?xml version="1.0" encoding="utf-8"?>
<p:tagLst xmlns:p="http://schemas.openxmlformats.org/presentationml/2006/main">
  <p:tag name="KSO_WM_DIAGRAM_VIRTUALLY_FRAME" val="{&quot;height&quot;:368.45,&quot;left&quot;:-2,&quot;top&quot;:175.2,&quot;width&quot;:1061.8}"/>
</p:tagLst>
</file>

<file path=ppt/tags/tag278.xml><?xml version="1.0" encoding="utf-8"?>
<p:tagLst xmlns:p="http://schemas.openxmlformats.org/presentationml/2006/main">
  <p:tag name="KSO_WM_DIAGRAM_VIRTUALLY_FRAME" val="{&quot;height&quot;:368.45,&quot;left&quot;:-2,&quot;top&quot;:175.2,&quot;width&quot;:1061.8}"/>
</p:tagLst>
</file>

<file path=ppt/tags/tag279.xml><?xml version="1.0" encoding="utf-8"?>
<p:tagLst xmlns:p="http://schemas.openxmlformats.org/presentationml/2006/main">
  <p:tag name="KSO_WM_DIAGRAM_VIRTUALLY_FRAME" val="{&quot;height&quot;:368.45,&quot;left&quot;:-2,&quot;top&quot;:175.2,&quot;width&quot;:1061.8}"/>
</p:tagLst>
</file>

<file path=ppt/tags/tag280.xml><?xml version="1.0" encoding="utf-8"?>
<p:tagLst xmlns:p="http://schemas.openxmlformats.org/presentationml/2006/main">
  <p:tag name="KSO_WM_DIAGRAM_VIRTUALLY_FRAME" val="{&quot;height&quot;:368.45,&quot;left&quot;:-2,&quot;top&quot;:175.2,&quot;width&quot;:1061.8}"/>
</p:tagLst>
</file>

<file path=ppt/tags/tag281.xml><?xml version="1.0" encoding="utf-8"?>
<p:tagLst xmlns:p="http://schemas.openxmlformats.org/presentationml/2006/main">
  <p:tag name="KSO_WM_DIAGRAM_VIRTUALLY_FRAME" val="{&quot;height&quot;:368.45,&quot;left&quot;:-2,&quot;top&quot;:175.2,&quot;width&quot;:1061.8}"/>
</p:tagLst>
</file>

<file path=ppt/tags/tag282.xml><?xml version="1.0" encoding="utf-8"?>
<p:tagLst xmlns:p="http://schemas.openxmlformats.org/presentationml/2006/main">
  <p:tag name="KSO_WM_DIAGRAM_VIRTUALLY_FRAME" val="{&quot;height&quot;:368.45,&quot;left&quot;:-2,&quot;top&quot;:175.2,&quot;width&quot;:1061.8}"/>
</p:tagLst>
</file>

<file path=ppt/tags/tag283.xml><?xml version="1.0" encoding="utf-8"?>
<p:tagLst xmlns:p="http://schemas.openxmlformats.org/presentationml/2006/main">
  <p:tag name="KSO_WM_DIAGRAM_VIRTUALLY_FRAME" val="{&quot;height&quot;:368.45,&quot;left&quot;:-2,&quot;top&quot;:175.2,&quot;width&quot;:1061.8}"/>
</p:tagLst>
</file>

<file path=ppt/tags/tag284.xml><?xml version="1.0" encoding="utf-8"?>
<p:tagLst xmlns:p="http://schemas.openxmlformats.org/presentationml/2006/main">
  <p:tag name="KSO_WM_DIAGRAM_VIRTUALLY_FRAME" val="{&quot;height&quot;:368.45,&quot;left&quot;:-2,&quot;top&quot;:175.2,&quot;width&quot;:1061.8}"/>
</p:tagLst>
</file>

<file path=ppt/tags/tag285.xml><?xml version="1.0" encoding="utf-8"?>
<p:tagLst xmlns:p="http://schemas.openxmlformats.org/presentationml/2006/main">
  <p:tag name="KSO_WM_DIAGRAM_VIRTUALLY_FRAME" val="{&quot;height&quot;:368.45,&quot;left&quot;:-2,&quot;top&quot;:175.2,&quot;width&quot;:1061.8}"/>
</p:tagLst>
</file>

<file path=ppt/tags/tag286.xml><?xml version="1.0" encoding="utf-8"?>
<p:tagLst xmlns:p="http://schemas.openxmlformats.org/presentationml/2006/main">
  <p:tag name="KSO_WM_DIAGRAM_VIRTUALLY_FRAME" val="{&quot;height&quot;:368.45,&quot;left&quot;:-2,&quot;top&quot;:175.2,&quot;width&quot;:1061.8}"/>
</p:tagLst>
</file>

<file path=ppt/tags/tag287.xml><?xml version="1.0" encoding="utf-8"?>
<p:tagLst xmlns:p="http://schemas.openxmlformats.org/presentationml/2006/main">
  <p:tag name="KSO_WM_DIAGRAM_VIRTUALLY_FRAME" val="{&quot;height&quot;:368.45,&quot;left&quot;:-2,&quot;top&quot;:175.2,&quot;width&quot;:1061.8}"/>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DIAGRAM_VIRTUALLY_FRAME" val="{&quot;height&quot;:428.513109913945,&quot;left&quot;:-21.95,&quot;top&quot;:91.03549171336644,&quot;width&quot;:990}"/>
</p:tagLst>
</file>

<file path=ppt/tags/tag29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i*1_1_1"/>
  <p:tag name="KSO_WM_TEMPLATE_CATEGORY" val="diagram"/>
  <p:tag name="KSO_WM_TEMPLATE_INDEX" val="20230322"/>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800000011920929,&quot;colorType&quot;:1,&quot;foreColorIndex&quot;:5,&quot;pos&quot;:0.09000000357627869,&quot;transparency&quot;:0.8500000238418579},{&quot;brightness&quot;:0.800000011920929,&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i*1_1_2"/>
  <p:tag name="KSO_WM_TEMPLATE_CATEGORY" val="diagram"/>
  <p:tag name="KSO_WM_TEMPLATE_INDEX" val="20230322"/>
  <p:tag name="KSO_WM_UNIT_LAYERLEVEL" val="1_1_1"/>
  <p:tag name="KSO_WM_TAG_VERSION" val="3.0"/>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1,&quot;foreColorIndex&quot;:1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
</p:tagLst>
</file>

<file path=ppt/tags/tag2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a*1_1_1"/>
  <p:tag name="KSO_WM_TEMPLATE_CATEGORY" val="diagram"/>
  <p:tag name="KSO_WM_TEMPLATE_INDEX" val="20230322"/>
  <p:tag name="KSO_WM_UNIT_LAYERLEVEL" val="1_1_1"/>
  <p:tag name="KSO_WM_TAG_VERSION" val="3.0"/>
  <p:tag name="KSO_WM_UNIT_ISCONTENTSTITLE" val="0"/>
  <p:tag name="KSO_WM_UNIT_ISNUMDGMTITLE" val="0"/>
  <p:tag name="KSO_WM_UNIT_NOCLEAR" val="0"/>
  <p:tag name="KSO_WM_UNIT_VALUE" val="76"/>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800000011920929,&quot;colorType&quot;:1,&quot;foreColorIndex&quot;:5,&quot;pos&quot;:0.009999999776482582,&quot;transparency&quot;:0.8999999761581421},{&quot;brightness&quot;:0.800000011920929,&quot;colorType&quot;:1,&quot;foreColorIndex&quot;:5,&quot;pos&quot;:0.47999998927116394,&quot;transparency&quot;:0.11999999731779099},{&quot;brightness&quot;:0,&quot;colorType&quot;:1,&quot;foreColorIndex&quot;:5,&quot;pos&quot;:1,&quot;transparency&quot;:0.6600000262260437}],&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10;添加标题"/>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93.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6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6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9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3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9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6_1"/>
  <p:tag name="KSO_WM_UNIT_ID" val="diagram20230322_5*n_h_h_f*1_2_6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2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6_1"/>
  <p:tag name="KSO_WM_UNIT_ID" val="diagram20230322_5*n_h_h_a*1_2_6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322_5*n_h_h_f*1_2_3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29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322_5*n_h_h_a*1_2_3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9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2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2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0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1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0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2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0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1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0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322_5*n_h_h_f*1_2_2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30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322_5*n_h_h_a*1_2_2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322_5*n_h_h_f*1_2_4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3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0322_5*n_h_h_a*1_2_4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322_5*n_h_h_f*1_2_1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3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322_5*n_h_h_a*1_2_1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0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5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5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322_5*n_h_h_f*1_2_5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输入你的正文"/>
  <p:tag name="KSO_WM_UNIT_TEXT_FILL_FORE_SCHEMECOLOR_INDEX" val="1"/>
  <p:tag name="KSO_WM_UNIT_TEXT_FILL_TYPE" val="1"/>
  <p:tag name="KSO_WM_DIAGRAM_USE_COLOR_VALUE" val="{&quot;color_scheme&quot;:1,&quot;color_type&quot;:1,&quot;theme_color_indexes&quot;:[]}"/>
</p:tagLst>
</file>

<file path=ppt/tags/tag3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322_5*n_h_h_a*1_2_5_1"/>
  <p:tag name="KSO_WM_TEMPLATE_CATEGORY" val="diagram"/>
  <p:tag name="KSO_WM_TEMPLATE_INDEX" val="20230322"/>
  <p:tag name="KSO_WM_UNIT_LAYERLEVEL" val="1_1_1_1"/>
  <p:tag name="KSO_WM_TAG_VERSION" val="3.0"/>
  <p:tag name="KSO_WM_BEAUTIFY_FLAG" val="#wm#"/>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5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3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6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6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15.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322_5*n_h_h_i*1_2_4_2"/>
  <p:tag name="KSO_WM_TEMPLATE_CATEGORY" val="diagram"/>
  <p:tag name="KSO_WM_TEMPLATE_INDEX" val="20230322"/>
  <p:tag name="KSO_WM_UNIT_LAYERLEVEL" val="1_1_1_1"/>
  <p:tag name="KSO_WM_TAG_VERSION" val="3.0"/>
  <p:tag name="KSO_WM_DIAGRAM_GROUP_CODE" val="n1-1"/>
  <p:tag name="KSO_WM_UNIT_TYPE" val="n_h_h_i"/>
  <p:tag name="KSO_WM_UNIT_INDEX" val="1_2_4_2"/>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22_5*n_h_h_x*1_2_4_1"/>
  <p:tag name="KSO_WM_TEMPLATE_CATEGORY" val="diagram"/>
  <p:tag name="KSO_WM_TEMPLATE_INDEX" val="20230322"/>
  <p:tag name="KSO_WM_UNIT_LAYERLEVEL" val="1_1_1_1"/>
  <p:tag name="KSO_WM_TAG_VERSION" val="3.0"/>
  <p:tag name="KSO_WM_UNIT_VALUE" val="95*95"/>
  <p:tag name="KSO_WM_DIAGRAM_GROUP_CODE" val="n1-1"/>
  <p:tag name="KSO_WM_UNIT_TYPE" val="n_h_h_x"/>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428.513109913945,&quot;left&quot;:-21.95,&quot;top&quot;:91.03549171336644,&quot;width&quot;:99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DIAGRAM_VIRTUALLY_FRAME" val="{&quot;height&quot;:387.95,&quot;left&quot;:69.95,&quot;top&quot;:120.1,&quot;width&quot;:806.2}"/>
</p:tagLst>
</file>

<file path=ppt/tags/tag354.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i"/>
  <p:tag name="KSO_WM_UNIT_INDEX" val="1_1"/>
  <p:tag name="KSO_WM_UNIT_ID" val="diagram20230933_1*o_i*1_1"/>
  <p:tag name="KSO_WM_TEMPLATE_CATEGORY" val="diagram"/>
  <p:tag name="KSO_WM_TEMPLATE_INDEX" val="20230933"/>
  <p:tag name="KSO_WM_UNIT_LAYERLEVEL" val="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solid&quot;:{&quot;brightness&quot;:0,&quot;colorType&quot;:2,&quot;rgb&quot;:&quot;#f7f7f7&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55.xml><?xml version="1.0" encoding="utf-8"?>
<p:tagLst xmlns:p="http://schemas.openxmlformats.org/presentationml/2006/main">
  <p:tag name="KSO_WM_DIAGRAM_VIRTUALLY_FRAME" val="{&quot;height&quot;:387.95,&quot;left&quot;:69.95,&quot;top&quot;:120.1,&quot;width&quot;:806.2}"/>
</p:tagLst>
</file>

<file path=ppt/tags/tag356.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1"/>
  <p:tag name="KSO_WM_UNIT_ID" val="diagram20230933_1*o_h_i*1_1_1"/>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57.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3"/>
  <p:tag name="KSO_WM_UNIT_ID" val="diagram20230933_1*o_h_i*1_1_3"/>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58.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1_2"/>
  <p:tag name="KSO_WM_UNIT_ID" val="diagram20230933_1*o_h_i*1_1_2"/>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gradient&quot;:[{&quot;brightness&quot;:0.800000011920929,&quot;colorType&quot;:1,&quot;foreColorIndex&quot;:5,&quot;pos&quot;:0,&quot;transparency&quot;:0},{&quot;brightness&quot;:0,&quot;colorType&quot;:1,&quot;foreColorIndex&quot;:5,&quot;pos&quot;:1,&quot;transparency&quot;:0},{&quot;brightness&quot;:0.4000000059604645,&quot;colorType&quot;:1,&quot;foreColorIndex&quot;:5,&quot;pos&quot;:0.30000001192092896,&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3"/>
  <p:tag name="KSO_WM_DIAGRAM_USE_COLOR_VALUE" val="{&quot;color_scheme&quot;:1,&quot;color_type&quot;:1,&quot;theme_color_indexes&quot;:[]}"/>
</p:tagLst>
</file>

<file path=ppt/tags/tag3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1_1"/>
  <p:tag name="KSO_WM_UNIT_ID" val="diagram20230933_1*o_h_a*1_1_1"/>
  <p:tag name="KSO_WM_TEMPLATE_CATEGORY" val="diagram"/>
  <p:tag name="KSO_WM_TEMPLATE_INDEX" val="20230933"/>
  <p:tag name="KSO_WM_UNIT_LAYERLEVEL" val="1_1_1"/>
  <p:tag name="KSO_WM_TAG_VERSION" val="3.0"/>
  <p:tag name="KSO_WM_BEAUTIFY_FLAG" val="#wm#"/>
  <p:tag name="KSO_WM_DIAGRAM_VERSION" val="3"/>
  <p:tag name="KSO_WM_DIAGRAM_COLOR_TRICK" val="2"/>
  <p:tag name="KSO_WM_DIAGRAM_COLOR_TEXT_CAN_REMOVE" val="n"/>
  <p:tag name="KSO_WM_DIAGRAM_GROUP_CODE" val="o1-1"/>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6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4"/>
  <p:tag name="KSO_WM_UNIT_ID" val="diagram20230933_1*o_h_i*1_1_4"/>
  <p:tag name="KSO_WM_TEMPLATE_CATEGORY" val="diagram"/>
  <p:tag name="KSO_WM_TEMPLATE_INDEX" val="20230933"/>
  <p:tag name="KSO_WM_UNIT_LAYERLEVEL" val="1_1_1"/>
  <p:tag name="KSO_WM_TAG_VERSION" val="3.0"/>
  <p:tag name="KSO_WM_BEAUTIFY_FLAG" val="#wm#"/>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solidLine&quot;:{&quot;brightness&quot;:0.349999994039535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3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1_1"/>
  <p:tag name="KSO_WM_UNIT_ID" val="diagram20230933_1*o_h_f*1_1_1"/>
  <p:tag name="KSO_WM_TEMPLATE_CATEGORY" val="diagram"/>
  <p:tag name="KSO_WM_TEMPLATE_INDEX" val="20230933"/>
  <p:tag name="KSO_WM_UNIT_LAYERLEVEL" val="1_1_1"/>
  <p:tag name="KSO_WM_TAG_VERSION" val="3.0"/>
  <p:tag name="KSO_WM_BEAUTIFY_FLAG" val="#wm#"/>
  <p:tag name="KSO_WM_UNIT_TEXT_FILL_FORE_SCHEMECOLOR_INDEX_BRIGHTNESS" val="0.15"/>
  <p:tag name="KSO_WM_DIAGRAM_VERSION" val="3"/>
  <p:tag name="KSO_WM_DIAGRAM_COLOR_TRICK" val="2"/>
  <p:tag name="KSO_WM_DIAGRAM_COLOR_TEXT_CAN_REMOVE" val="n"/>
  <p:tag name="KSO_WM_DIAGRAM_GROUP_CODE" val="o1-1"/>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
</p:tagLst>
</file>

<file path=ppt/tags/tag362.xml><?xml version="1.0" encoding="utf-8"?>
<p:tagLst xmlns:p="http://schemas.openxmlformats.org/presentationml/2006/main">
  <p:tag name="KSO_WM_DIAGRAM_VIRTUALLY_FRAME" val="{&quot;height&quot;:387.95,&quot;left&quot;:69.95,&quot;top&quot;:120.1,&quot;width&quot;:806.2}"/>
</p:tagLst>
</file>

<file path=ppt/tags/tag363.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3"/>
  <p:tag name="KSO_WM_UNIT_ID" val="diagram20230933_1*o_h_i*1_2_3"/>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
</p:tagLst>
</file>

<file path=ppt/tags/tag364.xml><?xml version="1.0" encoding="utf-8"?>
<p:tagLst xmlns:p="http://schemas.openxmlformats.org/presentationml/2006/main">
  <p:tag name="KSO_WM_DIAGRAM_VIRTUALLY_FRAME" val="{&quot;height&quot;:387.95,&quot;left&quot;:69.95,&quot;top&quot;:120.1,&quot;width&quot;:806.2}"/>
</p:tagLst>
</file>

<file path=ppt/tags/tag365.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1"/>
  <p:tag name="KSO_WM_UNIT_ID" val="diagram20230933_1*o_h_i*1_2_1"/>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
</p:tagLst>
</file>

<file path=ppt/tags/tag366.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2_2"/>
  <p:tag name="KSO_WM_UNIT_ID" val="diagram20230933_1*o_h_i*1_2_2"/>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gradient&quot;:[{&quot;brightness&quot;:0.800000011920929,&quot;colorType&quot;:1,&quot;foreColorIndex&quot;:8,&quot;pos&quot;:0,&quot;transparency&quot;:0},{&quot;brightness&quot;:0,&quot;colorType&quot;:1,&quot;foreColorIndex&quot;:8,&quot;pos&quot;:1,&quot;transparency&quot;:0},{&quot;brightness&quot;:0.4000000059604645,&quot;colorType&quot;:1,&quot;foreColorIndex&quot;:8,&quot;pos&quot;:0.30000001192092896,&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3"/>
  <p:tag name="KSO_WM_DIAGRAM_USE_COLOR_VALUE" val="{&quot;color_scheme&quot;:1,&quot;color_type&quot;:1,&quot;theme_color_indexes&quot;:[]}"/>
</p:tagLst>
</file>

<file path=ppt/tags/tag3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2_1"/>
  <p:tag name="KSO_WM_UNIT_ID" val="diagram20230933_1*o_h_a*1_2_1"/>
  <p:tag name="KSO_WM_TEMPLATE_CATEGORY" val="diagram"/>
  <p:tag name="KSO_WM_TEMPLATE_INDEX" val="20230933"/>
  <p:tag name="KSO_WM_UNIT_LAYERLEVEL" val="1_1_1"/>
  <p:tag name="KSO_WM_TAG_VERSION" val="3.0"/>
  <p:tag name="KSO_WM_BEAUTIFY_FLAG" val="#wm#"/>
  <p:tag name="KSO_WM_DIAGRAM_VERSION" val="3"/>
  <p:tag name="KSO_WM_DIAGRAM_COLOR_TRICK" val="2"/>
  <p:tag name="KSO_WM_DIAGRAM_COLOR_TEXT_CAN_REMOVE" val="n"/>
  <p:tag name="KSO_WM_DIAGRAM_GROUP_CODE" val="o1-1"/>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368.xml><?xml version="1.0" encoding="utf-8"?>
<p:tagLst xmlns:p="http://schemas.openxmlformats.org/presentationml/2006/main">
  <p:tag name="KSO_WM_BEAUTIFY_FLAG" val="#wm#"/>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4"/>
  <p:tag name="KSO_WM_UNIT_ID" val="diagram20230933_1*o_h_i*1_2_4"/>
  <p:tag name="KSO_WM_TEMPLATE_CATEGORY" val="diagram"/>
  <p:tag name="KSO_WM_TEMPLATE_INDEX" val="20230933"/>
  <p:tag name="KSO_WM_UNIT_LAYERLEVEL" val="1_1_1"/>
  <p:tag name="KSO_WM_TAG_VERSION" val="3.0"/>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solidLine&quot;:{&quot;brightness&quot;:0.349999994039535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3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2_1"/>
  <p:tag name="KSO_WM_UNIT_ID" val="diagram20230933_1*o_h_f*1_2_1"/>
  <p:tag name="KSO_WM_TEMPLATE_CATEGORY" val="diagram"/>
  <p:tag name="KSO_WM_TEMPLATE_INDEX" val="20230933"/>
  <p:tag name="KSO_WM_UNIT_LAYERLEVEL" val="1_1_1"/>
  <p:tag name="KSO_WM_TAG_VERSION" val="3.0"/>
  <p:tag name="KSO_WM_BEAUTIFY_FLAG" val="#wm#"/>
  <p:tag name="KSO_WM_UNIT_TEXT_FILL_FORE_SCHEMECOLOR_INDEX_BRIGHTNESS" val="0.15"/>
  <p:tag name="KSO_WM_DIAGRAM_VERSION" val="3"/>
  <p:tag name="KSO_WM_DIAGRAM_COLOR_TRICK" val="2"/>
  <p:tag name="KSO_WM_DIAGRAM_COLOR_TEXT_CAN_REMOVE" val="n"/>
  <p:tag name="KSO_WM_DIAGRAM_GROUP_CODE" val="o1-1"/>
  <p:tag name="KSO_WM_DIAGRAM_MAX_ITEMCNT" val="6"/>
  <p:tag name="KSO_WM_DIAGRAM_MIN_ITEMCNT" val="2"/>
  <p:tag name="KSO_WM_DIAGRAM_VIRTUALLY_FRAME" val="{&quot;height&quot;:387.95,&quot;left&quot;:69.95,&quot;top&quot;:120.1,&quot;width&quot;:80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DIAGRAM_VIRTUALLY_FRAME" val="{&quot;height&quot;:306.2,&quot;left&quot;:37.7,&quot;top&quot;:202,&quot;width&quot;:890.15}"/>
</p:tagLst>
</file>

<file path=ppt/tags/tag373.xml><?xml version="1.0" encoding="utf-8"?>
<p:tagLst xmlns:p="http://schemas.openxmlformats.org/presentationml/2006/main">
  <p:tag name="KSO_WM_DIAGRAM_VIRTUALLY_FRAME" val="{&quot;height&quot;:306.2,&quot;left&quot;:37.7,&quot;top&quot;:202,&quot;width&quot;:890.15}"/>
</p:tagLst>
</file>

<file path=ppt/tags/tag374.xml><?xml version="1.0" encoding="utf-8"?>
<p:tagLst xmlns:p="http://schemas.openxmlformats.org/presentationml/2006/main">
  <p:tag name="KSO_WM_DIAGRAM_VIRTUALLY_FRAME" val="{&quot;height&quot;:306.2,&quot;left&quot;:37.7,&quot;top&quot;:202,&quot;width&quot;:890.15}"/>
</p:tagLst>
</file>

<file path=ppt/tags/tag375.xml><?xml version="1.0" encoding="utf-8"?>
<p:tagLst xmlns:p="http://schemas.openxmlformats.org/presentationml/2006/main">
  <p:tag name="KSO_WM_DIAGRAM_VIRTUALLY_FRAME" val="{&quot;height&quot;:306.2,&quot;left&quot;:37.7,&quot;top&quot;:202,&quot;width&quot;:890.15}"/>
</p:tagLst>
</file>

<file path=ppt/tags/tag376.xml><?xml version="1.0" encoding="utf-8"?>
<p:tagLst xmlns:p="http://schemas.openxmlformats.org/presentationml/2006/main">
  <p:tag name="KSO_WM_DIAGRAM_VIRTUALLY_FRAME" val="{&quot;height&quot;:306.2,&quot;left&quot;:37.7,&quot;top&quot;:202,&quot;width&quot;:890.15}"/>
</p:tagLst>
</file>

<file path=ppt/tags/tag377.xml><?xml version="1.0" encoding="utf-8"?>
<p:tagLst xmlns:p="http://schemas.openxmlformats.org/presentationml/2006/main">
  <p:tag name="KSO_WM_DIAGRAM_VIRTUALLY_FRAME" val="{&quot;height&quot;:306.2,&quot;left&quot;:37.7,&quot;top&quot;:202,&quot;width&quot;:890.15}"/>
</p:tagLst>
</file>

<file path=ppt/tags/tag378.xml><?xml version="1.0" encoding="utf-8"?>
<p:tagLst xmlns:p="http://schemas.openxmlformats.org/presentationml/2006/main">
  <p:tag name="KSO_WM_DIAGRAM_VIRTUALLY_FRAME" val="{&quot;height&quot;:229.1,&quot;left&quot;:71.6,&quot;top&quot;:241.3,&quot;width&quot;:821.75}"/>
</p:tagLst>
</file>

<file path=ppt/tags/tag379.xml><?xml version="1.0" encoding="utf-8"?>
<p:tagLst xmlns:p="http://schemas.openxmlformats.org/presentationml/2006/main">
  <p:tag name="KSO_WM_DIAGRAM_VIRTUALLY_FRAME" val="{&quot;height&quot;:306.2,&quot;left&quot;:37.7,&quot;top&quot;:202,&quot;width&quot;:890.15}"/>
</p:tagLst>
</file>

<file path=ppt/tags/tag380.xml><?xml version="1.0" encoding="utf-8"?>
<p:tagLst xmlns:p="http://schemas.openxmlformats.org/presentationml/2006/main">
  <p:tag name="KSO_WM_DIAGRAM_VIRTUALLY_FRAME" val="{&quot;height&quot;:306.2,&quot;left&quot;:37.7,&quot;top&quot;:202,&quot;width&quot;:890.15}"/>
</p:tagLst>
</file>

<file path=ppt/tags/tag381.xml><?xml version="1.0" encoding="utf-8"?>
<p:tagLst xmlns:p="http://schemas.openxmlformats.org/presentationml/2006/main">
  <p:tag name="KSO_WM_DIAGRAM_VIRTUALLY_FRAME" val="{&quot;height&quot;:229.1,&quot;left&quot;:71.6,&quot;top&quot;:241.3,&quot;width&quot;:821.75}"/>
</p:tagLst>
</file>

<file path=ppt/tags/tag382.xml><?xml version="1.0" encoding="utf-8"?>
<p:tagLst xmlns:p="http://schemas.openxmlformats.org/presentationml/2006/main">
  <p:tag name="KSO_WM_DIAGRAM_VIRTUALLY_FRAME" val="{&quot;height&quot;:306.2,&quot;left&quot;:37.7,&quot;top&quot;:202,&quot;width&quot;:890.15}"/>
</p:tagLst>
</file>

<file path=ppt/tags/tag383.xml><?xml version="1.0" encoding="utf-8"?>
<p:tagLst xmlns:p="http://schemas.openxmlformats.org/presentationml/2006/main">
  <p:tag name="KSO_WM_DIAGRAM_VIRTUALLY_FRAME" val="{&quot;height&quot;:306.2,&quot;left&quot;:37.7,&quot;top&quot;:202,&quot;width&quot;:890.15}"/>
</p:tagLst>
</file>

<file path=ppt/tags/tag384.xml><?xml version="1.0" encoding="utf-8"?>
<p:tagLst xmlns:p="http://schemas.openxmlformats.org/presentationml/2006/main">
  <p:tag name="KSO_WM_DIAGRAM_VIRTUALLY_FRAME" val="{&quot;height&quot;:229.1,&quot;left&quot;:71.6,&quot;top&quot;:241.3,&quot;width&quot;:821.75}"/>
</p:tagLst>
</file>

<file path=ppt/tags/tag385.xml><?xml version="1.0" encoding="utf-8"?>
<p:tagLst xmlns:p="http://schemas.openxmlformats.org/presentationml/2006/main">
  <p:tag name="KSO_WM_DIAGRAM_VIRTUALLY_FRAME" val="{&quot;height&quot;:306.2,&quot;left&quot;:37.7,&quot;top&quot;:202,&quot;width&quot;:890.15}"/>
</p:tagLst>
</file>

<file path=ppt/tags/tag386.xml><?xml version="1.0" encoding="utf-8"?>
<p:tagLst xmlns:p="http://schemas.openxmlformats.org/presentationml/2006/main">
  <p:tag name="KSO_WM_DIAGRAM_VIRTUALLY_FRAME" val="{&quot;height&quot;:306.2,&quot;left&quot;:37.7,&quot;top&quot;:202,&quot;width&quot;:890.15}"/>
</p:tagLst>
</file>

<file path=ppt/tags/tag387.xml><?xml version="1.0" encoding="utf-8"?>
<p:tagLst xmlns:p="http://schemas.openxmlformats.org/presentationml/2006/main">
  <p:tag name="KSO_WM_DIAGRAM_VIRTUALLY_FRAME" val="{&quot;height&quot;:229.1,&quot;left&quot;:71.6,&quot;top&quot;:241.3,&quot;width&quot;:821.75}"/>
</p:tagLst>
</file>

<file path=ppt/tags/tag388.xml><?xml version="1.0" encoding="utf-8"?>
<p:tagLst xmlns:p="http://schemas.openxmlformats.org/presentationml/2006/main">
  <p:tag name="KSO_WM_DIAGRAM_VIRTUALLY_FRAME" val="{&quot;height&quot;:306.2,&quot;left&quot;:37.7,&quot;top&quot;:202,&quot;width&quot;:890.15}"/>
</p:tagLst>
</file>

<file path=ppt/tags/tag389.xml><?xml version="1.0" encoding="utf-8"?>
<p:tagLst xmlns:p="http://schemas.openxmlformats.org/presentationml/2006/main">
  <p:tag name="KSO_WM_DIAGRAM_VIRTUALLY_FRAME" val="{&quot;height&quot;:306.2,&quot;left&quot;:37.7,&quot;top&quot;:202,&quot;width&quot;:890.15}"/>
</p:tagLst>
</file>

<file path=ppt/tags/tag390.xml><?xml version="1.0" encoding="utf-8"?>
<p:tagLst xmlns:p="http://schemas.openxmlformats.org/presentationml/2006/main">
  <p:tag name="KSO_WM_DIAGRAM_VIRTUALLY_FRAME" val="{&quot;height&quot;:229.1,&quot;left&quot;:71.6,&quot;top&quot;:241.3,&quot;width&quot;:821.75}"/>
</p:tagLst>
</file>

<file path=ppt/tags/tag391.xml><?xml version="1.0" encoding="utf-8"?>
<p:tagLst xmlns:p="http://schemas.openxmlformats.org/presentationml/2006/main">
  <p:tag name="KSO_WM_DIAGRAM_VIRTUALLY_FRAME" val="{&quot;height&quot;:306.2,&quot;left&quot;:37.7,&quot;top&quot;:202,&quot;width&quot;:890.15}"/>
</p:tagLst>
</file>

<file path=ppt/tags/tag392.xml><?xml version="1.0" encoding="utf-8"?>
<p:tagLst xmlns:p="http://schemas.openxmlformats.org/presentationml/2006/main">
  <p:tag name="KSO_WM_DIAGRAM_VIRTUALLY_FRAME" val="{&quot;height&quot;:306.2,&quot;left&quot;:37.7,&quot;top&quot;:202,&quot;width&quot;:890.15}"/>
</p:tagLst>
</file>

<file path=ppt/tags/tag393.xml><?xml version="1.0" encoding="utf-8"?>
<p:tagLst xmlns:p="http://schemas.openxmlformats.org/presentationml/2006/main">
  <p:tag name="KSO_WM_DIAGRAM_VIRTUALLY_FRAME" val="{&quot;height&quot;:306.2,&quot;left&quot;:37.7,&quot;top&quot;:202,&quot;width&quot;:890.15}"/>
</p:tagLst>
</file>

<file path=ppt/tags/tag394.xml><?xml version="1.0" encoding="utf-8"?>
<p:tagLst xmlns:p="http://schemas.openxmlformats.org/presentationml/2006/main">
  <p:tag name="KSO_WM_DIAGRAM_VIRTUALLY_FRAME" val="{&quot;height&quot;:306.2,&quot;left&quot;:37.7,&quot;top&quot;:202,&quot;width&quot;:890.15}"/>
</p:tagLst>
</file>

<file path=ppt/tags/tag395.xml><?xml version="1.0" encoding="utf-8"?>
<p:tagLst xmlns:p="http://schemas.openxmlformats.org/presentationml/2006/main">
  <p:tag name="KSO_WM_DIAGRAM_VIRTUALLY_FRAME" val="{&quot;height&quot;:306.2,&quot;left&quot;:37.7,&quot;top&quot;:202,&quot;width&quot;:890.15}"/>
</p:tagLst>
</file>

<file path=ppt/tags/tag396.xml><?xml version="1.0" encoding="utf-8"?>
<p:tagLst xmlns:p="http://schemas.openxmlformats.org/presentationml/2006/main">
  <p:tag name="KSO_WM_DIAGRAM_VIRTUALLY_FRAME" val="{&quot;height&quot;:306.2,&quot;left&quot;:37.7,&quot;top&quot;:202,&quot;width&quot;:890.15}"/>
</p:tagLst>
</file>

<file path=ppt/tags/tag397.xml><?xml version="1.0" encoding="utf-8"?>
<p:tagLst xmlns:p="http://schemas.openxmlformats.org/presentationml/2006/main">
  <p:tag name="KSO_WM_DIAGRAM_VIRTUALLY_FRAME" val="{&quot;height&quot;:306.2,&quot;left&quot;:37.7,&quot;top&quot;:202,&quot;width&quot;:890.15}"/>
</p:tagLst>
</file>

<file path=ppt/tags/tag398.xml><?xml version="1.0" encoding="utf-8"?>
<p:tagLst xmlns:p="http://schemas.openxmlformats.org/presentationml/2006/main">
  <p:tag name="KSO_WM_DIAGRAM_VIRTUALLY_FRAME" val="{&quot;height&quot;:306.2,&quot;left&quot;:37.7,&quot;top&quot;:202,&quot;width&quot;:890.15}"/>
</p:tagLst>
</file>

<file path=ppt/tags/tag399.xml><?xml version="1.0" encoding="utf-8"?>
<p:tagLst xmlns:p="http://schemas.openxmlformats.org/presentationml/2006/main">
  <p:tag name="KSO_WM_DIAGRAM_VIRTUALLY_FRAME" val="{&quot;height&quot;:306.2,&quot;left&quot;:37.7,&quot;top&quot;:202,&quot;width&quot;:890.15}"/>
</p:tagLst>
</file>

<file path=ppt/tags/tag400.xml><?xml version="1.0" encoding="utf-8"?>
<p:tagLst xmlns:p="http://schemas.openxmlformats.org/presentationml/2006/main">
  <p:tag name="KSO_WM_DIAGRAM_VIRTUALLY_FRAME" val="{&quot;height&quot;:306.2,&quot;left&quot;:37.7,&quot;top&quot;:202,&quot;width&quot;:890.15}"/>
</p:tagLst>
</file>

<file path=ppt/tags/tag401.xml><?xml version="1.0" encoding="utf-8"?>
<p:tagLst xmlns:p="http://schemas.openxmlformats.org/presentationml/2006/main">
  <p:tag name="KSO_WM_DIAGRAM_VIRTUALLY_FRAME" val="{&quot;height&quot;:306.2,&quot;left&quot;:37.7,&quot;top&quot;:202,&quot;width&quot;:890.15}"/>
</p:tagLst>
</file>

<file path=ppt/tags/tag402.xml><?xml version="1.0" encoding="utf-8"?>
<p:tagLst xmlns:p="http://schemas.openxmlformats.org/presentationml/2006/main">
  <p:tag name="KSO_WM_DIAGRAM_VIRTUALLY_FRAME" val="{&quot;height&quot;:306.2,&quot;left&quot;:37.7,&quot;top&quot;:202,&quot;width&quot;:890.15}"/>
</p:tagLst>
</file>

<file path=ppt/tags/tag403.xml><?xml version="1.0" encoding="utf-8"?>
<p:tagLst xmlns:p="http://schemas.openxmlformats.org/presentationml/2006/main">
  <p:tag name="KSO_WM_DIAGRAM_VIRTUALLY_FRAME" val="{&quot;height&quot;:306.2,&quot;left&quot;:37.7,&quot;top&quot;:202,&quot;width&quot;:890.15}"/>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DIAGRAM_VIRTUALLY_FRAME" val="{&quot;height&quot;:394.45,&quot;left&quot;:105.7,&quot;top&quot;:117,&quot;width&quot;:810.5}"/>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4862_1*l_h_i*1_2_1"/>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34862_1*l_h_i*1_2_2"/>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3"/>
  <p:tag name="KSO_WM_UNIT_ID" val="diagram20234862_1*l_h_i*1_2_3"/>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4"/>
  <p:tag name="KSO_WM_UNIT_ID" val="diagram20234862_1*l_h_i*1_2_4"/>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4862_1*l_h_i*1_1_1"/>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4862_1*l_h_i*1_1_2"/>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3"/>
  <p:tag name="KSO_WM_UNIT_ID" val="diagram20234862_1*l_h_i*1_1_3"/>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4"/>
  <p:tag name="KSO_WM_UNIT_ID" val="diagram20234862_1*l_h_i*1_1_4"/>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62_1*l_h_f*1_1_1"/>
  <p:tag name="KSO_WM_TEMPLATE_CATEGORY" val="diagram"/>
  <p:tag name="KSO_WM_TEMPLATE_INDEX" val="20234862"/>
  <p:tag name="KSO_WM_UNIT_LAYERLEVEL" val="1_1_1"/>
  <p:tag name="KSO_WM_TAG_VERSION" val="3.0"/>
  <p:tag name="KSO_WM_BEAUTIFY_FLAG" val="#wm#"/>
  <p:tag name="KSO_WM_UNIT_VALUE" val="93"/>
  <p:tag name="KSO_WM_DIAGRAM_VERSION" val="3"/>
  <p:tag name="KSO_WM_DIAGRAM_COLOR_TRICK" val="1"/>
  <p:tag name="KSO_WM_DIAGRAM_COLOR_TEXT_CAN_REMOVE" val="n"/>
  <p:tag name="KSO_WM_DIAGRAM_GROUP_CODE" val="l1-1"/>
  <p:tag name="KSO_WM_UNIT_PRESET_TEXT" val="单击此处添加文本具体内容，简明扼要地阐述您的观点。根据需要可酌情增减正文内容文字，以便观者准确地理解您传达的思想。单击此处添加你的文本具体内容，可酌情增减正文内容"/>
  <p:tag name="KSO_WM_UNIT_FILL_TYPE" val="3"/>
  <p:tag name="KSO_WM_UNIT_TEXT_FILL_FORE_SCHEMECOLOR_INDEX" val="1"/>
  <p:tag name="KSO_WM_UNIT_TEXT_FILL_TYPE" val="1"/>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1,&quot;foreColorIndex&quot;:5,&quot;pos&quot;:0.7599999904632568,&quot;transparency&quot;:1},{&quot;brightness&quot;:0,&quot;colorType&quot;:1,&quot;foreColorIndex&quot;:5,&quot;pos&quot;:0.20000000298023224,&quot;transparency&quot;:1},{&quot;brightness&quot;:0,&quot;colorType&quot;:1,&quot;foreColorIndex&quot;:5,&quot;pos&quot;:0,&quot;transparency&quot;:0.75},{&quot;brightness&quot;:0,&quot;colorType&quot;:1,&quot;foreColorIndex&quot;:5,&quot;pos&quot;:1,&quot;transparency&quot;:0.75}],&quot;type&quot;:3},&quot;glow&quot;:{&quot;colorType&quot;:0},&quot;line&quot;:{&quot;gradient&quot;:[{&quot;brightness&quot;:0,&quot;colorType&quot;:1,&quot;foreColorIndex&quot;:5,&quot;pos&quot;:0,&quot;transparency&quot;:1},{&quot;brightness&quot;:0,&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5"/>
  <p:tag name="KSO_WM_UNIT_ID" val="diagram20234862_1*l_h_i*1_1_5"/>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3"/>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1,&quot;foreColorIndex&quot;:5,&quot;pos&quot;:0.7300000190734863,&quot;transparency&quot;:1},{&quot;brightness&quot;:0,&quot;colorType&quot;:1,&quot;foreColorIndex&quot;:5,&quot;pos&quot;:1,&quot;transparency&quot;:0.6499999761581421}],&quot;type&quot;:3},&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4862"/>
  <p:tag name="KSO_WM_UNIT_LAYERLEVEL" val="1_1_1"/>
  <p:tag name="KSO_WM_TAG_VERSION" val="3.0"/>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VALUE" val="21"/>
  <p:tag name="KSO_WM_UNIT_ID" val="diagram20234862_1*l_h_a*1_1_1"/>
  <p:tag name="KSO_WM_UNIT_INDEX" val="1_1_1"/>
  <p:tag name="KSO_WM_BEAUTIFY_FLAG" val="#wm#"/>
  <p:tag name="KSO_WM_DIAGRAM_GROUP_CODE" val="l1-1"/>
  <p:tag name="KSO_WM_UNIT_PRESET_TEXT" val="此处添加项标题"/>
  <p:tag name="KSO_WM_UNIT_TEXT_FILL_FORE_SCHEMECOLOR_INDEX" val="3"/>
  <p:tag name="KSO_WM_UNIT_TEXT_FILL_TYPE" val="3"/>
  <p:tag name="KSO_WM_DIAGRAM_USE_COLOR_VALUE" val="{&quot;color_scheme&quot;:1,&quot;color_type&quot;:1,&quot;theme_color_indexes&quot;:[]}"/>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6"/>
  <p:tag name="KSO_WM_UNIT_ID" val="diagram20234862_1*l_h_i*1_1_6"/>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3"/>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7"/>
  <p:tag name="KSO_WM_UNIT_ID" val="diagram20234862_1*l_h_i*1_1_7"/>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8"/>
  <p:tag name="KSO_WM_UNIT_ID" val="diagram20234862_1*l_h_i*1_1_8"/>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3"/>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1,&quot;foreColorIndex&quot;:5,&quot;pos&quot;:0,&quot;transparency&quot;:0},{&quot;brightness&quot;:0,&quot;colorType&quot;:1,&quot;foreColorIndex&quot;:5,&quot;pos&quot;:1,&quot;transparency&quot;:1}],&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9"/>
  <p:tag name="KSO_WM_UNIT_ID" val="diagram20234862_1*l_h_i*1_1_9"/>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30000001192092896},&quot;type&quot;:1},&quot;shadow&quot;:{&quot;brightness&quot;:0,&quot;colorType&quot;:2,&quot;rgb&quot;:&quot;#65b4d5&quot;,&quot;transparency&quot;:0.10999999940395355},&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0"/>
  <p:tag name="KSO_WM_UNIT_ID" val="diagram20234862_1*l_h_i*1_1_10"/>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30000001192092896},&quot;type&quot;:1},&quot;shadow&quot;:{&quot;brightness&quot;:0,&quot;colorType&quot;:2,&quot;rgb&quot;:&quot;#65b4d5&quot;,&quot;transparency&quot;:0.10999999940395355},&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5"/>
  <p:tag name="KSO_WM_UNIT_ID" val="diagram20234862_1*l_h_i*1_2_5"/>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3"/>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1,&quot;foreColorIndex&quot;:5,&quot;pos&quot;:0.7300000190734863,&quot;transparency&quot;:1},{&quot;brightness&quot;:0,&quot;colorType&quot;:1,&quot;foreColorIndex&quot;:5,&quot;pos&quot;:1,&quot;transparency&quot;:0.6499999761581421}],&quot;type&quot;:3},&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6"/>
  <p:tag name="KSO_WM_UNIT_ID" val="diagram20234862_1*l_h_i*1_2_6"/>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3"/>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2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62_1*l_h_f*1_2_1"/>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文本具体内容，简明扼要地阐述您的观点。根据需要可酌情增减正文内容文字，以便观者准确地理解您传达的思想。单击此处添加你的文本具体内容，可酌情增减正文内容"/>
  <p:tag name="KSO_WM_UNIT_FILL_TYPE" val="3"/>
  <p:tag name="KSO_WM_UNIT_TEXT_FILL_FORE_SCHEMECOLOR_INDEX" val="1"/>
  <p:tag name="KSO_WM_UNIT_TEXT_FILL_TYPE" val="1"/>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1,&quot;foreColorIndex&quot;:5,&quot;pos&quot;:0.7599999904632568,&quot;transparency&quot;:1},{&quot;brightness&quot;:0,&quot;colorType&quot;:1,&quot;foreColorIndex&quot;:5,&quot;pos&quot;:0.20000000298023224,&quot;transparency&quot;:1},{&quot;brightness&quot;:0,&quot;colorType&quot;:1,&quot;foreColorIndex&quot;:5,&quot;pos&quot;:0,&quot;transparency&quot;:0.75},{&quot;brightness&quot;:0,&quot;colorType&quot;:1,&quot;foreColorIndex&quot;:5,&quot;pos&quot;:1,&quot;transparency&quot;:0.75}],&quot;type&quot;:3},&quot;glow&quot;:{&quot;colorType&quot;:0},&quot;line&quot;:{&quot;gradient&quot;:[{&quot;brightness&quot;:0,&quot;colorType&quot;:1,&quot;foreColorIndex&quot;:5,&quot;pos&quot;:0,&quot;transparency&quot;:1},{&quot;brightness&quot;:0,&quot;colorType&quot;:1,&quot;foreColorIndex&quot;:5,&quot;pos&quot;:1,&quot;transparency&quot;:0.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42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4862"/>
  <p:tag name="KSO_WM_UNIT_LAYERLEVEL" val="1_1_1"/>
  <p:tag name="KSO_WM_TAG_VERSION" val="3.0"/>
  <p:tag name="KSO_WM_DIAGRAM_MAX_ITEMCNT" val="2"/>
  <p:tag name="KSO_WM_DIAGRAM_MIN_ITEMCNT" val="2"/>
  <p:tag name="KSO_WM_DIAGRAM_VIRTUALLY_FRAME" val="{&quot;height&quot;:394.45,&quot;left&quot;:105.7,&quot;top&quot;:117,&quot;width&quot;:8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VALUE" val="21"/>
  <p:tag name="KSO_WM_UNIT_ID" val="diagram20234862_1*l_h_a*1_2_1"/>
  <p:tag name="KSO_WM_UNIT_INDEX" val="1_2_1"/>
  <p:tag name="KSO_WM_BEAUTIFY_FLAG" val="#wm#"/>
  <p:tag name="KSO_WM_DIAGRAM_GROUP_CODE" val="l1-1"/>
  <p:tag name="KSO_WM_UNIT_PRESET_TEXT" val="此处添加项标题"/>
  <p:tag name="KSO_WM_UNIT_TEXT_FILL_FORE_SCHEMECOLOR_INDEX" val="3"/>
  <p:tag name="KSO_WM_UNIT_TEXT_FILL_TYPE" val="3"/>
  <p:tag name="KSO_WM_DIAGRAM_USE_COLOR_VALUE" val="{&quot;color_scheme&quot;:1,&quot;color_type&quot;:1,&quot;theme_color_indexes&quot;:[]}"/>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7"/>
  <p:tag name="KSO_WM_UNIT_ID" val="diagram20234862_1*l_h_i*1_2_7"/>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9"/>
  <p:tag name="KSO_WM_UNIT_ID" val="diagram20234862_1*l_h_i*1_2_9"/>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30000001192092896},&quot;type&quot;:1},&quot;shadow&quot;:{&quot;brightness&quot;:0,&quot;colorType&quot;:2,&quot;rgb&quot;:&quot;#65b4d5&quot;,&quot;transparency&quot;:0.10999999940395355},&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0"/>
  <p:tag name="KSO_WM_UNIT_ID" val="diagram20234862_1*l_h_i*1_2_10"/>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30000001192092896},&quot;type&quot;:1},&quot;shadow&quot;:{&quot;brightness&quot;:0,&quot;colorType&quot;:2,&quot;rgb&quot;:&quot;#65b4d5&quot;,&quot;transparency&quot;:0.10999999940395355},&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1"/>
  <p:tag name="KSO_WM_UNIT_ID" val="diagram20234862_1*l_h_i*1_1_11"/>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1"/>
  <p:tag name="KSO_WM_UNIT_ID" val="diagram20234862_1*l_h_i*1_2_11"/>
  <p:tag name="KSO_WM_TEMPLATE_CATEGORY" val="diagram"/>
  <p:tag name="KSO_WM_TEMPLATE_INDEX" val="2023486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LINE_FORE_SCHEMECOLOR_INDEX" val="5"/>
  <p:tag name="KSO_WM_DIAGRAM_MAX_ITEMCNT" val="2"/>
  <p:tag name="KSO_WM_DIAGRAM_MIN_ITEMCNT" val="2"/>
  <p:tag name="KSO_WM_DIAGRAM_VIRTUALLY_FRAME" val="{&quot;height&quot;:394.45,&quot;left&quot;:105.7,&quot;top&quot;:117,&quot;width&quot;:810.5}"/>
  <p:tag name="KSO_WM_DIAGRAM_COLOR_MATCH_VALUE" val="{&quot;shape&quot;:{&quot;fill&quot;:{&quot;gradient&quot;:[{&quot;brightness&quot;:0,&quot;colorType&quot;:2,&quot;pos&quot;:0.4300000071525574,&quot;rgb&quot;:&quot;#65b4d5&quot;,&quot;transparency&quot;:0.8399999737739563},{&quot;brightness&quot;:0,&quot;colorType&quot;:2,&quot;pos&quot;:0,&quot;rgb&quot;:&quot;#65b4d5&quot;,&quot;transparency&quot;:0.699999988079071},{&quot;brightness&quot;:0,&quot;colorType&quot;:2,&quot;pos&quot;:1,&quot;rgb&quot;:&quot;#65b4d5&quot;,&quot;transparency&quot;:1}],&quot;type&quot;:3},&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a*1_1_1"/>
  <p:tag name="KSO_WM_TEMPLATE_CATEGORY" val="diagram"/>
  <p:tag name="KSO_WM_TEMPLATE_INDEX" val="20231087"/>
  <p:tag name="KSO_WM_UNIT_LAYERLEVEL" val="1_1_1"/>
  <p:tag name="KSO_WM_TAG_VERSION" val="3.0"/>
  <p:tag name="KSO_WM_UNIT_ISCONTENTSTITLE" val="0"/>
  <p:tag name="KSO_WM_UNIT_ISNUMDGMTITLE" val="0"/>
  <p:tag name="KSO_WM_UNIT_NOCLEAR" val="0"/>
  <p:tag name="KSO_WM_UNIT_VALUE" val="24"/>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507.8931496062992,&quot;left&quot;:37.65,&quot;top&quot;:24.906850393700804,&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10;加项标题"/>
  <p:tag name="KSO_WM_UNIT_TEXT_FILL_FORE_SCHEMECOLOR_INDEX" val="1"/>
  <p:tag name="KSO_WM_UNIT_TEXT_FILL_TYPE" val="1"/>
</p:tagLst>
</file>

<file path=ppt/tags/tag436.xml><?xml version="1.0" encoding="utf-8"?>
<p:tagLst xmlns:p="http://schemas.openxmlformats.org/presentationml/2006/main">
  <p:tag name="KSO_WM_DIAGRAM_VIRTUALLY_FRAME" val="{&quot;height&quot;:428.05,&quot;left&quot;:37.65,&quot;top&quot;:104.75,&quot;width&quot;:876.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2_1"/>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438.xml><?xml version="1.0" encoding="utf-8"?>
<p:tagLst xmlns:p="http://schemas.openxmlformats.org/presentationml/2006/main">
  <p:tag name="KSO_WM_DIAGRAM_VIRTUALLY_FRAME" val="{&quot;height&quot;:507.8931496062992,&quot;left&quot;:37.65,&quot;top&quot;:24.906850393700804,&quot;width&quot;:876.1}"/>
</p:tagLst>
</file>

<file path=ppt/tags/tag4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1087_4*n_h_h_f*1_2_5_1"/>
  <p:tag name="KSO_WM_TEMPLATE_CATEGORY" val="diagram"/>
  <p:tag name="KSO_WM_TEMPLATE_INDEX" val="20231087"/>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提炼"/>
  <p:tag name="KSO_WM_UNIT_TEXT_FILL_FORE_SCHEMECOLOR_INDEX" val="1"/>
  <p:tag name="KSO_WM_UNIT_TEXT_FILL_TYPE" val="1"/>
</p:tagLst>
</file>

<file path=ppt/tags/tag4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1087_4*n_h_h_f*1_2_4_1"/>
  <p:tag name="KSO_WM_TEMPLATE_CATEGORY" val="diagram"/>
  <p:tag name="KSO_WM_TEMPLATE_INDEX" val="20231087"/>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提炼"/>
  <p:tag name="KSO_WM_UNIT_TEXT_FILL_FORE_SCHEMECOLOR_INDEX" val="1"/>
  <p:tag name="KSO_WM_UNIT_TEXT_FILL_TYPE" val="1"/>
</p:tagLst>
</file>

<file path=ppt/tags/tag4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087_4*n_h_h_f*1_2_3_1"/>
  <p:tag name="KSO_WM_TEMPLATE_CATEGORY" val="diagram"/>
  <p:tag name="KSO_WM_TEMPLATE_INDEX" val="20231087"/>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提炼"/>
  <p:tag name="KSO_WM_UNIT_TEXT_FILL_FORE_SCHEMECOLOR_INDEX" val="1"/>
  <p:tag name="KSO_WM_UNIT_TEXT_FILL_TYPE" val="1"/>
</p:tagLst>
</file>

<file path=ppt/tags/tag4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87_4*n_h_h_f*1_2_2_1"/>
  <p:tag name="KSO_WM_TEMPLATE_CATEGORY" val="diagram"/>
  <p:tag name="KSO_WM_TEMPLATE_INDEX" val="20231087"/>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提炼"/>
  <p:tag name="KSO_WM_UNIT_TEXT_FILL_FORE_SCHEMECOLOR_INDEX" val="1"/>
  <p:tag name="KSO_WM_UNIT_TEXT_FILL_TYPE" val="1"/>
</p:tagLst>
</file>

<file path=ppt/tags/tag4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87_4*n_h_h_f*1_2_1_1"/>
  <p:tag name="KSO_WM_TEMPLATE_CATEGORY" val="diagram"/>
  <p:tag name="KSO_WM_TEMPLATE_INDEX" val="20231087"/>
  <p:tag name="KSO_WM_UNIT_LAYERLEVEL" val="1_1_1_1"/>
  <p:tag name="KSO_WM_TAG_VERSION" val="3.0"/>
  <p:tag name="KSO_WM_BEAUTIFY_FLAG" val="#wm#"/>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提炼"/>
  <p:tag name="KSO_WM_UNIT_TEXT_FILL_FORE_SCHEMECOLOR_INDEX" val="1"/>
  <p:tag name="KSO_WM_UNIT_TEXT_FILL_TYPE" val="1"/>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1087_4*n_h_h_i*1_2_3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4*n_h_h_x*1_2_3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UNIT_VALUE" val="64*64"/>
  <p:tag name="KSO_WM_UNIT_TYPE" val="n_h_h_x"/>
  <p:tag name="KSO_WM_UNIT_INDEX" val="1_2_3_1"/>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87_4*n_h_h_i*1_2_2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4*n_h_h_x*1_2_2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UNIT_VALUE" val="65*58"/>
  <p:tag name="KSO_WM_UNIT_TYPE" val="n_h_h_x"/>
  <p:tag name="KSO_WM_UNIT_INDEX" val="1_2_2_1"/>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87_4*n_h_h_i*1_2_1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4*n_h_h_x*1_2_1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UNIT_VALUE" val="74*63"/>
  <p:tag name="KSO_WM_UNIT_TYPE" val="n_h_h_x"/>
  <p:tag name="KSO_WM_UNIT_INDEX" val="1_2_1_1"/>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1087_4*n_h_h_i*1_2_4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1087_4*n_h_h_i*1_2_5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4*n_h_h_x*1_2_5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UNIT_VALUE" val="60*54"/>
  <p:tag name="KSO_WM_UNIT_TYPE" val="n_h_h_x"/>
  <p:tag name="KSO_WM_UNIT_INDEX" val="1_2_5_1"/>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4*n_h_h_x*1_2_4_1"/>
  <p:tag name="KSO_WM_TEMPLATE_CATEGORY" val="diagram"/>
  <p:tag name="KSO_WM_TEMPLATE_INDEX" val="20231087"/>
  <p:tag name="KSO_WM_UNIT_LAYERLEVEL" val="1_1_1_1"/>
  <p:tag name="KSO_WM_TAG_VERSION" val="3.0"/>
  <p:tag name="KSO_WM_BEAUTIFY_FLAG" val="#wm#"/>
  <p:tag name="KSO_WM_DIAGRAM_VERSION" val="3"/>
  <p:tag name="KSO_WM_DIAGRAM_COLOR_TRICK" val="1"/>
  <p:tag name="KSO_WM_DIAGRAM_COLOR_TEXT_CAN_REMOVE" val="n"/>
  <p:tag name="KSO_WM_UNIT_VALUE" val="60*51"/>
  <p:tag name="KSO_WM_UNIT_TYPE" val="n_h_h_x"/>
  <p:tag name="KSO_WM_UNIT_INDEX" val="1_2_4_1"/>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1"/>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87_4*n_h_i*1_1_7"/>
  <p:tag name="KSO_WM_TEMPLATE_CATEGORY" val="diagram"/>
  <p:tag name="KSO_WM_TEMPLATE_INDEX" val="20231087"/>
  <p:tag name="KSO_WM_UNIT_LAYERLEVEL" val="1_1_1"/>
  <p:tag name="KSO_WM_TAG_VERSION" val="3.0"/>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gradient&quot;:[{&quot;brightness&quot;:0.949999988079071,&quot;colorType&quot;:1,&quot;foreColorIndex&quot;:5,&quot;pos&quot;:1,&quot;transparency&quot;:0},{&quot;brightness&quot;:0.75,&quot;colorType&quot;:1,&quot;foreColorIndex&quot;:5,&quot;pos&quot;:0.2800000011920929,&quot;transparency&quot;:0},{&quot;brightness&quot;:0.75,&quot;colorType&quot;:1,&quot;foreColorIndex&quot;:5,&quot;pos&quot;:0.20000000298023224,&quot;transparency&quot;:0},{&quot;brightness&quot;:0.699999988079071,&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11"/>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solid&quot;:{&quot;brightness&quot;:0.800000011920929,&quot;colorType&quot;:1,&quot;foreColorIndex&quot;:5,&quot;transparency&quot;:0.5600000023841858},&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12"/>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20000000298023224,&quot;colorType&quot;:1,&quot;foreColorIndex&quot;:5,&quot;pos&quot;:0,&quot;transparency&quot;:0.4000000059604645},{&quot;brightness&quot;:0.699999988079071,&quot;colorType&quot;:1,&quot;foreColorIndex&quot;:5,&quot;pos&quot;:0.7699999809265137,&quot;transparency&quot;:0.5},{&quot;brightness&quot;:0.3799999952316284,&quot;colorType&quot;:1,&quot;foreColorIndex&quot;:5,&quot;pos&quot;:1,&quot;transparency&quot;:0.5}],&quot;type&quot;:3},&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2"/>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3"/>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800000011920929,&quot;colorType&quot;:1,&quot;foreColorIndex&quot;:5,&quot;pos&quot;:0,&quot;transparency&quot;:0},{&quot;brightness&quot;:0,&quot;colorType&quot;:1,&quot;foreColorIndex&quot;:16,&quot;pos&quot;:0.3700000047683716,&quot;transparency&quot;:0.47999998927116394},{&quot;brightness&quot;:0,&quot;colorType&quot;:1,&quot;foreColorIndex&quot;:14,&quot;pos&quot;:0.8100000023841858,&quot;transparency&quot;:0.6100000143051147},{&quot;brightness&quot;:0.4000000059604645,&quot;colorType&quot;:1,&quot;foreColorIndex&quot;:5,&quot;pos&quot;:1,&quot;transparency&quot;:0}],&quot;type&quot;:3},&quot;glow&quot;:{&quot;colorType&quot;:0},&quot;line&quot;:{&quot;gradient&quot;:[{&quot;brightness&quot;:0,&quot;colorType&quot;:1,&quot;foreColorIndex&quot;:5,&quot;pos&quot;:0,&quot;transparency&quot;:0.800000011920929},{&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087_4*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quot;colorType&quot;:1,&quot;foreColorIndex&quot;:5,&quot;pos&quot;:0,&quot;transparency&quot;:0.4699999988079071},{&quot;brightness&quot;:0,&quot;colorType&quot;:1,&quot;foreColorIndex&quot;:14,&quot;pos&quot;:0.6600000262260437,&quot;transparency&quot;:0.8100000023841858},{&quot;brightness&quot;:0,&quot;colorType&quot;:1,&quot;foreColorIndex&quot;:5,&quot;pos&quot;:0.25,&quot;transparency&quot;:0.68999999761581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8"/>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type&quot;:0},&quot;glow&quot;:{&quot;colorType&quot;:0},&quot;line&quot;:{&quot;gradient&quot;:[{&quot;brightness&quot;:0.949999988079071,&quot;colorType&quot;:1,&quot;foreColorIndex&quot;:5,&quot;pos&quot;:1,&quot;transparency&quot;:0},{&quot;brightness&quot;:0.550000011920929,&quot;colorType&quot;:1,&quot;foreColorIndex&quot;:5,&quot;pos&quot;:0.2800000011920929,&quot;transparency&quot;:0},{&quot;brightness&quot;:0.550000011920929,&quot;colorType&quot;:1,&quot;foreColorIndex&quot;:5,&quot;pos&quot;:0.20000000298023224,&quot;transparency&quot;:0},{&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5"/>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9"/>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10"/>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4*n_h_i*1_1_6"/>
  <p:tag name="KSO_WM_TEMPLATE_CATEGORY" val="diagram"/>
  <p:tag name="KSO_WM_TEMPLATE_INDEX" val="20231087"/>
  <p:tag name="KSO_WM_UNIT_LAYERLEVEL" val="1_1_1"/>
  <p:tag name="KSO_WM_TAG_VERSION" val="3.0"/>
  <p:tag name="KSO_WM_BEAUTIFY_FLAG" val="#wm#"/>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5"/>
  <p:tag name="KSO_WM_DIAGRAM_MIN_ITEMCNT" val="2"/>
  <p:tag name="KSO_WM_DIAGRAM_VIRTUALLY_FRAME" val="{&quot;height&quot;:428.05,&quot;left&quot;:37.65,&quot;top&quot;:104.75,&quot;width&quot;:876.1}"/>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DIAGRAM_VIRTUALLY_FRAME" val="{&quot;height&quot;:320.2,&quot;left&quot;:54.7,&quot;top&quot;:156.7,&quot;width&quot;:847.75}"/>
</p:tagLst>
</file>

<file path=ppt/tags/tag469.xml><?xml version="1.0" encoding="utf-8"?>
<p:tagLst xmlns:p="http://schemas.openxmlformats.org/presentationml/2006/main">
  <p:tag name="KSO_WM_DIAGRAM_VIRTUALLY_FRAME" val="{&quot;height&quot;:325.6204724463861,&quot;left&quot;:54.69999999999995,&quot;top&quot;:173.69999999999996,&quot;width&quot;:515.219813299653}"/>
</p:tagLst>
</file>

<file path=ppt/tags/tag470.xml><?xml version="1.0" encoding="utf-8"?>
<p:tagLst xmlns:p="http://schemas.openxmlformats.org/presentationml/2006/main">
  <p:tag name="KSO_WM_DIAGRAM_VIRTUALLY_FRAME" val="{&quot;height&quot;:320.2,&quot;left&quot;:54.7,&quot;top&quot;:156.7,&quot;width&quot;:847.75}"/>
</p:tagLst>
</file>

<file path=ppt/tags/tag471.xml><?xml version="1.0" encoding="utf-8"?>
<p:tagLst xmlns:p="http://schemas.openxmlformats.org/presentationml/2006/main">
  <p:tag name="KSO_WM_DIAGRAM_VIRTUALLY_FRAME" val="{&quot;height&quot;:320.2,&quot;left&quot;:54.7,&quot;top&quot;:156.7,&quot;width&quot;:847.75}"/>
</p:tagLst>
</file>

<file path=ppt/tags/tag472.xml><?xml version="1.0" encoding="utf-8"?>
<p:tagLst xmlns:p="http://schemas.openxmlformats.org/presentationml/2006/main">
  <p:tag name="KSO_WM_DIAGRAM_VIRTUALLY_FRAME" val="{&quot;height&quot;:320.2,&quot;left&quot;:54.7,&quot;top&quot;:156.7,&quot;width&quot;:847.75}"/>
</p:tagLst>
</file>

<file path=ppt/tags/tag473.xml><?xml version="1.0" encoding="utf-8"?>
<p:tagLst xmlns:p="http://schemas.openxmlformats.org/presentationml/2006/main">
  <p:tag name="KSO_WM_DIAGRAM_VIRTUALLY_FRAME" val="{&quot;height&quot;:320.2,&quot;left&quot;:54.7,&quot;top&quot;:156.7,&quot;width&quot;:847.75}"/>
</p:tagLst>
</file>

<file path=ppt/tags/tag474.xml><?xml version="1.0" encoding="utf-8"?>
<p:tagLst xmlns:p="http://schemas.openxmlformats.org/presentationml/2006/main">
  <p:tag name="KSO_WM_DIAGRAM_VIRTUALLY_FRAME" val="{&quot;height&quot;:320.2,&quot;left&quot;:54.7,&quot;top&quot;:156.7,&quot;width&quot;:847.75}"/>
</p:tagLst>
</file>

<file path=ppt/tags/tag475.xml><?xml version="1.0" encoding="utf-8"?>
<p:tagLst xmlns:p="http://schemas.openxmlformats.org/presentationml/2006/main">
  <p:tag name="KSO_WM_DIAGRAM_VIRTUALLY_FRAME" val="{&quot;height&quot;:320.2,&quot;left&quot;:54.7,&quot;top&quot;:156.7,&quot;width&quot;:847.75}"/>
</p:tagLst>
</file>

<file path=ppt/tags/tag476.xml><?xml version="1.0" encoding="utf-8"?>
<p:tagLst xmlns:p="http://schemas.openxmlformats.org/presentationml/2006/main">
  <p:tag name="KSO_WM_DIAGRAM_VIRTUALLY_FRAME" val="{&quot;height&quot;:320.2,&quot;left&quot;:54.7,&quot;top&quot;:156.7,&quot;width&quot;:847.75}"/>
</p:tagLst>
</file>

<file path=ppt/tags/tag477.xml><?xml version="1.0" encoding="utf-8"?>
<p:tagLst xmlns:p="http://schemas.openxmlformats.org/presentationml/2006/main">
  <p:tag name="KSO_WM_DIAGRAM_VIRTUALLY_FRAME" val="{&quot;height&quot;:320.2,&quot;left&quot;:54.7,&quot;top&quot;:156.7,&quot;width&quot;:847.75}"/>
</p:tagLst>
</file>

<file path=ppt/tags/tag478.xml><?xml version="1.0" encoding="utf-8"?>
<p:tagLst xmlns:p="http://schemas.openxmlformats.org/presentationml/2006/main">
  <p:tag name="KSO_WM_DIAGRAM_VIRTUALLY_FRAME" val="{&quot;height&quot;:320.2,&quot;left&quot;:54.7,&quot;top&quot;:156.7,&quot;width&quot;:847.75}"/>
</p:tagLst>
</file>

<file path=ppt/tags/tag479.xml><?xml version="1.0" encoding="utf-8"?>
<p:tagLst xmlns:p="http://schemas.openxmlformats.org/presentationml/2006/main">
  <p:tag name="KSO_WM_DIAGRAM_VIRTUALLY_FRAME" val="{&quot;height&quot;:320.2,&quot;left&quot;:54.7,&quot;top&quot;:156.7,&quot;width&quot;:847.75}"/>
</p:tagLst>
</file>

<file path=ppt/tags/tag480.xml><?xml version="1.0" encoding="utf-8"?>
<p:tagLst xmlns:p="http://schemas.openxmlformats.org/presentationml/2006/main">
  <p:tag name="KSO_WM_DIAGRAM_VIRTUALLY_FRAME" val="{&quot;height&quot;:320.2,&quot;left&quot;:54.7,&quot;top&quot;:156.7,&quot;width&quot;:847.75}"/>
</p:tagLst>
</file>

<file path=ppt/tags/tag481.xml><?xml version="1.0" encoding="utf-8"?>
<p:tagLst xmlns:p="http://schemas.openxmlformats.org/presentationml/2006/main">
  <p:tag name="KSO_WM_DIAGRAM_VIRTUALLY_FRAME" val="{&quot;height&quot;:320.2,&quot;left&quot;:54.7,&quot;top&quot;:156.7,&quot;width&quot;:847.75}"/>
</p:tagLst>
</file>

<file path=ppt/tags/tag482.xml><?xml version="1.0" encoding="utf-8"?>
<p:tagLst xmlns:p="http://schemas.openxmlformats.org/presentationml/2006/main">
  <p:tag name="KSO_WM_DIAGRAM_VIRTUALLY_FRAME" val="{&quot;height&quot;:320.2,&quot;left&quot;:54.7,&quot;top&quot;:156.7,&quot;width&quot;:847.75}"/>
</p:tagLst>
</file>

<file path=ppt/tags/tag483.xml><?xml version="1.0" encoding="utf-8"?>
<p:tagLst xmlns:p="http://schemas.openxmlformats.org/presentationml/2006/main">
  <p:tag name="KSO_WM_DIAGRAM_VIRTUALLY_FRAME" val="{&quot;height&quot;:320.2,&quot;left&quot;:54.7,&quot;top&quot;:156.7,&quot;width&quot;:847.75}"/>
</p:tagLst>
</file>

<file path=ppt/tags/tag484.xml><?xml version="1.0" encoding="utf-8"?>
<p:tagLst xmlns:p="http://schemas.openxmlformats.org/presentationml/2006/main">
  <p:tag name="KSO_WM_DIAGRAM_VIRTUALLY_FRAME" val="{&quot;height&quot;:320.2,&quot;left&quot;:54.7,&quot;top&quot;:156.7,&quot;width&quot;:847.75}"/>
</p:tagLst>
</file>

<file path=ppt/tags/tag485.xml><?xml version="1.0" encoding="utf-8"?>
<p:tagLst xmlns:p="http://schemas.openxmlformats.org/presentationml/2006/main">
  <p:tag name="KSO_WM_DIAGRAM_VIRTUALLY_FRAME" val="{&quot;height&quot;:320.2,&quot;left&quot;:54.7,&quot;top&quot;:156.7,&quot;width&quot;:847.75}"/>
</p:tagLst>
</file>

<file path=ppt/tags/tag486.xml><?xml version="1.0" encoding="utf-8"?>
<p:tagLst xmlns:p="http://schemas.openxmlformats.org/presentationml/2006/main">
  <p:tag name="KSO_WM_DIAGRAM_VIRTUALLY_FRAME" val="{&quot;height&quot;:320.2,&quot;left&quot;:54.7,&quot;top&quot;:156.7,&quot;width&quot;:847.75}"/>
</p:tagLst>
</file>

<file path=ppt/tags/tag487.xml><?xml version="1.0" encoding="utf-8"?>
<p:tagLst xmlns:p="http://schemas.openxmlformats.org/presentationml/2006/main">
  <p:tag name="KSO_WM_DIAGRAM_VIRTUALLY_FRAME" val="{&quot;height&quot;:320.2,&quot;left&quot;:54.7,&quot;top&quot;:156.7,&quot;width&quot;:847.75}"/>
</p:tagLst>
</file>

<file path=ppt/tags/tag488.xml><?xml version="1.0" encoding="utf-8"?>
<p:tagLst xmlns:p="http://schemas.openxmlformats.org/presentationml/2006/main">
  <p:tag name="KSO_WM_DIAGRAM_VIRTUALLY_FRAME" val="{&quot;height&quot;:320.2,&quot;left&quot;:54.7,&quot;top&quot;:156.7,&quot;width&quot;:847.75}"/>
</p:tagLst>
</file>

<file path=ppt/tags/tag489.xml><?xml version="1.0" encoding="utf-8"?>
<p:tagLst xmlns:p="http://schemas.openxmlformats.org/presentationml/2006/main">
  <p:tag name="KSO_WM_DIAGRAM_VIRTUALLY_FRAME" val="{&quot;height&quot;:320.2,&quot;left&quot;:54.7,&quot;top&quot;:156.7,&quot;width&quot;:847.75}"/>
</p:tagLst>
</file>

<file path=ppt/tags/tag490.xml><?xml version="1.0" encoding="utf-8"?>
<p:tagLst xmlns:p="http://schemas.openxmlformats.org/presentationml/2006/main">
  <p:tag name="KSO_WM_DIAGRAM_VIRTUALLY_FRAME" val="{&quot;height&quot;:320.2,&quot;left&quot;:54.7,&quot;top&quot;:156.7,&quot;width&quot;:847.75}"/>
</p:tagLst>
</file>

<file path=ppt/tags/tag491.xml><?xml version="1.0" encoding="utf-8"?>
<p:tagLst xmlns:p="http://schemas.openxmlformats.org/presentationml/2006/main">
  <p:tag name="KSO_WM_DIAGRAM_VIRTUALLY_FRAME" val="{&quot;height&quot;:320.2,&quot;left&quot;:54.7,&quot;top&quot;:156.7,&quot;width&quot;:847.75}"/>
</p:tagLst>
</file>

<file path=ppt/tags/tag492.xml><?xml version="1.0" encoding="utf-8"?>
<p:tagLst xmlns:p="http://schemas.openxmlformats.org/presentationml/2006/main">
  <p:tag name="KSO_WM_DIAGRAM_VIRTUALLY_FRAME" val="{&quot;height&quot;:320.2,&quot;left&quot;:54.7,&quot;top&quot;:156.7,&quot;width&quot;:847.75}"/>
</p:tagLst>
</file>

<file path=ppt/tags/tag493.xml><?xml version="1.0" encoding="utf-8"?>
<p:tagLst xmlns:p="http://schemas.openxmlformats.org/presentationml/2006/main">
  <p:tag name="KSO_WM_DIAGRAM_VIRTUALLY_FRAME" val="{&quot;height&quot;:320.2,&quot;left&quot;:54.7,&quot;top&quot;:156.7,&quot;width&quot;:847.75}"/>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DIAGRAM_VIRTUALLY_FRAME" val="{&quot;height&quot;:466.65,&quot;left&quot;:59.02501220703125,&quot;top&quot;:36.4,&quot;width&quot;:841.8499755859375}"/>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1_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gradient&quot;:[{&quot;brightness&quot;:0,&quot;colorType&quot;:2,&quot;pos&quot;:0,&quot;rgb&quot;:&quot;#afc6ff&quot;,&quot;transparency&quot;:1},{&quot;brightness&quot;:0,&quot;colorType&quot;:2,&quot;pos&quot;:1,&quot;rgb&quot;:&quot;#376fff&quot;,&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497.xml><?xml version="1.0" encoding="utf-8"?>
<p:tagLst xmlns:p="http://schemas.openxmlformats.org/presentationml/2006/main">
  <p:tag name="KSO_WM_DIAGRAM_VIRTUALLY_FRAME" val="{&quot;height&quot;:428.4750030517578,&quot;left&quot;:59.02501220703125,&quot;top&quot;:36.4,&quot;width&quot;:841.8499755859375}"/>
</p:tagLst>
</file>

<file path=ppt/tags/tag4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943_2*m_h_f*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DIAGRAM_USE_COLOR_VALUE" val="{&quot;color_scheme&quot;:1,&quot;color_type&quot;:1,&quot;theme_color_indexes&quot;:[]}"/>
</p:tagLst>
</file>

<file path=ppt/tags/tag4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0943_2*m_h_a*1_1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 name="KSO_WM_DIAGRAM_USE_COLOR_VALUE" val="{&quot;color_scheme&quot;:1,&quot;color_type&quot;:1,&quot;theme_color_indexes&quot;:[]}"/>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1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1_2"/>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PRESET_TEXT" val="01"/>
  <p:tag name="KSO_WM_DIAGRAM_USE_COLOR_VALUE" val="{&quot;color_scheme&quot;:1,&quot;color_type&quot;:1,&quot;theme_color_indexes&quot;:[]}"/>
</p:tagLst>
</file>

<file path=ppt/tags/tag501.xml><?xml version="1.0" encoding="utf-8"?>
<p:tagLst xmlns:p="http://schemas.openxmlformats.org/presentationml/2006/main">
  <p:tag name="KSO_WM_DIAGRAM_VIRTUALLY_FRAME" val="{&quot;height&quot;:466.65,&quot;left&quot;:59.02501220703125,&quot;top&quot;:36.4,&quot;width&quot;:841.8499755859375}"/>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2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2_2"/>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gradient&quot;:[{&quot;brightness&quot;:0,&quot;colorType&quot;:2,&quot;pos&quot;:0,&quot;rgb&quot;:&quot;#afc6ff&quot;,&quot;transparency&quot;:1},{&quot;brightness&quot;:0,&quot;colorType&quot;:1,&quot;foreColorIndex&quot;:8,&quot;pos&quot;:1,&quot;transparency&quot;:1},{&quot;brightness&quot;:0,&quot;colorType&quot;:1,&quot;foreColorIndex&quot;:8,&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2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2_3"/>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35"/>
  <p:tag name="KSO_WM_DIAGRAM_USE_COLOR_VALUE" val="{&quot;color_scheme&quot;:1,&quot;color_type&quot;:1,&quot;theme_color_indexes&quot;:[]}"/>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SUBTYPE" val="d"/>
  <p:tag name="KSO_WM_UNIT_TYPE" val="m_h_i"/>
  <p:tag name="KSO_WM_UNIT_INDEX" val="1_2_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gradient&quot;:[{&quot;brightness&quot;:0,&quot;colorType&quot;:1,&quot;foreColorIndex&quot;:8,&quot;pos&quot;:0.38999998569488525,&quot;transparency&quot;:0},{&quot;brightness&quot;:0.4000000059604645,&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PRESET_TEXT" val="02"/>
  <p:tag name="KSO_WM_DIAGRAM_USE_COLOR_VALUE" val="{&quot;color_scheme&quot;:1,&quot;color_type&quot;:1,&quot;theme_color_indexes&quot;:[]}"/>
</p:tagLst>
</file>

<file path=ppt/tags/tag5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943_2*m_h_f*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DIAGRAM_USE_COLOR_VALUE" val="{&quot;color_scheme&quot;:1,&quot;color_type&quot;:1,&quot;theme_color_indexes&quot;:[]}"/>
</p:tagLst>
</file>

<file path=ppt/tags/tag5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0943_2*m_h_a*1_2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 name="KSO_WM_DIAGRAM_USE_COLOR_VALUE" val="{&quot;color_scheme&quot;:1,&quot;color_type&quot;:1,&quot;theme_color_indexes&quot;:[]}"/>
</p:tagLst>
</file>

<file path=ppt/tags/tag507.xml><?xml version="1.0" encoding="utf-8"?>
<p:tagLst xmlns:p="http://schemas.openxmlformats.org/presentationml/2006/main">
  <p:tag name="KSO_WM_DIAGRAM_VIRTUALLY_FRAME" val="{&quot;height&quot;:466.65,&quot;left&quot;:59.02501220703125,&quot;top&quot;:36.4,&quot;width&quot;:841.8499755859375}"/>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3_3"/>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3"/>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gradient&quot;:[{&quot;brightness&quot;:0,&quot;colorType&quot;:2,&quot;pos&quot;:0,&quot;rgb&quot;:&quot;#afc6ff&quot;,&quot;transparency&quot;:1},{&quot;brightness&quot;:0,&quot;colorType&quot;:2,&quot;pos&quot;:1,&quot;rgb&quot;:&quot;#376fff&quot;,&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509.xml><?xml version="1.0" encoding="utf-8"?>
<p:tagLst xmlns:p="http://schemas.openxmlformats.org/presentationml/2006/main">
  <p:tag name="KSO_WM_DIAGRAM_VIRTUALLY_FRAME" val="{&quot;height&quot;:428.4750030517578,&quot;left&quot;:59.02501220703125,&quot;top&quot;:36.4,&quot;width&quot;:841.8499755859375}"/>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43_2*m_h_i*1_3_4"/>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UNIT_TYPE" val="m_h_i"/>
  <p:tag name="KSO_WM_UNIT_INDEX" val="1_3_4"/>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solid&quot;:{&quot;brightness&quot;:0.3499999940395355,&quot;colorType&quot;:1,&quot;foreColorIndex&quot;:13,&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35"/>
  <p:tag name="KSO_WM_DIAGRAM_USE_COLOR_VALUE" val="{&quot;color_scheme&quot;:1,&quot;color_type&quot;:1,&quot;theme_color_indexes&quot;:[]}"/>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m_h_i"/>
  <p:tag name="KSO_WM_UNIT_INDEX" val="1_3_2"/>
  <p:tag name="KSO_WM_UNIT_ID" val="diagram20230943_2*m_h_i*1_3_2"/>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gradient&quot;:[{&quot;brightness&quot;:0,&quot;colorType&quot;:1,&quot;foreColorIndex&quot;:5,&quot;pos&quot;:0.3899999856948852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4"/>
  <p:tag name="KSO_WM_UNIT_FILL_TYPE" val="3"/>
  <p:tag name="KSO_WM_UNIT_PRESET_TEXT" val="03"/>
  <p:tag name="KSO_WM_DIAGRAM_USE_COLOR_VALUE" val="{&quot;color_scheme&quot;:1,&quot;color_type&quot;:1,&quot;theme_color_indexes&quot;:[]}"/>
</p:tagLst>
</file>

<file path=ppt/tags/tag5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0943_2*m_h_f*1_3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智能图形项正文"/>
  <p:tag name="KSO_WM_DIAGRAM_USE_COLOR_VALUE" val="{&quot;color_scheme&quot;:1,&quot;color_type&quot;:1,&quot;theme_color_indexes&quot;:[]}"/>
</p:tagLst>
</file>

<file path=ppt/tags/tag5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0943_2*m_h_a*1_3_1"/>
  <p:tag name="KSO_WM_TEMPLATE_CATEGORY" val="diagram"/>
  <p:tag name="KSO_WM_TEMPLATE_INDEX" val="20230943"/>
  <p:tag name="KSO_WM_UNIT_LAYERLEVEL" val="1_1_1"/>
  <p:tag name="KSO_WM_TAG_VERSION" val="3.0"/>
  <p:tag name="KSO_WM_DIAGRAM_VERSION" val="3"/>
  <p:tag name="KSO_WM_DIAGRAM_COLOR_TRICK" val="2"/>
  <p:tag name="KSO_WM_DIAGRAM_COLOR_TEXT_CAN_REMOVE" val="n"/>
  <p:tag name="KSO_WM_DIAGRAM_GROUP_CODE" val="m1-1"/>
  <p:tag name="KSO_WM_DIAGRAM_MAX_ITEMCNT" val="6"/>
  <p:tag name="KSO_WM_DIAGRAM_MIN_ITEMCNT" val="2"/>
  <p:tag name="KSO_WM_DIAGRAM_VIRTUALLY_FRAME" val="{&quot;height&quot;:466.65,&quot;left&quot;:59.02501220703125,&quot;top&quot;:36.4,&quot;width&quot;:841.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 name="KSO_WM_DIAGRAM_USE_COLOR_VALUE" val="{&quot;color_scheme&quot;:1,&quot;color_type&quot;:1,&quot;theme_color_indexes&quot;:[]}"/>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PP_MARK_KEY" val="8ec17645-5359-4f5e-a333-a0692b2057fb"/>
  <p:tag name="COMMONDATA" val="eyJoZGlkIjoiOWI1ZTIwOWE3MTMyMGJkMDI2MmVkNjA4MTJhNTI5ZjIifQ=="/>
  <p:tag name="RESOURCE_RECORD_KEY" val="{&quot;70&quot;:[3316052]}"/>
  <p:tag name="commondata" val="eyJoZGlkIjoiYTQwYjI4NDJhYzUzNTYxMDc5OTI2Y2U1ZDIyY2E5M2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8960</Words>
  <Application>WPS 演示</Application>
  <PresentationFormat>自定义</PresentationFormat>
  <Paragraphs>611</Paragraphs>
  <Slides>38</Slides>
  <Notes>7</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38</vt:i4>
      </vt:variant>
    </vt:vector>
  </HeadingPairs>
  <TitlesOfParts>
    <vt:vector size="59" baseType="lpstr">
      <vt:lpstr>Arial</vt:lpstr>
      <vt:lpstr>宋体</vt:lpstr>
      <vt:lpstr>Wingdings</vt:lpstr>
      <vt:lpstr>Calibri</vt:lpstr>
      <vt:lpstr>字魂95号-手刻宋</vt:lpstr>
      <vt:lpstr>字魂95号-手刻宋</vt:lpstr>
      <vt:lpstr>Wingdings</vt:lpstr>
      <vt:lpstr>微软雅黑</vt:lpstr>
      <vt:lpstr>Arial</vt:lpstr>
      <vt:lpstr>字魂手刻宋</vt:lpstr>
      <vt:lpstr>字魂105号-简雅黑</vt:lpstr>
      <vt:lpstr>MiSans Normal</vt:lpstr>
      <vt:lpstr>思源黑体 CN Normal</vt:lpstr>
      <vt:lpstr>黑体</vt:lpstr>
      <vt:lpstr>思源黑体 CN Medium</vt:lpstr>
      <vt:lpstr>Aa楷体</vt:lpstr>
      <vt:lpstr>Arial Unicode MS</vt:lpstr>
      <vt:lpstr>Calibri</vt:lpstr>
      <vt:lpstr>思源黑体 Light</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平台科技荣誉</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鑫安利宣传手册</dc:title>
  <dc:creator>Administrator</dc:creator>
  <cp:lastModifiedBy>东瓶西镜</cp:lastModifiedBy>
  <cp:revision>1042</cp:revision>
  <dcterms:created xsi:type="dcterms:W3CDTF">2023-07-30T09:20:00Z</dcterms:created>
  <dcterms:modified xsi:type="dcterms:W3CDTF">2024-05-08T08:08:20Z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KSORubyTemplateID">
    <vt:lpwstr>2</vt:lpwstr>
  </property>
  <property fmtid="{D5CDD505-2E9C-101B-9397-08002B2CF9AE}" pid="4" name="ICV">
    <vt:lpwstr>6906D3C059064D2F9484214D76F73548_13</vt:lpwstr>
  </property>
</Properties>
</file>